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62" r:id="rId3"/>
    <p:sldMasterId id="2147483666" r:id="rId4"/>
    <p:sldMasterId id="2147483668" r:id="rId5"/>
    <p:sldMasterId id="2147483672" r:id="rId6"/>
    <p:sldMasterId id="2147483674" r:id="rId7"/>
  </p:sldMasterIdLst>
  <p:notesMasterIdLst>
    <p:notesMasterId r:id="rId25"/>
  </p:notesMasterIdLst>
  <p:sldIdLst>
    <p:sldId id="256" r:id="rId8"/>
    <p:sldId id="260" r:id="rId9"/>
    <p:sldId id="263" r:id="rId10"/>
    <p:sldId id="264" r:id="rId11"/>
    <p:sldId id="266" r:id="rId12"/>
    <p:sldId id="285" r:id="rId13"/>
    <p:sldId id="278" r:id="rId14"/>
    <p:sldId id="277" r:id="rId15"/>
    <p:sldId id="283" r:id="rId16"/>
    <p:sldId id="286" r:id="rId17"/>
    <p:sldId id="288" r:id="rId18"/>
    <p:sldId id="289" r:id="rId19"/>
    <p:sldId id="291" r:id="rId20"/>
    <p:sldId id="290" r:id="rId21"/>
    <p:sldId id="292" r:id="rId22"/>
    <p:sldId id="297" r:id="rId23"/>
    <p:sldId id="268" r:id="rId24"/>
  </p:sldIdLst>
  <p:sldSz cx="12192000" cy="6858000"/>
  <p:notesSz cx="6858000" cy="9144000"/>
  <p:embeddedFontLst>
    <p:embeddedFont>
      <p:font typeface="Algerian" panose="04020705040A02060702" pitchFamily="82" charset="0"/>
      <p:regular r:id="rId26"/>
    </p:embeddedFont>
    <p:embeddedFont>
      <p:font typeface="Arial Black" panose="020B0A04020102020204" pitchFamily="34" charset="0"/>
      <p:bold r:id="rId27"/>
    </p:embeddedFont>
    <p:embeddedFont>
      <p:font typeface="Arial Rounded MT Bold" panose="020F0704030504030204" pitchFamily="34" charset="0"/>
      <p:regular r:id="rId28"/>
    </p:embeddedFont>
    <p:embeddedFont>
      <p:font typeface="Cambria Math" panose="02040503050406030204" pitchFamily="18" charset="0"/>
      <p:regular r:id="rId29"/>
    </p:embeddedFont>
    <p:embeddedFont>
      <p:font typeface="Corbel" panose="020B0503020204020204" pitchFamily="34" charset="0"/>
      <p:regular r:id="rId30"/>
      <p:bold r:id="rId31"/>
      <p:italic r:id="rId32"/>
      <p:boldItalic r:id="rId33"/>
    </p:embeddedFont>
    <p:embeddedFont>
      <p:font typeface="Freestyle Script" panose="030804020302050B0404" pitchFamily="66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1.fntdata"/><Relationship Id="rId21" Type="http://schemas.openxmlformats.org/officeDocument/2006/relationships/slide" Target="slides/slide14.xml"/><Relationship Id="rId34" Type="http://schemas.openxmlformats.org/officeDocument/2006/relationships/font" Target="fonts/font9.fntdata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44DCC-3B7E-4A54-A261-4EEA88C075B8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4913E-D744-479D-8D13-B9AA789AA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4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984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8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296A6-14EA-83F3-A3A7-C217ED914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55B3C-940F-8DF6-C222-60AF03405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B6161-47C0-AF53-3715-1593BE6B9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893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173B-90F0-86EB-B008-9077137C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EE280-45FE-CF3F-4464-FA6E70861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2E268-7FA1-1E8F-7A20-85E579992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4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7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57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911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02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19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9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2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61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1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7499-D8DD-4E43-B53D-A8B1FBC4502A}" type="datetime1">
              <a:rPr lang="en-US" smtClean="0">
                <a:solidFill>
                  <a:prstClr val="black"/>
                </a:solidFill>
              </a:rPr>
              <a:pPr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51857" y="5883275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mtClean="0">
                <a:solidFill>
                  <a:prstClr val="black"/>
                </a:solidFill>
              </a:rPr>
              <a:pPr defTabSz="304404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4056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D7499-D8DD-4E43-B53D-A8B1FBC4502A}" type="datetime1">
              <a:rPr lang="en-US" smtClean="0">
                <a:solidFill>
                  <a:prstClr val="black"/>
                </a:solidFill>
              </a:rPr>
              <a:pPr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51857" y="5883275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mtClean="0">
                <a:solidFill>
                  <a:prstClr val="black"/>
                </a:solidFill>
              </a:rPr>
              <a:pPr defTabSz="304404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100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D842-EBEC-4F88-B66F-A0660DDDCF2B}" type="datetime1">
              <a:rPr lang="en-US" smtClean="0">
                <a:solidFill>
                  <a:prstClr val="black"/>
                </a:solidFill>
              </a:rPr>
              <a:pPr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7" y="5867131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mtClean="0">
                <a:solidFill>
                  <a:prstClr val="black"/>
                </a:solidFill>
              </a:rPr>
              <a:pPr defTabSz="304404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5220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D842-EBEC-4F88-B66F-A0660DDDCF2B}" type="datetime1">
              <a:rPr lang="en-US" smtClean="0">
                <a:solidFill>
                  <a:prstClr val="black"/>
                </a:solidFill>
              </a:rPr>
              <a:pPr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7" y="5867131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mtClean="0">
                <a:solidFill>
                  <a:prstClr val="black"/>
                </a:solidFill>
              </a:rPr>
              <a:pPr defTabSz="304404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321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8D837-8598-47BF-AB99-2C9FB704B4A4}" type="datetime1">
              <a:rPr lang="en-US" smtClean="0">
                <a:solidFill>
                  <a:prstClr val="black"/>
                </a:solidFill>
              </a:rPr>
              <a:pPr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51857" y="5883275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mtClean="0">
                <a:solidFill>
                  <a:prstClr val="black"/>
                </a:solidFill>
              </a:rPr>
              <a:pPr defTabSz="304404"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7368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4404"/>
            <a:fld id="{7E08D837-8598-47BF-AB99-2C9FB704B4A4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4404"/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951857" y="5883275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z="1198" smtClean="0">
                <a:solidFill>
                  <a:prstClr val="black"/>
                </a:solidFill>
              </a:rPr>
              <a:pPr defTabSz="304404"/>
              <a:t>‹#›</a:t>
            </a:fld>
            <a:endParaRPr lang="en-US" sz="1198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580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4404"/>
            <a:fld id="{BA4D7499-D8DD-4E43-B53D-A8B1FBC4502A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4404"/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951857" y="5883275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z="1198" smtClean="0">
                <a:solidFill>
                  <a:prstClr val="black"/>
                </a:solidFill>
              </a:rPr>
              <a:pPr defTabSz="304404"/>
              <a:t>‹#›</a:t>
            </a:fld>
            <a:endParaRPr lang="en-US" sz="1198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6643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04404"/>
            <a:fld id="{8397D842-EBEC-4F88-B66F-A0660DDDCF2B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04404"/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7" y="5867131"/>
            <a:ext cx="551167" cy="365125"/>
          </a:xfrm>
          <a:prstGeom prst="rect">
            <a:avLst/>
          </a:prstGeom>
        </p:spPr>
        <p:txBody>
          <a:bodyPr/>
          <a:lstStyle/>
          <a:p>
            <a:pPr defTabSz="304404"/>
            <a:fld id="{B6F15528-21DE-4FAA-801E-634DDDAF4B2B}" type="slidenum">
              <a:rPr lang="en-US" sz="1198" smtClean="0">
                <a:solidFill>
                  <a:prstClr val="black"/>
                </a:solidFill>
              </a:rPr>
              <a:pPr defTabSz="304404"/>
              <a:t>‹#›</a:t>
            </a:fld>
            <a:endParaRPr lang="en-US" sz="1198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895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20B93-CA8D-432E-B613-8C55BEDA434A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32807-1EDE-4860-AD1B-9E81397CB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3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fld id="{54CB286C-67FA-4C98-B5A3-041A10484A65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608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fld id="{54CB286C-67FA-4C98-B5A3-041A10484A65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215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fld id="{54CB286C-67FA-4C98-B5A3-041A10484A65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23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fld id="{54CB286C-67FA-4C98-B5A3-041A10484A65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53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fld id="{54CB286C-67FA-4C98-B5A3-041A10484A65}" type="datetime1">
              <a:rPr lang="en-US" smtClean="0">
                <a:solidFill>
                  <a:prstClr val="black"/>
                </a:solidFill>
              </a:rPr>
              <a:pPr defTabSz="304404"/>
              <a:t>8/17/2026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defTabSz="304404"/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69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3" y="1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2667000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CB286C-67FA-4C98-B5A3-041A10484A65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80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9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75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sldNum="0" hdr="0" ftr="0" dt="0"/>
  <p:txStyles>
    <p:titleStyle>
      <a:lvl1pPr algn="ctr" defTabSz="456910" rtl="0" eaLnBrk="1" latinLnBrk="0" hangingPunct="1">
        <a:spcBef>
          <a:spcPct val="0"/>
        </a:spcBef>
        <a:buNone/>
        <a:defRPr sz="3997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56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398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47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9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99389" indent="-285569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7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207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998981" indent="-171341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006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6991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682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3735" indent="-228455" algn="l" defTabSz="45691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99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1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2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73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64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55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46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370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281" algn="l" defTabSz="45691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gradient-background-with-bright-multicolored-lights-7130490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74" b="7474"/>
          <a:stretch/>
        </p:blipFill>
        <p:spPr>
          <a:xfrm>
            <a:off x="0" y="-27710"/>
            <a:ext cx="12192000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>
          <a:xfrm>
            <a:off x="12713110" y="-27710"/>
            <a:ext cx="12192000" cy="685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Freeform 9"/>
          <p:cNvSpPr/>
          <p:nvPr/>
        </p:nvSpPr>
        <p:spPr>
          <a:xfrm>
            <a:off x="0" y="-2771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189430" y="4754852"/>
                </a:moveTo>
                <a:lnTo>
                  <a:pt x="8217274" y="4845539"/>
                </a:lnTo>
                <a:lnTo>
                  <a:pt x="8161875" y="4845539"/>
                </a:lnTo>
                <a:close/>
                <a:moveTo>
                  <a:pt x="9608336" y="4744183"/>
                </a:moveTo>
                <a:cubicBezTo>
                  <a:pt x="9624741" y="4744183"/>
                  <a:pt x="9637734" y="4749660"/>
                  <a:pt x="9647312" y="4760616"/>
                </a:cubicBezTo>
                <a:cubicBezTo>
                  <a:pt x="9656892" y="4771572"/>
                  <a:pt x="9661682" y="4788924"/>
                  <a:pt x="9661682" y="4812671"/>
                </a:cubicBezTo>
                <a:cubicBezTo>
                  <a:pt x="9661682" y="4840893"/>
                  <a:pt x="9657092" y="4860453"/>
                  <a:pt x="9647915" y="4871351"/>
                </a:cubicBezTo>
                <a:cubicBezTo>
                  <a:pt x="9638738" y="4882250"/>
                  <a:pt x="9625774" y="4887699"/>
                  <a:pt x="9609024" y="4887699"/>
                </a:cubicBezTo>
                <a:cubicBezTo>
                  <a:pt x="9592734" y="4887699"/>
                  <a:pt x="9579856" y="4882135"/>
                  <a:pt x="9570392" y="4871007"/>
                </a:cubicBezTo>
                <a:cubicBezTo>
                  <a:pt x="9560927" y="4859879"/>
                  <a:pt x="9556195" y="4841581"/>
                  <a:pt x="9556195" y="4816113"/>
                </a:cubicBezTo>
                <a:cubicBezTo>
                  <a:pt x="9556195" y="4790415"/>
                  <a:pt x="9560956" y="4772003"/>
                  <a:pt x="9570478" y="4760875"/>
                </a:cubicBezTo>
                <a:cubicBezTo>
                  <a:pt x="9580000" y="4749747"/>
                  <a:pt x="9592620" y="4744183"/>
                  <a:pt x="9608336" y="4744183"/>
                </a:cubicBezTo>
                <a:close/>
                <a:moveTo>
                  <a:pt x="2207412" y="4744183"/>
                </a:moveTo>
                <a:cubicBezTo>
                  <a:pt x="2223817" y="4744183"/>
                  <a:pt x="2236809" y="4749660"/>
                  <a:pt x="2246389" y="4760616"/>
                </a:cubicBezTo>
                <a:cubicBezTo>
                  <a:pt x="2255968" y="4771572"/>
                  <a:pt x="2260757" y="4788924"/>
                  <a:pt x="2260757" y="4812671"/>
                </a:cubicBezTo>
                <a:cubicBezTo>
                  <a:pt x="2260757" y="4840893"/>
                  <a:pt x="2256169" y="4860453"/>
                  <a:pt x="2246991" y="4871351"/>
                </a:cubicBezTo>
                <a:cubicBezTo>
                  <a:pt x="2237813" y="4882250"/>
                  <a:pt x="2224849" y="4887699"/>
                  <a:pt x="2208100" y="4887699"/>
                </a:cubicBezTo>
                <a:cubicBezTo>
                  <a:pt x="2191810" y="4887699"/>
                  <a:pt x="2178932" y="4882135"/>
                  <a:pt x="2169468" y="4871007"/>
                </a:cubicBezTo>
                <a:cubicBezTo>
                  <a:pt x="2160003" y="4859879"/>
                  <a:pt x="2155271" y="4841581"/>
                  <a:pt x="2155271" y="4816113"/>
                </a:cubicBezTo>
                <a:cubicBezTo>
                  <a:pt x="2155271" y="4790415"/>
                  <a:pt x="2160032" y="4772003"/>
                  <a:pt x="2169554" y="4760875"/>
                </a:cubicBezTo>
                <a:cubicBezTo>
                  <a:pt x="2179075" y="4749747"/>
                  <a:pt x="2191695" y="4744183"/>
                  <a:pt x="2207412" y="4744183"/>
                </a:cubicBezTo>
                <a:close/>
                <a:moveTo>
                  <a:pt x="4584429" y="4740741"/>
                </a:moveTo>
                <a:lnTo>
                  <a:pt x="4606628" y="4740741"/>
                </a:lnTo>
                <a:cubicBezTo>
                  <a:pt x="4621197" y="4740741"/>
                  <a:pt x="4631121" y="4743494"/>
                  <a:pt x="4636399" y="4749001"/>
                </a:cubicBezTo>
                <a:cubicBezTo>
                  <a:pt x="4641676" y="4754507"/>
                  <a:pt x="4644315" y="4761219"/>
                  <a:pt x="4644315" y="4769134"/>
                </a:cubicBezTo>
                <a:cubicBezTo>
                  <a:pt x="4644315" y="4777280"/>
                  <a:pt x="4641274" y="4783962"/>
                  <a:pt x="4635194" y="4789182"/>
                </a:cubicBezTo>
                <a:cubicBezTo>
                  <a:pt x="4629114" y="4794402"/>
                  <a:pt x="4618559" y="4797012"/>
                  <a:pt x="4603530" y="4797012"/>
                </a:cubicBezTo>
                <a:lnTo>
                  <a:pt x="4584429" y="4797012"/>
                </a:lnTo>
                <a:close/>
                <a:moveTo>
                  <a:pt x="5090631" y="4740397"/>
                </a:moveTo>
                <a:lnTo>
                  <a:pt x="5124875" y="4740397"/>
                </a:lnTo>
                <a:cubicBezTo>
                  <a:pt x="5139101" y="4740397"/>
                  <a:pt x="5148794" y="4742576"/>
                  <a:pt x="5153957" y="4746936"/>
                </a:cubicBezTo>
                <a:cubicBezTo>
                  <a:pt x="5159120" y="4751295"/>
                  <a:pt x="5161701" y="4757548"/>
                  <a:pt x="5161701" y="4765693"/>
                </a:cubicBezTo>
                <a:cubicBezTo>
                  <a:pt x="5161701" y="4771199"/>
                  <a:pt x="5160066" y="4776075"/>
                  <a:pt x="5156797" y="4780320"/>
                </a:cubicBezTo>
                <a:cubicBezTo>
                  <a:pt x="5153527" y="4784565"/>
                  <a:pt x="5149311" y="4787203"/>
                  <a:pt x="5144148" y="4788236"/>
                </a:cubicBezTo>
                <a:cubicBezTo>
                  <a:pt x="5133939" y="4790530"/>
                  <a:pt x="5127056" y="4791677"/>
                  <a:pt x="5123499" y="4791677"/>
                </a:cubicBezTo>
                <a:lnTo>
                  <a:pt x="5090631" y="4791677"/>
                </a:lnTo>
                <a:close/>
                <a:moveTo>
                  <a:pt x="10041016" y="4689460"/>
                </a:moveTo>
                <a:lnTo>
                  <a:pt x="10041016" y="4941733"/>
                </a:lnTo>
                <a:lnTo>
                  <a:pt x="10114324" y="4941733"/>
                </a:lnTo>
                <a:lnTo>
                  <a:pt x="10114324" y="4803218"/>
                </a:lnTo>
                <a:lnTo>
                  <a:pt x="10208797" y="4941733"/>
                </a:lnTo>
                <a:lnTo>
                  <a:pt x="10282276" y="4941733"/>
                </a:lnTo>
                <a:lnTo>
                  <a:pt x="10282276" y="4689460"/>
                </a:lnTo>
                <a:lnTo>
                  <a:pt x="10208797" y="4689460"/>
                </a:lnTo>
                <a:lnTo>
                  <a:pt x="10208797" y="4829030"/>
                </a:lnTo>
                <a:lnTo>
                  <a:pt x="10113807" y="4689460"/>
                </a:lnTo>
                <a:close/>
                <a:moveTo>
                  <a:pt x="9100622" y="4689460"/>
                </a:moveTo>
                <a:lnTo>
                  <a:pt x="9100622" y="4941733"/>
                </a:lnTo>
                <a:lnTo>
                  <a:pt x="9178748" y="4941733"/>
                </a:lnTo>
                <a:lnTo>
                  <a:pt x="9178748" y="4689460"/>
                </a:lnTo>
                <a:close/>
                <a:moveTo>
                  <a:pt x="8565450" y="4689460"/>
                </a:moveTo>
                <a:lnTo>
                  <a:pt x="8565450" y="4751754"/>
                </a:lnTo>
                <a:lnTo>
                  <a:pt x="8644953" y="4751754"/>
                </a:lnTo>
                <a:lnTo>
                  <a:pt x="8644953" y="4941733"/>
                </a:lnTo>
                <a:lnTo>
                  <a:pt x="8722906" y="4941733"/>
                </a:lnTo>
                <a:lnTo>
                  <a:pt x="8722906" y="4751754"/>
                </a:lnTo>
                <a:lnTo>
                  <a:pt x="8802408" y="4751754"/>
                </a:lnTo>
                <a:lnTo>
                  <a:pt x="8802408" y="4689460"/>
                </a:lnTo>
                <a:close/>
                <a:moveTo>
                  <a:pt x="8147872" y="4689460"/>
                </a:moveTo>
                <a:lnTo>
                  <a:pt x="8053054" y="4941733"/>
                </a:lnTo>
                <a:lnTo>
                  <a:pt x="8132648" y="4941733"/>
                </a:lnTo>
                <a:lnTo>
                  <a:pt x="8144943" y="4900089"/>
                </a:lnTo>
                <a:lnTo>
                  <a:pt x="8233445" y="4900089"/>
                </a:lnTo>
                <a:lnTo>
                  <a:pt x="8246066" y="4941733"/>
                </a:lnTo>
                <a:lnTo>
                  <a:pt x="8327698" y="4941733"/>
                </a:lnTo>
                <a:lnTo>
                  <a:pt x="8232902" y="4689460"/>
                </a:lnTo>
                <a:close/>
                <a:moveTo>
                  <a:pt x="7574851" y="4689460"/>
                </a:moveTo>
                <a:lnTo>
                  <a:pt x="7574851" y="4751754"/>
                </a:lnTo>
                <a:lnTo>
                  <a:pt x="7654353" y="4751754"/>
                </a:lnTo>
                <a:lnTo>
                  <a:pt x="7654353" y="4941733"/>
                </a:lnTo>
                <a:lnTo>
                  <a:pt x="7732306" y="4941733"/>
                </a:lnTo>
                <a:lnTo>
                  <a:pt x="7732306" y="4751754"/>
                </a:lnTo>
                <a:lnTo>
                  <a:pt x="7811809" y="4751754"/>
                </a:lnTo>
                <a:lnTo>
                  <a:pt x="7811809" y="4689460"/>
                </a:lnTo>
                <a:close/>
                <a:moveTo>
                  <a:pt x="7050167" y="4689460"/>
                </a:moveTo>
                <a:lnTo>
                  <a:pt x="7050167" y="4941733"/>
                </a:lnTo>
                <a:lnTo>
                  <a:pt x="7123474" y="4941733"/>
                </a:lnTo>
                <a:lnTo>
                  <a:pt x="7123474" y="4803218"/>
                </a:lnTo>
                <a:lnTo>
                  <a:pt x="7217947" y="4941733"/>
                </a:lnTo>
                <a:lnTo>
                  <a:pt x="7291426" y="4941733"/>
                </a:lnTo>
                <a:lnTo>
                  <a:pt x="7291426" y="4689460"/>
                </a:lnTo>
                <a:lnTo>
                  <a:pt x="7217947" y="4689460"/>
                </a:lnTo>
                <a:lnTo>
                  <a:pt x="7217947" y="4829030"/>
                </a:lnTo>
                <a:lnTo>
                  <a:pt x="7122958" y="4689460"/>
                </a:lnTo>
                <a:close/>
                <a:moveTo>
                  <a:pt x="6544653" y="4689460"/>
                </a:moveTo>
                <a:lnTo>
                  <a:pt x="6544653" y="4941733"/>
                </a:lnTo>
                <a:lnTo>
                  <a:pt x="6757347" y="4941733"/>
                </a:lnTo>
                <a:lnTo>
                  <a:pt x="6757347" y="4884602"/>
                </a:lnTo>
                <a:lnTo>
                  <a:pt x="6622779" y="4884602"/>
                </a:lnTo>
                <a:lnTo>
                  <a:pt x="6622779" y="4834870"/>
                </a:lnTo>
                <a:lnTo>
                  <a:pt x="6744097" y="4834870"/>
                </a:lnTo>
                <a:lnTo>
                  <a:pt x="6744097" y="4783417"/>
                </a:lnTo>
                <a:lnTo>
                  <a:pt x="6622779" y="4783417"/>
                </a:lnTo>
                <a:lnTo>
                  <a:pt x="6622779" y="4743322"/>
                </a:lnTo>
                <a:lnTo>
                  <a:pt x="6753561" y="4743322"/>
                </a:lnTo>
                <a:lnTo>
                  <a:pt x="6753561" y="4689460"/>
                </a:lnTo>
                <a:close/>
                <a:moveTo>
                  <a:pt x="5535003" y="4689460"/>
                </a:moveTo>
                <a:lnTo>
                  <a:pt x="5535003" y="4941733"/>
                </a:lnTo>
                <a:lnTo>
                  <a:pt x="5747698" y="4941733"/>
                </a:lnTo>
                <a:lnTo>
                  <a:pt x="5747698" y="4884602"/>
                </a:lnTo>
                <a:lnTo>
                  <a:pt x="5613129" y="4884602"/>
                </a:lnTo>
                <a:lnTo>
                  <a:pt x="5613129" y="4834870"/>
                </a:lnTo>
                <a:lnTo>
                  <a:pt x="5734448" y="4834870"/>
                </a:lnTo>
                <a:lnTo>
                  <a:pt x="5734448" y="4783417"/>
                </a:lnTo>
                <a:lnTo>
                  <a:pt x="5613129" y="4783417"/>
                </a:lnTo>
                <a:lnTo>
                  <a:pt x="5613129" y="4743322"/>
                </a:lnTo>
                <a:lnTo>
                  <a:pt x="5743912" y="4743322"/>
                </a:lnTo>
                <a:lnTo>
                  <a:pt x="5743912" y="4689460"/>
                </a:lnTo>
                <a:close/>
                <a:moveTo>
                  <a:pt x="5012333" y="4689460"/>
                </a:moveTo>
                <a:lnTo>
                  <a:pt x="5012333" y="4941733"/>
                </a:lnTo>
                <a:lnTo>
                  <a:pt x="5090631" y="4941733"/>
                </a:lnTo>
                <a:lnTo>
                  <a:pt x="5090631" y="4839344"/>
                </a:lnTo>
                <a:lnTo>
                  <a:pt x="5097515" y="4839344"/>
                </a:lnTo>
                <a:cubicBezTo>
                  <a:pt x="5104627" y="4839344"/>
                  <a:pt x="5110994" y="4841294"/>
                  <a:pt x="5116615" y="4845195"/>
                </a:cubicBezTo>
                <a:cubicBezTo>
                  <a:pt x="5120745" y="4848178"/>
                  <a:pt x="5125449" y="4854659"/>
                  <a:pt x="5130727" y="4864640"/>
                </a:cubicBezTo>
                <a:lnTo>
                  <a:pt x="5172394" y="4941733"/>
                </a:lnTo>
                <a:lnTo>
                  <a:pt x="5260476" y="4941733"/>
                </a:lnTo>
                <a:lnTo>
                  <a:pt x="5222725" y="4868633"/>
                </a:lnTo>
                <a:cubicBezTo>
                  <a:pt x="5220893" y="4864958"/>
                  <a:pt x="5217252" y="4859734"/>
                  <a:pt x="5211807" y="4852959"/>
                </a:cubicBezTo>
                <a:cubicBezTo>
                  <a:pt x="5206361" y="4846184"/>
                  <a:pt x="5202205" y="4841763"/>
                  <a:pt x="5199339" y="4839696"/>
                </a:cubicBezTo>
                <a:cubicBezTo>
                  <a:pt x="5195095" y="4836597"/>
                  <a:pt x="5188332" y="4833497"/>
                  <a:pt x="5179047" y="4830396"/>
                </a:cubicBezTo>
                <a:cubicBezTo>
                  <a:pt x="5190640" y="4827757"/>
                  <a:pt x="5199766" y="4824430"/>
                  <a:pt x="5206424" y="4820415"/>
                </a:cubicBezTo>
                <a:cubicBezTo>
                  <a:pt x="5216869" y="4814105"/>
                  <a:pt x="5225075" y="4805874"/>
                  <a:pt x="5231045" y="4795721"/>
                </a:cubicBezTo>
                <a:cubicBezTo>
                  <a:pt x="5237014" y="4785568"/>
                  <a:pt x="5239999" y="4773494"/>
                  <a:pt x="5239999" y="4759498"/>
                </a:cubicBezTo>
                <a:cubicBezTo>
                  <a:pt x="5239999" y="4743437"/>
                  <a:pt x="5236099" y="4729814"/>
                  <a:pt x="5228297" y="4718628"/>
                </a:cubicBezTo>
                <a:cubicBezTo>
                  <a:pt x="5220496" y="4707443"/>
                  <a:pt x="5210228" y="4699785"/>
                  <a:pt x="5197495" y="4695655"/>
                </a:cubicBezTo>
                <a:cubicBezTo>
                  <a:pt x="5184760" y="4691525"/>
                  <a:pt x="5166348" y="4689460"/>
                  <a:pt x="5142256" y="4689460"/>
                </a:cubicBezTo>
                <a:close/>
                <a:moveTo>
                  <a:pt x="4506131" y="4689460"/>
                </a:moveTo>
                <a:lnTo>
                  <a:pt x="4506131" y="4941733"/>
                </a:lnTo>
                <a:lnTo>
                  <a:pt x="4584429" y="4941733"/>
                </a:lnTo>
                <a:lnTo>
                  <a:pt x="4584429" y="4848120"/>
                </a:lnTo>
                <a:lnTo>
                  <a:pt x="4627106" y="4848120"/>
                </a:lnTo>
                <a:cubicBezTo>
                  <a:pt x="4658539" y="4848120"/>
                  <a:pt x="4681914" y="4840950"/>
                  <a:pt x="4697229" y="4826610"/>
                </a:cubicBezTo>
                <a:cubicBezTo>
                  <a:pt x="4712544" y="4812270"/>
                  <a:pt x="4720203" y="4792366"/>
                  <a:pt x="4720203" y="4766897"/>
                </a:cubicBezTo>
                <a:cubicBezTo>
                  <a:pt x="4720203" y="4742118"/>
                  <a:pt x="4713175" y="4723016"/>
                  <a:pt x="4699123" y="4709594"/>
                </a:cubicBezTo>
                <a:cubicBezTo>
                  <a:pt x="4685069" y="4696171"/>
                  <a:pt x="4663931" y="4689460"/>
                  <a:pt x="4635710" y="4689460"/>
                </a:cubicBezTo>
                <a:close/>
                <a:moveTo>
                  <a:pt x="3566608" y="4689460"/>
                </a:moveTo>
                <a:lnTo>
                  <a:pt x="3664867" y="4836075"/>
                </a:lnTo>
                <a:lnTo>
                  <a:pt x="3664867" y="4941733"/>
                </a:lnTo>
                <a:lnTo>
                  <a:pt x="3742992" y="4941733"/>
                </a:lnTo>
                <a:lnTo>
                  <a:pt x="3742992" y="4836075"/>
                </a:lnTo>
                <a:lnTo>
                  <a:pt x="3841080" y="4689460"/>
                </a:lnTo>
                <a:lnTo>
                  <a:pt x="3754955" y="4689460"/>
                </a:lnTo>
                <a:lnTo>
                  <a:pt x="3704024" y="4774566"/>
                </a:lnTo>
                <a:lnTo>
                  <a:pt x="3653198" y="4689460"/>
                </a:lnTo>
                <a:close/>
                <a:moveTo>
                  <a:pt x="3010191" y="4689460"/>
                </a:moveTo>
                <a:lnTo>
                  <a:pt x="3010191" y="4941733"/>
                </a:lnTo>
                <a:lnTo>
                  <a:pt x="3074033" y="4941733"/>
                </a:lnTo>
                <a:lnTo>
                  <a:pt x="3074033" y="4749345"/>
                </a:lnTo>
                <a:lnTo>
                  <a:pt x="3123134" y="4941733"/>
                </a:lnTo>
                <a:lnTo>
                  <a:pt x="3180921" y="4941733"/>
                </a:lnTo>
                <a:lnTo>
                  <a:pt x="3230112" y="4749345"/>
                </a:lnTo>
                <a:lnTo>
                  <a:pt x="3230112" y="4941733"/>
                </a:lnTo>
                <a:lnTo>
                  <a:pt x="3293955" y="4941733"/>
                </a:lnTo>
                <a:lnTo>
                  <a:pt x="3293955" y="4689460"/>
                </a:lnTo>
                <a:lnTo>
                  <a:pt x="3191499" y="4689460"/>
                </a:lnTo>
                <a:lnTo>
                  <a:pt x="3152245" y="4842958"/>
                </a:lnTo>
                <a:lnTo>
                  <a:pt x="3112709" y="4689460"/>
                </a:lnTo>
                <a:close/>
                <a:moveTo>
                  <a:pt x="1574101" y="4689460"/>
                </a:moveTo>
                <a:lnTo>
                  <a:pt x="1574101" y="4751754"/>
                </a:lnTo>
                <a:lnTo>
                  <a:pt x="1653604" y="4751754"/>
                </a:lnTo>
                <a:lnTo>
                  <a:pt x="1653604" y="4941733"/>
                </a:lnTo>
                <a:lnTo>
                  <a:pt x="1731557" y="4941733"/>
                </a:lnTo>
                <a:lnTo>
                  <a:pt x="1731557" y="4751754"/>
                </a:lnTo>
                <a:lnTo>
                  <a:pt x="1811059" y="4751754"/>
                </a:lnTo>
                <a:lnTo>
                  <a:pt x="1811059" y="4689460"/>
                </a:lnTo>
                <a:close/>
                <a:moveTo>
                  <a:pt x="9608508" y="4685158"/>
                </a:moveTo>
                <a:cubicBezTo>
                  <a:pt x="9567552" y="4685158"/>
                  <a:pt x="9535602" y="4696630"/>
                  <a:pt x="9512658" y="4719575"/>
                </a:cubicBezTo>
                <a:cubicBezTo>
                  <a:pt x="9489714" y="4742519"/>
                  <a:pt x="9478242" y="4774584"/>
                  <a:pt x="9478242" y="4815769"/>
                </a:cubicBezTo>
                <a:cubicBezTo>
                  <a:pt x="9478242" y="4845252"/>
                  <a:pt x="9484036" y="4869803"/>
                  <a:pt x="9495622" y="4889420"/>
                </a:cubicBezTo>
                <a:cubicBezTo>
                  <a:pt x="9507209" y="4909038"/>
                  <a:pt x="9522324" y="4923378"/>
                  <a:pt x="9540966" y="4932441"/>
                </a:cubicBezTo>
                <a:cubicBezTo>
                  <a:pt x="9559608" y="4941504"/>
                  <a:pt x="9583155" y="4946035"/>
                  <a:pt x="9611606" y="4946035"/>
                </a:cubicBezTo>
                <a:cubicBezTo>
                  <a:pt x="9639598" y="4946035"/>
                  <a:pt x="9662972" y="4940787"/>
                  <a:pt x="9681729" y="4930290"/>
                </a:cubicBezTo>
                <a:cubicBezTo>
                  <a:pt x="9700486" y="4919793"/>
                  <a:pt x="9714826" y="4905108"/>
                  <a:pt x="9724750" y="4886237"/>
                </a:cubicBezTo>
                <a:cubicBezTo>
                  <a:pt x="9734674" y="4867365"/>
                  <a:pt x="9739635" y="4843187"/>
                  <a:pt x="9739635" y="4813704"/>
                </a:cubicBezTo>
                <a:cubicBezTo>
                  <a:pt x="9739635" y="4773092"/>
                  <a:pt x="9728278" y="4741515"/>
                  <a:pt x="9705562" y="4718972"/>
                </a:cubicBezTo>
                <a:cubicBezTo>
                  <a:pt x="9682848" y="4696430"/>
                  <a:pt x="9650496" y="4685158"/>
                  <a:pt x="9608508" y="4685158"/>
                </a:cubicBezTo>
                <a:close/>
                <a:moveTo>
                  <a:pt x="6143078" y="4685158"/>
                </a:moveTo>
                <a:cubicBezTo>
                  <a:pt x="6116807" y="4685158"/>
                  <a:pt x="6096128" y="4688456"/>
                  <a:pt x="6081043" y="4695053"/>
                </a:cubicBezTo>
                <a:cubicBezTo>
                  <a:pt x="6065956" y="4701649"/>
                  <a:pt x="6054656" y="4710712"/>
                  <a:pt x="6047142" y="4722242"/>
                </a:cubicBezTo>
                <a:cubicBezTo>
                  <a:pt x="6039628" y="4733772"/>
                  <a:pt x="6035871" y="4746018"/>
                  <a:pt x="6035871" y="4758982"/>
                </a:cubicBezTo>
                <a:cubicBezTo>
                  <a:pt x="6035871" y="4778714"/>
                  <a:pt x="6043213" y="4794947"/>
                  <a:pt x="6057898" y="4807681"/>
                </a:cubicBezTo>
                <a:cubicBezTo>
                  <a:pt x="6072467" y="4820415"/>
                  <a:pt x="6096845" y="4830625"/>
                  <a:pt x="6131033" y="4838312"/>
                </a:cubicBezTo>
                <a:cubicBezTo>
                  <a:pt x="6151912" y="4842901"/>
                  <a:pt x="6165219" y="4847776"/>
                  <a:pt x="6170956" y="4852939"/>
                </a:cubicBezTo>
                <a:cubicBezTo>
                  <a:pt x="6176691" y="4858101"/>
                  <a:pt x="6179560" y="4863952"/>
                  <a:pt x="6179560" y="4870491"/>
                </a:cubicBezTo>
                <a:cubicBezTo>
                  <a:pt x="6179560" y="4877374"/>
                  <a:pt x="6176548" y="4883426"/>
                  <a:pt x="6170526" y="4888646"/>
                </a:cubicBezTo>
                <a:cubicBezTo>
                  <a:pt x="6164503" y="4893866"/>
                  <a:pt x="6155927" y="4896476"/>
                  <a:pt x="6144799" y="4896476"/>
                </a:cubicBezTo>
                <a:cubicBezTo>
                  <a:pt x="6129885" y="4896476"/>
                  <a:pt x="6118413" y="4891370"/>
                  <a:pt x="6110383" y="4881160"/>
                </a:cubicBezTo>
                <a:cubicBezTo>
                  <a:pt x="6105449" y="4874850"/>
                  <a:pt x="6102180" y="4865673"/>
                  <a:pt x="6100574" y="4853627"/>
                </a:cubicBezTo>
                <a:lnTo>
                  <a:pt x="6026406" y="4858273"/>
                </a:lnTo>
                <a:cubicBezTo>
                  <a:pt x="6028586" y="4883741"/>
                  <a:pt x="6037936" y="4904735"/>
                  <a:pt x="6054456" y="4921255"/>
                </a:cubicBezTo>
                <a:cubicBezTo>
                  <a:pt x="6070976" y="4937775"/>
                  <a:pt x="6100689" y="4946035"/>
                  <a:pt x="6143595" y="4946035"/>
                </a:cubicBezTo>
                <a:cubicBezTo>
                  <a:pt x="6168030" y="4946035"/>
                  <a:pt x="6188279" y="4942508"/>
                  <a:pt x="6204340" y="4935452"/>
                </a:cubicBezTo>
                <a:cubicBezTo>
                  <a:pt x="6220400" y="4928397"/>
                  <a:pt x="6232905" y="4918043"/>
                  <a:pt x="6241854" y="4904391"/>
                </a:cubicBezTo>
                <a:cubicBezTo>
                  <a:pt x="6250802" y="4890739"/>
                  <a:pt x="6255276" y="4875826"/>
                  <a:pt x="6255276" y="4859650"/>
                </a:cubicBezTo>
                <a:cubicBezTo>
                  <a:pt x="6255276" y="4845883"/>
                  <a:pt x="6251921" y="4833436"/>
                  <a:pt x="6245209" y="4822308"/>
                </a:cubicBezTo>
                <a:cubicBezTo>
                  <a:pt x="6238498" y="4811180"/>
                  <a:pt x="6227771" y="4801859"/>
                  <a:pt x="6213030" y="4794345"/>
                </a:cubicBezTo>
                <a:cubicBezTo>
                  <a:pt x="6198288" y="4786830"/>
                  <a:pt x="6173881" y="4779402"/>
                  <a:pt x="6139809" y="4772060"/>
                </a:cubicBezTo>
                <a:cubicBezTo>
                  <a:pt x="6126042" y="4769192"/>
                  <a:pt x="6117323" y="4766094"/>
                  <a:pt x="6113652" y="4762767"/>
                </a:cubicBezTo>
                <a:cubicBezTo>
                  <a:pt x="6109866" y="4759555"/>
                  <a:pt x="6107974" y="4755941"/>
                  <a:pt x="6107974" y="4751926"/>
                </a:cubicBezTo>
                <a:cubicBezTo>
                  <a:pt x="6107974" y="4746420"/>
                  <a:pt x="6110268" y="4741745"/>
                  <a:pt x="6114857" y="4737901"/>
                </a:cubicBezTo>
                <a:cubicBezTo>
                  <a:pt x="6119446" y="4734058"/>
                  <a:pt x="6126271" y="4732137"/>
                  <a:pt x="6135335" y="4732137"/>
                </a:cubicBezTo>
                <a:cubicBezTo>
                  <a:pt x="6146348" y="4732137"/>
                  <a:pt x="6154981" y="4734718"/>
                  <a:pt x="6161233" y="4739880"/>
                </a:cubicBezTo>
                <a:cubicBezTo>
                  <a:pt x="6167485" y="4745043"/>
                  <a:pt x="6171587" y="4753303"/>
                  <a:pt x="6173537" y="4764660"/>
                </a:cubicBezTo>
                <a:lnTo>
                  <a:pt x="6247016" y="4760358"/>
                </a:lnTo>
                <a:cubicBezTo>
                  <a:pt x="6243804" y="4734202"/>
                  <a:pt x="6233737" y="4715129"/>
                  <a:pt x="6216816" y="4703141"/>
                </a:cubicBezTo>
                <a:cubicBezTo>
                  <a:pt x="6199894" y="4691152"/>
                  <a:pt x="6175315" y="4685158"/>
                  <a:pt x="6143078" y="4685158"/>
                </a:cubicBezTo>
                <a:close/>
                <a:moveTo>
                  <a:pt x="2207584" y="4685158"/>
                </a:moveTo>
                <a:cubicBezTo>
                  <a:pt x="2166628" y="4685158"/>
                  <a:pt x="2134678" y="4696630"/>
                  <a:pt x="2111734" y="4719575"/>
                </a:cubicBezTo>
                <a:cubicBezTo>
                  <a:pt x="2088789" y="4742519"/>
                  <a:pt x="2077317" y="4774584"/>
                  <a:pt x="2077317" y="4815769"/>
                </a:cubicBezTo>
                <a:cubicBezTo>
                  <a:pt x="2077317" y="4845252"/>
                  <a:pt x="2083111" y="4869803"/>
                  <a:pt x="2094697" y="4889420"/>
                </a:cubicBezTo>
                <a:cubicBezTo>
                  <a:pt x="2106285" y="4909038"/>
                  <a:pt x="2121399" y="4923378"/>
                  <a:pt x="2140041" y="4932441"/>
                </a:cubicBezTo>
                <a:cubicBezTo>
                  <a:pt x="2158683" y="4941504"/>
                  <a:pt x="2182230" y="4946035"/>
                  <a:pt x="2210681" y="4946035"/>
                </a:cubicBezTo>
                <a:cubicBezTo>
                  <a:pt x="2238674" y="4946035"/>
                  <a:pt x="2262048" y="4940787"/>
                  <a:pt x="2280805" y="4930290"/>
                </a:cubicBezTo>
                <a:cubicBezTo>
                  <a:pt x="2299562" y="4919793"/>
                  <a:pt x="2313902" y="4905108"/>
                  <a:pt x="2323826" y="4886237"/>
                </a:cubicBezTo>
                <a:cubicBezTo>
                  <a:pt x="2333749" y="4867365"/>
                  <a:pt x="2338711" y="4843187"/>
                  <a:pt x="2338711" y="4813704"/>
                </a:cubicBezTo>
                <a:cubicBezTo>
                  <a:pt x="2338711" y="4773092"/>
                  <a:pt x="2327353" y="4741515"/>
                  <a:pt x="2304638" y="4718972"/>
                </a:cubicBezTo>
                <a:cubicBezTo>
                  <a:pt x="2281923" y="4696430"/>
                  <a:pt x="2249572" y="4685158"/>
                  <a:pt x="2207584" y="4685158"/>
                </a:cubicBezTo>
                <a:close/>
                <a:moveTo>
                  <a:pt x="7430295" y="2764945"/>
                </a:moveTo>
                <a:cubicBezTo>
                  <a:pt x="7466448" y="2768231"/>
                  <a:pt x="7484524" y="2774805"/>
                  <a:pt x="7484524" y="2784665"/>
                </a:cubicBezTo>
                <a:cubicBezTo>
                  <a:pt x="7504244" y="2784665"/>
                  <a:pt x="7514103" y="2861900"/>
                  <a:pt x="7514103" y="3016372"/>
                </a:cubicBezTo>
                <a:lnTo>
                  <a:pt x="7514103" y="3785441"/>
                </a:lnTo>
                <a:cubicBezTo>
                  <a:pt x="7514103" y="3865963"/>
                  <a:pt x="7512460" y="3916906"/>
                  <a:pt x="7509173" y="3938269"/>
                </a:cubicBezTo>
                <a:cubicBezTo>
                  <a:pt x="7509173" y="4036867"/>
                  <a:pt x="7486167" y="4086166"/>
                  <a:pt x="7440154" y="4086166"/>
                </a:cubicBezTo>
                <a:lnTo>
                  <a:pt x="7420435" y="4086166"/>
                </a:lnTo>
                <a:lnTo>
                  <a:pt x="7390855" y="4081237"/>
                </a:lnTo>
                <a:cubicBezTo>
                  <a:pt x="7361276" y="4081237"/>
                  <a:pt x="7346486" y="4017147"/>
                  <a:pt x="7346486" y="3888969"/>
                </a:cubicBezTo>
                <a:lnTo>
                  <a:pt x="7346486" y="2917773"/>
                </a:lnTo>
                <a:cubicBezTo>
                  <a:pt x="7346486" y="2815888"/>
                  <a:pt x="7374422" y="2764945"/>
                  <a:pt x="7430295" y="2764945"/>
                </a:cubicBezTo>
                <a:close/>
                <a:moveTo>
                  <a:pt x="4384843" y="2490101"/>
                </a:moveTo>
                <a:lnTo>
                  <a:pt x="4384843" y="4348685"/>
                </a:lnTo>
                <a:lnTo>
                  <a:pt x="4379913" y="4358545"/>
                </a:lnTo>
                <a:lnTo>
                  <a:pt x="4389773" y="4363475"/>
                </a:lnTo>
                <a:lnTo>
                  <a:pt x="5257441" y="4363475"/>
                </a:lnTo>
                <a:lnTo>
                  <a:pt x="5257441" y="3983870"/>
                </a:lnTo>
                <a:lnTo>
                  <a:pt x="4927136" y="3983870"/>
                </a:lnTo>
                <a:lnTo>
                  <a:pt x="4927136" y="2490101"/>
                </a:lnTo>
                <a:close/>
                <a:moveTo>
                  <a:pt x="9980613" y="2480241"/>
                </a:moveTo>
                <a:lnTo>
                  <a:pt x="9980613" y="4363475"/>
                </a:lnTo>
                <a:lnTo>
                  <a:pt x="10922229" y="4363475"/>
                </a:lnTo>
                <a:lnTo>
                  <a:pt x="10922229" y="3983870"/>
                </a:lnTo>
                <a:lnTo>
                  <a:pt x="10527836" y="3983870"/>
                </a:lnTo>
                <a:lnTo>
                  <a:pt x="10527836" y="3574686"/>
                </a:lnTo>
                <a:lnTo>
                  <a:pt x="10863070" y="3574686"/>
                </a:lnTo>
                <a:lnTo>
                  <a:pt x="10863070" y="3214801"/>
                </a:lnTo>
                <a:lnTo>
                  <a:pt x="10527836" y="3214801"/>
                </a:lnTo>
                <a:lnTo>
                  <a:pt x="10527836" y="2859846"/>
                </a:lnTo>
                <a:lnTo>
                  <a:pt x="10887720" y="2859846"/>
                </a:lnTo>
                <a:lnTo>
                  <a:pt x="10887720" y="2480241"/>
                </a:lnTo>
                <a:close/>
                <a:moveTo>
                  <a:pt x="8170863" y="2480241"/>
                </a:moveTo>
                <a:lnTo>
                  <a:pt x="8170863" y="4363475"/>
                </a:lnTo>
                <a:lnTo>
                  <a:pt x="8649066" y="4363475"/>
                </a:lnTo>
                <a:lnTo>
                  <a:pt x="8649066" y="3170432"/>
                </a:lnTo>
                <a:lnTo>
                  <a:pt x="8653996" y="3170432"/>
                </a:lnTo>
                <a:lnTo>
                  <a:pt x="8841334" y="4363475"/>
                </a:lnTo>
                <a:lnTo>
                  <a:pt x="9186429" y="4363475"/>
                </a:lnTo>
                <a:cubicBezTo>
                  <a:pt x="9304747" y="3573043"/>
                  <a:pt x="9363907" y="3170432"/>
                  <a:pt x="9363907" y="3155642"/>
                </a:cubicBezTo>
                <a:lnTo>
                  <a:pt x="9368836" y="3155642"/>
                </a:lnTo>
                <a:lnTo>
                  <a:pt x="9368836" y="4363475"/>
                </a:lnTo>
                <a:lnTo>
                  <a:pt x="9851970" y="4363475"/>
                </a:lnTo>
                <a:lnTo>
                  <a:pt x="9851970" y="2490101"/>
                </a:lnTo>
                <a:cubicBezTo>
                  <a:pt x="9851970" y="2484350"/>
                  <a:pt x="9848683" y="2481063"/>
                  <a:pt x="9842110" y="2480241"/>
                </a:cubicBezTo>
                <a:lnTo>
                  <a:pt x="9137130" y="2480241"/>
                </a:lnTo>
                <a:cubicBezTo>
                  <a:pt x="9058251" y="3040610"/>
                  <a:pt x="9018812" y="3326546"/>
                  <a:pt x="9018812" y="3338049"/>
                </a:cubicBezTo>
                <a:lnTo>
                  <a:pt x="9013882" y="3338049"/>
                </a:lnTo>
                <a:cubicBezTo>
                  <a:pt x="8944862" y="2895999"/>
                  <a:pt x="8898850" y="2610063"/>
                  <a:pt x="8875844" y="2480241"/>
                </a:cubicBezTo>
                <a:close/>
                <a:moveTo>
                  <a:pt x="3294063" y="2480241"/>
                </a:moveTo>
                <a:lnTo>
                  <a:pt x="3294063" y="4363475"/>
                </a:lnTo>
                <a:lnTo>
                  <a:pt x="4235680" y="4363475"/>
                </a:lnTo>
                <a:lnTo>
                  <a:pt x="4235680" y="3983870"/>
                </a:lnTo>
                <a:lnTo>
                  <a:pt x="3841286" y="3983870"/>
                </a:lnTo>
                <a:lnTo>
                  <a:pt x="3841286" y="3574686"/>
                </a:lnTo>
                <a:lnTo>
                  <a:pt x="4176521" y="3574686"/>
                </a:lnTo>
                <a:lnTo>
                  <a:pt x="4176521" y="3214801"/>
                </a:lnTo>
                <a:lnTo>
                  <a:pt x="3841286" y="3214801"/>
                </a:lnTo>
                <a:lnTo>
                  <a:pt x="3841286" y="2859846"/>
                </a:lnTo>
                <a:lnTo>
                  <a:pt x="4201171" y="2859846"/>
                </a:lnTo>
                <a:lnTo>
                  <a:pt x="4201171" y="2480241"/>
                </a:lnTo>
                <a:close/>
                <a:moveTo>
                  <a:pt x="1055809" y="2480241"/>
                </a:moveTo>
                <a:lnTo>
                  <a:pt x="1297376" y="4363475"/>
                </a:lnTo>
                <a:lnTo>
                  <a:pt x="1977707" y="4363475"/>
                </a:lnTo>
                <a:cubicBezTo>
                  <a:pt x="2063159" y="3814609"/>
                  <a:pt x="2110815" y="3495807"/>
                  <a:pt x="2120675" y="3407069"/>
                </a:cubicBezTo>
                <a:lnTo>
                  <a:pt x="2125604" y="3407069"/>
                </a:lnTo>
                <a:cubicBezTo>
                  <a:pt x="2184764" y="3826934"/>
                  <a:pt x="2238993" y="4145736"/>
                  <a:pt x="2288292" y="4363475"/>
                </a:cubicBezTo>
                <a:lnTo>
                  <a:pt x="2968623" y="4363475"/>
                </a:lnTo>
                <a:cubicBezTo>
                  <a:pt x="3073795" y="3559075"/>
                  <a:pt x="3154317" y="2931330"/>
                  <a:pt x="3210189" y="2480241"/>
                </a:cubicBezTo>
                <a:lnTo>
                  <a:pt x="2677757" y="2480241"/>
                </a:lnTo>
                <a:cubicBezTo>
                  <a:pt x="2582445" y="3153177"/>
                  <a:pt x="2534789" y="3580438"/>
                  <a:pt x="2534789" y="3762024"/>
                </a:cubicBezTo>
                <a:lnTo>
                  <a:pt x="2529859" y="3762024"/>
                </a:lnTo>
                <a:cubicBezTo>
                  <a:pt x="2470700" y="3071012"/>
                  <a:pt x="2436190" y="2691407"/>
                  <a:pt x="2426330" y="2623209"/>
                </a:cubicBezTo>
                <a:cubicBezTo>
                  <a:pt x="2422222" y="2527897"/>
                  <a:pt x="2415649" y="2480241"/>
                  <a:pt x="2406611" y="2480241"/>
                </a:cubicBezTo>
                <a:lnTo>
                  <a:pt x="1844598" y="2480241"/>
                </a:lnTo>
                <a:cubicBezTo>
                  <a:pt x="1785439" y="2850808"/>
                  <a:pt x="1736140" y="3264922"/>
                  <a:pt x="1696700" y="3722584"/>
                </a:cubicBezTo>
                <a:lnTo>
                  <a:pt x="1691771" y="3722584"/>
                </a:lnTo>
                <a:cubicBezTo>
                  <a:pt x="1691771" y="3703686"/>
                  <a:pt x="1657261" y="3289572"/>
                  <a:pt x="1588242" y="2480241"/>
                </a:cubicBezTo>
                <a:close/>
                <a:moveTo>
                  <a:pt x="5981490" y="2459289"/>
                </a:moveTo>
                <a:cubicBezTo>
                  <a:pt x="5898503" y="2459289"/>
                  <a:pt x="5813051" y="2474079"/>
                  <a:pt x="5725134" y="2503659"/>
                </a:cubicBezTo>
                <a:cubicBezTo>
                  <a:pt x="5579701" y="2558709"/>
                  <a:pt x="5479459" y="2644162"/>
                  <a:pt x="5424408" y="2760015"/>
                </a:cubicBezTo>
                <a:cubicBezTo>
                  <a:pt x="5394828" y="2792881"/>
                  <a:pt x="5380039" y="2991722"/>
                  <a:pt x="5380039" y="3356537"/>
                </a:cubicBezTo>
                <a:lnTo>
                  <a:pt x="5380039" y="3553734"/>
                </a:lnTo>
                <a:cubicBezTo>
                  <a:pt x="5380039" y="3925122"/>
                  <a:pt x="5412905" y="4140396"/>
                  <a:pt x="5478637" y="4199555"/>
                </a:cubicBezTo>
                <a:cubicBezTo>
                  <a:pt x="5590382" y="4337593"/>
                  <a:pt x="5764573" y="4406612"/>
                  <a:pt x="6001210" y="4406612"/>
                </a:cubicBezTo>
                <a:lnTo>
                  <a:pt x="6055439" y="4406612"/>
                </a:lnTo>
                <a:cubicBezTo>
                  <a:pt x="6276464" y="4406612"/>
                  <a:pt x="6450656" y="4332663"/>
                  <a:pt x="6578012" y="4184765"/>
                </a:cubicBezTo>
                <a:cubicBezTo>
                  <a:pt x="6640458" y="4120676"/>
                  <a:pt x="6671680" y="3957988"/>
                  <a:pt x="6671680" y="3696702"/>
                </a:cubicBezTo>
                <a:lnTo>
                  <a:pt x="6671680" y="3617823"/>
                </a:lnTo>
                <a:lnTo>
                  <a:pt x="6124458" y="3617823"/>
                </a:lnTo>
                <a:lnTo>
                  <a:pt x="6124458" y="3918549"/>
                </a:lnTo>
                <a:cubicBezTo>
                  <a:pt x="6124458" y="4030294"/>
                  <a:pt x="6096522" y="4086166"/>
                  <a:pt x="6040649" y="4086166"/>
                </a:cubicBezTo>
                <a:lnTo>
                  <a:pt x="6025859" y="4086166"/>
                </a:lnTo>
                <a:cubicBezTo>
                  <a:pt x="6014356" y="4086166"/>
                  <a:pt x="5999566" y="4084523"/>
                  <a:pt x="5981490" y="4081237"/>
                </a:cubicBezTo>
                <a:cubicBezTo>
                  <a:pt x="5948623" y="4071377"/>
                  <a:pt x="5932191" y="4023721"/>
                  <a:pt x="5932191" y="3938269"/>
                </a:cubicBezTo>
                <a:lnTo>
                  <a:pt x="5932191" y="2927633"/>
                </a:lnTo>
                <a:cubicBezTo>
                  <a:pt x="5932191" y="2829034"/>
                  <a:pt x="5958484" y="2779735"/>
                  <a:pt x="6011070" y="2779735"/>
                </a:cubicBezTo>
                <a:lnTo>
                  <a:pt x="6055439" y="2779735"/>
                </a:lnTo>
                <a:cubicBezTo>
                  <a:pt x="6062834" y="2779735"/>
                  <a:pt x="6069407" y="2781378"/>
                  <a:pt x="6075159" y="2784665"/>
                </a:cubicBezTo>
                <a:cubicBezTo>
                  <a:pt x="6108025" y="2784665"/>
                  <a:pt x="6124458" y="2856970"/>
                  <a:pt x="6124458" y="3001582"/>
                </a:cubicBezTo>
                <a:lnTo>
                  <a:pt x="6124458" y="3312167"/>
                </a:lnTo>
                <a:lnTo>
                  <a:pt x="6671680" y="3312167"/>
                </a:lnTo>
                <a:lnTo>
                  <a:pt x="6671680" y="3134690"/>
                </a:lnTo>
                <a:cubicBezTo>
                  <a:pt x="6671680" y="2961321"/>
                  <a:pt x="6653604" y="2826569"/>
                  <a:pt x="6617451" y="2730435"/>
                </a:cubicBezTo>
                <a:cubicBezTo>
                  <a:pt x="6503241" y="2549671"/>
                  <a:pt x="6315904" y="2459289"/>
                  <a:pt x="6055439" y="2459289"/>
                </a:cubicBezTo>
                <a:close/>
                <a:moveTo>
                  <a:pt x="7415505" y="2444499"/>
                </a:moveTo>
                <a:cubicBezTo>
                  <a:pt x="7154218" y="2444499"/>
                  <a:pt x="6968525" y="2534881"/>
                  <a:pt x="6858423" y="2715646"/>
                </a:cubicBezTo>
                <a:cubicBezTo>
                  <a:pt x="6818983" y="2775627"/>
                  <a:pt x="6799263" y="2920238"/>
                  <a:pt x="6799263" y="3149480"/>
                </a:cubicBezTo>
                <a:lnTo>
                  <a:pt x="6799263" y="3741071"/>
                </a:lnTo>
                <a:cubicBezTo>
                  <a:pt x="6799263" y="3958810"/>
                  <a:pt x="6825557" y="4101778"/>
                  <a:pt x="6878142" y="4169975"/>
                </a:cubicBezTo>
                <a:cubicBezTo>
                  <a:pt x="6998104" y="4327733"/>
                  <a:pt x="7167365" y="4406612"/>
                  <a:pt x="7385925" y="4406612"/>
                </a:cubicBezTo>
                <a:lnTo>
                  <a:pt x="7474664" y="4406612"/>
                </a:lnTo>
                <a:cubicBezTo>
                  <a:pt x="7708836" y="4406612"/>
                  <a:pt x="7883027" y="4317873"/>
                  <a:pt x="7997237" y="4140396"/>
                </a:cubicBezTo>
                <a:cubicBezTo>
                  <a:pt x="8039963" y="4096848"/>
                  <a:pt x="8061326" y="3914441"/>
                  <a:pt x="8061326" y="3593173"/>
                </a:cubicBezTo>
                <a:lnTo>
                  <a:pt x="8061326" y="3257938"/>
                </a:lnTo>
                <a:cubicBezTo>
                  <a:pt x="8061326" y="2979397"/>
                  <a:pt x="8048180" y="2815066"/>
                  <a:pt x="8021886" y="2764945"/>
                </a:cubicBezTo>
                <a:cubicBezTo>
                  <a:pt x="7921644" y="2551315"/>
                  <a:pt x="7732664" y="2444499"/>
                  <a:pt x="7454944" y="2444499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8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randomBar dir="vert"/>
      </p:transition>
    </mc:Choice>
    <mc:Fallback>
      <p:transition spd="slow">
        <p:randomBar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81481E-6 L -1.03464 -4.81481E-6 " pathEditMode="relative" rAng="0" ptsTypes="AA">
                                      <p:cBhvr>
                                        <p:cTn id="6" dur="6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7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46" y="2501188"/>
            <a:ext cx="11563108" cy="1855625"/>
          </a:xfrm>
          <a:prstGeom prst="rect">
            <a:avLst/>
          </a:prstGeom>
        </p:spPr>
        <p:txBody>
          <a:bodyPr vert="horz" wrap="square" lIns="0" tIns="8879" rIns="0" bIns="0" rtlCol="0" anchor="ctr">
            <a:spAutoFit/>
          </a:bodyPr>
          <a:lstStyle/>
          <a:p>
            <a:pPr marL="8456" marR="3382">
              <a:lnSpc>
                <a:spcPct val="100200"/>
              </a:lnSpc>
              <a:spcBef>
                <a:spcPts val="70"/>
              </a:spcBef>
            </a:pPr>
            <a:r>
              <a:rPr lang="en-US" sz="6000" dirty="0">
                <a:solidFill>
                  <a:schemeClr val="bg1"/>
                </a:solidFill>
                <a:latin typeface="Algerian" panose="04020705040A02060702" pitchFamily="82" charset="0"/>
                <a:cs typeface="Times New Roman"/>
              </a:rPr>
              <a:t> </a:t>
            </a:r>
            <a:r>
              <a:rPr lang="en-US" sz="6000" dirty="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“</a:t>
            </a:r>
            <a:r>
              <a:rPr lang="en-US" sz="6000" dirty="0">
                <a:solidFill>
                  <a:srgbClr val="FFFFFF"/>
                </a:solidFill>
                <a:latin typeface="RQND Pro"/>
              </a:rPr>
              <a:t>PARTIAL DIFFERENTIAL EQUATION</a:t>
            </a:r>
            <a:r>
              <a:rPr lang="en-US" sz="6000" dirty="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  <a:t>”</a:t>
            </a:r>
            <a:br>
              <a:rPr lang="en-US" sz="6000" dirty="0">
                <a:solidFill>
                  <a:srgbClr val="FFFFFF"/>
                </a:solidFill>
                <a:latin typeface="RQND Pro"/>
                <a:ea typeface="RQND Pro"/>
                <a:cs typeface="RQND Pro"/>
                <a:sym typeface="RQND Pro"/>
              </a:rPr>
            </a:br>
            <a:endParaRPr sz="6000" dirty="0">
              <a:solidFill>
                <a:schemeClr val="bg1"/>
              </a:solidFill>
              <a:latin typeface="Algerian" panose="04020705040A02060702" pitchFamily="82" charset="0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A7CA69-FFEF-72A5-6BF5-FFC842217A9F}"/>
              </a:ext>
            </a:extLst>
          </p:cNvPr>
          <p:cNvSpPr txBox="1"/>
          <p:nvPr/>
        </p:nvSpPr>
        <p:spPr>
          <a:xfrm>
            <a:off x="3762082" y="993607"/>
            <a:ext cx="4261938" cy="107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6392" b="1" dirty="0">
                <a:solidFill>
                  <a:srgbClr val="FFFF00"/>
                </a:solidFill>
                <a:latin typeface="Freestyle Script" panose="030804020302050B0404" pitchFamily="66" charset="0"/>
              </a:rPr>
              <a:t>Presentation 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6E262-BF82-9549-E649-CFFDAAC407F9}"/>
              </a:ext>
            </a:extLst>
          </p:cNvPr>
          <p:cNvSpPr txBox="1"/>
          <p:nvPr/>
        </p:nvSpPr>
        <p:spPr>
          <a:xfrm>
            <a:off x="3102496" y="4393010"/>
            <a:ext cx="5987009" cy="5635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304404"/>
            <a:endParaRPr lang="en-US" sz="1864" dirty="0">
              <a:solidFill>
                <a:srgbClr val="D64787">
                  <a:lumMod val="40000"/>
                  <a:lumOff val="60000"/>
                </a:srgbClr>
              </a:solidFill>
              <a:latin typeface="Arial Rounded MT Bold" panose="020F0704030504030204" pitchFamily="34" charset="0"/>
            </a:endParaRPr>
          </a:p>
          <a:p>
            <a:pPr defTabSz="304404"/>
            <a:endParaRPr lang="en-US" sz="1198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1263997-E8F4-88EA-1AF1-397BFD3AEEF8}"/>
              </a:ext>
            </a:extLst>
          </p:cNvPr>
          <p:cNvSpPr txBox="1"/>
          <p:nvPr/>
        </p:nvSpPr>
        <p:spPr>
          <a:xfrm>
            <a:off x="2950283" y="885849"/>
            <a:ext cx="6392908" cy="788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3595" dirty="0">
                <a:solidFill>
                  <a:srgbClr val="FF0000"/>
                </a:solidFill>
                <a:latin typeface="Algerian" panose="04020705040A02060702" pitchFamily="82" charset="0"/>
              </a:rPr>
              <a:t>Introduction</a:t>
            </a:r>
          </a:p>
          <a:p>
            <a:pPr defTabSz="304404"/>
            <a:endParaRPr lang="en-US" sz="932" dirty="0">
              <a:solidFill>
                <a:prstClr val="black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50582" y="1651268"/>
            <a:ext cx="979231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Partial Differential Equation</a:t>
            </a: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Partial Differential Equations (PDEs) are mathematical equations involving partial derivatives of an unknown function with respect to two or more independent variables.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PDEs are widely used to describe and analyze physical, engineering, and mathematical phenomena where quantities depend on several variables.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5DC76-398C-F568-1D90-05023B76F682}"/>
              </a:ext>
            </a:extLst>
          </p:cNvPr>
          <p:cNvSpPr txBox="1"/>
          <p:nvPr/>
        </p:nvSpPr>
        <p:spPr>
          <a:xfrm>
            <a:off x="3170711" y="486234"/>
            <a:ext cx="8906493" cy="645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35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Partial Differential Equation (PDE)</a:t>
            </a:r>
          </a:p>
        </p:txBody>
      </p:sp>
      <p:sp>
        <p:nvSpPr>
          <p:cNvPr id="2" name="AutoShape 2" descr="data:image/jpeg;base64,/9j/4AAQSkZJRgABAQAAAQABAAD/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/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//hBcRodHRwOi8vbnMuYWRvYmUuY29tL3hhcC8xLjAvADw/eHBhY2tldCBiZWdpbj0i77u/IiBpZD0iVzVNME1wQ2VoaUh6cmVTek5UY3prYzlkIj8+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+CjxkYzpjcmVhdG9yPjxyZGY6U2VxPjxyZGY6bGk+SHVsdG9uIERldXRzY2g8L3JkZjpsaT48L3JkZjpTZXE+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+PC9kYzpkZXNjcmlwdGlvbj4KPHBsdXM6TGljZW5zb3I+PHJkZjpTZXE+PHJkZjpsaSByZGY6cGFyc2VUeXBlPSdSZXNvdXJjZSc+PHBsdXM6TGljZW5zb3JVUkw+aHR0cHM6Ly93d3cuZ2V0dHlpbWFnZXMuY29tL2RldGFpbC82MTM1MDc1MTY/dXRtX21lZGl1bT1vcmdhbmljJmFtcDt1dG1fc291cmNlPWdvb2dsZSZhbXA7dXRtX2NhbXBhaWduPWlwdGN1cmw8L3BsdXM6TGljZW5zb3JVUkw+PC9yZGY6bGk+PC9yZGY6U2VxPjwvcGx1czpMaWNlbnNvcj4KCQk8L3JkZjpEZXNjcmlwdGlvbj4KCTwvcmRmOlJERj4KPC94OnhtcG1ldGE+Cjw/eHBhY2tldCBlbmQ9InciPz4K/9sAhAAJBgcIBwYJCAcICgoJCw0WDw0MDA0bFBUQFiAdIiIgHR8fJCg0LCQmMScfHy09LTE1Nzo6OiMrP0Q/OEM0OTo3AQoKCg0MDRoPDxo3JR8lNzc3Nzc3Nzc3Nzc3Nzc3Nzc3Nzc3Nzc3Nzc3Nzc3Nzc3Nzc3Nzc3Nzc3Nzc3Nzc3Nzf/wAARCAB4AHgDASIAAhEBAxEB/8QAHAAAAQQDAQAAAAAAAAAAAAAABwABBQYCBAgD/8QAORAAAQMDAwEGBAUDAgcAAAAAAQIDBAAFEQYSITEHE0FRYXEigZGhFDJCscEVI1LR8AgWJGJygqL/xAAUAQEAAAAAAAAAAAAAAAAAAAAA/8QAFBEBAAAAAAAAAAAAAAAAAAAAAP/aAAwDAQACEQMRAD8AMoFOaalQICn9aYVFagv0SyRlOy3EpwM4JoJRRGMk8VWL1rW02vvEKeC3UEgoA8hk/ahVq/tSuM1wM2p78O0M5KAPiGMeNDl6U8+tS3XFKUrqSeTQFXVXafJI7mE+tveMnuSAUggY586rFu7TdR29w/8AXKlNk/lkcn6iqWea8zQG/Rfa21Nkpg6gQllxxWGpKeEc9Ary96JtvucK5I3QpLTwHB2KBxXIJrctN5uNmlCVbJbsZ4dFIP7jofnQdfmsTih32b9pjGpii2XNKY11CfhwfgkY6lPkfHb9PQgqPFAhjyrAgA0s+tYk+tBqzAkppVhPOGyc0qCcpAUiOaVBq3KUiBAkSlkANIKuemfCuZtaakm3uetT725GeAOB9KLPbXfHLdZ48FlRSqUokqB5wnw+9AMhbzu1IKlHwoPFRJNOnoSegr3dhvNnDiFJPkRXpHtsh5SUoQSVflAHJoNUGsVHPGOKJOnuzQSW0v3Z5xpGMlKMAY9TVkhaGsDEkNNxPxOQPid5Ax6UAPIJBOCQOpx0rzODXTkfStuYRtjwGEJIxtS2AP2qr6q7OIM6OsxEJZkgfAsDx9fMUALbWtpxDjS1IcQoKQtJwUkdCD4Gjz2Y9pIvgbtF7WE3MAht7ACXwP2V+9AyfDkW+Y7Elo2PtK2rTWdsfkR7jFfhrUiQ26ktqT1Cs8UHXG4GsSsYxXgy5uQk5ySBk06jjmg07i7sbVnypVp3l3ayr24zSoLlTGs6Yig5y7Ybt/UdYvspXubhpDKffqfuftWl2fW9qRIlSn0ghlICc+ZrLtcQ83r65JebCAdikYGNySkc/XP0rDSbxZtMruzhwupPyGKDK8FBnLaGMJOBnx+dWnS9rbS2l2VgKIBa546/vVDnvkyytI59as2m7kEqbadeJAIKUhWB09OtASpshSYR+AlYO04+58sf61t2wIcdYUnoBjBqBt9yYdWpqQsBJ/NuHAzjGKsVn7tboSGgnaODgdKCwtJw3yBWtKZBB44NbTfTjpWD4G0/xQAPtls7Ua4InNIUlSsJWR0Oc49jVP0Q8yxq21LkNhxv8QElJTnk8A/IkH5US+26BJdt7UtpO9plf9zrlIPj+1Dvs8iuS9ZWxtoZKXCs8ZwADQdKNHCAKdXSnQnaMHnHjTLOAaCHuyQphWemKevK9LPcrSPKmoL2D40ia8UOBXSvQUAn7frM49brdeWkApirUy8fEJXjafbcMf8AtQw03n+8kdANxHnXT11t0a722Tb5qAuPIbKFpPkfEeo61zmzZZNk1LcLNIwpxjgODgLTxhQ9wR7UETMTuJJ6+1etrddbdAbwnrz5Cpn+lGRJd2DvG2gA4oJzlR8APE1FzHp1nnKKIaEpRyA+jPHryKApxUx2rXb5RbBUtYQoJH6jxg/z7VnpObKYkyIk0/3UPbOmPh6jHyINDRWuJ7UJlh1mM9HccC/hyNpSeU48D+XnywfE1YdUtzbhbmJdpmluO5GEhwpUAv8AxCQrOc89POgMkq6W63tI/Gzo7G7hIcdCSr2z1rCPcYc5JVGkNrHooGuUmW3ZEtIWgl1SN4LyiMjGR165os9nF9cNglOTmIcG2xWStE3ui0rvh1T47hjxGKC3a5i99pu58ciO4f8A5oL9mKUQdVtTZ6HEMR2StTgICW8jgqOeBg9OtGIKk6pgNtqWGbW6nc+pleVPJ/wB6gHx4Bx70NbNZ7a3G1dZ3XT/AFBXeiGytJSFJQSUqSfE5/agOLa0uIS4hQUlQyCPEUnEhQ6VBaEdcXpG0d7neIjYOev5asJHHNBCXNnKDke9KpCSkLSQfalQbcKSHEBYNSaCCAaHtm1C226hh1KyVHbuHQVfIytyAc8UHlfXpMax3B+AndLajOLZTjOVhJI+9cuWyTJmXJDjsp7vHio94VEnceT9TXWKa5r7R7V/y3ruShlvu4zqxLZCRwArqB7KCvtQWW2BabGhECScfi3W5EgJxvVgK4zyDt24yOcHyqq63mRXnWGYkVDbjSSVvpPLm5OCFA5z06586aJe3bcZBaQh6LKCe/jOEhK8cggjlKh4EefiOKhLg83JfU42laUK52qIJHpnjP0oNJD6kQ3ooaaKXXELLhSd6SnOMHOAPiOeKK+jtHQ9VdnbCNpbksSlOJKVFIdORuSr3CQM+BAPuKSApXwjA8qPHYW6hzSMhnPxszF7h6EAigGeptI3V6W5c4YE5lZ+IIJKk44IIPOcg5HUHirZ2fLhoZTEfjLRIyMJWOhPXHl70T32oMGU48QltUhe4jGApXiffpWLlrgqdEnuUBYHCkjFB4usiPGDTICUBOE44xVK1bpmZfrjZ5UQIjpgtqU5JJ5cJPKMfI8nzq+OpBaUk1E2/wDEyLk82stCKyAEgE7yT5jpQSFrjCPEabAwEoArc6g+tYrIQcU4WMZoNKWoRwVrUMedKo7UroVDcQD8VKgoNvUtUpHecYPHrRgsiiuE3nrihZGhOfjUqTkjdzRTsaNkNCc+FBJpqta40ZA1bEbD6izMYB7iQkZxnqCPEHirMOKXPjQcw6g05c9NrREu7SEOKG5Cm17krTnGQf8AWoSQnA4FHPtqtIkWOPdUnCojmxQ80rIH74+tBEJDiCj9QNBHpOCc0R+xzUsOzXOdHnPpZZkNghTigBuB46+Jzj1oeuIAUcVMwV2hzTzUZ51Me5s3RD5WtJwuPtwoBXQEHnFB0E5uusZbdzjtMgrJaDT3eHH6VZwMH05Hqa3YyCzHSyte/A+FfnVIs+sk3mIpy32S8pCEnu3SwFNLwccLz/vFS9hv1wkPoiXW0vxCvOx4uIWg4/8AEkg+9BNvHbuJIGBQQ7RdQXW0agbVa570cqTlQR0JB8QetHCYAmOtRVgVzPr64i46mlqQctMq7tHy60Bo7KtQXLVtrmP3UIJYdDaHUI27jjJ/j61ZphcjnaskeIPnWt2bWT+gaMtsRaCmQtvvnweoWv4iD7ZA+VTtwhiYwUE7VfpV5UA41RcQ2heTgY6UqhNdxJUOUpt4EYGQR0UPMUqC525j+9gIzz0xV0hJCGkgDpUXb4SUEOAfEetTbaAE8UHqKfHnST0pUFZ7RNNDVGmnobayiSyr8RGUDx3iQcA+hBI+efCuaWnilYJSRkcg8Yrrz1rlvXVqXZ9WXSKoYAkLcR6oWdyfsQPlQQi+TWUaQ7Hc3sqCVEFOSkHg8HrW2q3Potca5YSuM+4trck5KHE9Uq8jggjzBr1hWaTMcGxvj1OKAp6FZnsQmPx+oobkd3HdRVOpCkH/ABA/ir46zsQg95kjk0HLVo+fCmRbrvZYEdaV8j4QAf5ozwrxabkhbLcphxQGHGgemfSgr2qr6zDs0qUlY2soUQfM+A+tAXRVuVf9Z2yI4N4elBx4EZyhJ3q+wNW7tjVItU8WlG4Qn8SGlZ/Mnpt+RB+1ev8Aw/W1cjU824Y/txIuzOP1rIx9kqoD4BSI4p8cdKR5BoIbUen41+iht5RacRnY4BnGfA+lKpinoI+GnaopPnUiDTUqD0T0pZFKlQYFwHgHigl24sMrvcSQ3jvFRtq/XCjj96VKgoFrmOw3G0KWpUbvQ4po/kKsY3Y6ZwTXQ+lYtunWpiW3BTlxAO5bQBPr/v0pUqDculhNzQ4y/MebjrCQGmAlOMf92CevljpVac7JtNBpYYalMvFOESG5Kwpo4wCBnHHqKVKgCGuTfmr0bbqWSt+RAT3LSlYwW+oUPPPXJ58D0o3diNp/puim31pw9OdU+rP+PRI+gB+dNSoCB4cdKb2NKlQJVKlSoP/Z"/>
          <p:cNvSpPr>
            <a:spLocks noChangeAspect="1" noChangeArrowheads="1"/>
          </p:cNvSpPr>
          <p:nvPr/>
        </p:nvSpPr>
        <p:spPr bwMode="auto">
          <a:xfrm>
            <a:off x="3812819" y="2769414"/>
            <a:ext cx="1775808" cy="17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885" tIns="30442" rIns="60885" bIns="30442" numCol="1" anchor="t" anchorCtr="0" compatLnSpc="1">
            <a:prstTxWarp prst="textNoShape">
              <a:avLst/>
            </a:prstTxWarp>
          </a:bodyPr>
          <a:lstStyle/>
          <a:p>
            <a:pPr defTabSz="304404"/>
            <a:endParaRPr lang="en-US" sz="1198">
              <a:solidFill>
                <a:prstClr val="black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-3355805" y="-256670"/>
            <a:ext cx="7379804" cy="7345917"/>
            <a:chOff x="-3355805" y="-256670"/>
            <a:chExt cx="7379804" cy="7345917"/>
          </a:xfrm>
        </p:grpSpPr>
        <p:sp useBgFill="1">
          <p:nvSpPr>
            <p:cNvPr id="5" name="Flowchart: Summing Junction 4"/>
            <p:cNvSpPr/>
            <p:nvPr/>
          </p:nvSpPr>
          <p:spPr>
            <a:xfrm rot="10800000"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01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02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03</a:t>
              </a:r>
            </a:p>
          </p:txBody>
        </p:sp>
      </p:grpSp>
      <p:sp useBgFill="1">
        <p:nvSpPr>
          <p:cNvPr id="10" name="Oval 9"/>
          <p:cNvSpPr/>
          <p:nvPr/>
        </p:nvSpPr>
        <p:spPr>
          <a:xfrm rot="16200000">
            <a:off x="-909156" y="2130078"/>
            <a:ext cx="2486507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D41DF-5F1D-E279-D4E6-F39C5210FA1C}"/>
                  </a:ext>
                </a:extLst>
              </p:cNvPr>
              <p:cNvSpPr txBox="1"/>
              <p:nvPr/>
            </p:nvSpPr>
            <p:spPr>
              <a:xfrm>
                <a:off x="4441371" y="1555671"/>
                <a:ext cx="7469580" cy="5210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partial differential equation (PDE) is an equation involving partial derivatives of an unknown function with respect to two or more independent variables.</a:t>
                </a:r>
              </a:p>
              <a:p>
                <a:r>
                  <a:rPr lang="en-US" b="1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Form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F(x, y, z,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0" smtClean="0"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i="0" smtClean="0">
                                <a:ea typeface="Cambria Math" panose="02040503050406030204" pitchFamily="18" charset="0"/>
                              </a:rPr>
                              <m:t>∂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0"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i="0">
                                <a:ea typeface="Cambria Math" panose="02040503050406030204" pitchFamily="18" charset="0"/>
                              </a:rPr>
                              <m:t>∂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… ) = 0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z=z(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dependent variable.</a:t>
                </a: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a PDE because z depends on two independent variables x and y and contains their partial derivatives.</a:t>
                </a:r>
              </a:p>
              <a:p>
                <a:r>
                  <a:rPr lang="en-US" b="1" i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Independent variables: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,…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Dependent variable: z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Contains partial derivatives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PDE can be classified by order, degree, linearity, and homogeneity.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1D41DF-5F1D-E279-D4E6-F39C5210F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71" y="1555671"/>
                <a:ext cx="7469580" cy="5210337"/>
              </a:xfrm>
              <a:prstGeom prst="rect">
                <a:avLst/>
              </a:prstGeom>
              <a:blipFill>
                <a:blip r:embed="rId4"/>
                <a:stretch>
                  <a:fillRect l="-735" t="-5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1347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18956B-1C67-4A87-8CC3-F65D34ECFD82}"/>
              </a:ext>
            </a:extLst>
          </p:cNvPr>
          <p:cNvSpPr txBox="1"/>
          <p:nvPr/>
        </p:nvSpPr>
        <p:spPr>
          <a:xfrm>
            <a:off x="3776353" y="278147"/>
            <a:ext cx="8110846" cy="508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 fontAlgn="base">
              <a:lnSpc>
                <a:spcPct val="110000"/>
              </a:lnSpc>
              <a:spcAft>
                <a:spcPts val="583"/>
              </a:spcAft>
              <a:buClr>
                <a:srgbClr val="000000"/>
              </a:buClr>
              <a:buSzPts val="1100"/>
            </a:pPr>
            <a:r>
              <a:rPr lang="en-US" sz="2600" dirty="0"/>
              <a:t> </a:t>
            </a:r>
            <a:r>
              <a:rPr lang="en-US" sz="2600" b="1" kern="0" dirty="0">
                <a:solidFill>
                  <a:srgbClr val="FF0000"/>
                </a:solidFill>
                <a:latin typeface="Algerian" panose="04020705040A02060702" pitchFamily="82" charset="0"/>
              </a:rPr>
              <a:t>Linearity of Partial Differential Equation</a:t>
            </a:r>
          </a:p>
        </p:txBody>
      </p:sp>
      <p:grpSp>
        <p:nvGrpSpPr>
          <p:cNvPr id="7" name="Group 6"/>
          <p:cNvGrpSpPr/>
          <p:nvPr/>
        </p:nvGrpSpPr>
        <p:grpSpPr>
          <a:xfrm rot="16200000">
            <a:off x="-3067049" y="-256670"/>
            <a:ext cx="7379804" cy="7345917"/>
            <a:chOff x="-3355805" y="-256670"/>
            <a:chExt cx="7379804" cy="7345917"/>
          </a:xfrm>
        </p:grpSpPr>
        <p:sp useBgFill="1">
          <p:nvSpPr>
            <p:cNvPr id="8" name="Flowchart: Summing Junction 7"/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01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03</a:t>
              </a:r>
            </a:p>
          </p:txBody>
        </p:sp>
      </p:grpSp>
      <p:sp useBgFill="1">
        <p:nvSpPr>
          <p:cNvPr id="13" name="Oval 12"/>
          <p:cNvSpPr/>
          <p:nvPr/>
        </p:nvSpPr>
        <p:spPr>
          <a:xfrm rot="2701225">
            <a:off x="-584478" y="2218016"/>
            <a:ext cx="2414663" cy="2396544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9BF3C1-E69C-8E0F-83A2-5ED31043428B}"/>
                  </a:ext>
                </a:extLst>
              </p:cNvPr>
              <p:cNvSpPr txBox="1"/>
              <p:nvPr/>
            </p:nvSpPr>
            <p:spPr>
              <a:xfrm>
                <a:off x="4597052" y="701459"/>
                <a:ext cx="7290147" cy="6274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PDE is called linear if the dependent variable and its partial derivatives occur only to the first degree and are not multiplied together.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Form: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linear PDE of order n can be written as: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​(x, y)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​(x, y)z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​(x, 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​+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​(x, y)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+ ⋯ = 0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the coefficients depend only on the independent variables.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Conditions for Linearity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PDE is linear if: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z and its derivatives have degree 1. 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 … are not multiplied together. </a:t>
                </a:r>
              </a:p>
              <a:p>
                <a:pPr lvl="4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No nonlinear function of z or its derivatives occurs.</a:t>
                </a:r>
              </a:p>
              <a:p>
                <a:r>
                  <a:rPr lang="en-US" b="1" dirty="0">
                    <a:highlight>
                      <a:srgbClr val="FF00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of Linear PDE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                            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+3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all occur to the first degree and are not multiplied together.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it is a linear PDE.</a:t>
                </a: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of Non-linear PDE</a:t>
                </a:r>
              </a:p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                     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​+ z = 0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and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are multiplied together.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it is non-linear.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9BF3C1-E69C-8E0F-83A2-5ED310434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052" y="701459"/>
                <a:ext cx="7290147" cy="6274025"/>
              </a:xfrm>
              <a:prstGeom prst="rect">
                <a:avLst/>
              </a:prstGeom>
              <a:blipFill>
                <a:blip r:embed="rId4"/>
                <a:stretch>
                  <a:fillRect l="-669" t="-4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23900A9-9ADA-045B-0217-9ABE59BF0CE8}"/>
              </a:ext>
            </a:extLst>
          </p:cNvPr>
          <p:cNvSpPr txBox="1"/>
          <p:nvPr/>
        </p:nvSpPr>
        <p:spPr>
          <a:xfrm>
            <a:off x="8617907" y="5386951"/>
            <a:ext cx="3281818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Key Point:</a:t>
            </a:r>
          </a:p>
          <a:p>
            <a:r>
              <a:rPr lang="en-US" dirty="0"/>
              <a:t>First degree + no product of dependent variables/derivatives = Linear PDE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1923">
        <p159:morph option="byObject"/>
      </p:transition>
    </mc:Choice>
    <mc:Fallback>
      <p:transition spd="slow" advTm="61923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A5BC5D-8BBF-4AE1-A2F4-9EDDE7211DAC}"/>
              </a:ext>
            </a:extLst>
          </p:cNvPr>
          <p:cNvSpPr txBox="1"/>
          <p:nvPr/>
        </p:nvSpPr>
        <p:spPr>
          <a:xfrm>
            <a:off x="3930733" y="360466"/>
            <a:ext cx="788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404"/>
            <a:r>
              <a:rPr lang="en-US" sz="2800" dirty="0" err="1">
                <a:solidFill>
                  <a:srgbClr val="A666E1">
                    <a:lumMod val="50000"/>
                  </a:srgbClr>
                </a:solidFill>
                <a:latin typeface="Algerian" panose="04020705040A02060702" pitchFamily="82" charset="0"/>
              </a:rPr>
              <a:t>DiHomogeneous</a:t>
            </a:r>
            <a:r>
              <a:rPr lang="en-US" sz="2800" dirty="0">
                <a:solidFill>
                  <a:srgbClr val="A666E1">
                    <a:lumMod val="50000"/>
                  </a:srgbClr>
                </a:solidFill>
                <a:latin typeface="Algerian" panose="04020705040A02060702" pitchFamily="82" charset="0"/>
              </a:rPr>
              <a:t> and Non-Homogeneous PDE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29496" y="1834727"/>
            <a:ext cx="7070612" cy="37304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04404"/>
            <a:endParaRPr lang="en-US" sz="2930" dirty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6783F3-A249-B081-FBFD-F937C7330E83}"/>
              </a:ext>
            </a:extLst>
          </p:cNvPr>
          <p:cNvGrpSpPr/>
          <p:nvPr/>
        </p:nvGrpSpPr>
        <p:grpSpPr>
          <a:xfrm rot="108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6" name="Flowchart: Summing Junction 5">
              <a:extLst>
                <a:ext uri="{FF2B5EF4-FFF2-40B4-BE49-F238E27FC236}">
                  <a16:creationId xmlns:a16="http://schemas.microsoft.com/office/drawing/2014/main" id="{97A423B0-0178-1AE7-7D30-A22AD77A04BC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F399ED-DB66-966F-1677-66D6AD6AC782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54F02A-B5D7-F01D-EB96-C8BDFD17E0FD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04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ECEA8FF-8DF1-A4B6-7B3A-E019D27D8D5F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6330DC-1935-7C4F-9649-58844C6E471A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03</a:t>
              </a:r>
            </a:p>
          </p:txBody>
        </p:sp>
      </p:grpSp>
      <p:sp useBgFill="1">
        <p:nvSpPr>
          <p:cNvPr id="11" name="Oval 10">
            <a:extLst>
              <a:ext uri="{FF2B5EF4-FFF2-40B4-BE49-F238E27FC236}">
                <a16:creationId xmlns:a16="http://schemas.microsoft.com/office/drawing/2014/main" id="{A2CEBBCE-E8CB-7F65-05E2-0BCCAD8BBCCC}"/>
              </a:ext>
            </a:extLst>
          </p:cNvPr>
          <p:cNvSpPr/>
          <p:nvPr/>
        </p:nvSpPr>
        <p:spPr>
          <a:xfrm rot="8119373">
            <a:off x="-856052" y="1990152"/>
            <a:ext cx="2586490" cy="25670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57CE56-73CE-E93F-2D6F-9EA5EDD02A59}"/>
                  </a:ext>
                </a:extLst>
              </p:cNvPr>
              <p:cNvSpPr txBox="1"/>
              <p:nvPr/>
            </p:nvSpPr>
            <p:spPr>
              <a:xfrm>
                <a:off x="4334494" y="1235038"/>
                <a:ext cx="7576457" cy="5588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Homogeneous PDE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Every terms of given model must exist dependent variable. 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L(z) = 0​  ;where L is a linear differential operator.</a:t>
                </a: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endParaRPr lang="en-US" sz="2000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 0 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Non-Homogeneous PDE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linear PDE is called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non-homogeneous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it can be written as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),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endParaRPr lang="en-US" sz="2000" dirty="0">
                  <a:highlight>
                    <a:srgbClr val="FFFF00"/>
                  </a:highlight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𝑥𝑥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𝑦𝑦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400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 </a:t>
                </a:r>
                <a:r>
                  <a:rPr lang="en-US" sz="1400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Homogeneous/non-homogeneous classification applies here to a linear PDE.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57CE56-73CE-E93F-2D6F-9EA5EDD02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494" y="1235038"/>
                <a:ext cx="7576457" cy="5588325"/>
              </a:xfrm>
              <a:prstGeom prst="rect">
                <a:avLst/>
              </a:prstGeom>
              <a:blipFill>
                <a:blip r:embed="rId3"/>
                <a:stretch>
                  <a:fillRect l="-805" t="-655" b="-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ED727A9-5E1D-C679-1699-43837AB733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88583"/>
                  </p:ext>
                </p:extLst>
              </p:nvPr>
            </p:nvGraphicFramePr>
            <p:xfrm>
              <a:off x="7183009" y="4987146"/>
              <a:ext cx="4524498" cy="1484503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2137558">
                      <a:extLst>
                        <a:ext uri="{9D8B030D-6E8A-4147-A177-3AD203B41FA5}">
                          <a16:colId xmlns:a16="http://schemas.microsoft.com/office/drawing/2014/main" val="3410572217"/>
                        </a:ext>
                      </a:extLst>
                    </a:gridCol>
                    <a:gridCol w="2386940">
                      <a:extLst>
                        <a:ext uri="{9D8B030D-6E8A-4147-A177-3AD203B41FA5}">
                          <a16:colId xmlns:a16="http://schemas.microsoft.com/office/drawing/2014/main" val="16783057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Homogeneous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Non-Homogeneous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055075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RHS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 0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RHS (\neq0)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090225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L(z)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L(z) =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18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18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1800" i="1" dirty="0" err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0724276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​</m:t>
                              </m:r>
                            </m:oMath>
                          </a14:m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​= 0 </a:t>
                          </a:r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𝑥𝑥</m:t>
                                  </m:r>
                                </m:sub>
                              </m:sSub>
                              <m:r>
                                <a:rPr lang="en-US" sz="18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​</m:t>
                              </m:r>
                            </m:oMath>
                          </a14:m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8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𝑦𝑦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8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​=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p>
                              </m:sSup>
                            </m:oMath>
                          </a14:m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045568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2ED727A9-5E1D-C679-1699-43837AB733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88583"/>
                  </p:ext>
                </p:extLst>
              </p:nvPr>
            </p:nvGraphicFramePr>
            <p:xfrm>
              <a:off x="7183009" y="4987146"/>
              <a:ext cx="4524498" cy="1484503"/>
            </p:xfrm>
            <a:graphic>
              <a:graphicData uri="http://schemas.openxmlformats.org/drawingml/2006/table">
                <a:tbl>
                  <a:tblPr>
                    <a:tableStyleId>{284E427A-3D55-4303-BF80-6455036E1DE7}</a:tableStyleId>
                  </a:tblPr>
                  <a:tblGrid>
                    <a:gridCol w="2137558">
                      <a:extLst>
                        <a:ext uri="{9D8B030D-6E8A-4147-A177-3AD203B41FA5}">
                          <a16:colId xmlns:a16="http://schemas.microsoft.com/office/drawing/2014/main" val="3410572217"/>
                        </a:ext>
                      </a:extLst>
                    </a:gridCol>
                    <a:gridCol w="2386940">
                      <a:extLst>
                        <a:ext uri="{9D8B030D-6E8A-4147-A177-3AD203B41FA5}">
                          <a16:colId xmlns:a16="http://schemas.microsoft.com/office/drawing/2014/main" val="1678305777"/>
                        </a:ext>
                      </a:extLst>
                    </a:gridCol>
                  </a:tblGrid>
                  <a:tr h="36563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Homogeneous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Non-Homogeneous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05507568"/>
                      </a:ext>
                    </a:extLst>
                  </a:tr>
                  <a:tr h="3656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0" t="-105000" r="-112251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RHS (\neq0)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09022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0" t="-205000" r="-112251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0051" t="-205000" r="-510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7242762"/>
                      </a:ext>
                    </a:extLst>
                  </a:tr>
                  <a:tr h="38747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570" t="-285938" r="-112251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90051" t="-285938" r="-510" b="-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45568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F6CBD3C-D1DA-05CB-26AE-37D4233FD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495428"/>
              </p:ext>
            </p:extLst>
          </p:nvPr>
        </p:nvGraphicFramePr>
        <p:xfrm>
          <a:off x="7184571" y="4619506"/>
          <a:ext cx="2125684" cy="36563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25684">
                  <a:extLst>
                    <a:ext uri="{9D8B030D-6E8A-4147-A177-3AD203B41FA5}">
                      <a16:colId xmlns:a16="http://schemas.microsoft.com/office/drawing/2014/main" val="1664920361"/>
                    </a:ext>
                  </a:extLst>
                </a:gridCol>
              </a:tblGrid>
              <a:tr h="308759">
                <a:tc>
                  <a:txBody>
                    <a:bodyPr/>
                    <a:lstStyle/>
                    <a:p>
                      <a:r>
                        <a:rPr lang="en-US" b="1" dirty="0"/>
                        <a:t>Difference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2146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9885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3D0E9-8F2F-669C-6194-2181CC584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8753B3-A511-CC93-7B8D-31A314622995}"/>
              </a:ext>
            </a:extLst>
          </p:cNvPr>
          <p:cNvSpPr txBox="1"/>
          <p:nvPr/>
        </p:nvSpPr>
        <p:spPr>
          <a:xfrm>
            <a:off x="3336961" y="486234"/>
            <a:ext cx="8906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2800" dirty="0"/>
              <a:t> </a:t>
            </a:r>
            <a:r>
              <a:rPr lang="en-US" sz="28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Formulation of Partial Differential Equation</a:t>
            </a:r>
          </a:p>
        </p:txBody>
      </p:sp>
      <p:sp>
        <p:nvSpPr>
          <p:cNvPr id="2" name="AutoShape 2" descr="data:image/jpeg;base64,/9j/4AAQSkZJRgABAQAAAQABAAD/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/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//hBcRodHRwOi8vbnMuYWRvYmUuY29tL3hhcC8xLjAvADw/eHBhY2tldCBiZWdpbj0i77u/IiBpZD0iVzVNME1wQ2VoaUh6cmVTek5UY3prYzlkIj8+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+CjxkYzpjcmVhdG9yPjxyZGY6U2VxPjxyZGY6bGk+SHVsdG9uIERldXRzY2g8L3JkZjpsaT48L3JkZjpTZXE+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+PC9kYzpkZXNjcmlwdGlvbj4KPHBsdXM6TGljZW5zb3I+PHJkZjpTZXE+PHJkZjpsaSByZGY6cGFyc2VUeXBlPSdSZXNvdXJjZSc+PHBsdXM6TGljZW5zb3JVUkw+aHR0cHM6Ly93d3cuZ2V0dHlpbWFnZXMuY29tL2RldGFpbC82MTM1MDc1MTY/dXRtX21lZGl1bT1vcmdhbmljJmFtcDt1dG1fc291cmNlPWdvb2dsZSZhbXA7dXRtX2NhbXBhaWduPWlwdGN1cmw8L3BsdXM6TGljZW5zb3JVUkw+PC9yZGY6bGk+PC9yZGY6U2VxPjwvcGx1czpMaWNlbnNvcj4KCQk8L3JkZjpEZXNjcmlwdGlvbj4KCTwvcmRmOlJERj4KPC94OnhtcG1ldGE+Cjw/eHBhY2tldCBlbmQ9InciPz4K/9sAhAAJBgcIBwYJCAcICgoJCw0WDw0MDA0bFBUQFiAdIiIgHR8fJCg0LCQmMScfHy09LTE1Nzo6OiMrP0Q/OEM0OTo3AQoKCg0MDRoPDxo3JR8lNzc3Nzc3Nzc3Nzc3Nzc3Nzc3Nzc3Nzc3Nzc3Nzc3Nzc3Nzc3Nzc3Nzc3Nzc3Nzc3Nzf/wAARCAB4AHgDASIAAhEBAxEB/8QAHAAAAQQDAQAAAAAAAAAAAAAABwABBQYCBAgD/8QAORAAAQMDAwEGBAUDAgcAAAAAAQIDBAAFEQYSITEHE0FRYXEigZGhFDJCscEVI1LR8AgWJGJygqL/xAAUAQEAAAAAAAAAAAAAAAAAAAAA/8QAFBEBAAAAAAAAAAAAAAAAAAAAAP/aAAwDAQACEQMRAD8AMoFOaalQICn9aYVFagv0SyRlOy3EpwM4JoJRRGMk8VWL1rW02vvEKeC3UEgoA8hk/ahVq/tSuM1wM2p78O0M5KAPiGMeNDl6U8+tS3XFKUrqSeTQFXVXafJI7mE+tveMnuSAUggY586rFu7TdR29w/8AXKlNk/lkcn6iqWea8zQG/Rfa21Nkpg6gQllxxWGpKeEc9Ary96JtvucK5I3QpLTwHB2KBxXIJrctN5uNmlCVbJbsZ4dFIP7jofnQdfmsTih32b9pjGpii2XNKY11CfhwfgkY6lPkfHb9PQgqPFAhjyrAgA0s+tYk+tBqzAkppVhPOGyc0qCcpAUiOaVBq3KUiBAkSlkANIKuemfCuZtaakm3uetT725GeAOB9KLPbXfHLdZ48FlRSqUokqB5wnw+9AMhbzu1IKlHwoPFRJNOnoSegr3dhvNnDiFJPkRXpHtsh5SUoQSVflAHJoNUGsVHPGOKJOnuzQSW0v3Z5xpGMlKMAY9TVkhaGsDEkNNxPxOQPid5Ax6UAPIJBOCQOpx0rzODXTkfStuYRtjwGEJIxtS2AP2qr6q7OIM6OsxEJZkgfAsDx9fMUALbWtpxDjS1IcQoKQtJwUkdCD4Gjz2Y9pIvgbtF7WE3MAht7ACXwP2V+9AyfDkW+Y7Elo2PtK2rTWdsfkR7jFfhrUiQ26ktqT1Cs8UHXG4GsSsYxXgy5uQk5ySBk06jjmg07i7sbVnypVp3l3ayr24zSoLlTGs6Yig5y7Ybt/UdYvspXubhpDKffqfuftWl2fW9qRIlSn0ghlICc+ZrLtcQ83r65JebCAdikYGNySkc/XP0rDSbxZtMruzhwupPyGKDK8FBnLaGMJOBnx+dWnS9rbS2l2VgKIBa546/vVDnvkyytI59as2m7kEqbadeJAIKUhWB09OtASpshSYR+AlYO04+58sf61t2wIcdYUnoBjBqBt9yYdWpqQsBJ/NuHAzjGKsVn7tboSGgnaODgdKCwtJw3yBWtKZBB44NbTfTjpWD4G0/xQAPtls7Ua4InNIUlSsJWR0Oc49jVP0Q8yxq21LkNhxv8QElJTnk8A/IkH5US+26BJdt7UtpO9plf9zrlIPj+1Dvs8iuS9ZWxtoZKXCs8ZwADQdKNHCAKdXSnQnaMHnHjTLOAaCHuyQphWemKevK9LPcrSPKmoL2D40ia8UOBXSvQUAn7frM49brdeWkApirUy8fEJXjafbcMf8AtQw03n+8kdANxHnXT11t0a722Tb5qAuPIbKFpPkfEeo61zmzZZNk1LcLNIwpxjgODgLTxhQ9wR7UETMTuJJ6+1etrddbdAbwnrz5Cpn+lGRJd2DvG2gA4oJzlR8APE1FzHp1nnKKIaEpRyA+jPHryKApxUx2rXb5RbBUtYQoJH6jxg/z7VnpObKYkyIk0/3UPbOmPh6jHyINDRWuJ7UJlh1mM9HccC/hyNpSeU48D+XnywfE1YdUtzbhbmJdpmluO5GEhwpUAv8AxCQrOc89POgMkq6W63tI/Gzo7G7hIcdCSr2z1rCPcYc5JVGkNrHooGuUmW3ZEtIWgl1SN4LyiMjGR165os9nF9cNglOTmIcG2xWStE3ui0rvh1T47hjxGKC3a5i99pu58ciO4f8A5oL9mKUQdVtTZ6HEMR2StTgICW8jgqOeBg9OtGIKk6pgNtqWGbW6nc+pleVPJ/wB6gHx4Bx70NbNZ7a3G1dZ3XT/AFBXeiGytJSFJQSUqSfE5/agOLa0uIS4hQUlQyCPEUnEhQ6VBaEdcXpG0d7neIjYOev5asJHHNBCXNnKDke9KpCSkLSQfalQbcKSHEBYNSaCCAaHtm1C226hh1KyVHbuHQVfIytyAc8UHlfXpMax3B+AndLajOLZTjOVhJI+9cuWyTJmXJDjsp7vHio94VEnceT9TXWKa5r7R7V/y3ruShlvu4zqxLZCRwArqB7KCvtQWW2BabGhECScfi3W5EgJxvVgK4zyDt24yOcHyqq63mRXnWGYkVDbjSSVvpPLm5OCFA5z06586aJe3bcZBaQh6LKCe/jOEhK8cggjlKh4EefiOKhLg83JfU42laUK52qIJHpnjP0oNJD6kQ3ooaaKXXELLhSd6SnOMHOAPiOeKK+jtHQ9VdnbCNpbksSlOJKVFIdORuSr3CQM+BAPuKSApXwjA8qPHYW6hzSMhnPxszF7h6EAigGeptI3V6W5c4YE5lZ+IIJKk44IIPOcg5HUHirZ2fLhoZTEfjLRIyMJWOhPXHl70T32oMGU48QltUhe4jGApXiffpWLlrgqdEnuUBYHCkjFB4usiPGDTICUBOE44xVK1bpmZfrjZ5UQIjpgtqU5JJ5cJPKMfI8nzq+OpBaUk1E2/wDEyLk82stCKyAEgE7yT5jpQSFrjCPEabAwEoArc6g+tYrIQcU4WMZoNKWoRwVrUMedKo7UroVDcQD8VKgoNvUtUpHecYPHrRgsiiuE3nrihZGhOfjUqTkjdzRTsaNkNCc+FBJpqta40ZA1bEbD6izMYB7iQkZxnqCPEHirMOKXPjQcw6g05c9NrREu7SEOKG5Cm17krTnGQf8AWoSQnA4FHPtqtIkWOPdUnCojmxQ80rIH74+tBEJDiCj9QNBHpOCc0R+xzUsOzXOdHnPpZZkNghTigBuB46+Jzj1oeuIAUcVMwV2hzTzUZ51Me5s3RD5WtJwuPtwoBXQEHnFB0E5uusZbdzjtMgrJaDT3eHH6VZwMH05Hqa3YyCzHSyte/A+FfnVIs+sk3mIpy32S8pCEnu3SwFNLwccLz/vFS9hv1wkPoiXW0vxCvOx4uIWg4/8AEkg+9BNvHbuJIGBQQ7RdQXW0agbVa570cqTlQR0JB8QetHCYAmOtRVgVzPr64i46mlqQctMq7tHy60Bo7KtQXLVtrmP3UIJYdDaHUI27jjJ/j61ZphcjnaskeIPnWt2bWT+gaMtsRaCmQtvvnweoWv4iD7ZA+VTtwhiYwUE7VfpV5UA41RcQ2heTgY6UqhNdxJUOUpt4EYGQR0UPMUqC525j+9gIzz0xV0hJCGkgDpUXb4SUEOAfEetTbaAE8UHqKfHnST0pUFZ7RNNDVGmnobayiSyr8RGUDx3iQcA+hBI+efCuaWnilYJSRkcg8Yrrz1rlvXVqXZ9WXSKoYAkLcR6oWdyfsQPlQQi+TWUaQ7Hc3sqCVEFOSkHg8HrW2q3Potca5YSuM+4trck5KHE9Uq8jggjzBr1hWaTMcGxvj1OKAp6FZnsQmPx+oobkd3HdRVOpCkH/ABA/ir46zsQg95kjk0HLVo+fCmRbrvZYEdaV8j4QAf5ozwrxabkhbLcphxQGHGgemfSgr2qr6zDs0qUlY2soUQfM+A+tAXRVuVf9Z2yI4N4elBx4EZyhJ3q+wNW7tjVItU8WlG4Qn8SGlZ/Mnpt+RB+1ev8Aw/W1cjU824Y/txIuzOP1rIx9kqoD4BSI4p8cdKR5BoIbUen41+iht5RacRnY4BnGfA+lKpinoI+GnaopPnUiDTUqD0T0pZFKlQYFwHgHigl24sMrvcSQ3jvFRtq/XCjj96VKgoFrmOw3G0KWpUbvQ4po/kKsY3Y6ZwTXQ+lYtunWpiW3BTlxAO5bQBPr/v0pUqDculhNzQ4y/MebjrCQGmAlOMf92CevljpVac7JtNBpYYalMvFOESG5Kwpo4wCBnHHqKVKgCGuTfmr0bbqWSt+RAT3LSlYwW+oUPPPXJ58D0o3diNp/puim31pw9OdU+rP+PRI+gB+dNSoCB4cdKb2NKlQJVKlSoP/Z">
            <a:extLst>
              <a:ext uri="{FF2B5EF4-FFF2-40B4-BE49-F238E27FC236}">
                <a16:creationId xmlns:a16="http://schemas.microsoft.com/office/drawing/2014/main" id="{F65FC2A0-EA73-F67C-1C25-FB74066051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2819" y="2769414"/>
            <a:ext cx="1775808" cy="17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885" tIns="30442" rIns="60885" bIns="30442" numCol="1" anchor="t" anchorCtr="0" compatLnSpc="1">
            <a:prstTxWarp prst="textNoShape">
              <a:avLst/>
            </a:prstTxWarp>
          </a:bodyPr>
          <a:lstStyle/>
          <a:p>
            <a:pPr defTabSz="304404"/>
            <a:endParaRPr lang="en-US" sz="1198">
              <a:solidFill>
                <a:prstClr val="black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1463142-E7AB-4CFB-F1A6-76E126ABEC10}"/>
              </a:ext>
            </a:extLst>
          </p:cNvPr>
          <p:cNvGrpSpPr/>
          <p:nvPr/>
        </p:nvGrpSpPr>
        <p:grpSpPr>
          <a:xfrm rot="54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3FDA8734-40A1-B056-25B7-3AB4A7F15B4A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7B3C93-4183-7F20-34DE-FD45C34F27D5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A7D042-3BA7-9545-D5C2-43FA5D1F7898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01D81E-A1D3-B3F1-9568-8F3BA6BA3D4A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02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35CD64-9721-5D68-A4F1-524778562C26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03</a:t>
              </a:r>
            </a:p>
          </p:txBody>
        </p:sp>
      </p:grp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879F2E6A-5B62-067A-D099-990151C1679C}"/>
              </a:ext>
            </a:extLst>
          </p:cNvPr>
          <p:cNvSpPr/>
          <p:nvPr/>
        </p:nvSpPr>
        <p:spPr>
          <a:xfrm rot="16200000">
            <a:off x="-809100" y="1987452"/>
            <a:ext cx="2492587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36F131-9E29-635A-26F8-D4C4B6DC8FA0}"/>
                  </a:ext>
                </a:extLst>
              </p:cNvPr>
              <p:cNvSpPr txBox="1"/>
              <p:nvPr/>
            </p:nvSpPr>
            <p:spPr>
              <a:xfrm>
                <a:off x="4441371" y="1258796"/>
                <a:ext cx="7469580" cy="5516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highlight>
                      <a:srgbClr val="FF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process of obtaining a partial differential equation by eliminating arbitrary constants or arbitrary functions from a given relation is called formulation of a PDE.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1: Eliminating Arbitrary Constants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;where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a,b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arbitrary constants.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Differentiating partially,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​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𝑥𝑝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𝑦𝑞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required PDE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𝑥𝑝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𝑦𝑞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 2: Eliminating Arbitrary Function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Differentiating,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 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;which is the required PDE.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Formulation of PDE = Eliminate arbitrary constants/functions by partial differentiation.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36F131-9E29-635A-26F8-D4C4B6DC8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71" y="1258796"/>
                <a:ext cx="7469580" cy="5516510"/>
              </a:xfrm>
              <a:prstGeom prst="rect">
                <a:avLst/>
              </a:prstGeom>
              <a:blipFill>
                <a:blip r:embed="rId4"/>
                <a:stretch>
                  <a:fillRect l="-735" t="-552" r="-408" b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5248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89" y="0"/>
            <a:ext cx="12185423" cy="6858000"/>
          </a:xfrm>
          <a:prstGeom prst="rect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404"/>
            <a:r>
              <a:rPr lang="en-US" sz="1198" dirty="0">
                <a:solidFill>
                  <a:prstClr val="white"/>
                </a:solidFill>
                <a:latin typeface="Corbel" panose="020B0503020204020204"/>
              </a:rPr>
              <a:t>  </a:t>
            </a:r>
          </a:p>
        </p:txBody>
      </p:sp>
      <p:sp>
        <p:nvSpPr>
          <p:cNvPr id="3" name="Rectangle 2"/>
          <p:cNvSpPr/>
          <p:nvPr/>
        </p:nvSpPr>
        <p:spPr>
          <a:xfrm>
            <a:off x="4841745" y="411746"/>
            <a:ext cx="5881668" cy="6088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04404"/>
            <a:r>
              <a:rPr lang="en-US" sz="3595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First-Order Linear PDE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65121" y="1271786"/>
                <a:ext cx="7519599" cy="548527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𝑫𝒆</m:t>
                    </m:r>
                    <m:sSup>
                      <m:sSupPr>
                        <m:ctrlPr>
                          <a:rPr lang="en-US" b="1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𝒇</m:t>
                        </m:r>
                      </m:e>
                      <m:sup>
                        <m:r>
                          <a:rPr lang="en-US" b="1" i="1">
                            <a:ln w="0"/>
                            <a:solidFill>
                              <a:schemeClr val="tx1"/>
                            </a:solidFill>
                            <a:effectLst>
                              <a:outerShdw blurRad="38100" dist="1905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p>
                    </m:sSup>
                    <m:r>
                      <a:rPr lang="en-US" b="1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first-order linear PDE is a PDE involving only first-order partial derivatives of the dependent variable and occurring linearly.</a:t>
                </a:r>
              </a:p>
              <a:p>
                <a:pPr defTabSz="304404"/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defTabSz="304404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Standard Form</a:t>
                </a:r>
              </a:p>
              <a:p>
                <a:pPr defTabSz="304404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𝑃𝑝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​ </m:t>
                        </m:r>
                        <m:r>
                          <m:rPr>
                            <m:nor/>
                          </m:rPr>
                          <a:rPr lang="en-US" i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  <a:p>
                <a:pPr defTabSz="304404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P,Q,R are functions of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Lagrange's Linear PDE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standard equation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𝑃𝑝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Lagrange's linear PDE.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Its auxiliary equations are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​​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these auxiliary equations, two independent integrals are obtained: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&amp;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complete solution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𝜙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𝑦𝑝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​​ 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a first-order linear PDE.</a:t>
                </a:r>
              </a:p>
              <a:p>
                <a:pPr defTabSz="304404"/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5121" y="1271786"/>
                <a:ext cx="7519599" cy="5485274"/>
              </a:xfrm>
              <a:prstGeom prst="rect">
                <a:avLst/>
              </a:prstGeom>
              <a:blipFill>
                <a:blip r:embed="rId3"/>
                <a:stretch>
                  <a:fillRect l="-648" t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089FF993-88C5-871A-6D01-AD61767E733A}"/>
              </a:ext>
            </a:extLst>
          </p:cNvPr>
          <p:cNvGrpSpPr/>
          <p:nvPr/>
        </p:nvGrpSpPr>
        <p:grpSpPr>
          <a:xfrm rot="162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8" name="Flowchart: Summing Junction 7">
              <a:extLst>
                <a:ext uri="{FF2B5EF4-FFF2-40B4-BE49-F238E27FC236}">
                  <a16:creationId xmlns:a16="http://schemas.microsoft.com/office/drawing/2014/main" id="{A68A0165-8AF1-1618-CDC7-355A9D9640DA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F44DEF-D8A4-DC41-3CE2-791C47508293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0DA9223-DD56-805A-E787-DA378A9CB6F7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07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F8E684-0A70-CD74-0C8B-8A32F5D47FC3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F03135B-4C54-41C7-FB0F-03985AE98435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06</a:t>
              </a:r>
            </a:p>
          </p:txBody>
        </p:sp>
      </p:grpSp>
      <p:sp useBgFill="1">
        <p:nvSpPr>
          <p:cNvPr id="13" name="Oval 12">
            <a:extLst>
              <a:ext uri="{FF2B5EF4-FFF2-40B4-BE49-F238E27FC236}">
                <a16:creationId xmlns:a16="http://schemas.microsoft.com/office/drawing/2014/main" id="{A1F44293-5AF6-E167-5BB0-C08473EA9ED4}"/>
              </a:ext>
            </a:extLst>
          </p:cNvPr>
          <p:cNvSpPr/>
          <p:nvPr/>
        </p:nvSpPr>
        <p:spPr>
          <a:xfrm rot="16200000">
            <a:off x="-779412" y="1987453"/>
            <a:ext cx="2433212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91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,232 Brown Bg Stock Vectors and Vector Art | Shutterstock">
            <a:extLst>
              <a:ext uri="{FF2B5EF4-FFF2-40B4-BE49-F238E27FC236}">
                <a16:creationId xmlns:a16="http://schemas.microsoft.com/office/drawing/2014/main" id="{E52C4F7B-96BE-40D1-AC5A-A736D232E4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" y="-17516"/>
            <a:ext cx="12181195" cy="689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143F76-A671-4651-9C25-BA29C844F8E0}"/>
              </a:ext>
            </a:extLst>
          </p:cNvPr>
          <p:cNvSpPr txBox="1"/>
          <p:nvPr/>
        </p:nvSpPr>
        <p:spPr>
          <a:xfrm>
            <a:off x="3527083" y="536971"/>
            <a:ext cx="794039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2600" dirty="0"/>
              <a:t> </a:t>
            </a:r>
            <a:r>
              <a:rPr lang="en-US" sz="2600" kern="0" dirty="0">
                <a:solidFill>
                  <a:srgbClr val="FF0000"/>
                </a:solidFill>
                <a:latin typeface="Algerian" panose="04020705040A02060702" pitchFamily="82" charset="0"/>
              </a:rPr>
              <a:t>Non-Linear Partial Differential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334494" y="1245093"/>
                <a:ext cx="749161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PDE is called non-linear if the dependent variable or its partial derivatives occur nonlinearly, such as with powers, products, or nonlinear functions.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PDE is non-linear when it contains:</a:t>
                </a: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Powers such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Products such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𝑝𝑞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,;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657350" lvl="3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Nonlinear functions such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𝑠𝑖𝑛𝑧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,;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𝑙𝑜𝑔𝑧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Non-linear because p and q occur to the second degree.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𝑝𝑞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Non-linear because p and q are multiplied.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𝑠𝑖𝑛𝑧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Non-linear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𝑠𝑖𝑛𝑧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nonlinear function of z.</a:t>
                </a:r>
              </a:p>
              <a:p>
                <a:pPr lvl="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Power, product, or nonlinear function of the dependent variable/derivatives → Non-linear PDE.</a:t>
                </a:r>
              </a:p>
              <a:p>
                <a:pPr lvl="0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494" y="1245093"/>
                <a:ext cx="7491617" cy="5632311"/>
              </a:xfrm>
              <a:prstGeom prst="rect">
                <a:avLst/>
              </a:prstGeom>
              <a:blipFill>
                <a:blip r:embed="rId4"/>
                <a:stretch>
                  <a:fillRect l="-651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23E5B74D-2C19-C2C6-0359-609334FB3770}"/>
              </a:ext>
            </a:extLst>
          </p:cNvPr>
          <p:cNvGrpSpPr/>
          <p:nvPr/>
        </p:nvGrpSpPr>
        <p:grpSpPr>
          <a:xfrm rot="162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39F5386B-A0A7-1AD9-A139-86E94C188CEA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EE40FA0-B6DC-A176-456A-344561C3E12D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05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5CC89B-34E7-4C60-7D20-E7B99F638E8C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08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A99117D-A525-5EF1-826C-A8582F643118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06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38CEA4-0A90-9BAC-98E7-B607EE3D3CFA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07</a:t>
              </a:r>
            </a:p>
          </p:txBody>
        </p:sp>
      </p:grp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411FD5B8-F7C7-DFD2-0828-42203B100051}"/>
              </a:ext>
            </a:extLst>
          </p:cNvPr>
          <p:cNvSpPr/>
          <p:nvPr/>
        </p:nvSpPr>
        <p:spPr>
          <a:xfrm rot="5400000">
            <a:off x="-803163" y="1987452"/>
            <a:ext cx="2480712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9B0314-0341-5564-2243-1CB37AAE0DFD}"/>
              </a:ext>
            </a:extLst>
          </p:cNvPr>
          <p:cNvSpPr txBox="1"/>
          <p:nvPr/>
        </p:nvSpPr>
        <p:spPr>
          <a:xfrm>
            <a:off x="9730367" y="4119635"/>
            <a:ext cx="2230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Linear vs Non-Linear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FE24A3-338C-A407-CE0C-08A37D55CD69}"/>
              </a:ext>
            </a:extLst>
          </p:cNvPr>
          <p:cNvSpPr txBox="1"/>
          <p:nvPr/>
        </p:nvSpPr>
        <p:spPr>
          <a:xfrm>
            <a:off x="9939644" y="4435356"/>
            <a:ext cx="1520041" cy="38178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p+q</a:t>
            </a:r>
            <a:r>
              <a:rPr lang="en-US" dirty="0"/>
              <a:t>=z  Linear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788B5B-5FB4-E74A-BE8E-3AA88771C991}"/>
              </a:ext>
            </a:extLst>
          </p:cNvPr>
          <p:cNvSpPr txBox="1"/>
          <p:nvPr/>
        </p:nvSpPr>
        <p:spPr>
          <a:xfrm>
            <a:off x="9939644" y="4891257"/>
            <a:ext cx="1812296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pq</a:t>
            </a:r>
            <a:r>
              <a:rPr lang="en-US" dirty="0"/>
              <a:t>=z   Non-linear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821794-CC23-1F6E-1843-F1DE349B5A11}"/>
              </a:ext>
            </a:extLst>
          </p:cNvPr>
          <p:cNvCxnSpPr/>
          <p:nvPr/>
        </p:nvCxnSpPr>
        <p:spPr>
          <a:xfrm>
            <a:off x="9730367" y="4025735"/>
            <a:ext cx="0" cy="1399079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969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1923">
        <p159:morph option="byObject"/>
      </p:transition>
    </mc:Choice>
    <mc:Fallback>
      <p:transition spd="slow" advTm="61923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89" y="0"/>
            <a:ext cx="1218542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404"/>
            <a:endParaRPr lang="en-US" sz="1198">
              <a:solidFill>
                <a:prstClr val="white"/>
              </a:solidFill>
              <a:latin typeface="Corbel" panose="020B0503020204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65814" y="242258"/>
            <a:ext cx="4807577" cy="862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04404"/>
            <a:r>
              <a:rPr lang="en-US" sz="4000" kern="0" dirty="0" err="1">
                <a:solidFill>
                  <a:srgbClr val="FF0000"/>
                </a:solidFill>
                <a:latin typeface="Algerian" panose="04020705040A02060702" pitchFamily="82" charset="0"/>
              </a:rPr>
              <a:t>Charpit's</a:t>
            </a:r>
            <a:r>
              <a:rPr lang="en-US" sz="4000" kern="0" dirty="0">
                <a:solidFill>
                  <a:srgbClr val="FF0000"/>
                </a:solidFill>
                <a:latin typeface="Algerian" panose="04020705040A02060702" pitchFamily="82" charset="0"/>
              </a:rPr>
              <a:t>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429495" y="1116930"/>
                <a:ext cx="7529851" cy="56282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00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Charpit's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method is a method used to solve first-order non-linear partial differential equations of the form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​.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 err="1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Charpit's</a:t>
                </a:r>
                <a:r>
                  <a:rPr lang="en-US" b="1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Auxiliary Equations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general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equations are</a:t>
                </a:r>
              </a:p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𝑑𝑝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​+</m:t>
                          </m:r>
                          <m:r>
                            <a:rPr lang="en-US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den>
                      </m:f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𝑑𝑞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​+</m:t>
                          </m:r>
                          <m:r>
                            <a:rPr lang="en-US" i="1" dirty="0" err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 err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den>
                      </m:f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𝑑𝑧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​​=​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sub>
                          </m:sSub>
                        </m:den>
                      </m:f>
                      <m:r>
                        <a:rPr lang="en-US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​​​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Basic Steps:</a:t>
                </a: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 the PDE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Charpit's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auxiliary equations. </a:t>
                </a: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 two independent integrals. </a:t>
                </a:r>
              </a:p>
              <a:p>
                <a:pPr marL="1314450" lvl="2" indent="-400050">
                  <a:buFont typeface="+mj-lt"/>
                  <a:buAutoNum type="romanLcPeriod"/>
                </a:pP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integrals to find the complete integral. 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𝑝𝑞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sSub>
                      <m:sSub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Charpit's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method is then used to obtain the required complete integral.</a:t>
                </a:r>
              </a:p>
              <a:p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7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 </a:t>
                </a:r>
                <a:r>
                  <a:rPr lang="en-US" sz="17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Charpit's</a:t>
                </a:r>
                <a:r>
                  <a:rPr lang="en-US" sz="17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method → First-order non-linear PDE →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17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700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sz="17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)=0</m:t>
                    </m:r>
                  </m:oMath>
                </a14:m>
                <a:endParaRPr lang="en-US" sz="17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495" y="1116930"/>
                <a:ext cx="7529851" cy="5628254"/>
              </a:xfrm>
              <a:prstGeom prst="rect">
                <a:avLst/>
              </a:prstGeom>
              <a:blipFill>
                <a:blip r:embed="rId3"/>
                <a:stretch>
                  <a:fillRect l="-729" t="-22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E4589FE6-29AB-7EA9-2755-B1C9F450718E}"/>
              </a:ext>
            </a:extLst>
          </p:cNvPr>
          <p:cNvGrpSpPr/>
          <p:nvPr/>
        </p:nvGrpSpPr>
        <p:grpSpPr>
          <a:xfrm rot="108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7" name="Flowchart: Summing Junction 6">
              <a:extLst>
                <a:ext uri="{FF2B5EF4-FFF2-40B4-BE49-F238E27FC236}">
                  <a16:creationId xmlns:a16="http://schemas.microsoft.com/office/drawing/2014/main" id="{2120334C-B349-9D32-D051-B1C433A3F20C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A99CC1-A4F3-65B0-2D7E-8DE10D777DEB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A326DC-2CBE-EE66-17E3-DC17B0AD8A6F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08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EBB0D03-F110-5ACB-DEA7-1A67D6833E35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06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A679EA0-31E2-DCA5-D12D-CBB47FD641CC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07</a:t>
              </a:r>
            </a:p>
          </p:txBody>
        </p:sp>
      </p:grpSp>
      <p:sp useBgFill="1">
        <p:nvSpPr>
          <p:cNvPr id="12" name="Oval 11">
            <a:extLst>
              <a:ext uri="{FF2B5EF4-FFF2-40B4-BE49-F238E27FC236}">
                <a16:creationId xmlns:a16="http://schemas.microsoft.com/office/drawing/2014/main" id="{ABB5CD33-C55F-1935-7BD6-C5539A19DBED}"/>
              </a:ext>
            </a:extLst>
          </p:cNvPr>
          <p:cNvSpPr/>
          <p:nvPr/>
        </p:nvSpPr>
        <p:spPr>
          <a:xfrm rot="5400000">
            <a:off x="-779412" y="1987453"/>
            <a:ext cx="2433210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627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689" y="12700"/>
            <a:ext cx="12185423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2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404"/>
            <a:endParaRPr lang="en-US" sz="1198">
              <a:ln w="0"/>
              <a:solidFill>
                <a:prstClr val="black"/>
              </a:solidFill>
              <a:latin typeface="Corbel" panose="020B0503020204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68049" y="48326"/>
            <a:ext cx="6646594" cy="703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04404"/>
            <a:r>
              <a:rPr lang="en-US" sz="3400" b="1" i="1" dirty="0">
                <a:ln w="0"/>
                <a:solidFill>
                  <a:srgbClr val="A666E1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Homogeneous PDE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93871" y="977706"/>
                <a:ext cx="7552706" cy="55537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0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higher-order PDE is called homogeneous when it contains only the dependent variable and its derivatives, with zero on the right-hand side.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constant-coefficient PDE, it can be written as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=0​ 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​.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Auxiliary Equation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−3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′+2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′2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auxiliary equation is obtained by putting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′=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  </a:t>
                </a: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Complementary Function (C.F.)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roots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1​,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​,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​(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)​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Higher-order homogeneous PDE → RHS = 0 → Auxiliary equation → Complementary Function (C.F.)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3871" y="977706"/>
                <a:ext cx="7552706" cy="5553715"/>
              </a:xfrm>
              <a:prstGeom prst="rect">
                <a:avLst/>
              </a:prstGeom>
              <a:blipFill>
                <a:blip r:embed="rId3"/>
                <a:stretch>
                  <a:fillRect l="-726" t="-2195" r="-888" b="-34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C1820E11-9E0D-355C-C63F-536DFCFC397F}"/>
              </a:ext>
            </a:extLst>
          </p:cNvPr>
          <p:cNvGrpSpPr/>
          <p:nvPr/>
        </p:nvGrpSpPr>
        <p:grpSpPr>
          <a:xfrm rot="54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6" name="Flowchart: Summing Junction 5">
              <a:extLst>
                <a:ext uri="{FF2B5EF4-FFF2-40B4-BE49-F238E27FC236}">
                  <a16:creationId xmlns:a16="http://schemas.microsoft.com/office/drawing/2014/main" id="{2D7ED32B-B3EE-05B0-232B-87441CCAEE52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A45DC9C-E957-029E-4603-5D644AA17D14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05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5F471A2-9508-2507-191E-D5D3764A9F0F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08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6FBC180-7077-E647-4A49-108718765068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06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CC71AD5-3798-87F2-FF6F-3F4FC090A86F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07</a:t>
              </a:r>
            </a:p>
          </p:txBody>
        </p:sp>
      </p:grpSp>
      <p:sp useBgFill="1">
        <p:nvSpPr>
          <p:cNvPr id="11" name="Oval 10">
            <a:extLst>
              <a:ext uri="{FF2B5EF4-FFF2-40B4-BE49-F238E27FC236}">
                <a16:creationId xmlns:a16="http://schemas.microsoft.com/office/drawing/2014/main" id="{959E8EF4-C694-4806-3215-4E9FED40DB2E}"/>
              </a:ext>
            </a:extLst>
          </p:cNvPr>
          <p:cNvSpPr/>
          <p:nvPr/>
        </p:nvSpPr>
        <p:spPr>
          <a:xfrm rot="16200000">
            <a:off x="-736176" y="1987452"/>
            <a:ext cx="2346739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8359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89" y="0"/>
            <a:ext cx="12185423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04404"/>
            <a:endParaRPr lang="en-US" sz="1198">
              <a:solidFill>
                <a:prstClr val="black"/>
              </a:solidFill>
              <a:latin typeface="Corbel" panose="020B0503020204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7094" y="56649"/>
            <a:ext cx="7296967" cy="683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304404"/>
            <a:r>
              <a:rPr lang="en-US" sz="3400" b="1" i="1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Higher-Order Non-Homogeneous PDE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79222" y="891856"/>
                <a:ext cx="7526731" cy="59423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00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higher-order PDE is called non-homogeneous when it has a non-zero function on the right-hand side.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constant-coefficient PDE: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  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den>
                    </m:f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​.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General Solution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non-homogeneous PDE,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u="sng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C.F</a:t>
                </a:r>
                <a:r>
                  <a:rPr lang="en-US" b="1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.: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C.F. is obtained by solving the corresponding homogeneous equation: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𝐹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′)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u="sng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P.I</a:t>
                </a:r>
                <a:r>
                  <a:rPr lang="en-US" b="1" dirty="0">
                    <a:solidFill>
                      <a:schemeClr val="tx1"/>
                    </a:solidFill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.: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P.I. is obtained from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                              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.=</m:t>
                    </m:r>
                    <m:f>
                      <m:f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′)</m:t>
                        </m:r>
                      </m:den>
                    </m:f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 </a:t>
                </a:r>
              </a:p>
              <a:p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highlight>
                      <a:srgbClr val="8080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C.F.:                            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  <m: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𝐷𝐷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′)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P.I.:                                   P.I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𝐷𝐷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den>
                    </m:f>
                    <m:sSup>
                      <m:sSupPr>
                        <m:ctrlP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.+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.​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Non-homogeneous higher-order PDE → C.F. + P.I.</a:t>
                </a:r>
              </a:p>
              <a:p>
                <a:endParaRPr lang="en-US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9222" y="891856"/>
                <a:ext cx="7526731" cy="5942393"/>
              </a:xfrm>
              <a:prstGeom prst="rect">
                <a:avLst/>
              </a:prstGeom>
              <a:blipFill>
                <a:blip r:embed="rId3"/>
                <a:stretch>
                  <a:fillRect l="-729" t="-3282" r="-14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740839" y="3834899"/>
            <a:ext cx="6088483" cy="27905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404"/>
            <a:endParaRPr lang="en-US" sz="1198">
              <a:solidFill>
                <a:prstClr val="white"/>
              </a:solidFill>
              <a:latin typeface="Corbel" panose="020B050302020402020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42B1EE9-C989-1B15-75D0-B8E1FFB37E18}"/>
              </a:ext>
            </a:extLst>
          </p:cNvPr>
          <p:cNvGrpSpPr/>
          <p:nvPr/>
        </p:nvGrpSpPr>
        <p:grpSpPr>
          <a:xfrm rot="162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9" name="Flowchart: Summing Junction 8">
              <a:extLst>
                <a:ext uri="{FF2B5EF4-FFF2-40B4-BE49-F238E27FC236}">
                  <a16:creationId xmlns:a16="http://schemas.microsoft.com/office/drawing/2014/main" id="{991705B2-B680-DD0C-6C62-A3A8A0058192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E9F1BF-A66C-F6A0-C1EE-1F0BFFE8966C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7836E8A-562A-7B3B-77B9-DC06C7A5F53F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8591E6-654F-5AF6-AD68-DA2DB9A0A8B9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09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89C156-392C-2D8E-4000-38AAFAA53EDC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10</a:t>
              </a:r>
            </a:p>
          </p:txBody>
        </p:sp>
      </p:grpSp>
      <p:sp useBgFill="1">
        <p:nvSpPr>
          <p:cNvPr id="14" name="Oval 13">
            <a:extLst>
              <a:ext uri="{FF2B5EF4-FFF2-40B4-BE49-F238E27FC236}">
                <a16:creationId xmlns:a16="http://schemas.microsoft.com/office/drawing/2014/main" id="{35A219AA-34B1-DE41-A34D-CDA5EBEBE0CA}"/>
              </a:ext>
            </a:extLst>
          </p:cNvPr>
          <p:cNvSpPr/>
          <p:nvPr/>
        </p:nvSpPr>
        <p:spPr>
          <a:xfrm rot="16200000">
            <a:off x="-797225" y="1987453"/>
            <a:ext cx="2468838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438D89-AB2C-5AB6-2CB7-F1DE857BACCB}"/>
              </a:ext>
            </a:extLst>
          </p:cNvPr>
          <p:cNvSpPr txBox="1"/>
          <p:nvPr/>
        </p:nvSpPr>
        <p:spPr>
          <a:xfrm>
            <a:off x="9048996" y="2492125"/>
            <a:ext cx="300445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 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C.F. = Complementary Function </a:t>
            </a:r>
          </a:p>
          <a:p>
            <a:pPr lvl="0"/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P.I. = Particular Integral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9F27CA-6403-6572-ABCB-7819D19CF990}"/>
              </a:ext>
            </a:extLst>
          </p:cNvPr>
          <p:cNvCxnSpPr/>
          <p:nvPr/>
        </p:nvCxnSpPr>
        <p:spPr>
          <a:xfrm>
            <a:off x="9048996" y="2504000"/>
            <a:ext cx="0" cy="87716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7659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90057-ADF6-6E64-97A7-BA4F480B4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2,232 Brown Bg Stock Vectors and Vector Art | Shutterstock">
            <a:extLst>
              <a:ext uri="{FF2B5EF4-FFF2-40B4-BE49-F238E27FC236}">
                <a16:creationId xmlns:a16="http://schemas.microsoft.com/office/drawing/2014/main" id="{B4301E0C-F3D3-7400-A0B3-A70D8FB7CFE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" y="-17516"/>
            <a:ext cx="12181195" cy="689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DB3B17-C3D2-0130-BA9D-9FDD225F1D19}"/>
              </a:ext>
            </a:extLst>
          </p:cNvPr>
          <p:cNvSpPr txBox="1"/>
          <p:nvPr/>
        </p:nvSpPr>
        <p:spPr>
          <a:xfrm>
            <a:off x="3527083" y="441971"/>
            <a:ext cx="84341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Higher-Order PDE with Variable Coefficient / Cauchy–Euler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03737C-77FB-BCF1-9B25-9C77551E93D3}"/>
                  </a:ext>
                </a:extLst>
              </p:cNvPr>
              <p:cNvSpPr txBox="1"/>
              <p:nvPr/>
            </p:nvSpPr>
            <p:spPr>
              <a:xfrm>
                <a:off x="4334494" y="900717"/>
                <a:ext cx="7491617" cy="5964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highlight>
                      <a:srgbClr val="FF00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Variable-Coefficient PDE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higher-order PDE is called a variable-coefficient PDE when the coefficients of the derivatives are functions of the independent variables.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</a:t>
                </a:r>
              </a:p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𝑦𝑦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​+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𝑥𝑦</m:t>
                      </m:r>
                      <m:sSub>
                        <m:sSubPr>
                          <m:ctrlP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​=0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the coefficients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𝑥𝑦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variable.</a:t>
                </a: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Cauchy–Euler Form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common type of variable-coefficient PDE is the Cauchy–Euler form, where the coefficients involve powers of the independent variables.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example,</a:t>
                </a:r>
              </a:p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​+2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𝑥𝑦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𝑦𝑦</m:t>
                          </m:r>
                        </m:sub>
                      </m:sSub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​=0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highlight>
                      <a:srgbClr val="00FF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Transformation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Cauchy–Euler type equations, we commonly use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p>
                    </m:sSup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equivalently,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   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𝑙𝑛𝑦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transforms the variable-coefficient equation into a constant-coefficient PDE, which can then be solved using standard methods.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Key Point: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 coefficients → Cauchy–Euler form → logarithmic transformation → constant-coefficient PDE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03737C-77FB-BCF1-9B25-9C77551E9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494" y="900717"/>
                <a:ext cx="7491617" cy="5964197"/>
              </a:xfrm>
              <a:prstGeom prst="rect">
                <a:avLst/>
              </a:prstGeom>
              <a:blipFill>
                <a:blip r:embed="rId4"/>
                <a:stretch>
                  <a:fillRect l="-651" t="-613" b="-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7E8CF5BC-7A75-E1C9-7DAA-4F7A359CE892}"/>
              </a:ext>
            </a:extLst>
          </p:cNvPr>
          <p:cNvGrpSpPr/>
          <p:nvPr/>
        </p:nvGrpSpPr>
        <p:grpSpPr>
          <a:xfrm rot="162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3DCAFCC3-4E3D-13FE-EF7C-0E30BE671DAA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51089F-0B8B-EE68-139D-11EB2FACDBE5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09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B7C6241-5885-FEF8-BB4C-3747ACA7217B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12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02BDF0-824E-5F10-356A-6B9ACCC42326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58913E-2F6C-4C20-D577-BDA17D8E7354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11</a:t>
              </a:r>
            </a:p>
          </p:txBody>
        </p:sp>
      </p:grp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64FF1B15-E41D-67CA-1D83-DC8374C3A222}"/>
              </a:ext>
            </a:extLst>
          </p:cNvPr>
          <p:cNvSpPr/>
          <p:nvPr/>
        </p:nvSpPr>
        <p:spPr>
          <a:xfrm rot="16200000">
            <a:off x="-815037" y="1987453"/>
            <a:ext cx="2504462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1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61923">
        <p159:morph option="byObject"/>
      </p:transition>
    </mc:Choice>
    <mc:Fallback>
      <p:transition spd="slow" advTm="61923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E277C8-40E6-A943-71AE-CACE601D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37892D-2C8A-D5A8-A3D7-1BC3D611A003}"/>
              </a:ext>
            </a:extLst>
          </p:cNvPr>
          <p:cNvSpPr txBox="1"/>
          <p:nvPr/>
        </p:nvSpPr>
        <p:spPr>
          <a:xfrm>
            <a:off x="4232523" y="331859"/>
            <a:ext cx="7345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404"/>
            <a:r>
              <a:rPr lang="en-US" sz="3200" dirty="0"/>
              <a:t> </a:t>
            </a:r>
            <a:r>
              <a:rPr lang="en-US" sz="3200" dirty="0">
                <a:ln w="0"/>
                <a:solidFill>
                  <a:srgbClr val="FF0000"/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Boundary Value Problem (BVP)</a:t>
            </a:r>
          </a:p>
        </p:txBody>
      </p:sp>
      <p:sp>
        <p:nvSpPr>
          <p:cNvPr id="2" name="AutoShape 2" descr="data:image/jpeg;base64,/9j/4AAQSkZJRgABAQAAAQABAAD/4QDfRXhpZgAASUkqAAgAAAABAA4BAgC9AAAAGgAAAAAAAABUaGUgQXVzdHJpYW4gc2NpZW50aXN0IFByb2Zlc3NvciBFcndpbiBTY2hyb2Rpbmdlci4gSGUgc2hhcmVkIHRoZSAxOTMzIE5vYmVsIFByaXplIGZvciBoaXMgcmVzZWFyY2ggaW50byBhdG9taWMgdGhlb3J5LiAoUGhvdG8gYnkgPyBIdWx0b24tRGV1dHNjaCBDb2xsZWN0aW9uL0NPUkJJUy9Db3JiaXMgdmlhIEdldHR5IEltYWdlcyn/7QEOUGhvdG9zaG9wIDMuMAA4QklNBAQAAAAAAPIcAlAADkh1bHRvbiBEZXV0c2NoHAJ4AL5UaGUgQXVzdHJpYW4gc2NpZW50aXN0IFByb2Zlc3NvciBFcndpbiBTY2hyb2Rpbmdlci4gSGUgc2hhcmVkIHRoZSAxOTMzIE5vYmVsIFByaXplIGZvciBoaXMgcmVzZWFyY2ggaW50byBhdG9taWMgdGhlb3J5LiAoUGhvdG8gYnkgwqkgSHVsdG9uLURldXRzY2ggQ29sbGVjdGlvbi9DT1JCSVMvQ29yYmlzIHZpYSBHZXR0eSBJbWFnZXMpHAJuABdDb3JiaXMgdmlhIEdldHR5IEltYWdlc//hBcRodHRwOi8vbnMuYWRvYmUuY29tL3hhcC8xLjAvADw/eHBhY2tldCBiZWdpbj0i77u/IiBpZD0iVzVNME1wQ2VoaUh6cmVTek5UY3prYzlkIj8+Cjx4OnhtcG1ldGEgeG1sbnM6eD0iYWRvYmU6bnM6bWV0YS8iPgoJPHJkZjpSREYgeG1sbnM6cmRmPSJodHRwOi8vd3d3LnczLm9yZy8xOTk5LzAyLzIyLXJkZi1zeW50YXgtbnMjIj4KCQk8cmRmOkRlc2NyaXB0aW9uIHJkZjphYm91dD0iIiB4bWxuczpwaG90b3Nob3A9Imh0dHA6Ly9ucy5hZG9iZS5jb20vcGhvdG9zaG9wLzEuMC8iIHhtbG5zOklwdGM0eG1wQ29yZT0iaHR0cDovL2lwdGMub3JnL3N0ZC9JcHRjNHhtcENvcmUvMS4wL3htbG5zLyIgICB4bWxuczpHZXR0eUltYWdlc0dJRlQ9Imh0dHA6Ly94bXAuZ2V0dHlpbWFnZXMuY29tL2dpZnQvMS4wLyIgeG1sbnM6ZGM9Imh0dHA6Ly9wdXJsLm9yZy9kYy9lbGVtZW50cy8xLjEvIiB4bWxuczpwbHVzPSJodHRwOi8vbnMudXNlcGx1cy5vcmcvbGRmL3htcC8xLjAvIiAgeG1sbnM6aXB0Y0V4dD0iaHR0cDovL2lwdGMub3JnL3N0ZC9JcHRjNHhtcEV4dC8yMDA4LTAyLTI5LyIgeG1sbnM6eG1wUmlnaHRzPSJodHRwOi8vbnMuYWRvYmUuY29tL3hhcC8xLjAvcmlnaHRzLyIgcGhvdG9zaG9wOkNyZWRpdD0iQ29yYmlzIHZpYSBHZXR0eSBJbWFnZXMiIEdldHR5SW1hZ2VzR0lGVDpBc3NldElEPSI2MTM1MDc1MTYiIHhtcFJpZ2h0czpXZWJTdGF0ZW1lbnQ9Imh0dHBzOi8vd3d3LmdldHR5aW1hZ2VzLmNvbS9ldWxhP3V0bV9tZWRpdW09b3JnYW5pYyZhbXA7dXRtX3NvdXJjZT1nb29nbGUmYW1wO3V0bV9jYW1wYWlnbj1pcHRjdXJsIiA+CjxkYzpjcmVhdG9yPjxyZGY6U2VxPjxyZGY6bGk+SHVsdG9uIERldXRzY2g8L3JkZjpsaT48L3JkZjpTZXE+PC9kYzpjcmVhdG9yPjxkYzpkZXNjcmlwdGlvbj48cmRmOkFsdD48cmRmOmxpIHhtbDpsYW5nPSJ4LWRlZmF1bHQiPlRoZSBBdXN0cmlhbiBzY2llbnRpc3QgUHJvZmVzc29yIEVyd2luIFNjaHJvZGluZ2VyLiBIZSBzaGFyZWQgdGhlIDE5MzMgTm9iZWwgUHJpemUgZm9yIGhpcyByZXNlYXJjaCBpbnRvIGF0b21pYyB0aGVvcnkuIChQaG90byBieSDCqSBIdWx0b24tRGV1dHNjaCBDb2xsZWN0aW9uL0NPUkJJUy9Db3JiaXMgdmlhIEdldHR5IEltYWdlcyk8L3JkZjpsaT48L3JkZjpBbHQ+PC9kYzpkZXNjcmlwdGlvbj4KPHBsdXM6TGljZW5zb3I+PHJkZjpTZXE+PHJkZjpsaSByZGY6cGFyc2VUeXBlPSdSZXNvdXJjZSc+PHBsdXM6TGljZW5zb3JVUkw+aHR0cHM6Ly93d3cuZ2V0dHlpbWFnZXMuY29tL2RldGFpbC82MTM1MDc1MTY/dXRtX21lZGl1bT1vcmdhbmljJmFtcDt1dG1fc291cmNlPWdvb2dsZSZhbXA7dXRtX2NhbXBhaWduPWlwdGN1cmw8L3BsdXM6TGljZW5zb3JVUkw+PC9yZGY6bGk+PC9yZGY6U2VxPjwvcGx1czpMaWNlbnNvcj4KCQk8L3JkZjpEZXNjcmlwdGlvbj4KCTwvcmRmOlJERj4KPC94OnhtcG1ldGE+Cjw/eHBhY2tldCBlbmQ9InciPz4K/9sAhAAJBgcIBwYJCAcICgoJCw0WDw0MDA0bFBUQFiAdIiIgHR8fJCg0LCQmMScfHy09LTE1Nzo6OiMrP0Q/OEM0OTo3AQoKCg0MDRoPDxo3JR8lNzc3Nzc3Nzc3Nzc3Nzc3Nzc3Nzc3Nzc3Nzc3Nzc3Nzc3Nzc3Nzc3Nzc3Nzc3Nzc3Nzf/wAARCAB4AHgDASIAAhEBAxEB/8QAHAAAAQQDAQAAAAAAAAAAAAAABwABBQYCBAgD/8QAORAAAQMDAwEGBAUDAgcAAAAAAQIDBAAFEQYSITEHE0FRYXEigZGhFDJCscEVI1LR8AgWJGJygqL/xAAUAQEAAAAAAAAAAAAAAAAAAAAA/8QAFBEBAAAAAAAAAAAAAAAAAAAAAP/aAAwDAQACEQMRAD8AMoFOaalQICn9aYVFagv0SyRlOy3EpwM4JoJRRGMk8VWL1rW02vvEKeC3UEgoA8hk/ahVq/tSuM1wM2p78O0M5KAPiGMeNDl6U8+tS3XFKUrqSeTQFXVXafJI7mE+tveMnuSAUggY586rFu7TdR29w/8AXKlNk/lkcn6iqWea8zQG/Rfa21Nkpg6gQllxxWGpKeEc9Ary96JtvucK5I3QpLTwHB2KBxXIJrctN5uNmlCVbJbsZ4dFIP7jofnQdfmsTih32b9pjGpii2XNKY11CfhwfgkY6lPkfHb9PQgqPFAhjyrAgA0s+tYk+tBqzAkppVhPOGyc0qCcpAUiOaVBq3KUiBAkSlkANIKuemfCuZtaakm3uetT725GeAOB9KLPbXfHLdZ48FlRSqUokqB5wnw+9AMhbzu1IKlHwoPFRJNOnoSegr3dhvNnDiFJPkRXpHtsh5SUoQSVflAHJoNUGsVHPGOKJOnuzQSW0v3Z5xpGMlKMAY9TVkhaGsDEkNNxPxOQPid5Ax6UAPIJBOCQOpx0rzODXTkfStuYRtjwGEJIxtS2AP2qr6q7OIM6OsxEJZkgfAsDx9fMUALbWtpxDjS1IcQoKQtJwUkdCD4Gjz2Y9pIvgbtF7WE3MAht7ACXwP2V+9AyfDkW+Y7Elo2PtK2rTWdsfkR7jFfhrUiQ26ktqT1Cs8UHXG4GsSsYxXgy5uQk5ySBk06jjmg07i7sbVnypVp3l3ayr24zSoLlTGs6Yig5y7Ybt/UdYvspXubhpDKffqfuftWl2fW9qRIlSn0ghlICc+ZrLtcQ83r65JebCAdikYGNySkc/XP0rDSbxZtMruzhwupPyGKDK8FBnLaGMJOBnx+dWnS9rbS2l2VgKIBa546/vVDnvkyytI59as2m7kEqbadeJAIKUhWB09OtASpshSYR+AlYO04+58sf61t2wIcdYUnoBjBqBt9yYdWpqQsBJ/NuHAzjGKsVn7tboSGgnaODgdKCwtJw3yBWtKZBB44NbTfTjpWD4G0/xQAPtls7Ua4InNIUlSsJWR0Oc49jVP0Q8yxq21LkNhxv8QElJTnk8A/IkH5US+26BJdt7UtpO9plf9zrlIPj+1Dvs8iuS9ZWxtoZKXCs8ZwADQdKNHCAKdXSnQnaMHnHjTLOAaCHuyQphWemKevK9LPcrSPKmoL2D40ia8UOBXSvQUAn7frM49brdeWkApirUy8fEJXjafbcMf8AtQw03n+8kdANxHnXT11t0a722Tb5qAuPIbKFpPkfEeo61zmzZZNk1LcLNIwpxjgODgLTxhQ9wR7UETMTuJJ6+1etrddbdAbwnrz5Cpn+lGRJd2DvG2gA4oJzlR8APE1FzHp1nnKKIaEpRyA+jPHryKApxUx2rXb5RbBUtYQoJH6jxg/z7VnpObKYkyIk0/3UPbOmPh6jHyINDRWuJ7UJlh1mM9HccC/hyNpSeU48D+XnywfE1YdUtzbhbmJdpmluO5GEhwpUAv8AxCQrOc89POgMkq6W63tI/Gzo7G7hIcdCSr2z1rCPcYc5JVGkNrHooGuUmW3ZEtIWgl1SN4LyiMjGR165os9nF9cNglOTmIcG2xWStE3ui0rvh1T47hjxGKC3a5i99pu58ciO4f8A5oL9mKUQdVtTZ6HEMR2StTgICW8jgqOeBg9OtGIKk6pgNtqWGbW6nc+pleVPJ/wB6gHx4Bx70NbNZ7a3G1dZ3XT/AFBXeiGytJSFJQSUqSfE5/agOLa0uIS4hQUlQyCPEUnEhQ6VBaEdcXpG0d7neIjYOev5asJHHNBCXNnKDke9KpCSkLSQfalQbcKSHEBYNSaCCAaHtm1C226hh1KyVHbuHQVfIytyAc8UHlfXpMax3B+AndLajOLZTjOVhJI+9cuWyTJmXJDjsp7vHio94VEnceT9TXWKa5r7R7V/y3ruShlvu4zqxLZCRwArqB7KCvtQWW2BabGhECScfi3W5EgJxvVgK4zyDt24yOcHyqq63mRXnWGYkVDbjSSVvpPLm5OCFA5z06586aJe3bcZBaQh6LKCe/jOEhK8cggjlKh4EefiOKhLg83JfU42laUK52qIJHpnjP0oNJD6kQ3ooaaKXXELLhSd6SnOMHOAPiOeKK+jtHQ9VdnbCNpbksSlOJKVFIdORuSr3CQM+BAPuKSApXwjA8qPHYW6hzSMhnPxszF7h6EAigGeptI3V6W5c4YE5lZ+IIJKk44IIPOcg5HUHirZ2fLhoZTEfjLRIyMJWOhPXHl70T32oMGU48QltUhe4jGApXiffpWLlrgqdEnuUBYHCkjFB4usiPGDTICUBOE44xVK1bpmZfrjZ5UQIjpgtqU5JJ5cJPKMfI8nzq+OpBaUk1E2/wDEyLk82stCKyAEgE7yT5jpQSFrjCPEabAwEoArc6g+tYrIQcU4WMZoNKWoRwVrUMedKo7UroVDcQD8VKgoNvUtUpHecYPHrRgsiiuE3nrihZGhOfjUqTkjdzRTsaNkNCc+FBJpqta40ZA1bEbD6izMYB7iQkZxnqCPEHirMOKXPjQcw6g05c9NrREu7SEOKG5Cm17krTnGQf8AWoSQnA4FHPtqtIkWOPdUnCojmxQ80rIH74+tBEJDiCj9QNBHpOCc0R+xzUsOzXOdHnPpZZkNghTigBuB46+Jzj1oeuIAUcVMwV2hzTzUZ51Me5s3RD5WtJwuPtwoBXQEHnFB0E5uusZbdzjtMgrJaDT3eHH6VZwMH05Hqa3YyCzHSyte/A+FfnVIs+sk3mIpy32S8pCEnu3SwFNLwccLz/vFS9hv1wkPoiXW0vxCvOx4uIWg4/8AEkg+9BNvHbuJIGBQQ7RdQXW0agbVa570cqTlQR0JB8QetHCYAmOtRVgVzPr64i46mlqQctMq7tHy60Bo7KtQXLVtrmP3UIJYdDaHUI27jjJ/j61ZphcjnaskeIPnWt2bWT+gaMtsRaCmQtvvnweoWv4iD7ZA+VTtwhiYwUE7VfpV5UA41RcQ2heTgY6UqhNdxJUOUpt4EYGQR0UPMUqC525j+9gIzz0xV0hJCGkgDpUXb4SUEOAfEetTbaAE8UHqKfHnST0pUFZ7RNNDVGmnobayiSyr8RGUDx3iQcA+hBI+efCuaWnilYJSRkcg8Yrrz1rlvXVqXZ9WXSKoYAkLcR6oWdyfsQPlQQi+TWUaQ7Hc3sqCVEFOSkHg8HrW2q3Potca5YSuM+4trck5KHE9Uq8jggjzBr1hWaTMcGxvj1OKAp6FZnsQmPx+oobkd3HdRVOpCkH/ABA/ir46zsQg95kjk0HLVo+fCmRbrvZYEdaV8j4QAf5ozwrxabkhbLcphxQGHGgemfSgr2qr6zDs0qUlY2soUQfM+A+tAXRVuVf9Z2yI4N4elBx4EZyhJ3q+wNW7tjVItU8WlG4Qn8SGlZ/Mnpt+RB+1ev8Aw/W1cjU824Y/txIuzOP1rIx9kqoD4BSI4p8cdKR5BoIbUen41+iht5RacRnY4BnGfA+lKpinoI+GnaopPnUiDTUqD0T0pZFKlQYFwHgHigl24sMrvcSQ3jvFRtq/XCjj96VKgoFrmOw3G0KWpUbvQ4po/kKsY3Y6ZwTXQ+lYtunWpiW3BTlxAO5bQBPr/v0pUqDculhNzQ4y/MebjrCQGmAlOMf92CevljpVac7JtNBpYYalMvFOESG5Kwpo4wCBnHHqKVKgCGuTfmr0bbqWSt+RAT3LSlYwW+oUPPPXJ58D0o3diNp/puim31pw9OdU+rP+PRI+gB+dNSoCB4cdKb2NKlQJVKlSoP/Z">
            <a:extLst>
              <a:ext uri="{FF2B5EF4-FFF2-40B4-BE49-F238E27FC236}">
                <a16:creationId xmlns:a16="http://schemas.microsoft.com/office/drawing/2014/main" id="{E5CBB023-8A08-D67E-2B35-A3C6A92C6D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2819" y="2769414"/>
            <a:ext cx="1775808" cy="177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885" tIns="30442" rIns="60885" bIns="30442" numCol="1" anchor="t" anchorCtr="0" compatLnSpc="1">
            <a:prstTxWarp prst="textNoShape">
              <a:avLst/>
            </a:prstTxWarp>
          </a:bodyPr>
          <a:lstStyle/>
          <a:p>
            <a:pPr defTabSz="304404"/>
            <a:endParaRPr lang="en-US" sz="1198">
              <a:solidFill>
                <a:prstClr val="black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CF24608-AF47-8B65-52CA-B6CC022C6CEF}"/>
              </a:ext>
            </a:extLst>
          </p:cNvPr>
          <p:cNvGrpSpPr/>
          <p:nvPr/>
        </p:nvGrpSpPr>
        <p:grpSpPr>
          <a:xfrm rot="162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5" name="Flowchart: Summing Junction 4">
              <a:extLst>
                <a:ext uri="{FF2B5EF4-FFF2-40B4-BE49-F238E27FC236}">
                  <a16:creationId xmlns:a16="http://schemas.microsoft.com/office/drawing/2014/main" id="{A2B93D2E-9EEF-D64B-8DEF-B692AC5B6495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7B1B553-5050-3218-A844-511C678E870F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0BED15-6D03-BE33-B55C-7B73D4E410D8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09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4EE9E7-6FB5-E70E-DE41-4BB222290660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D2356C9-35DE-CE48-6E20-68D231CC6734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12</a:t>
              </a:r>
            </a:p>
          </p:txBody>
        </p:sp>
      </p:grpSp>
      <p:sp useBgFill="1">
        <p:nvSpPr>
          <p:cNvPr id="10" name="Oval 9">
            <a:extLst>
              <a:ext uri="{FF2B5EF4-FFF2-40B4-BE49-F238E27FC236}">
                <a16:creationId xmlns:a16="http://schemas.microsoft.com/office/drawing/2014/main" id="{AC4FACA0-64A0-0E35-CF7A-DB48740FF980}"/>
              </a:ext>
            </a:extLst>
          </p:cNvPr>
          <p:cNvSpPr/>
          <p:nvPr/>
        </p:nvSpPr>
        <p:spPr>
          <a:xfrm rot="10800000">
            <a:off x="-809101" y="2100764"/>
            <a:ext cx="2492587" cy="2345796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734BE-C787-41F7-7C24-57202E9289C8}"/>
                  </a:ext>
                </a:extLst>
              </p:cNvPr>
              <p:cNvSpPr txBox="1"/>
              <p:nvPr/>
            </p:nvSpPr>
            <p:spPr>
              <a:xfrm>
                <a:off x="4441371" y="985671"/>
                <a:ext cx="7469580" cy="5759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highlight>
                      <a:srgbClr val="FF00FF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Boundary Value Problem (BVP) is a problem in which a differential equation is solved subject to boundary conditions specified at the boundaries of the domain.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 PDE,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)​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solution must satisfy the given boundary conditions.</a:t>
                </a:r>
              </a:p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heat equation: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​,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0&lt;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boundary conditions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)=0,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)=0.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Here, the conditions are specified at the two boundaries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 this is a Boundary Value Problem.</a:t>
                </a:r>
              </a:p>
              <a:p>
                <a:r>
                  <a:rPr lang="en-US" b="1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Types of Conditions: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Dirichlet condition: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Neumann condition:</a:t>
                </a:r>
              </a:p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​(0,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Mixed condition: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combination of Dirichlet and Neumann conditions.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8734BE-C787-41F7-7C24-57202E92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371" y="985671"/>
                <a:ext cx="7469580" cy="5759847"/>
              </a:xfrm>
              <a:prstGeom prst="rect">
                <a:avLst/>
              </a:prstGeom>
              <a:blipFill>
                <a:blip r:embed="rId4"/>
                <a:stretch>
                  <a:fillRect l="-735" t="-635" r="-1306" b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038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E0CD5-AF73-84BB-38D7-D370565F2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FBC2C-95BF-7E24-47D3-2D58FAE58679}"/>
              </a:ext>
            </a:extLst>
          </p:cNvPr>
          <p:cNvSpPr txBox="1"/>
          <p:nvPr/>
        </p:nvSpPr>
        <p:spPr>
          <a:xfrm>
            <a:off x="4127095" y="655082"/>
            <a:ext cx="766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404"/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Boundary Value Problem by Laplace Transform</a:t>
            </a:r>
            <a:endParaRPr lang="en-US" sz="732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7">
                <a:extLst>
                  <a:ext uri="{FF2B5EF4-FFF2-40B4-BE49-F238E27FC236}">
                    <a16:creationId xmlns:a16="http://schemas.microsoft.com/office/drawing/2014/main" id="{4786293A-6144-9DBA-A837-BD424DF16CC8}"/>
                  </a:ext>
                </a:extLst>
              </p:cNvPr>
              <p:cNvSpPr txBox="1"/>
              <p:nvPr/>
            </p:nvSpPr>
            <p:spPr>
              <a:xfrm>
                <a:off x="4571554" y="1224145"/>
                <a:ext cx="7379803" cy="550291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r>
                  <a:rPr lang="en-US" b="1" dirty="0">
                    <a:highlight>
                      <a:srgbClr val="00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Boundary Value Problem (BVP) can be solved using the Laplace transform method by taking the Laplace transform with respect to the time variable.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example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consider the heat equation:</a:t>
                </a:r>
              </a:p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​​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boundary conditions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)=0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an initial condition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,0)=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).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highlight>
                      <a:srgbClr val="FFFF0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Laplace Transform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Taking Laplace transform with respect to t,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ar-AE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ar-AE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{</m:t>
                      </m:r>
                      <m:f>
                        <m:fPr>
                          <m:ctrlPr>
                            <a:rPr lang="ar-AE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ar-AE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ar-AE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ar-AE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ar-AE" i="1" dirty="0" err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​}=</m:t>
                      </m:r>
                      <m:r>
                        <a:rPr lang="ar-AE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𝑠𝑈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ar-AE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ar-AE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ar-AE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,0) 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Therefore,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𝑠𝑈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)−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​. 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the PDE is transformed into an ordinary differential equation (ODE) in x.</a:t>
                </a:r>
              </a:p>
              <a:p>
                <a:endParaRPr lang="en-US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endParaRPr>
              </a:p>
            </p:txBody>
          </p:sp>
        </mc:Choice>
        <mc:Fallback xmlns="">
          <p:sp>
            <p:nvSpPr>
              <p:cNvPr id="13" name="TextBox 7">
                <a:extLst>
                  <a:ext uri="{FF2B5EF4-FFF2-40B4-BE49-F238E27FC236}">
                    <a16:creationId xmlns:a16="http://schemas.microsoft.com/office/drawing/2014/main" id="{4786293A-6144-9DBA-A837-BD424DF16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554" y="1224145"/>
                <a:ext cx="7379803" cy="5502917"/>
              </a:xfrm>
              <a:prstGeom prst="rect">
                <a:avLst/>
              </a:prstGeom>
              <a:blipFill>
                <a:blip r:embed="rId4"/>
                <a:stretch>
                  <a:fillRect l="-1982" t="-1440" r="-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C8A977D-12FC-5143-D739-888B8F02817E}"/>
              </a:ext>
            </a:extLst>
          </p:cNvPr>
          <p:cNvSpPr txBox="1"/>
          <p:nvPr/>
        </p:nvSpPr>
        <p:spPr>
          <a:xfrm>
            <a:off x="1110574" y="1044344"/>
            <a:ext cx="3139718" cy="614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04404"/>
            <a:r>
              <a:rPr lang="en-US" sz="2663" dirty="0">
                <a:solidFill>
                  <a:srgbClr val="FF0000"/>
                </a:solidFill>
                <a:latin typeface="Arial Rounded MT Bold" panose="020F0704030504030204" pitchFamily="34" charset="0"/>
                <a:cs typeface="Vrinda" panose="020B0502040204020203" pitchFamily="34" charset="0"/>
              </a:rPr>
              <a:t>Presenting</a:t>
            </a:r>
            <a:r>
              <a:rPr lang="en-US" sz="2663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By </a:t>
            </a:r>
          </a:p>
          <a:p>
            <a:pPr defTabSz="304404"/>
            <a:endParaRPr lang="en-US" sz="732" dirty="0">
              <a:solidFill>
                <a:prstClr val="black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9FA53D5-D92E-93E1-002B-4B82E7BC49CE}"/>
              </a:ext>
            </a:extLst>
          </p:cNvPr>
          <p:cNvGrpSpPr/>
          <p:nvPr/>
        </p:nvGrpSpPr>
        <p:grpSpPr>
          <a:xfrm rot="5400000">
            <a:off x="-3252709" y="-399296"/>
            <a:ext cx="7379804" cy="7345917"/>
            <a:chOff x="-3355805" y="-256670"/>
            <a:chExt cx="7379804" cy="7345917"/>
          </a:xfrm>
        </p:grpSpPr>
        <p:sp useBgFill="1">
          <p:nvSpPr>
            <p:cNvPr id="4" name="Flowchart: Summing Junction 3">
              <a:extLst>
                <a:ext uri="{FF2B5EF4-FFF2-40B4-BE49-F238E27FC236}">
                  <a16:creationId xmlns:a16="http://schemas.microsoft.com/office/drawing/2014/main" id="{F847AD7A-65C1-B5C9-C5D3-F61B8EFFE820}"/>
                </a:ext>
              </a:extLst>
            </p:cNvPr>
            <p:cNvSpPr/>
            <p:nvPr/>
          </p:nvSpPr>
          <p:spPr>
            <a:xfrm>
              <a:off x="-3355805" y="-256670"/>
              <a:ext cx="7379804" cy="7345917"/>
            </a:xfrm>
            <a:prstGeom prst="flowChartSummingJunction">
              <a:avLst/>
            </a:prstGeom>
            <a:ln w="12700">
              <a:solidFill>
                <a:schemeClr val="bg1"/>
              </a:solidFill>
            </a:ln>
            <a:effectLst>
              <a:outerShdw blurRad="152400" dist="38100" sx="102000" sy="102000" algn="l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5FB2B0-5712-06C2-B8CC-FBB4FB221D7D}"/>
                </a:ext>
              </a:extLst>
            </p:cNvPr>
            <p:cNvSpPr txBox="1"/>
            <p:nvPr/>
          </p:nvSpPr>
          <p:spPr>
            <a:xfrm rot="5400000">
              <a:off x="2088313" y="3152696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09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CA5353-32FE-2389-75C9-8F1EF808012B}"/>
                </a:ext>
              </a:extLst>
            </p:cNvPr>
            <p:cNvSpPr txBox="1"/>
            <p:nvPr/>
          </p:nvSpPr>
          <p:spPr>
            <a:xfrm>
              <a:off x="-168443" y="859082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77665A-51D6-15BD-5E1A-673D8434AE78}"/>
                </a:ext>
              </a:extLst>
            </p:cNvPr>
            <p:cNvSpPr txBox="1"/>
            <p:nvPr/>
          </p:nvSpPr>
          <p:spPr>
            <a:xfrm flipV="1">
              <a:off x="-96252" y="5567440"/>
              <a:ext cx="1357207" cy="4004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460F36-463E-4EB2-1977-0A825F55061C}"/>
                </a:ext>
              </a:extLst>
            </p:cNvPr>
            <p:cNvSpPr txBox="1"/>
            <p:nvPr/>
          </p:nvSpPr>
          <p:spPr>
            <a:xfrm rot="16200000">
              <a:off x="-2723056" y="3152695"/>
              <a:ext cx="1364819" cy="3982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>
                      <a:lumMod val="50000"/>
                    </a:schemeClr>
                  </a:solidFill>
                  <a:latin typeface="Arial Black" panose="020B0A04020102020204" pitchFamily="34" charset="0"/>
                  <a:cs typeface="Times New Roman" panose="02020603050405020304" pitchFamily="18" charset="0"/>
                </a:rPr>
                <a:t>PART 11</a:t>
              </a:r>
            </a:p>
          </p:txBody>
        </p:sp>
      </p:grpSp>
      <p:sp useBgFill="1">
        <p:nvSpPr>
          <p:cNvPr id="9" name="Oval 8">
            <a:extLst>
              <a:ext uri="{FF2B5EF4-FFF2-40B4-BE49-F238E27FC236}">
                <a16:creationId xmlns:a16="http://schemas.microsoft.com/office/drawing/2014/main" id="{C0C6DBF8-9733-305B-2AC6-942C1E47BADA}"/>
              </a:ext>
            </a:extLst>
          </p:cNvPr>
          <p:cNvSpPr/>
          <p:nvPr/>
        </p:nvSpPr>
        <p:spPr>
          <a:xfrm rot="16200000">
            <a:off x="-785349" y="1987453"/>
            <a:ext cx="2445086" cy="2572420"/>
          </a:xfrm>
          <a:prstGeom prst="ellipse">
            <a:avLst/>
          </a:prstGeom>
          <a:ln>
            <a:noFill/>
          </a:ln>
          <a:effectLst>
            <a:outerShdw blurRad="1524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3C454-72C7-C752-9D2B-F07B5B735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840187" y="4809507"/>
            <a:ext cx="2719449" cy="5232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60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339FA-7E42-C2FC-CC7F-9B900EBC4D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" y="1850"/>
            <a:ext cx="12185423" cy="68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19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9D3C4F-0397-4469-062F-AA24A2C47AD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" y="-21140"/>
            <a:ext cx="12188711" cy="68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746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3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4.xml><?xml version="1.0" encoding="utf-8"?>
<a:theme xmlns:a="http://schemas.openxmlformats.org/drawingml/2006/main" name="3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5.xml><?xml version="1.0" encoding="utf-8"?>
<a:theme xmlns:a="http://schemas.openxmlformats.org/drawingml/2006/main" name="4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6.xml><?xml version="1.0" encoding="utf-8"?>
<a:theme xmlns:a="http://schemas.openxmlformats.org/drawingml/2006/main" name="6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7.xml><?xml version="1.0" encoding="utf-8"?>
<a:theme xmlns:a="http://schemas.openxmlformats.org/drawingml/2006/main" name="5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2152</Words>
  <Application>Microsoft Office PowerPoint</Application>
  <PresentationFormat>Widescreen</PresentationFormat>
  <Paragraphs>292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35" baseType="lpstr">
      <vt:lpstr>Cambria Math</vt:lpstr>
      <vt:lpstr>Arial Rounded MT Bold</vt:lpstr>
      <vt:lpstr>RQND Pro</vt:lpstr>
      <vt:lpstr>Freestyle Script</vt:lpstr>
      <vt:lpstr>Arial Black</vt:lpstr>
      <vt:lpstr>Corbel</vt:lpstr>
      <vt:lpstr>Calibri</vt:lpstr>
      <vt:lpstr>Algerian</vt:lpstr>
      <vt:lpstr>Calibri Light</vt:lpstr>
      <vt:lpstr>Times New Roman</vt:lpstr>
      <vt:lpstr>Arial</vt:lpstr>
      <vt:lpstr>Office Theme</vt:lpstr>
      <vt:lpstr>Parallax</vt:lpstr>
      <vt:lpstr>1_Parallax</vt:lpstr>
      <vt:lpstr>3_Parallax</vt:lpstr>
      <vt:lpstr>4_Parallax</vt:lpstr>
      <vt:lpstr>6_Parallax</vt:lpstr>
      <vt:lpstr>5_Parallax</vt:lpstr>
      <vt:lpstr>PowerPoint Presentation</vt:lpstr>
      <vt:lpstr> “PARTIAL DIFFERENTIAL EQUATION”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SOBUJ</dc:creator>
  <cp:lastModifiedBy>Sobuj Alo</cp:lastModifiedBy>
  <cp:revision>36</cp:revision>
  <dcterms:created xsi:type="dcterms:W3CDTF">2026-08-15T04:45:04Z</dcterms:created>
  <dcterms:modified xsi:type="dcterms:W3CDTF">2026-08-17T04:14:33Z</dcterms:modified>
</cp:coreProperties>
</file>