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66" r:id="rId1"/>
  </p:sldMasterIdLst>
  <p:notesMasterIdLst>
    <p:notesMasterId r:id="rId35"/>
  </p:notesMasterIdLst>
  <p:handoutMasterIdLst>
    <p:handoutMasterId r:id="rId36"/>
  </p:handoutMasterIdLst>
  <p:sldIdLst>
    <p:sldId id="270" r:id="rId2"/>
    <p:sldId id="256" r:id="rId3"/>
    <p:sldId id="269" r:id="rId4"/>
    <p:sldId id="273" r:id="rId5"/>
    <p:sldId id="257" r:id="rId6"/>
    <p:sldId id="279" r:id="rId7"/>
    <p:sldId id="281" r:id="rId8"/>
    <p:sldId id="258" r:id="rId9"/>
    <p:sldId id="284" r:id="rId10"/>
    <p:sldId id="282" r:id="rId11"/>
    <p:sldId id="285" r:id="rId12"/>
    <p:sldId id="283" r:id="rId13"/>
    <p:sldId id="277" r:id="rId14"/>
    <p:sldId id="286" r:id="rId15"/>
    <p:sldId id="287" r:id="rId16"/>
    <p:sldId id="304" r:id="rId17"/>
    <p:sldId id="305" r:id="rId18"/>
    <p:sldId id="299" r:id="rId19"/>
    <p:sldId id="300" r:id="rId20"/>
    <p:sldId id="302" r:id="rId21"/>
    <p:sldId id="303" r:id="rId22"/>
    <p:sldId id="301" r:id="rId23"/>
    <p:sldId id="288" r:id="rId24"/>
    <p:sldId id="289" r:id="rId25"/>
    <p:sldId id="290" r:id="rId26"/>
    <p:sldId id="291" r:id="rId27"/>
    <p:sldId id="292" r:id="rId28"/>
    <p:sldId id="293" r:id="rId29"/>
    <p:sldId id="294" r:id="rId30"/>
    <p:sldId id="295" r:id="rId31"/>
    <p:sldId id="296" r:id="rId32"/>
    <p:sldId id="297" r:id="rId33"/>
    <p:sldId id="268" r:id="rId34"/>
  </p:sldIdLst>
  <p:sldSz cx="18300700" cy="10299700"/>
  <p:notesSz cx="18300700" cy="102997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218" autoAdjust="0"/>
  </p:normalViewPr>
  <p:slideViewPr>
    <p:cSldViewPr>
      <p:cViewPr varScale="1">
        <p:scale>
          <a:sx n="50" d="100"/>
          <a:sy n="50" d="100"/>
        </p:scale>
        <p:origin x="534" y="48"/>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9563" cy="515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10366375" y="0"/>
            <a:ext cx="7929563" cy="515938"/>
          </a:xfrm>
          <a:prstGeom prst="rect">
            <a:avLst/>
          </a:prstGeom>
        </p:spPr>
        <p:txBody>
          <a:bodyPr vert="horz" lIns="91440" tIns="45720" rIns="91440" bIns="45720" rtlCol="0"/>
          <a:lstStyle>
            <a:lvl1pPr algn="r">
              <a:defRPr sz="1200"/>
            </a:lvl1pPr>
          </a:lstStyle>
          <a:p>
            <a:fld id="{AB279206-D043-4CEC-B7AF-75DFF82F7C2A}" type="datetimeFigureOut">
              <a:rPr lang="en-US" smtClean="0"/>
              <a:t>1/1/2026</a:t>
            </a:fld>
            <a:endParaRPr lang="en-US"/>
          </a:p>
        </p:txBody>
      </p:sp>
      <p:sp>
        <p:nvSpPr>
          <p:cNvPr id="4" name="Footer Placeholder 3"/>
          <p:cNvSpPr>
            <a:spLocks noGrp="1"/>
          </p:cNvSpPr>
          <p:nvPr>
            <p:ph type="ftr" sz="quarter" idx="2"/>
          </p:nvPr>
        </p:nvSpPr>
        <p:spPr>
          <a:xfrm>
            <a:off x="0" y="9783763"/>
            <a:ext cx="7929563" cy="51593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10366375" y="9783763"/>
            <a:ext cx="7929563" cy="515937"/>
          </a:xfrm>
          <a:prstGeom prst="rect">
            <a:avLst/>
          </a:prstGeom>
        </p:spPr>
        <p:txBody>
          <a:bodyPr vert="horz" lIns="91440" tIns="45720" rIns="91440" bIns="45720" rtlCol="0" anchor="b"/>
          <a:lstStyle>
            <a:lvl1pPr algn="r">
              <a:defRPr sz="1200"/>
            </a:lvl1pPr>
          </a:lstStyle>
          <a:p>
            <a:fld id="{EDCE3B1B-FB67-42EF-8CEF-60F0AB1DD78D}" type="slidenum">
              <a:rPr lang="en-US" smtClean="0"/>
              <a:t>‹#›</a:t>
            </a:fld>
            <a:endParaRPr lang="en-US"/>
          </a:p>
        </p:txBody>
      </p:sp>
    </p:spTree>
    <p:extLst>
      <p:ext uri="{BB962C8B-B14F-4D97-AF65-F5344CB8AC3E}">
        <p14:creationId xmlns:p14="http://schemas.microsoft.com/office/powerpoint/2010/main" val="18880317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9563" cy="515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0366375" y="0"/>
            <a:ext cx="7929563" cy="515938"/>
          </a:xfrm>
          <a:prstGeom prst="rect">
            <a:avLst/>
          </a:prstGeom>
        </p:spPr>
        <p:txBody>
          <a:bodyPr vert="horz" lIns="91440" tIns="45720" rIns="91440" bIns="45720" rtlCol="0"/>
          <a:lstStyle>
            <a:lvl1pPr algn="r">
              <a:defRPr sz="1200"/>
            </a:lvl1pPr>
          </a:lstStyle>
          <a:p>
            <a:fld id="{821348C2-FF9B-4B65-9CE1-AE2A9E0241DB}" type="datetimeFigureOut">
              <a:rPr lang="en-US" smtClean="0"/>
              <a:t>1/1/2026</a:t>
            </a:fld>
            <a:endParaRPr lang="en-US"/>
          </a:p>
        </p:txBody>
      </p:sp>
      <p:sp>
        <p:nvSpPr>
          <p:cNvPr id="4" name="Slide Image Placeholder 3"/>
          <p:cNvSpPr>
            <a:spLocks noGrp="1" noRot="1" noChangeAspect="1"/>
          </p:cNvSpPr>
          <p:nvPr>
            <p:ph type="sldImg" idx="2"/>
          </p:nvPr>
        </p:nvSpPr>
        <p:spPr>
          <a:xfrm>
            <a:off x="6061075" y="1287463"/>
            <a:ext cx="6178550" cy="3476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830388" y="4956175"/>
            <a:ext cx="14639925" cy="405606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783763"/>
            <a:ext cx="7929563" cy="515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0366375" y="9783763"/>
            <a:ext cx="7929563" cy="515937"/>
          </a:xfrm>
          <a:prstGeom prst="rect">
            <a:avLst/>
          </a:prstGeom>
        </p:spPr>
        <p:txBody>
          <a:bodyPr vert="horz" lIns="91440" tIns="45720" rIns="91440" bIns="45720" rtlCol="0" anchor="b"/>
          <a:lstStyle>
            <a:lvl1pPr algn="r">
              <a:defRPr sz="1200"/>
            </a:lvl1pPr>
          </a:lstStyle>
          <a:p>
            <a:fld id="{A87A255F-CA1E-4313-AC9E-4BD3FA8209D0}" type="slidenum">
              <a:rPr lang="en-US" smtClean="0"/>
              <a:t>‹#›</a:t>
            </a:fld>
            <a:endParaRPr lang="en-US"/>
          </a:p>
        </p:txBody>
      </p:sp>
    </p:spTree>
    <p:extLst>
      <p:ext uri="{BB962C8B-B14F-4D97-AF65-F5344CB8AC3E}">
        <p14:creationId xmlns:p14="http://schemas.microsoft.com/office/powerpoint/2010/main" val="401808868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83984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2848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0a7be6e973_0_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10a7be6e97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648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54dda1946d_6_3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9169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819719" y="-7152"/>
            <a:ext cx="7527592" cy="1030685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4395652" y="2072659"/>
            <a:ext cx="12870865" cy="3929143"/>
          </a:xfrm>
        </p:spPr>
        <p:txBody>
          <a:bodyPr anchor="b">
            <a:normAutofit/>
          </a:bodyPr>
          <a:lstStyle>
            <a:lvl1pPr algn="r">
              <a:defRPr sz="9006">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777770" y="6001801"/>
            <a:ext cx="10488746" cy="2085372"/>
          </a:xfrm>
        </p:spPr>
        <p:txBody>
          <a:bodyPr anchor="t">
            <a:normAutofit/>
          </a:bodyPr>
          <a:lstStyle>
            <a:lvl1pPr marL="0" indent="0" algn="r">
              <a:buNone/>
              <a:defRPr sz="3152">
                <a:solidFill>
                  <a:schemeClr val="tx1"/>
                </a:solidFill>
              </a:defRPr>
            </a:lvl1pPr>
            <a:lvl2pPr marL="686257" indent="0" algn="ctr">
              <a:buNone/>
              <a:defRPr>
                <a:solidFill>
                  <a:schemeClr val="tx1">
                    <a:tint val="75000"/>
                  </a:schemeClr>
                </a:solidFill>
              </a:defRPr>
            </a:lvl2pPr>
            <a:lvl3pPr marL="1372514" indent="0" algn="ctr">
              <a:buNone/>
              <a:defRPr>
                <a:solidFill>
                  <a:schemeClr val="tx1">
                    <a:tint val="75000"/>
                  </a:schemeClr>
                </a:solidFill>
              </a:defRPr>
            </a:lvl3pPr>
            <a:lvl4pPr marL="2058772" indent="0" algn="ctr">
              <a:buNone/>
              <a:defRPr>
                <a:solidFill>
                  <a:schemeClr val="tx1">
                    <a:tint val="75000"/>
                  </a:schemeClr>
                </a:solidFill>
              </a:defRPr>
            </a:lvl4pPr>
            <a:lvl5pPr marL="2745029" indent="0" algn="ctr">
              <a:buNone/>
              <a:defRPr>
                <a:solidFill>
                  <a:schemeClr val="tx1">
                    <a:tint val="75000"/>
                  </a:schemeClr>
                </a:solidFill>
              </a:defRPr>
            </a:lvl5pPr>
            <a:lvl6pPr marL="3431286" indent="0" algn="ctr">
              <a:buNone/>
              <a:defRPr>
                <a:solidFill>
                  <a:schemeClr val="tx1">
                    <a:tint val="75000"/>
                  </a:schemeClr>
                </a:solidFill>
              </a:defRPr>
            </a:lvl6pPr>
            <a:lvl7pPr marL="4117543" indent="0" algn="ctr">
              <a:buNone/>
              <a:defRPr>
                <a:solidFill>
                  <a:schemeClr val="tx1">
                    <a:tint val="75000"/>
                  </a:schemeClr>
                </a:solidFill>
              </a:defRPr>
            </a:lvl7pPr>
            <a:lvl8pPr marL="4803800" indent="0" algn="ctr">
              <a:buNone/>
              <a:defRPr>
                <a:solidFill>
                  <a:schemeClr val="tx1">
                    <a:tint val="75000"/>
                  </a:schemeClr>
                </a:solidFill>
              </a:defRPr>
            </a:lvl8pPr>
            <a:lvl9pPr marL="5490058"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15ED45E-FF52-4132-89B2-39DA78991521}" type="datetime1">
              <a:rPr lang="en-US" smtClean="0"/>
              <a:t>1/1/2026</a:t>
            </a:fld>
            <a:endParaRPr lang="en-US"/>
          </a:p>
        </p:txBody>
      </p:sp>
      <p:sp>
        <p:nvSpPr>
          <p:cNvPr id="5" name="Footer Placeholder 4"/>
          <p:cNvSpPr>
            <a:spLocks noGrp="1"/>
          </p:cNvSpPr>
          <p:nvPr>
            <p:ph type="ftr" sz="quarter" idx="11"/>
          </p:nvPr>
        </p:nvSpPr>
        <p:spPr>
          <a:xfrm>
            <a:off x="8004173" y="8835808"/>
            <a:ext cx="6490570" cy="548364"/>
          </a:xfrm>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926828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397D842-EBEC-4F88-B66F-A0660DDDCF2B}" type="datetime1">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11562"/>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68906206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1099" y="4005437"/>
            <a:ext cx="13405423" cy="3169481"/>
          </a:xfrm>
        </p:spPr>
        <p:txBody>
          <a:bodyPr anchor="b"/>
          <a:lstStyle>
            <a:lvl1pPr algn="r">
              <a:defRPr sz="6004"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3861096" y="7174919"/>
            <a:ext cx="13405425" cy="1292193"/>
          </a:xfrm>
        </p:spPr>
        <p:txBody>
          <a:bodyPr anchor="t">
            <a:normAutofit/>
          </a:bodyPr>
          <a:lstStyle>
            <a:lvl1pPr marL="0" indent="0" algn="r">
              <a:buNone/>
              <a:defRPr sz="3002">
                <a:solidFill>
                  <a:schemeClr val="tx1"/>
                </a:solidFill>
              </a:defRPr>
            </a:lvl1pPr>
            <a:lvl2pPr marL="686257" indent="0">
              <a:buNone/>
              <a:defRPr sz="2702">
                <a:solidFill>
                  <a:schemeClr val="tx1">
                    <a:tint val="75000"/>
                  </a:schemeClr>
                </a:solidFill>
              </a:defRPr>
            </a:lvl2pPr>
            <a:lvl3pPr marL="1372514" indent="0">
              <a:buNone/>
              <a:defRPr sz="2402">
                <a:solidFill>
                  <a:schemeClr val="tx1">
                    <a:tint val="75000"/>
                  </a:schemeClr>
                </a:solidFill>
              </a:defRPr>
            </a:lvl3pPr>
            <a:lvl4pPr marL="2058772" indent="0">
              <a:buNone/>
              <a:defRPr sz="2101">
                <a:solidFill>
                  <a:schemeClr val="tx1">
                    <a:tint val="75000"/>
                  </a:schemeClr>
                </a:solidFill>
              </a:defRPr>
            </a:lvl4pPr>
            <a:lvl5pPr marL="2745029" indent="0">
              <a:buNone/>
              <a:defRPr sz="2101">
                <a:solidFill>
                  <a:schemeClr val="tx1">
                    <a:tint val="75000"/>
                  </a:schemeClr>
                </a:solidFill>
              </a:defRPr>
            </a:lvl5pPr>
            <a:lvl6pPr marL="3431286" indent="0">
              <a:buNone/>
              <a:defRPr sz="2101">
                <a:solidFill>
                  <a:schemeClr val="tx1">
                    <a:tint val="75000"/>
                  </a:schemeClr>
                </a:solidFill>
              </a:defRPr>
            </a:lvl6pPr>
            <a:lvl7pPr marL="4117543" indent="0">
              <a:buNone/>
              <a:defRPr sz="2101">
                <a:solidFill>
                  <a:schemeClr val="tx1">
                    <a:tint val="75000"/>
                  </a:schemeClr>
                </a:solidFill>
              </a:defRPr>
            </a:lvl7pPr>
            <a:lvl8pPr marL="4803800" indent="0">
              <a:buNone/>
              <a:defRPr sz="2101">
                <a:solidFill>
                  <a:schemeClr val="tx1">
                    <a:tint val="75000"/>
                  </a:schemeClr>
                </a:solidFill>
              </a:defRPr>
            </a:lvl8pPr>
            <a:lvl9pPr marL="5490058" indent="0">
              <a:buNone/>
              <a:defRPr sz="2101">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D0A3E52-DC31-4730-AFB7-39E323326B56}" type="datetime1">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966545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28013" y="1029971"/>
            <a:ext cx="15038506" cy="2632144"/>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228015" y="4005438"/>
            <a:ext cx="7347682" cy="4692087"/>
          </a:xfrm>
        </p:spPr>
        <p:txBody>
          <a:bodyPr>
            <a:normAutofit/>
          </a:bodyPr>
          <a:lstStyle>
            <a:lvl1pPr>
              <a:defRPr sz="2702"/>
            </a:lvl1pPr>
            <a:lvl2pPr>
              <a:defRPr sz="2402"/>
            </a:lvl2pPr>
            <a:lvl3pPr>
              <a:defRPr sz="2101"/>
            </a:lvl3pPr>
            <a:lvl4pPr>
              <a:defRPr sz="1801"/>
            </a:lvl4pPr>
            <a:lvl5pPr>
              <a:defRPr sz="1801"/>
            </a:lvl5pPr>
            <a:lvl6pPr>
              <a:defRPr sz="1801"/>
            </a:lvl6pPr>
            <a:lvl7pPr>
              <a:defRPr sz="1801"/>
            </a:lvl7pPr>
            <a:lvl8pPr>
              <a:defRPr sz="1801"/>
            </a:lvl8pPr>
            <a:lvl9pPr>
              <a:defRPr sz="1801"/>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9918834" y="4005439"/>
            <a:ext cx="7347683" cy="4692086"/>
          </a:xfrm>
        </p:spPr>
        <p:txBody>
          <a:bodyPr>
            <a:normAutofit/>
          </a:bodyPr>
          <a:lstStyle>
            <a:lvl1pPr>
              <a:defRPr sz="2702"/>
            </a:lvl1pPr>
            <a:lvl2pPr>
              <a:defRPr sz="2402"/>
            </a:lvl2pPr>
            <a:lvl3pPr>
              <a:defRPr sz="2101"/>
            </a:lvl3pPr>
            <a:lvl4pPr>
              <a:defRPr sz="1801"/>
            </a:lvl4pPr>
            <a:lvl5pPr>
              <a:defRPr sz="1801"/>
            </a:lvl5pPr>
            <a:lvl6pPr>
              <a:defRPr sz="1801"/>
            </a:lvl6pPr>
            <a:lvl7pPr>
              <a:defRPr sz="1801"/>
            </a:lvl7pPr>
            <a:lvl8pPr>
              <a:defRPr sz="1801"/>
            </a:lvl8pPr>
            <a:lvl9pPr>
              <a:defRPr sz="1801"/>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18577D0-D844-4653-88F0-AD3836A7EB19}" type="datetime1">
              <a:rPr lang="en-US" smtClean="0"/>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22917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2660115" y="3992723"/>
            <a:ext cx="6915581" cy="865460"/>
          </a:xfrm>
        </p:spPr>
        <p:txBody>
          <a:bodyPr anchor="b">
            <a:noAutofit/>
          </a:bodyPr>
          <a:lstStyle>
            <a:lvl1pPr marL="0" indent="0">
              <a:buNone/>
              <a:defRPr sz="4203" b="0">
                <a:solidFill>
                  <a:schemeClr val="accent1">
                    <a:lumMod val="75000"/>
                  </a:schemeClr>
                </a:solidFill>
              </a:defRPr>
            </a:lvl1pPr>
            <a:lvl2pPr marL="686257" indent="0">
              <a:buNone/>
              <a:defRPr sz="3002" b="1"/>
            </a:lvl2pPr>
            <a:lvl3pPr marL="1372514" indent="0">
              <a:buNone/>
              <a:defRPr sz="2702" b="1"/>
            </a:lvl3pPr>
            <a:lvl4pPr marL="2058772" indent="0">
              <a:buNone/>
              <a:defRPr sz="2402" b="1"/>
            </a:lvl4pPr>
            <a:lvl5pPr marL="2745029" indent="0">
              <a:buNone/>
              <a:defRPr sz="2402" b="1"/>
            </a:lvl5pPr>
            <a:lvl6pPr marL="3431286" indent="0">
              <a:buNone/>
              <a:defRPr sz="2402" b="1"/>
            </a:lvl6pPr>
            <a:lvl7pPr marL="4117543" indent="0">
              <a:buNone/>
              <a:defRPr sz="2402" b="1"/>
            </a:lvl7pPr>
            <a:lvl8pPr marL="4803800" indent="0">
              <a:buNone/>
              <a:defRPr sz="2402" b="1"/>
            </a:lvl8pPr>
            <a:lvl9pPr marL="5490058" indent="0">
              <a:buNone/>
              <a:defRPr sz="2402" b="1"/>
            </a:lvl9pPr>
          </a:lstStyle>
          <a:p>
            <a:pPr lvl="0"/>
            <a:r>
              <a:rPr lang="en-US" smtClean="0"/>
              <a:t>Edit Master text styles</a:t>
            </a:r>
          </a:p>
        </p:txBody>
      </p:sp>
      <p:sp>
        <p:nvSpPr>
          <p:cNvPr id="4" name="Content Placeholder 3"/>
          <p:cNvSpPr>
            <a:spLocks noGrp="1"/>
          </p:cNvSpPr>
          <p:nvPr>
            <p:ph sz="half" idx="2"/>
          </p:nvPr>
        </p:nvSpPr>
        <p:spPr>
          <a:xfrm>
            <a:off x="2228013" y="5009182"/>
            <a:ext cx="7347683" cy="3688341"/>
          </a:xfrm>
        </p:spPr>
        <p:txBody>
          <a:bodyPr anchor="t">
            <a:normAutofit/>
          </a:bodyPr>
          <a:lstStyle>
            <a:lvl1pPr>
              <a:defRPr sz="2702"/>
            </a:lvl1pPr>
            <a:lvl2pPr>
              <a:defRPr sz="2402"/>
            </a:lvl2pPr>
            <a:lvl3pPr>
              <a:defRPr sz="2101"/>
            </a:lvl3pPr>
            <a:lvl4pPr>
              <a:defRPr sz="1801"/>
            </a:lvl4pPr>
            <a:lvl5pPr>
              <a:defRPr sz="1801"/>
            </a:lvl5pPr>
            <a:lvl6pPr>
              <a:defRPr sz="1801"/>
            </a:lvl6pPr>
            <a:lvl7pPr>
              <a:defRPr sz="1801"/>
            </a:lvl7pPr>
            <a:lvl8pPr>
              <a:defRPr sz="1801"/>
            </a:lvl8pPr>
            <a:lvl9pPr>
              <a:defRPr sz="1801"/>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10327898" y="4005439"/>
            <a:ext cx="6938621" cy="865460"/>
          </a:xfrm>
        </p:spPr>
        <p:txBody>
          <a:bodyPr anchor="b">
            <a:noAutofit/>
          </a:bodyPr>
          <a:lstStyle>
            <a:lvl1pPr marL="0" indent="0">
              <a:buNone/>
              <a:defRPr sz="4203" b="0">
                <a:solidFill>
                  <a:schemeClr val="accent1">
                    <a:lumMod val="75000"/>
                  </a:schemeClr>
                </a:solidFill>
              </a:defRPr>
            </a:lvl1pPr>
            <a:lvl2pPr marL="686257" indent="0">
              <a:buNone/>
              <a:defRPr sz="3002" b="1"/>
            </a:lvl2pPr>
            <a:lvl3pPr marL="1372514" indent="0">
              <a:buNone/>
              <a:defRPr sz="2702" b="1"/>
            </a:lvl3pPr>
            <a:lvl4pPr marL="2058772" indent="0">
              <a:buNone/>
              <a:defRPr sz="2402" b="1"/>
            </a:lvl4pPr>
            <a:lvl5pPr marL="2745029" indent="0">
              <a:buNone/>
              <a:defRPr sz="2402" b="1"/>
            </a:lvl5pPr>
            <a:lvl6pPr marL="3431286" indent="0">
              <a:buNone/>
              <a:defRPr sz="2402" b="1"/>
            </a:lvl6pPr>
            <a:lvl7pPr marL="4117543" indent="0">
              <a:buNone/>
              <a:defRPr sz="2402" b="1"/>
            </a:lvl7pPr>
            <a:lvl8pPr marL="4803800" indent="0">
              <a:buNone/>
              <a:defRPr sz="2402" b="1"/>
            </a:lvl8pPr>
            <a:lvl9pPr marL="5490058" indent="0">
              <a:buNone/>
              <a:defRPr sz="2402" b="1"/>
            </a:lvl9pPr>
          </a:lstStyle>
          <a:p>
            <a:pPr lvl="0"/>
            <a:r>
              <a:rPr lang="en-US" smtClean="0"/>
              <a:t>Edit Master text styles</a:t>
            </a:r>
          </a:p>
        </p:txBody>
      </p:sp>
      <p:sp>
        <p:nvSpPr>
          <p:cNvPr id="6" name="Content Placeholder 5"/>
          <p:cNvSpPr>
            <a:spLocks noGrp="1"/>
          </p:cNvSpPr>
          <p:nvPr>
            <p:ph sz="quarter" idx="4"/>
          </p:nvPr>
        </p:nvSpPr>
        <p:spPr>
          <a:xfrm>
            <a:off x="9918834" y="5009182"/>
            <a:ext cx="7347683" cy="3688341"/>
          </a:xfrm>
        </p:spPr>
        <p:txBody>
          <a:bodyPr anchor="t">
            <a:normAutofit/>
          </a:bodyPr>
          <a:lstStyle>
            <a:lvl1pPr>
              <a:defRPr sz="2702"/>
            </a:lvl1pPr>
            <a:lvl2pPr>
              <a:defRPr sz="2402"/>
            </a:lvl2pPr>
            <a:lvl3pPr>
              <a:defRPr sz="2101"/>
            </a:lvl3pPr>
            <a:lvl4pPr>
              <a:defRPr sz="1801"/>
            </a:lvl4pPr>
            <a:lvl5pPr>
              <a:defRPr sz="1801"/>
            </a:lvl5pPr>
            <a:lvl6pPr>
              <a:defRPr sz="1801"/>
            </a:lvl6pPr>
            <a:lvl7pPr>
              <a:defRPr sz="1801"/>
            </a:lvl7pPr>
            <a:lvl8pPr>
              <a:defRPr sz="1801"/>
            </a:lvl8pPr>
            <a:lvl9pPr>
              <a:defRPr sz="1801"/>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6F5DCD6-C4FA-42ED-B921-01F53D29A43D}" type="datetime1">
              <a:rPr lang="en-US" smtClean="0"/>
              <a:t>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20275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A4D7499-D8DD-4E43-B53D-A8B1FBC4502A}" type="datetime1">
              <a:rPr lang="en-US" smtClean="0"/>
              <a:t>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600997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08D837-8598-47BF-AB99-2C9FB704B4A4}" type="datetime1">
              <a:rPr lang="en-US" smtClean="0"/>
              <a:t>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83560172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8015" y="2403263"/>
            <a:ext cx="5327379" cy="2059940"/>
          </a:xfrm>
        </p:spPr>
        <p:txBody>
          <a:bodyPr anchor="b">
            <a:normAutofit/>
          </a:bodyPr>
          <a:lstStyle>
            <a:lvl1pPr algn="ctr">
              <a:defRPr sz="3602" b="0"/>
            </a:lvl1pPr>
          </a:lstStyle>
          <a:p>
            <a:r>
              <a:rPr lang="en-US" smtClean="0"/>
              <a:t>Click to edit Master title style</a:t>
            </a:r>
            <a:endParaRPr lang="en-US" dirty="0"/>
          </a:p>
        </p:txBody>
      </p:sp>
      <p:sp>
        <p:nvSpPr>
          <p:cNvPr id="3" name="Content Placeholder 2"/>
          <p:cNvSpPr>
            <a:spLocks noGrp="1"/>
          </p:cNvSpPr>
          <p:nvPr>
            <p:ph idx="1"/>
          </p:nvPr>
        </p:nvSpPr>
        <p:spPr>
          <a:xfrm>
            <a:off x="7898531" y="1029969"/>
            <a:ext cx="9367986" cy="7667556"/>
          </a:xfrm>
        </p:spPr>
        <p:txBody>
          <a:bodyPr anchor="ctr">
            <a:normAutofit/>
          </a:bodyPr>
          <a:lstStyle>
            <a:lvl1pPr>
              <a:defRPr sz="3002"/>
            </a:lvl1pPr>
            <a:lvl2pPr>
              <a:defRPr sz="2702"/>
            </a:lvl2pPr>
            <a:lvl3pPr>
              <a:defRPr sz="2402"/>
            </a:lvl3pPr>
            <a:lvl4pPr>
              <a:defRPr sz="2101"/>
            </a:lvl4pPr>
            <a:lvl5pPr>
              <a:defRPr sz="2101"/>
            </a:lvl5pPr>
            <a:lvl6pPr>
              <a:defRPr sz="2101"/>
            </a:lvl6pPr>
            <a:lvl7pPr>
              <a:defRPr sz="2101"/>
            </a:lvl7pPr>
            <a:lvl8pPr>
              <a:defRPr sz="2101"/>
            </a:lvl8pPr>
            <a:lvl9pPr>
              <a:defRPr sz="2101"/>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228015" y="4463203"/>
            <a:ext cx="5327379" cy="2746587"/>
          </a:xfrm>
        </p:spPr>
        <p:txBody>
          <a:bodyPr>
            <a:normAutofit/>
          </a:bodyPr>
          <a:lstStyle>
            <a:lvl1pPr marL="0" indent="0" algn="ctr">
              <a:buNone/>
              <a:defRPr sz="2402"/>
            </a:lvl1pPr>
            <a:lvl2pPr marL="686257" indent="0">
              <a:buNone/>
              <a:defRPr sz="1801"/>
            </a:lvl2pPr>
            <a:lvl3pPr marL="1372514" indent="0">
              <a:buNone/>
              <a:defRPr sz="1501"/>
            </a:lvl3pPr>
            <a:lvl4pPr marL="2058772" indent="0">
              <a:buNone/>
              <a:defRPr sz="1351"/>
            </a:lvl4pPr>
            <a:lvl5pPr marL="2745029" indent="0">
              <a:buNone/>
              <a:defRPr sz="1351"/>
            </a:lvl5pPr>
            <a:lvl6pPr marL="3431286" indent="0">
              <a:buNone/>
              <a:defRPr sz="1351"/>
            </a:lvl6pPr>
            <a:lvl7pPr marL="4117543" indent="0">
              <a:buNone/>
              <a:defRPr sz="1351"/>
            </a:lvl7pPr>
            <a:lvl8pPr marL="4803800" indent="0">
              <a:buNone/>
              <a:defRPr sz="1351"/>
            </a:lvl8pPr>
            <a:lvl9pPr marL="5490058" indent="0">
              <a:buNone/>
              <a:defRPr sz="1351"/>
            </a:lvl9pPr>
          </a:lstStyle>
          <a:p>
            <a:pPr lvl="0"/>
            <a:r>
              <a:rPr lang="en-US" smtClean="0"/>
              <a:t>Edit Master text styles</a:t>
            </a:r>
          </a:p>
        </p:txBody>
      </p:sp>
      <p:sp>
        <p:nvSpPr>
          <p:cNvPr id="5" name="Date Placeholder 4"/>
          <p:cNvSpPr>
            <a:spLocks noGrp="1"/>
          </p:cNvSpPr>
          <p:nvPr>
            <p:ph type="dt" sz="half" idx="10"/>
          </p:nvPr>
        </p:nvSpPr>
        <p:spPr/>
        <p:txBody>
          <a:bodyPr/>
          <a:lstStyle/>
          <a:p>
            <a:fld id="{28F3E1D7-A2A3-461F-A9C7-9923DA22B8BC}" type="datetime1">
              <a:rPr lang="en-US" smtClean="0"/>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841173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5631" y="2632144"/>
            <a:ext cx="8144889" cy="2059940"/>
          </a:xfrm>
        </p:spPr>
        <p:txBody>
          <a:bodyPr anchor="b">
            <a:normAutofit/>
          </a:bodyPr>
          <a:lstStyle>
            <a:lvl1pPr algn="ctr">
              <a:defRPr sz="4203"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11399934" y="1373293"/>
            <a:ext cx="4924879" cy="6866467"/>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2"/>
            </a:lvl1pPr>
            <a:lvl2pPr marL="686257" indent="0">
              <a:buNone/>
              <a:defRPr sz="2402"/>
            </a:lvl2pPr>
            <a:lvl3pPr marL="1372514" indent="0">
              <a:buNone/>
              <a:defRPr sz="2402"/>
            </a:lvl3pPr>
            <a:lvl4pPr marL="2058772" indent="0">
              <a:buNone/>
              <a:defRPr sz="2402"/>
            </a:lvl4pPr>
            <a:lvl5pPr marL="2745029" indent="0">
              <a:buNone/>
              <a:defRPr sz="2402"/>
            </a:lvl5pPr>
            <a:lvl6pPr marL="3431286" indent="0">
              <a:buNone/>
              <a:defRPr sz="2402"/>
            </a:lvl6pPr>
            <a:lvl7pPr marL="4117543" indent="0">
              <a:buNone/>
              <a:defRPr sz="2402"/>
            </a:lvl7pPr>
            <a:lvl8pPr marL="4803800" indent="0">
              <a:buNone/>
              <a:defRPr sz="2402"/>
            </a:lvl8pPr>
            <a:lvl9pPr marL="5490058" indent="0">
              <a:buNone/>
              <a:defRPr sz="2402"/>
            </a:lvl9pPr>
          </a:lstStyle>
          <a:p>
            <a:r>
              <a:rPr lang="en-US" smtClean="0"/>
              <a:t>Click icon to add picture</a:t>
            </a:r>
            <a:endParaRPr lang="en-US" dirty="0"/>
          </a:p>
        </p:txBody>
      </p:sp>
      <p:sp>
        <p:nvSpPr>
          <p:cNvPr id="4" name="Text Placeholder 3"/>
          <p:cNvSpPr>
            <a:spLocks noGrp="1"/>
          </p:cNvSpPr>
          <p:nvPr>
            <p:ph type="body" sz="half" idx="2"/>
          </p:nvPr>
        </p:nvSpPr>
        <p:spPr>
          <a:xfrm>
            <a:off x="2225631" y="4692084"/>
            <a:ext cx="8144889" cy="2746587"/>
          </a:xfrm>
        </p:spPr>
        <p:txBody>
          <a:bodyPr>
            <a:normAutofit/>
          </a:bodyPr>
          <a:lstStyle>
            <a:lvl1pPr marL="0" indent="0" algn="ctr">
              <a:buNone/>
              <a:defRPr sz="2702"/>
            </a:lvl1pPr>
            <a:lvl2pPr marL="686257" indent="0">
              <a:buNone/>
              <a:defRPr sz="1801"/>
            </a:lvl2pPr>
            <a:lvl3pPr marL="1372514" indent="0">
              <a:buNone/>
              <a:defRPr sz="1501"/>
            </a:lvl3pPr>
            <a:lvl4pPr marL="2058772" indent="0">
              <a:buNone/>
              <a:defRPr sz="1351"/>
            </a:lvl4pPr>
            <a:lvl5pPr marL="2745029" indent="0">
              <a:buNone/>
              <a:defRPr sz="1351"/>
            </a:lvl5pPr>
            <a:lvl6pPr marL="3431286" indent="0">
              <a:buNone/>
              <a:defRPr sz="1351"/>
            </a:lvl6pPr>
            <a:lvl7pPr marL="4117543" indent="0">
              <a:buNone/>
              <a:defRPr sz="1351"/>
            </a:lvl7pPr>
            <a:lvl8pPr marL="4803800" indent="0">
              <a:buNone/>
              <a:defRPr sz="1351"/>
            </a:lvl8pPr>
            <a:lvl9pPr marL="5490058" indent="0">
              <a:buNone/>
              <a:defRPr sz="1351"/>
            </a:lvl9pPr>
          </a:lstStyle>
          <a:p>
            <a:pPr lvl="0"/>
            <a:r>
              <a:rPr lang="en-US" smtClean="0"/>
              <a:t>Edit Master text styles</a:t>
            </a:r>
          </a:p>
        </p:txBody>
      </p:sp>
      <p:sp>
        <p:nvSpPr>
          <p:cNvPr id="5" name="Date Placeholder 4"/>
          <p:cNvSpPr>
            <a:spLocks noGrp="1"/>
          </p:cNvSpPr>
          <p:nvPr>
            <p:ph type="dt" sz="half" idx="10"/>
          </p:nvPr>
        </p:nvSpPr>
        <p:spPr/>
        <p:txBody>
          <a:bodyPr/>
          <a:lstStyle/>
          <a:p>
            <a:fld id="{ED557829-FAD4-4BF0-ADFB-B1E9F63EC7D8}" type="datetime1">
              <a:rPr lang="en-US" smtClean="0"/>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706015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8013" y="7108062"/>
            <a:ext cx="15038503" cy="851157"/>
          </a:xfrm>
        </p:spPr>
        <p:txBody>
          <a:bodyPr anchor="b">
            <a:normAutofit/>
          </a:bodyPr>
          <a:lstStyle>
            <a:lvl1pPr algn="ctr">
              <a:defRPr sz="3602"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581503" y="1399894"/>
            <a:ext cx="12347485" cy="4753325"/>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2"/>
            </a:lvl1pPr>
            <a:lvl2pPr marL="686257" indent="0">
              <a:buNone/>
              <a:defRPr sz="2402"/>
            </a:lvl2pPr>
            <a:lvl3pPr marL="1372514" indent="0">
              <a:buNone/>
              <a:defRPr sz="2402"/>
            </a:lvl3pPr>
            <a:lvl4pPr marL="2058772" indent="0">
              <a:buNone/>
              <a:defRPr sz="2402"/>
            </a:lvl4pPr>
            <a:lvl5pPr marL="2745029" indent="0">
              <a:buNone/>
              <a:defRPr sz="2402"/>
            </a:lvl5pPr>
            <a:lvl6pPr marL="3431286" indent="0">
              <a:buNone/>
              <a:defRPr sz="2402"/>
            </a:lvl6pPr>
            <a:lvl7pPr marL="4117543" indent="0">
              <a:buNone/>
              <a:defRPr sz="2402"/>
            </a:lvl7pPr>
            <a:lvl8pPr marL="4803800" indent="0">
              <a:buNone/>
              <a:defRPr sz="2402"/>
            </a:lvl8pPr>
            <a:lvl9pPr marL="5490058" indent="0">
              <a:buNone/>
              <a:defRPr sz="2402"/>
            </a:lvl9pPr>
          </a:lstStyle>
          <a:p>
            <a:r>
              <a:rPr lang="en-US" smtClean="0"/>
              <a:t>Click icon to add picture</a:t>
            </a:r>
            <a:endParaRPr lang="en-US" dirty="0"/>
          </a:p>
        </p:txBody>
      </p:sp>
      <p:sp>
        <p:nvSpPr>
          <p:cNvPr id="4" name="Text Placeholder 3"/>
          <p:cNvSpPr>
            <a:spLocks noGrp="1"/>
          </p:cNvSpPr>
          <p:nvPr>
            <p:ph type="body" sz="half" idx="2"/>
          </p:nvPr>
        </p:nvSpPr>
        <p:spPr>
          <a:xfrm>
            <a:off x="2228013" y="7959219"/>
            <a:ext cx="15038503" cy="741482"/>
          </a:xfrm>
        </p:spPr>
        <p:txBody>
          <a:bodyPr>
            <a:normAutofit/>
          </a:bodyPr>
          <a:lstStyle>
            <a:lvl1pPr marL="0" indent="0" algn="ctr">
              <a:buNone/>
              <a:defRPr sz="2101"/>
            </a:lvl1pPr>
            <a:lvl2pPr marL="686257" indent="0">
              <a:buNone/>
              <a:defRPr sz="1801"/>
            </a:lvl2pPr>
            <a:lvl3pPr marL="1372514" indent="0">
              <a:buNone/>
              <a:defRPr sz="1501"/>
            </a:lvl3pPr>
            <a:lvl4pPr marL="2058772" indent="0">
              <a:buNone/>
              <a:defRPr sz="1351"/>
            </a:lvl4pPr>
            <a:lvl5pPr marL="2745029" indent="0">
              <a:buNone/>
              <a:defRPr sz="1351"/>
            </a:lvl5pPr>
            <a:lvl6pPr marL="3431286" indent="0">
              <a:buNone/>
              <a:defRPr sz="1351"/>
            </a:lvl6pPr>
            <a:lvl7pPr marL="4117543" indent="0">
              <a:buNone/>
              <a:defRPr sz="1351"/>
            </a:lvl7pPr>
            <a:lvl8pPr marL="4803800" indent="0">
              <a:buNone/>
              <a:defRPr sz="1351"/>
            </a:lvl8pPr>
            <a:lvl9pPr marL="5490058" indent="0">
              <a:buNone/>
              <a:defRPr sz="1351"/>
            </a:lvl9pPr>
          </a:lstStyle>
          <a:p>
            <a:pPr lvl="0"/>
            <a:r>
              <a:rPr lang="en-US" smtClean="0"/>
              <a:t>Edit Master text styles</a:t>
            </a:r>
          </a:p>
        </p:txBody>
      </p:sp>
      <p:sp>
        <p:nvSpPr>
          <p:cNvPr id="5" name="Date Placeholder 4"/>
          <p:cNvSpPr>
            <a:spLocks noGrp="1"/>
          </p:cNvSpPr>
          <p:nvPr>
            <p:ph type="dt" sz="half" idx="10"/>
          </p:nvPr>
        </p:nvSpPr>
        <p:spPr/>
        <p:txBody>
          <a:bodyPr/>
          <a:lstStyle/>
          <a:p>
            <a:fld id="{BC126043-F5E7-44CD-AB53-9865B80D1E07}" type="datetime1">
              <a:rPr lang="en-US" smtClean="0"/>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054512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228015" y="1029970"/>
            <a:ext cx="15038503" cy="4577644"/>
          </a:xfrm>
        </p:spPr>
        <p:txBody>
          <a:bodyPr anchor="ctr">
            <a:normAutofit/>
          </a:bodyPr>
          <a:lstStyle>
            <a:lvl1pPr algn="ctr">
              <a:defRPr sz="4803"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228015" y="6523143"/>
            <a:ext cx="15038506" cy="2174381"/>
          </a:xfrm>
        </p:spPr>
        <p:txBody>
          <a:bodyPr anchor="ctr">
            <a:normAutofit/>
          </a:bodyPr>
          <a:lstStyle>
            <a:lvl1pPr marL="0" indent="0" algn="ctr">
              <a:buNone/>
              <a:defRPr sz="3002">
                <a:solidFill>
                  <a:schemeClr val="tx1"/>
                </a:solidFill>
              </a:defRPr>
            </a:lvl1pPr>
            <a:lvl2pPr marL="686257" indent="0">
              <a:buNone/>
              <a:defRPr sz="2702">
                <a:solidFill>
                  <a:schemeClr val="tx1">
                    <a:tint val="75000"/>
                  </a:schemeClr>
                </a:solidFill>
              </a:defRPr>
            </a:lvl2pPr>
            <a:lvl3pPr marL="1372514" indent="0">
              <a:buNone/>
              <a:defRPr sz="2402">
                <a:solidFill>
                  <a:schemeClr val="tx1">
                    <a:tint val="75000"/>
                  </a:schemeClr>
                </a:solidFill>
              </a:defRPr>
            </a:lvl3pPr>
            <a:lvl4pPr marL="2058772" indent="0">
              <a:buNone/>
              <a:defRPr sz="2101">
                <a:solidFill>
                  <a:schemeClr val="tx1">
                    <a:tint val="75000"/>
                  </a:schemeClr>
                </a:solidFill>
              </a:defRPr>
            </a:lvl4pPr>
            <a:lvl5pPr marL="2745029" indent="0">
              <a:buNone/>
              <a:defRPr sz="2101">
                <a:solidFill>
                  <a:schemeClr val="tx1">
                    <a:tint val="75000"/>
                  </a:schemeClr>
                </a:solidFill>
              </a:defRPr>
            </a:lvl5pPr>
            <a:lvl6pPr marL="3431286" indent="0">
              <a:buNone/>
              <a:defRPr sz="2101">
                <a:solidFill>
                  <a:schemeClr val="tx1">
                    <a:tint val="75000"/>
                  </a:schemeClr>
                </a:solidFill>
              </a:defRPr>
            </a:lvl6pPr>
            <a:lvl7pPr marL="4117543" indent="0">
              <a:buNone/>
              <a:defRPr sz="2101">
                <a:solidFill>
                  <a:schemeClr val="tx1">
                    <a:tint val="75000"/>
                  </a:schemeClr>
                </a:solidFill>
              </a:defRPr>
            </a:lvl7pPr>
            <a:lvl8pPr marL="4803800" indent="0">
              <a:buNone/>
              <a:defRPr sz="2101">
                <a:solidFill>
                  <a:schemeClr val="tx1">
                    <a:tint val="75000"/>
                  </a:schemeClr>
                </a:solidFill>
              </a:defRPr>
            </a:lvl8pPr>
            <a:lvl9pPr marL="5490058" indent="0">
              <a:buNone/>
              <a:defRPr sz="2101">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0E4E9BA-0872-4289-89CA-25C59AEE0441}" type="datetime1">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316595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2399583" y="1296133"/>
            <a:ext cx="915035" cy="878247"/>
          </a:xfrm>
          <a:prstGeom prst="rect">
            <a:avLst/>
          </a:prstGeom>
        </p:spPr>
        <p:txBody>
          <a:bodyPr vert="horz" lIns="137255" tIns="68628" rIns="137255" bIns="6862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8" dirty="0">
                <a:solidFill>
                  <a:schemeClr val="tx1"/>
                </a:solidFill>
                <a:effectLst/>
              </a:rPr>
              <a:t>“</a:t>
            </a:r>
          </a:p>
        </p:txBody>
      </p:sp>
      <p:sp>
        <p:nvSpPr>
          <p:cNvPr id="15" name="TextBox 14"/>
          <p:cNvSpPr txBox="1"/>
          <p:nvPr/>
        </p:nvSpPr>
        <p:spPr>
          <a:xfrm>
            <a:off x="16351485" y="4234320"/>
            <a:ext cx="915035" cy="878247"/>
          </a:xfrm>
          <a:prstGeom prst="rect">
            <a:avLst/>
          </a:prstGeom>
        </p:spPr>
        <p:txBody>
          <a:bodyPr vert="horz" lIns="137255" tIns="68628" rIns="137255" bIns="6862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8" dirty="0">
                <a:solidFill>
                  <a:schemeClr val="tx1"/>
                </a:solidFill>
                <a:effectLst/>
              </a:rPr>
              <a:t>”</a:t>
            </a:r>
          </a:p>
        </p:txBody>
      </p:sp>
      <p:sp>
        <p:nvSpPr>
          <p:cNvPr id="2" name="Title 1"/>
          <p:cNvSpPr>
            <a:spLocks noGrp="1"/>
          </p:cNvSpPr>
          <p:nvPr>
            <p:ph type="title"/>
          </p:nvPr>
        </p:nvSpPr>
        <p:spPr>
          <a:xfrm>
            <a:off x="3314618" y="1029971"/>
            <a:ext cx="13494383" cy="4119878"/>
          </a:xfrm>
        </p:spPr>
        <p:txBody>
          <a:bodyPr anchor="ctr">
            <a:normAutofit/>
          </a:bodyPr>
          <a:lstStyle>
            <a:lvl1pPr algn="ctr">
              <a:defRPr sz="4803"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3657756" y="5149848"/>
            <a:ext cx="12808111" cy="572206"/>
          </a:xfrm>
        </p:spPr>
        <p:txBody>
          <a:bodyPr anchor="ctr">
            <a:normAutofit/>
          </a:bodyPr>
          <a:lstStyle>
            <a:lvl1pPr marL="0" indent="0">
              <a:buFontTx/>
              <a:buNone/>
              <a:defRPr sz="2702"/>
            </a:lvl1pPr>
            <a:lvl2pPr marL="686257" indent="0">
              <a:buFontTx/>
              <a:buNone/>
              <a:defRPr/>
            </a:lvl2pPr>
            <a:lvl3pPr marL="1372514" indent="0">
              <a:buFontTx/>
              <a:buNone/>
              <a:defRPr/>
            </a:lvl3pPr>
            <a:lvl4pPr marL="2058772" indent="0">
              <a:buFontTx/>
              <a:buNone/>
              <a:defRPr/>
            </a:lvl4pPr>
            <a:lvl5pPr marL="2745029" indent="0">
              <a:buFontTx/>
              <a:buNone/>
              <a:defRPr/>
            </a:lvl5pPr>
          </a:lstStyle>
          <a:p>
            <a:pPr lvl="0"/>
            <a:r>
              <a:rPr lang="en-US" smtClean="0"/>
              <a:t>Edit Master text styles</a:t>
            </a:r>
          </a:p>
        </p:txBody>
      </p:sp>
      <p:sp>
        <p:nvSpPr>
          <p:cNvPr id="3" name="Text Placeholder 2"/>
          <p:cNvSpPr>
            <a:spLocks noGrp="1"/>
          </p:cNvSpPr>
          <p:nvPr>
            <p:ph type="body" idx="1"/>
          </p:nvPr>
        </p:nvSpPr>
        <p:spPr>
          <a:xfrm>
            <a:off x="2228013" y="6523143"/>
            <a:ext cx="15038503" cy="2174381"/>
          </a:xfrm>
        </p:spPr>
        <p:txBody>
          <a:bodyPr anchor="ctr">
            <a:normAutofit/>
          </a:bodyPr>
          <a:lstStyle>
            <a:lvl1pPr marL="0" indent="0" algn="ctr">
              <a:buNone/>
              <a:defRPr sz="3002">
                <a:solidFill>
                  <a:schemeClr val="tx1"/>
                </a:solidFill>
              </a:defRPr>
            </a:lvl1pPr>
            <a:lvl2pPr marL="686257" indent="0">
              <a:buNone/>
              <a:defRPr sz="2702">
                <a:solidFill>
                  <a:schemeClr val="tx1">
                    <a:tint val="75000"/>
                  </a:schemeClr>
                </a:solidFill>
              </a:defRPr>
            </a:lvl2pPr>
            <a:lvl3pPr marL="1372514" indent="0">
              <a:buNone/>
              <a:defRPr sz="2402">
                <a:solidFill>
                  <a:schemeClr val="tx1">
                    <a:tint val="75000"/>
                  </a:schemeClr>
                </a:solidFill>
              </a:defRPr>
            </a:lvl3pPr>
            <a:lvl4pPr marL="2058772" indent="0">
              <a:buNone/>
              <a:defRPr sz="2101">
                <a:solidFill>
                  <a:schemeClr val="tx1">
                    <a:tint val="75000"/>
                  </a:schemeClr>
                </a:solidFill>
              </a:defRPr>
            </a:lvl4pPr>
            <a:lvl5pPr marL="2745029" indent="0">
              <a:buNone/>
              <a:defRPr sz="2101">
                <a:solidFill>
                  <a:schemeClr val="tx1">
                    <a:tint val="75000"/>
                  </a:schemeClr>
                </a:solidFill>
              </a:defRPr>
            </a:lvl5pPr>
            <a:lvl6pPr marL="3431286" indent="0">
              <a:buNone/>
              <a:defRPr sz="2101">
                <a:solidFill>
                  <a:schemeClr val="tx1">
                    <a:tint val="75000"/>
                  </a:schemeClr>
                </a:solidFill>
              </a:defRPr>
            </a:lvl6pPr>
            <a:lvl7pPr marL="4117543" indent="0">
              <a:buNone/>
              <a:defRPr sz="2101">
                <a:solidFill>
                  <a:schemeClr val="tx1">
                    <a:tint val="75000"/>
                  </a:schemeClr>
                </a:solidFill>
              </a:defRPr>
            </a:lvl7pPr>
            <a:lvl8pPr marL="4803800" indent="0">
              <a:buNone/>
              <a:defRPr sz="2101">
                <a:solidFill>
                  <a:schemeClr val="tx1">
                    <a:tint val="75000"/>
                  </a:schemeClr>
                </a:solidFill>
              </a:defRPr>
            </a:lvl8pPr>
            <a:lvl9pPr marL="5490058" indent="0">
              <a:buNone/>
              <a:defRPr sz="2101">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C6612B0-04EF-4CDA-A040-2511FD2EA4D3}" type="datetime1">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3819261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228016" y="4968999"/>
            <a:ext cx="15038500" cy="2205920"/>
          </a:xfrm>
        </p:spPr>
        <p:txBody>
          <a:bodyPr anchor="b">
            <a:normAutofit/>
          </a:bodyPr>
          <a:lstStyle>
            <a:lvl1pPr algn="r">
              <a:defRPr sz="4803"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228014" y="7174919"/>
            <a:ext cx="15038501" cy="1292193"/>
          </a:xfrm>
        </p:spPr>
        <p:txBody>
          <a:bodyPr anchor="t">
            <a:normAutofit/>
          </a:bodyPr>
          <a:lstStyle>
            <a:lvl1pPr marL="0" indent="0" algn="r">
              <a:buNone/>
              <a:defRPr sz="3002">
                <a:solidFill>
                  <a:schemeClr val="tx1"/>
                </a:solidFill>
              </a:defRPr>
            </a:lvl1pPr>
            <a:lvl2pPr marL="686257" indent="0">
              <a:buNone/>
              <a:defRPr sz="2702">
                <a:solidFill>
                  <a:schemeClr val="tx1">
                    <a:tint val="75000"/>
                  </a:schemeClr>
                </a:solidFill>
              </a:defRPr>
            </a:lvl2pPr>
            <a:lvl3pPr marL="1372514" indent="0">
              <a:buNone/>
              <a:defRPr sz="2402">
                <a:solidFill>
                  <a:schemeClr val="tx1">
                    <a:tint val="75000"/>
                  </a:schemeClr>
                </a:solidFill>
              </a:defRPr>
            </a:lvl3pPr>
            <a:lvl4pPr marL="2058772" indent="0">
              <a:buNone/>
              <a:defRPr sz="2101">
                <a:solidFill>
                  <a:schemeClr val="tx1">
                    <a:tint val="75000"/>
                  </a:schemeClr>
                </a:solidFill>
              </a:defRPr>
            </a:lvl4pPr>
            <a:lvl5pPr marL="2745029" indent="0">
              <a:buNone/>
              <a:defRPr sz="2101">
                <a:solidFill>
                  <a:schemeClr val="tx1">
                    <a:tint val="75000"/>
                  </a:schemeClr>
                </a:solidFill>
              </a:defRPr>
            </a:lvl5pPr>
            <a:lvl6pPr marL="3431286" indent="0">
              <a:buNone/>
              <a:defRPr sz="2101">
                <a:solidFill>
                  <a:schemeClr val="tx1">
                    <a:tint val="75000"/>
                  </a:schemeClr>
                </a:solidFill>
              </a:defRPr>
            </a:lvl6pPr>
            <a:lvl7pPr marL="4117543" indent="0">
              <a:buNone/>
              <a:defRPr sz="2101">
                <a:solidFill>
                  <a:schemeClr val="tx1">
                    <a:tint val="75000"/>
                  </a:schemeClr>
                </a:solidFill>
              </a:defRPr>
            </a:lvl7pPr>
            <a:lvl8pPr marL="4803800" indent="0">
              <a:buNone/>
              <a:defRPr sz="2101">
                <a:solidFill>
                  <a:schemeClr val="tx1">
                    <a:tint val="75000"/>
                  </a:schemeClr>
                </a:solidFill>
              </a:defRPr>
            </a:lvl8pPr>
            <a:lvl9pPr marL="5490058" indent="0">
              <a:buNone/>
              <a:defRPr sz="2101">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4DAE288-7D9F-4782-B967-87C850BB4321}" type="datetime1">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959864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2399583" y="1296133"/>
            <a:ext cx="915035" cy="878247"/>
          </a:xfrm>
          <a:prstGeom prst="rect">
            <a:avLst/>
          </a:prstGeom>
        </p:spPr>
        <p:txBody>
          <a:bodyPr vert="horz" lIns="137255" tIns="68628" rIns="137255" bIns="6862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8" dirty="0">
                <a:solidFill>
                  <a:schemeClr val="tx1"/>
                </a:solidFill>
                <a:effectLst/>
              </a:rPr>
              <a:t>“</a:t>
            </a:r>
          </a:p>
        </p:txBody>
      </p:sp>
      <p:sp>
        <p:nvSpPr>
          <p:cNvPr id="15" name="TextBox 14"/>
          <p:cNvSpPr txBox="1"/>
          <p:nvPr/>
        </p:nvSpPr>
        <p:spPr>
          <a:xfrm>
            <a:off x="16351485" y="4234320"/>
            <a:ext cx="915035" cy="878247"/>
          </a:xfrm>
          <a:prstGeom prst="rect">
            <a:avLst/>
          </a:prstGeom>
        </p:spPr>
        <p:txBody>
          <a:bodyPr vert="horz" lIns="137255" tIns="68628" rIns="137255" bIns="6862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8" dirty="0">
                <a:solidFill>
                  <a:schemeClr val="tx1"/>
                </a:solidFill>
                <a:effectLst/>
              </a:rPr>
              <a:t>”</a:t>
            </a:r>
          </a:p>
        </p:txBody>
      </p:sp>
      <p:sp>
        <p:nvSpPr>
          <p:cNvPr id="2" name="Title 1"/>
          <p:cNvSpPr>
            <a:spLocks noGrp="1"/>
          </p:cNvSpPr>
          <p:nvPr>
            <p:ph type="title"/>
          </p:nvPr>
        </p:nvSpPr>
        <p:spPr>
          <a:xfrm>
            <a:off x="3314618" y="1029971"/>
            <a:ext cx="13494383" cy="4119878"/>
          </a:xfrm>
        </p:spPr>
        <p:txBody>
          <a:bodyPr anchor="ctr">
            <a:normAutofit/>
          </a:bodyPr>
          <a:lstStyle>
            <a:lvl1pPr algn="ctr">
              <a:defRPr sz="4803"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228016" y="5836497"/>
            <a:ext cx="15038501" cy="1335146"/>
          </a:xfrm>
        </p:spPr>
        <p:txBody>
          <a:bodyPr vert="horz" lIns="91440" tIns="45720" rIns="91440" bIns="45720" rtlCol="0" anchor="b">
            <a:normAutofit/>
          </a:bodyPr>
          <a:lstStyle>
            <a:lvl1pPr algn="r">
              <a:buNone/>
              <a:defRPr lang="en-US" sz="3602"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2228014" y="7171643"/>
            <a:ext cx="15038501" cy="1525881"/>
          </a:xfrm>
        </p:spPr>
        <p:txBody>
          <a:bodyPr anchor="t">
            <a:normAutofit/>
          </a:bodyPr>
          <a:lstStyle>
            <a:lvl1pPr marL="0" indent="0" algn="r">
              <a:buNone/>
              <a:defRPr sz="2702">
                <a:solidFill>
                  <a:schemeClr val="tx1"/>
                </a:solidFill>
              </a:defRPr>
            </a:lvl1pPr>
            <a:lvl2pPr marL="686257" indent="0">
              <a:buNone/>
              <a:defRPr sz="2702">
                <a:solidFill>
                  <a:schemeClr val="tx1">
                    <a:tint val="75000"/>
                  </a:schemeClr>
                </a:solidFill>
              </a:defRPr>
            </a:lvl2pPr>
            <a:lvl3pPr marL="1372514" indent="0">
              <a:buNone/>
              <a:defRPr sz="2402">
                <a:solidFill>
                  <a:schemeClr val="tx1">
                    <a:tint val="75000"/>
                  </a:schemeClr>
                </a:solidFill>
              </a:defRPr>
            </a:lvl3pPr>
            <a:lvl4pPr marL="2058772" indent="0">
              <a:buNone/>
              <a:defRPr sz="2101">
                <a:solidFill>
                  <a:schemeClr val="tx1">
                    <a:tint val="75000"/>
                  </a:schemeClr>
                </a:solidFill>
              </a:defRPr>
            </a:lvl4pPr>
            <a:lvl5pPr marL="2745029" indent="0">
              <a:buNone/>
              <a:defRPr sz="2101">
                <a:solidFill>
                  <a:schemeClr val="tx1">
                    <a:tint val="75000"/>
                  </a:schemeClr>
                </a:solidFill>
              </a:defRPr>
            </a:lvl5pPr>
            <a:lvl6pPr marL="3431286" indent="0">
              <a:buNone/>
              <a:defRPr sz="2101">
                <a:solidFill>
                  <a:schemeClr val="tx1">
                    <a:tint val="75000"/>
                  </a:schemeClr>
                </a:solidFill>
              </a:defRPr>
            </a:lvl6pPr>
            <a:lvl7pPr marL="4117543" indent="0">
              <a:buNone/>
              <a:defRPr sz="2101">
                <a:solidFill>
                  <a:schemeClr val="tx1">
                    <a:tint val="75000"/>
                  </a:schemeClr>
                </a:solidFill>
              </a:defRPr>
            </a:lvl7pPr>
            <a:lvl8pPr marL="4803800" indent="0">
              <a:buNone/>
              <a:defRPr sz="2101">
                <a:solidFill>
                  <a:schemeClr val="tx1">
                    <a:tint val="75000"/>
                  </a:schemeClr>
                </a:solidFill>
              </a:defRPr>
            </a:lvl8pPr>
            <a:lvl9pPr marL="5490058" indent="0">
              <a:buNone/>
              <a:defRPr sz="2101">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5C661C6-F5EA-4B3B-83FE-AD6E41651ABB}" type="datetime1">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4696687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228016" y="1029971"/>
            <a:ext cx="15038504" cy="409603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2228015" y="5264291"/>
            <a:ext cx="15038506" cy="1258852"/>
          </a:xfrm>
        </p:spPr>
        <p:txBody>
          <a:bodyPr vert="horz" lIns="91440" tIns="45720" rIns="91440" bIns="45720" rtlCol="0" anchor="b">
            <a:normAutofit/>
          </a:bodyPr>
          <a:lstStyle>
            <a:lvl1pPr>
              <a:buNone/>
              <a:defRPr lang="en-US" sz="4203"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2228013" y="6523143"/>
            <a:ext cx="15038506" cy="2174381"/>
          </a:xfrm>
        </p:spPr>
        <p:txBody>
          <a:bodyPr anchor="t">
            <a:normAutofit/>
          </a:bodyPr>
          <a:lstStyle>
            <a:lvl1pPr marL="0" indent="0" algn="l">
              <a:buNone/>
              <a:defRPr sz="2702">
                <a:solidFill>
                  <a:schemeClr val="tx1"/>
                </a:solidFill>
              </a:defRPr>
            </a:lvl1pPr>
            <a:lvl2pPr marL="686257" indent="0">
              <a:buNone/>
              <a:defRPr sz="2702">
                <a:solidFill>
                  <a:schemeClr val="tx1">
                    <a:tint val="75000"/>
                  </a:schemeClr>
                </a:solidFill>
              </a:defRPr>
            </a:lvl2pPr>
            <a:lvl3pPr marL="1372514" indent="0">
              <a:buNone/>
              <a:defRPr sz="2402">
                <a:solidFill>
                  <a:schemeClr val="tx1">
                    <a:tint val="75000"/>
                  </a:schemeClr>
                </a:solidFill>
              </a:defRPr>
            </a:lvl3pPr>
            <a:lvl4pPr marL="2058772" indent="0">
              <a:buNone/>
              <a:defRPr sz="2101">
                <a:solidFill>
                  <a:schemeClr val="tx1">
                    <a:tint val="75000"/>
                  </a:schemeClr>
                </a:solidFill>
              </a:defRPr>
            </a:lvl4pPr>
            <a:lvl5pPr marL="2745029" indent="0">
              <a:buNone/>
              <a:defRPr sz="2101">
                <a:solidFill>
                  <a:schemeClr val="tx1">
                    <a:tint val="75000"/>
                  </a:schemeClr>
                </a:solidFill>
              </a:defRPr>
            </a:lvl5pPr>
            <a:lvl6pPr marL="3431286" indent="0">
              <a:buNone/>
              <a:defRPr sz="2101">
                <a:solidFill>
                  <a:schemeClr val="tx1">
                    <a:tint val="75000"/>
                  </a:schemeClr>
                </a:solidFill>
              </a:defRPr>
            </a:lvl6pPr>
            <a:lvl7pPr marL="4117543" indent="0">
              <a:buNone/>
              <a:defRPr sz="2101">
                <a:solidFill>
                  <a:schemeClr val="tx1">
                    <a:tint val="75000"/>
                  </a:schemeClr>
                </a:solidFill>
              </a:defRPr>
            </a:lvl7pPr>
            <a:lvl8pPr marL="4803800" indent="0">
              <a:buNone/>
              <a:defRPr sz="2101">
                <a:solidFill>
                  <a:schemeClr val="tx1">
                    <a:tint val="75000"/>
                  </a:schemeClr>
                </a:solidFill>
              </a:defRPr>
            </a:lvl8pPr>
            <a:lvl9pPr marL="5490058" indent="0">
              <a:buNone/>
              <a:defRPr sz="2101">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8A3F591-20D7-497C-A9A0-EF3C1DDADE7F}" type="datetime1">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7361026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BDBC361-9E73-4B11-87EC-616BC6D78B78}" type="datetime1">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3446598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609121" y="1029970"/>
            <a:ext cx="2657398" cy="766755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228014" y="1029970"/>
            <a:ext cx="12037967" cy="766755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D77E227-1D4C-44A1-9754-073384389781}" type="datetime1">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8185245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2"/>
        <p:cNvGrpSpPr/>
        <p:nvPr/>
      </p:nvGrpSpPr>
      <p:grpSpPr>
        <a:xfrm>
          <a:off x="0" y="0"/>
          <a:ext cx="0" cy="0"/>
          <a:chOff x="0" y="0"/>
          <a:chExt cx="0" cy="0"/>
        </a:xfrm>
      </p:grpSpPr>
      <p:pic>
        <p:nvPicPr>
          <p:cNvPr id="63" name="Google Shape;63;p9"/>
          <p:cNvPicPr preferRelativeResize="0"/>
          <p:nvPr/>
        </p:nvPicPr>
        <p:blipFill rotWithShape="1">
          <a:blip r:embed="rId2">
            <a:alphaModFix amt="79000"/>
          </a:blip>
          <a:srcRect t="39375" r="34742"/>
          <a:stretch/>
        </p:blipFill>
        <p:spPr>
          <a:xfrm rot="10800000" flipH="1">
            <a:off x="12653384" y="5050579"/>
            <a:ext cx="5647317" cy="5249126"/>
          </a:xfrm>
          <a:prstGeom prst="rect">
            <a:avLst/>
          </a:prstGeom>
          <a:noFill/>
          <a:ln>
            <a:noFill/>
          </a:ln>
        </p:spPr>
      </p:pic>
      <p:pic>
        <p:nvPicPr>
          <p:cNvPr id="64" name="Google Shape;64;p9"/>
          <p:cNvPicPr preferRelativeResize="0"/>
          <p:nvPr/>
        </p:nvPicPr>
        <p:blipFill rotWithShape="1">
          <a:blip r:embed="rId2">
            <a:alphaModFix amt="79000"/>
          </a:blip>
          <a:srcRect t="39375" r="34742"/>
          <a:stretch/>
        </p:blipFill>
        <p:spPr>
          <a:xfrm flipH="1">
            <a:off x="3" y="1"/>
            <a:ext cx="5647317" cy="5249126"/>
          </a:xfrm>
          <a:prstGeom prst="rect">
            <a:avLst/>
          </a:prstGeom>
          <a:noFill/>
          <a:ln>
            <a:noFill/>
          </a:ln>
        </p:spPr>
      </p:pic>
      <p:sp>
        <p:nvSpPr>
          <p:cNvPr id="65" name="Google Shape;65;p9"/>
          <p:cNvSpPr txBox="1">
            <a:spLocks noGrp="1"/>
          </p:cNvSpPr>
          <p:nvPr>
            <p:ph type="title"/>
          </p:nvPr>
        </p:nvSpPr>
        <p:spPr>
          <a:xfrm>
            <a:off x="3649633" y="1853035"/>
            <a:ext cx="11001435" cy="1220705"/>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8006"/>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6" name="Google Shape;66;p9"/>
          <p:cNvSpPr txBox="1">
            <a:spLocks noGrp="1"/>
          </p:cNvSpPr>
          <p:nvPr>
            <p:ph type="subTitle" idx="1"/>
          </p:nvPr>
        </p:nvSpPr>
        <p:spPr>
          <a:xfrm>
            <a:off x="3649783" y="4798066"/>
            <a:ext cx="11001435" cy="2264793"/>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500"/>
              <a:buNone/>
              <a:defRPr sz="3402"/>
            </a:lvl1pPr>
            <a:lvl2pPr lvl="1" algn="ctr" rtl="0">
              <a:lnSpc>
                <a:spcPct val="100000"/>
              </a:lnSpc>
              <a:spcBef>
                <a:spcPts val="0"/>
              </a:spcBef>
              <a:spcAft>
                <a:spcPts val="0"/>
              </a:spcAft>
              <a:buSzPts val="1500"/>
              <a:buNone/>
              <a:defRPr/>
            </a:lvl2pPr>
            <a:lvl3pPr lvl="2" algn="ctr" rtl="0">
              <a:lnSpc>
                <a:spcPct val="100000"/>
              </a:lnSpc>
              <a:spcBef>
                <a:spcPts val="0"/>
              </a:spcBef>
              <a:spcAft>
                <a:spcPts val="0"/>
              </a:spcAft>
              <a:buSzPts val="1500"/>
              <a:buNone/>
              <a:defRPr/>
            </a:lvl3pPr>
            <a:lvl4pPr lvl="3" algn="ctr" rtl="0">
              <a:lnSpc>
                <a:spcPct val="100000"/>
              </a:lnSpc>
              <a:spcBef>
                <a:spcPts val="0"/>
              </a:spcBef>
              <a:spcAft>
                <a:spcPts val="0"/>
              </a:spcAft>
              <a:buSzPts val="1500"/>
              <a:buNone/>
              <a:defRPr/>
            </a:lvl4pPr>
            <a:lvl5pPr lvl="4" algn="ctr" rtl="0">
              <a:lnSpc>
                <a:spcPct val="100000"/>
              </a:lnSpc>
              <a:spcBef>
                <a:spcPts val="0"/>
              </a:spcBef>
              <a:spcAft>
                <a:spcPts val="0"/>
              </a:spcAft>
              <a:buSzPts val="1500"/>
              <a:buNone/>
              <a:defRPr/>
            </a:lvl5pPr>
            <a:lvl6pPr lvl="5" algn="ctr" rtl="0">
              <a:lnSpc>
                <a:spcPct val="100000"/>
              </a:lnSpc>
              <a:spcBef>
                <a:spcPts val="0"/>
              </a:spcBef>
              <a:spcAft>
                <a:spcPts val="0"/>
              </a:spcAft>
              <a:buSzPts val="1500"/>
              <a:buNone/>
              <a:defRPr/>
            </a:lvl6pPr>
            <a:lvl7pPr lvl="6" algn="ctr" rtl="0">
              <a:lnSpc>
                <a:spcPct val="100000"/>
              </a:lnSpc>
              <a:spcBef>
                <a:spcPts val="0"/>
              </a:spcBef>
              <a:spcAft>
                <a:spcPts val="0"/>
              </a:spcAft>
              <a:buSzPts val="1500"/>
              <a:buNone/>
              <a:defRPr/>
            </a:lvl7pPr>
            <a:lvl8pPr lvl="7" algn="ctr" rtl="0">
              <a:lnSpc>
                <a:spcPct val="100000"/>
              </a:lnSpc>
              <a:spcBef>
                <a:spcPts val="0"/>
              </a:spcBef>
              <a:spcAft>
                <a:spcPts val="0"/>
              </a:spcAft>
              <a:buSzPts val="1500"/>
              <a:buNone/>
              <a:defRPr/>
            </a:lvl8pPr>
            <a:lvl9pPr lvl="8" algn="ctr" rtl="0">
              <a:lnSpc>
                <a:spcPct val="100000"/>
              </a:lnSpc>
              <a:spcBef>
                <a:spcPts val="0"/>
              </a:spcBef>
              <a:spcAft>
                <a:spcPts val="0"/>
              </a:spcAft>
              <a:buSzPts val="1500"/>
              <a:buNone/>
              <a:defRPr/>
            </a:lvl9pPr>
          </a:lstStyle>
          <a:p>
            <a:endParaRPr/>
          </a:p>
        </p:txBody>
      </p:sp>
      <p:pic>
        <p:nvPicPr>
          <p:cNvPr id="67" name="Google Shape;67;p9"/>
          <p:cNvPicPr preferRelativeResize="0"/>
          <p:nvPr/>
        </p:nvPicPr>
        <p:blipFill rotWithShape="1">
          <a:blip r:embed="rId3">
            <a:alphaModFix/>
          </a:blip>
          <a:srcRect r="6542" b="20590"/>
          <a:stretch/>
        </p:blipFill>
        <p:spPr>
          <a:xfrm rot="5400000" flipH="1">
            <a:off x="-2221573" y="2169783"/>
            <a:ext cx="9039692" cy="4648172"/>
          </a:xfrm>
          <a:prstGeom prst="rect">
            <a:avLst/>
          </a:prstGeom>
          <a:noFill/>
          <a:ln>
            <a:noFill/>
          </a:ln>
        </p:spPr>
      </p:pic>
      <p:pic>
        <p:nvPicPr>
          <p:cNvPr id="68" name="Google Shape;68;p9"/>
          <p:cNvPicPr preferRelativeResize="0"/>
          <p:nvPr/>
        </p:nvPicPr>
        <p:blipFill rotWithShape="1">
          <a:blip r:embed="rId3">
            <a:alphaModFix/>
          </a:blip>
          <a:srcRect r="35542" b="17108"/>
          <a:stretch/>
        </p:blipFill>
        <p:spPr>
          <a:xfrm>
            <a:off x="12069226" y="5445214"/>
            <a:ext cx="6231472" cy="4854486"/>
          </a:xfrm>
          <a:prstGeom prst="rect">
            <a:avLst/>
          </a:prstGeom>
          <a:noFill/>
          <a:ln>
            <a:noFill/>
          </a:ln>
        </p:spPr>
      </p:pic>
    </p:spTree>
    <p:extLst>
      <p:ext uri="{BB962C8B-B14F-4D97-AF65-F5344CB8AC3E}">
        <p14:creationId xmlns:p14="http://schemas.microsoft.com/office/powerpoint/2010/main" val="28634725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59"/>
        <p:cNvGrpSpPr/>
        <p:nvPr/>
      </p:nvGrpSpPr>
      <p:grpSpPr>
        <a:xfrm>
          <a:off x="0" y="0"/>
          <a:ext cx="0" cy="0"/>
          <a:chOff x="0" y="0"/>
          <a:chExt cx="0" cy="0"/>
        </a:xfrm>
      </p:grpSpPr>
      <p:pic>
        <p:nvPicPr>
          <p:cNvPr id="160" name="Google Shape;160;p22"/>
          <p:cNvPicPr preferRelativeResize="0"/>
          <p:nvPr/>
        </p:nvPicPr>
        <p:blipFill rotWithShape="1">
          <a:blip r:embed="rId2">
            <a:alphaModFix amt="87000"/>
          </a:blip>
          <a:srcRect l="32691" t="27478"/>
          <a:stretch/>
        </p:blipFill>
        <p:spPr>
          <a:xfrm rot="10800000" flipH="1">
            <a:off x="3" y="5643710"/>
            <a:ext cx="4319095" cy="4655991"/>
          </a:xfrm>
          <a:prstGeom prst="rect">
            <a:avLst/>
          </a:prstGeom>
          <a:noFill/>
          <a:ln>
            <a:noFill/>
          </a:ln>
        </p:spPr>
      </p:pic>
      <p:pic>
        <p:nvPicPr>
          <p:cNvPr id="161" name="Google Shape;161;p22"/>
          <p:cNvPicPr preferRelativeResize="0"/>
          <p:nvPr/>
        </p:nvPicPr>
        <p:blipFill rotWithShape="1">
          <a:blip r:embed="rId2">
            <a:alphaModFix amt="87000"/>
          </a:blip>
          <a:srcRect t="39375" r="34742"/>
          <a:stretch/>
        </p:blipFill>
        <p:spPr>
          <a:xfrm>
            <a:off x="14113144" y="0"/>
            <a:ext cx="4187554" cy="3892303"/>
          </a:xfrm>
          <a:prstGeom prst="rect">
            <a:avLst/>
          </a:prstGeom>
          <a:noFill/>
          <a:ln>
            <a:noFill/>
          </a:ln>
        </p:spPr>
      </p:pic>
      <p:sp>
        <p:nvSpPr>
          <p:cNvPr id="162" name="Google Shape;162;p22"/>
          <p:cNvSpPr txBox="1">
            <a:spLocks noGrp="1"/>
          </p:cNvSpPr>
          <p:nvPr>
            <p:ph type="title"/>
          </p:nvPr>
        </p:nvSpPr>
        <p:spPr>
          <a:xfrm>
            <a:off x="1994884" y="5826659"/>
            <a:ext cx="5965740" cy="732303"/>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5004" b="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3" name="Google Shape;163;p22"/>
          <p:cNvSpPr txBox="1">
            <a:spLocks noGrp="1"/>
          </p:cNvSpPr>
          <p:nvPr>
            <p:ph type="title" idx="2"/>
          </p:nvPr>
        </p:nvSpPr>
        <p:spPr>
          <a:xfrm>
            <a:off x="10340076" y="5826659"/>
            <a:ext cx="5965740" cy="732303"/>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5004" b="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4" name="Google Shape;164;p22"/>
          <p:cNvSpPr txBox="1">
            <a:spLocks noGrp="1"/>
          </p:cNvSpPr>
          <p:nvPr>
            <p:ph type="subTitle" idx="1"/>
          </p:nvPr>
        </p:nvSpPr>
        <p:spPr>
          <a:xfrm>
            <a:off x="10339475" y="6544069"/>
            <a:ext cx="5966941" cy="2023896"/>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3002" b="0"/>
            </a:lvl1pPr>
            <a:lvl2pPr lvl="1" algn="ctr" rtl="0">
              <a:lnSpc>
                <a:spcPct val="100000"/>
              </a:lnSpc>
              <a:spcBef>
                <a:spcPts val="0"/>
              </a:spcBef>
              <a:spcAft>
                <a:spcPts val="0"/>
              </a:spcAft>
              <a:buSzPts val="2800"/>
              <a:buNone/>
              <a:defRPr sz="5604"/>
            </a:lvl2pPr>
            <a:lvl3pPr lvl="2" algn="ctr" rtl="0">
              <a:lnSpc>
                <a:spcPct val="100000"/>
              </a:lnSpc>
              <a:spcBef>
                <a:spcPts val="0"/>
              </a:spcBef>
              <a:spcAft>
                <a:spcPts val="0"/>
              </a:spcAft>
              <a:buSzPts val="2800"/>
              <a:buNone/>
              <a:defRPr sz="5604"/>
            </a:lvl3pPr>
            <a:lvl4pPr lvl="3" algn="ctr" rtl="0">
              <a:lnSpc>
                <a:spcPct val="100000"/>
              </a:lnSpc>
              <a:spcBef>
                <a:spcPts val="0"/>
              </a:spcBef>
              <a:spcAft>
                <a:spcPts val="0"/>
              </a:spcAft>
              <a:buSzPts val="2800"/>
              <a:buNone/>
              <a:defRPr sz="5604"/>
            </a:lvl4pPr>
            <a:lvl5pPr lvl="4" algn="ctr" rtl="0">
              <a:lnSpc>
                <a:spcPct val="100000"/>
              </a:lnSpc>
              <a:spcBef>
                <a:spcPts val="0"/>
              </a:spcBef>
              <a:spcAft>
                <a:spcPts val="0"/>
              </a:spcAft>
              <a:buSzPts val="2800"/>
              <a:buNone/>
              <a:defRPr sz="5604"/>
            </a:lvl5pPr>
            <a:lvl6pPr lvl="5" algn="ctr" rtl="0">
              <a:lnSpc>
                <a:spcPct val="100000"/>
              </a:lnSpc>
              <a:spcBef>
                <a:spcPts val="0"/>
              </a:spcBef>
              <a:spcAft>
                <a:spcPts val="0"/>
              </a:spcAft>
              <a:buSzPts val="2800"/>
              <a:buNone/>
              <a:defRPr sz="5604"/>
            </a:lvl6pPr>
            <a:lvl7pPr lvl="6" algn="ctr" rtl="0">
              <a:lnSpc>
                <a:spcPct val="100000"/>
              </a:lnSpc>
              <a:spcBef>
                <a:spcPts val="0"/>
              </a:spcBef>
              <a:spcAft>
                <a:spcPts val="0"/>
              </a:spcAft>
              <a:buSzPts val="2800"/>
              <a:buNone/>
              <a:defRPr sz="5604"/>
            </a:lvl7pPr>
            <a:lvl8pPr lvl="7" algn="ctr" rtl="0">
              <a:lnSpc>
                <a:spcPct val="100000"/>
              </a:lnSpc>
              <a:spcBef>
                <a:spcPts val="0"/>
              </a:spcBef>
              <a:spcAft>
                <a:spcPts val="0"/>
              </a:spcAft>
              <a:buSzPts val="2800"/>
              <a:buNone/>
              <a:defRPr sz="5604"/>
            </a:lvl8pPr>
            <a:lvl9pPr lvl="8" algn="ctr" rtl="0">
              <a:lnSpc>
                <a:spcPct val="100000"/>
              </a:lnSpc>
              <a:spcBef>
                <a:spcPts val="0"/>
              </a:spcBef>
              <a:spcAft>
                <a:spcPts val="0"/>
              </a:spcAft>
              <a:buSzPts val="2800"/>
              <a:buNone/>
              <a:defRPr sz="5604"/>
            </a:lvl9pPr>
          </a:lstStyle>
          <a:p>
            <a:endParaRPr/>
          </a:p>
        </p:txBody>
      </p:sp>
      <p:sp>
        <p:nvSpPr>
          <p:cNvPr id="165" name="Google Shape;165;p22"/>
          <p:cNvSpPr txBox="1">
            <a:spLocks noGrp="1"/>
          </p:cNvSpPr>
          <p:nvPr>
            <p:ph type="subTitle" idx="3"/>
          </p:nvPr>
        </p:nvSpPr>
        <p:spPr>
          <a:xfrm>
            <a:off x="1994884" y="6418648"/>
            <a:ext cx="5965740" cy="2023896"/>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3002" b="0"/>
            </a:lvl1pPr>
            <a:lvl2pPr lvl="1" algn="ctr" rtl="0">
              <a:lnSpc>
                <a:spcPct val="100000"/>
              </a:lnSpc>
              <a:spcBef>
                <a:spcPts val="0"/>
              </a:spcBef>
              <a:spcAft>
                <a:spcPts val="0"/>
              </a:spcAft>
              <a:buSzPts val="2800"/>
              <a:buNone/>
              <a:defRPr sz="5604"/>
            </a:lvl2pPr>
            <a:lvl3pPr lvl="2" algn="ctr" rtl="0">
              <a:lnSpc>
                <a:spcPct val="100000"/>
              </a:lnSpc>
              <a:spcBef>
                <a:spcPts val="0"/>
              </a:spcBef>
              <a:spcAft>
                <a:spcPts val="0"/>
              </a:spcAft>
              <a:buSzPts val="2800"/>
              <a:buNone/>
              <a:defRPr sz="5604"/>
            </a:lvl3pPr>
            <a:lvl4pPr lvl="3" algn="ctr" rtl="0">
              <a:lnSpc>
                <a:spcPct val="100000"/>
              </a:lnSpc>
              <a:spcBef>
                <a:spcPts val="0"/>
              </a:spcBef>
              <a:spcAft>
                <a:spcPts val="0"/>
              </a:spcAft>
              <a:buSzPts val="2800"/>
              <a:buNone/>
              <a:defRPr sz="5604"/>
            </a:lvl4pPr>
            <a:lvl5pPr lvl="4" algn="ctr" rtl="0">
              <a:lnSpc>
                <a:spcPct val="100000"/>
              </a:lnSpc>
              <a:spcBef>
                <a:spcPts val="0"/>
              </a:spcBef>
              <a:spcAft>
                <a:spcPts val="0"/>
              </a:spcAft>
              <a:buSzPts val="2800"/>
              <a:buNone/>
              <a:defRPr sz="5604"/>
            </a:lvl5pPr>
            <a:lvl6pPr lvl="5" algn="ctr" rtl="0">
              <a:lnSpc>
                <a:spcPct val="100000"/>
              </a:lnSpc>
              <a:spcBef>
                <a:spcPts val="0"/>
              </a:spcBef>
              <a:spcAft>
                <a:spcPts val="0"/>
              </a:spcAft>
              <a:buSzPts val="2800"/>
              <a:buNone/>
              <a:defRPr sz="5604"/>
            </a:lvl6pPr>
            <a:lvl7pPr lvl="6" algn="ctr" rtl="0">
              <a:lnSpc>
                <a:spcPct val="100000"/>
              </a:lnSpc>
              <a:spcBef>
                <a:spcPts val="0"/>
              </a:spcBef>
              <a:spcAft>
                <a:spcPts val="0"/>
              </a:spcAft>
              <a:buSzPts val="2800"/>
              <a:buNone/>
              <a:defRPr sz="5604"/>
            </a:lvl7pPr>
            <a:lvl8pPr lvl="7" algn="ctr" rtl="0">
              <a:lnSpc>
                <a:spcPct val="100000"/>
              </a:lnSpc>
              <a:spcBef>
                <a:spcPts val="0"/>
              </a:spcBef>
              <a:spcAft>
                <a:spcPts val="0"/>
              </a:spcAft>
              <a:buSzPts val="2800"/>
              <a:buNone/>
              <a:defRPr sz="5604"/>
            </a:lvl8pPr>
            <a:lvl9pPr lvl="8" algn="ctr" rtl="0">
              <a:lnSpc>
                <a:spcPct val="100000"/>
              </a:lnSpc>
              <a:spcBef>
                <a:spcPts val="0"/>
              </a:spcBef>
              <a:spcAft>
                <a:spcPts val="0"/>
              </a:spcAft>
              <a:buSzPts val="2800"/>
              <a:buNone/>
              <a:defRPr sz="5604"/>
            </a:lvl9pPr>
          </a:lstStyle>
          <a:p>
            <a:endParaRPr/>
          </a:p>
        </p:txBody>
      </p:sp>
      <p:sp>
        <p:nvSpPr>
          <p:cNvPr id="166" name="Google Shape;166;p22"/>
          <p:cNvSpPr txBox="1">
            <a:spLocks noGrp="1"/>
          </p:cNvSpPr>
          <p:nvPr>
            <p:ph type="title" idx="4"/>
          </p:nvPr>
        </p:nvSpPr>
        <p:spPr>
          <a:xfrm>
            <a:off x="1441000" y="1080328"/>
            <a:ext cx="15418700" cy="915529"/>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pic>
        <p:nvPicPr>
          <p:cNvPr id="167" name="Google Shape;167;p22"/>
          <p:cNvPicPr preferRelativeResize="0"/>
          <p:nvPr/>
        </p:nvPicPr>
        <p:blipFill rotWithShape="1">
          <a:blip r:embed="rId3">
            <a:alphaModFix/>
          </a:blip>
          <a:srcRect r="35542" b="17108"/>
          <a:stretch/>
        </p:blipFill>
        <p:spPr>
          <a:xfrm rot="-5400000">
            <a:off x="12757373" y="691460"/>
            <a:ext cx="6234836" cy="4851867"/>
          </a:xfrm>
          <a:prstGeom prst="rect">
            <a:avLst/>
          </a:prstGeom>
          <a:noFill/>
          <a:ln>
            <a:noFill/>
          </a:ln>
        </p:spPr>
      </p:pic>
      <p:pic>
        <p:nvPicPr>
          <p:cNvPr id="168" name="Google Shape;168;p22"/>
          <p:cNvPicPr preferRelativeResize="0"/>
          <p:nvPr/>
        </p:nvPicPr>
        <p:blipFill rotWithShape="1">
          <a:blip r:embed="rId3">
            <a:alphaModFix/>
          </a:blip>
          <a:srcRect r="35542" b="17108"/>
          <a:stretch/>
        </p:blipFill>
        <p:spPr>
          <a:xfrm rot="5400000">
            <a:off x="-691460" y="4756373"/>
            <a:ext cx="6234836" cy="4851867"/>
          </a:xfrm>
          <a:prstGeom prst="rect">
            <a:avLst/>
          </a:prstGeom>
          <a:noFill/>
          <a:ln>
            <a:noFill/>
          </a:ln>
        </p:spPr>
      </p:pic>
    </p:spTree>
    <p:extLst>
      <p:ext uri="{BB962C8B-B14F-4D97-AF65-F5344CB8AC3E}">
        <p14:creationId xmlns:p14="http://schemas.microsoft.com/office/powerpoint/2010/main" val="397748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226376" y="1"/>
            <a:ext cx="3657758" cy="10299702"/>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2228013" y="1029971"/>
            <a:ext cx="15038506" cy="2632144"/>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228012" y="4005438"/>
            <a:ext cx="15038506" cy="4692087"/>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4609122" y="8835808"/>
            <a:ext cx="1715691" cy="548364"/>
          </a:xfrm>
          <a:prstGeom prst="rect">
            <a:avLst/>
          </a:prstGeom>
        </p:spPr>
        <p:txBody>
          <a:bodyPr vert="horz" lIns="91440" tIns="45720" rIns="91440" bIns="45720" rtlCol="0" anchor="ctr"/>
          <a:lstStyle>
            <a:lvl1pPr algn="r">
              <a:defRPr sz="1501" b="0" i="0">
                <a:solidFill>
                  <a:schemeClr val="tx1"/>
                </a:solidFill>
                <a:effectLst/>
                <a:latin typeface="+mn-lt"/>
              </a:defRPr>
            </a:lvl1pPr>
          </a:lstStyle>
          <a:p>
            <a:fld id="{54CB286C-67FA-4C98-B5A3-041A10484A65}" type="datetime1">
              <a:rPr lang="en-US" smtClean="0"/>
              <a:t>1/1/2026</a:t>
            </a:fld>
            <a:endParaRPr lang="en-US"/>
          </a:p>
        </p:txBody>
      </p:sp>
      <p:sp>
        <p:nvSpPr>
          <p:cNvPr id="5" name="Footer Placeholder 4"/>
          <p:cNvSpPr>
            <a:spLocks noGrp="1"/>
          </p:cNvSpPr>
          <p:nvPr>
            <p:ph type="ftr" sz="quarter" idx="3"/>
          </p:nvPr>
        </p:nvSpPr>
        <p:spPr>
          <a:xfrm>
            <a:off x="3861099" y="8835808"/>
            <a:ext cx="10633645" cy="548364"/>
          </a:xfrm>
          <a:prstGeom prst="rect">
            <a:avLst/>
          </a:prstGeom>
        </p:spPr>
        <p:txBody>
          <a:bodyPr vert="horz" lIns="91440" tIns="45720" rIns="91440" bIns="45720" rtlCol="0" anchor="ctr"/>
          <a:lstStyle>
            <a:lvl1pPr algn="l">
              <a:defRPr sz="1501" b="0" i="0">
                <a:solidFill>
                  <a:schemeClr val="tx1"/>
                </a:solidFill>
                <a:effectLst/>
                <a:latin typeface="+mn-lt"/>
              </a:defRPr>
            </a:lvl1pPr>
          </a:lstStyle>
          <a:p>
            <a:endParaRPr lang="en-US"/>
          </a:p>
        </p:txBody>
      </p:sp>
    </p:spTree>
    <p:extLst>
      <p:ext uri="{BB962C8B-B14F-4D97-AF65-F5344CB8AC3E}">
        <p14:creationId xmlns:p14="http://schemas.microsoft.com/office/powerpoint/2010/main" val="3891260366"/>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Lst>
  <p:timing>
    <p:tnLst>
      <p:par>
        <p:cTn id="1" dur="indefinite" restart="never" nodeType="tmRoot"/>
      </p:par>
    </p:tnLst>
  </p:timing>
  <p:hf sldNum="0" hdr="0" ftr="0" dt="0"/>
  <p:txStyles>
    <p:titleStyle>
      <a:lvl1pPr algn="ctr" defTabSz="686257" rtl="0" eaLnBrk="1" latinLnBrk="0" hangingPunct="1">
        <a:spcBef>
          <a:spcPct val="0"/>
        </a:spcBef>
        <a:buNone/>
        <a:defRPr sz="6004"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28911" indent="-428911" algn="l" defTabSz="686257" rtl="0" eaLnBrk="1" latinLnBrk="0" hangingPunct="1">
        <a:spcBef>
          <a:spcPct val="20000"/>
        </a:spcBef>
        <a:spcAft>
          <a:spcPts val="901"/>
        </a:spcAft>
        <a:buClr>
          <a:schemeClr val="accent1">
            <a:lumMod val="75000"/>
          </a:schemeClr>
        </a:buClr>
        <a:buSzPct val="145000"/>
        <a:buFont typeface="Arial"/>
        <a:buChar char="•"/>
        <a:defRPr sz="3602" kern="1200" cap="none">
          <a:solidFill>
            <a:schemeClr val="tx1"/>
          </a:solidFill>
          <a:effectLst/>
          <a:latin typeface="+mn-lt"/>
          <a:ea typeface="+mn-ea"/>
          <a:cs typeface="+mn-cs"/>
        </a:defRPr>
      </a:lvl1pPr>
      <a:lvl2pPr marL="1115168" indent="-428911" algn="l" defTabSz="686257" rtl="0" eaLnBrk="1" latinLnBrk="0" hangingPunct="1">
        <a:spcBef>
          <a:spcPct val="20000"/>
        </a:spcBef>
        <a:spcAft>
          <a:spcPts val="901"/>
        </a:spcAft>
        <a:buClr>
          <a:schemeClr val="accent1">
            <a:lumMod val="75000"/>
          </a:schemeClr>
        </a:buClr>
        <a:buSzPct val="145000"/>
        <a:buFont typeface="Arial"/>
        <a:buChar char="•"/>
        <a:defRPr sz="3002" kern="1200" cap="none">
          <a:solidFill>
            <a:schemeClr val="tx1"/>
          </a:solidFill>
          <a:effectLst/>
          <a:latin typeface="+mn-lt"/>
          <a:ea typeface="+mn-ea"/>
          <a:cs typeface="+mn-cs"/>
        </a:defRPr>
      </a:lvl2pPr>
      <a:lvl3pPr marL="1801425" indent="-428911" algn="l" defTabSz="686257" rtl="0" eaLnBrk="1" latinLnBrk="0" hangingPunct="1">
        <a:spcBef>
          <a:spcPct val="20000"/>
        </a:spcBef>
        <a:spcAft>
          <a:spcPts val="901"/>
        </a:spcAft>
        <a:buClr>
          <a:schemeClr val="accent1">
            <a:lumMod val="75000"/>
          </a:schemeClr>
        </a:buClr>
        <a:buSzPct val="145000"/>
        <a:buFont typeface="Arial"/>
        <a:buChar char="•"/>
        <a:defRPr sz="2702" kern="1200" cap="none">
          <a:solidFill>
            <a:schemeClr val="tx1"/>
          </a:solidFill>
          <a:effectLst/>
          <a:latin typeface="+mn-lt"/>
          <a:ea typeface="+mn-ea"/>
          <a:cs typeface="+mn-cs"/>
        </a:defRPr>
      </a:lvl3pPr>
      <a:lvl4pPr marL="2316118" indent="-257346" algn="l" defTabSz="686257" rtl="0" eaLnBrk="1" latinLnBrk="0" hangingPunct="1">
        <a:spcBef>
          <a:spcPct val="20000"/>
        </a:spcBef>
        <a:spcAft>
          <a:spcPts val="901"/>
        </a:spcAft>
        <a:buClr>
          <a:schemeClr val="accent1">
            <a:lumMod val="75000"/>
          </a:schemeClr>
        </a:buClr>
        <a:buSzPct val="145000"/>
        <a:buFont typeface="Arial"/>
        <a:buChar char="•"/>
        <a:defRPr sz="2402" kern="1200" cap="none">
          <a:solidFill>
            <a:schemeClr val="tx1"/>
          </a:solidFill>
          <a:effectLst/>
          <a:latin typeface="+mn-lt"/>
          <a:ea typeface="+mn-ea"/>
          <a:cs typeface="+mn-cs"/>
        </a:defRPr>
      </a:lvl4pPr>
      <a:lvl5pPr marL="3002375" indent="-257346" algn="l" defTabSz="686257" rtl="0" eaLnBrk="1" latinLnBrk="0" hangingPunct="1">
        <a:spcBef>
          <a:spcPct val="20000"/>
        </a:spcBef>
        <a:spcAft>
          <a:spcPts val="901"/>
        </a:spcAft>
        <a:buClr>
          <a:schemeClr val="accent1">
            <a:lumMod val="75000"/>
          </a:schemeClr>
        </a:buClr>
        <a:buSzPct val="145000"/>
        <a:buFont typeface="Arial"/>
        <a:buChar char="•"/>
        <a:defRPr sz="2101" kern="1200" cap="none">
          <a:solidFill>
            <a:schemeClr val="tx1"/>
          </a:solidFill>
          <a:effectLst/>
          <a:latin typeface="+mn-lt"/>
          <a:ea typeface="+mn-ea"/>
          <a:cs typeface="+mn-cs"/>
        </a:defRPr>
      </a:lvl5pPr>
      <a:lvl6pPr marL="3774415" indent="-343129" algn="l" defTabSz="686257" rtl="0" eaLnBrk="1" latinLnBrk="0" hangingPunct="1">
        <a:spcBef>
          <a:spcPct val="20000"/>
        </a:spcBef>
        <a:spcAft>
          <a:spcPts val="901"/>
        </a:spcAft>
        <a:buClr>
          <a:schemeClr val="accent1">
            <a:lumMod val="75000"/>
          </a:schemeClr>
        </a:buClr>
        <a:buSzPct val="145000"/>
        <a:buFont typeface="Arial"/>
        <a:buChar char="•"/>
        <a:defRPr sz="2101" kern="1200" cap="none">
          <a:solidFill>
            <a:schemeClr val="tx1"/>
          </a:solidFill>
          <a:effectLst/>
          <a:latin typeface="+mn-lt"/>
          <a:ea typeface="+mn-ea"/>
          <a:cs typeface="+mn-cs"/>
        </a:defRPr>
      </a:lvl6pPr>
      <a:lvl7pPr marL="4460672" indent="-343129" algn="l" defTabSz="686257" rtl="0" eaLnBrk="1" latinLnBrk="0" hangingPunct="1">
        <a:spcBef>
          <a:spcPct val="20000"/>
        </a:spcBef>
        <a:spcAft>
          <a:spcPts val="901"/>
        </a:spcAft>
        <a:buClr>
          <a:schemeClr val="accent1">
            <a:lumMod val="75000"/>
          </a:schemeClr>
        </a:buClr>
        <a:buSzPct val="145000"/>
        <a:buFont typeface="Arial"/>
        <a:buChar char="•"/>
        <a:defRPr sz="2101" kern="1200" cap="none">
          <a:solidFill>
            <a:schemeClr val="tx1"/>
          </a:solidFill>
          <a:effectLst/>
          <a:latin typeface="+mn-lt"/>
          <a:ea typeface="+mn-ea"/>
          <a:cs typeface="+mn-cs"/>
        </a:defRPr>
      </a:lvl7pPr>
      <a:lvl8pPr marL="5146929" indent="-343129" algn="l" defTabSz="686257" rtl="0" eaLnBrk="1" latinLnBrk="0" hangingPunct="1">
        <a:spcBef>
          <a:spcPct val="20000"/>
        </a:spcBef>
        <a:spcAft>
          <a:spcPts val="901"/>
        </a:spcAft>
        <a:buClr>
          <a:schemeClr val="accent1">
            <a:lumMod val="75000"/>
          </a:schemeClr>
        </a:buClr>
        <a:buSzPct val="145000"/>
        <a:buFont typeface="Arial"/>
        <a:buChar char="•"/>
        <a:defRPr sz="2101" kern="1200" cap="none">
          <a:solidFill>
            <a:schemeClr val="tx1"/>
          </a:solidFill>
          <a:effectLst/>
          <a:latin typeface="+mn-lt"/>
          <a:ea typeface="+mn-ea"/>
          <a:cs typeface="+mn-cs"/>
        </a:defRPr>
      </a:lvl8pPr>
      <a:lvl9pPr marL="5833186" indent="-343129" algn="l" defTabSz="686257" rtl="0" eaLnBrk="1" latinLnBrk="0" hangingPunct="1">
        <a:spcBef>
          <a:spcPct val="20000"/>
        </a:spcBef>
        <a:spcAft>
          <a:spcPts val="901"/>
        </a:spcAft>
        <a:buClr>
          <a:schemeClr val="accent1">
            <a:lumMod val="75000"/>
          </a:schemeClr>
        </a:buClr>
        <a:buSzPct val="145000"/>
        <a:buFont typeface="Arial"/>
        <a:buChar char="•"/>
        <a:defRPr sz="2101" kern="1200" cap="none">
          <a:solidFill>
            <a:schemeClr val="tx1"/>
          </a:solidFill>
          <a:effectLst/>
          <a:latin typeface="+mn-lt"/>
          <a:ea typeface="+mn-ea"/>
          <a:cs typeface="+mn-cs"/>
        </a:defRPr>
      </a:lvl9pPr>
    </p:bodyStyle>
    <p:otherStyle>
      <a:defPPr>
        <a:defRPr lang="en-US"/>
      </a:defPPr>
      <a:lvl1pPr marL="0" algn="l" defTabSz="686257" rtl="0" eaLnBrk="1" latinLnBrk="0" hangingPunct="1">
        <a:defRPr sz="2702" kern="1200">
          <a:solidFill>
            <a:schemeClr val="tx1"/>
          </a:solidFill>
          <a:latin typeface="+mn-lt"/>
          <a:ea typeface="+mn-ea"/>
          <a:cs typeface="+mn-cs"/>
        </a:defRPr>
      </a:lvl1pPr>
      <a:lvl2pPr marL="686257" algn="l" defTabSz="686257" rtl="0" eaLnBrk="1" latinLnBrk="0" hangingPunct="1">
        <a:defRPr sz="2702" kern="1200">
          <a:solidFill>
            <a:schemeClr val="tx1"/>
          </a:solidFill>
          <a:latin typeface="+mn-lt"/>
          <a:ea typeface="+mn-ea"/>
          <a:cs typeface="+mn-cs"/>
        </a:defRPr>
      </a:lvl2pPr>
      <a:lvl3pPr marL="1372514" algn="l" defTabSz="686257" rtl="0" eaLnBrk="1" latinLnBrk="0" hangingPunct="1">
        <a:defRPr sz="2702" kern="1200">
          <a:solidFill>
            <a:schemeClr val="tx1"/>
          </a:solidFill>
          <a:latin typeface="+mn-lt"/>
          <a:ea typeface="+mn-ea"/>
          <a:cs typeface="+mn-cs"/>
        </a:defRPr>
      </a:lvl3pPr>
      <a:lvl4pPr marL="2058772" algn="l" defTabSz="686257" rtl="0" eaLnBrk="1" latinLnBrk="0" hangingPunct="1">
        <a:defRPr sz="2702" kern="1200">
          <a:solidFill>
            <a:schemeClr val="tx1"/>
          </a:solidFill>
          <a:latin typeface="+mn-lt"/>
          <a:ea typeface="+mn-ea"/>
          <a:cs typeface="+mn-cs"/>
        </a:defRPr>
      </a:lvl4pPr>
      <a:lvl5pPr marL="2745029" algn="l" defTabSz="686257" rtl="0" eaLnBrk="1" latinLnBrk="0" hangingPunct="1">
        <a:defRPr sz="2702" kern="1200">
          <a:solidFill>
            <a:schemeClr val="tx1"/>
          </a:solidFill>
          <a:latin typeface="+mn-lt"/>
          <a:ea typeface="+mn-ea"/>
          <a:cs typeface="+mn-cs"/>
        </a:defRPr>
      </a:lvl5pPr>
      <a:lvl6pPr marL="3431286" algn="l" defTabSz="686257" rtl="0" eaLnBrk="1" latinLnBrk="0" hangingPunct="1">
        <a:defRPr sz="2702" kern="1200">
          <a:solidFill>
            <a:schemeClr val="tx1"/>
          </a:solidFill>
          <a:latin typeface="+mn-lt"/>
          <a:ea typeface="+mn-ea"/>
          <a:cs typeface="+mn-cs"/>
        </a:defRPr>
      </a:lvl6pPr>
      <a:lvl7pPr marL="4117543" algn="l" defTabSz="686257" rtl="0" eaLnBrk="1" latinLnBrk="0" hangingPunct="1">
        <a:defRPr sz="2702" kern="1200">
          <a:solidFill>
            <a:schemeClr val="tx1"/>
          </a:solidFill>
          <a:latin typeface="+mn-lt"/>
          <a:ea typeface="+mn-ea"/>
          <a:cs typeface="+mn-cs"/>
        </a:defRPr>
      </a:lvl7pPr>
      <a:lvl8pPr marL="4803800" algn="l" defTabSz="686257" rtl="0" eaLnBrk="1" latinLnBrk="0" hangingPunct="1">
        <a:defRPr sz="2702" kern="1200">
          <a:solidFill>
            <a:schemeClr val="tx1"/>
          </a:solidFill>
          <a:latin typeface="+mn-lt"/>
          <a:ea typeface="+mn-ea"/>
          <a:cs typeface="+mn-cs"/>
        </a:defRPr>
      </a:lvl8pPr>
      <a:lvl9pPr marL="5490058" algn="l" defTabSz="686257" rtl="0" eaLnBrk="1" latinLnBrk="0" hangingPunct="1">
        <a:defRPr sz="270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hyperlink" Target="https://www.pexels.com/photo/gradient-background-with-bright-multicolored-lights-7130490/" TargetMode="External"/><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www.pexels.com/photo/gradient-background-with-bright-multicolored-lights-7130490/" TargetMode="External"/><Relationship Id="rId2" Type="http://schemas.openxmlformats.org/officeDocument/2006/relationships/image" Target="../media/image6.jpe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00.png"/><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image" Target="../media/image21.jpeg"/><Relationship Id="rId1" Type="http://schemas.openxmlformats.org/officeDocument/2006/relationships/slideLayout" Target="../slideLayouts/slideLayout7.xml"/><Relationship Id="rId6" Type="http://schemas.openxmlformats.org/officeDocument/2006/relationships/image" Target="../media/image291.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10.sv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6.png"/><Relationship Id="rId7" Type="http://schemas.openxmlformats.org/officeDocument/2006/relationships/image" Target="../media/image33.png"/><Relationship Id="rId2" Type="http://schemas.openxmlformats.org/officeDocument/2006/relationships/image" Target="../media/image21.jpe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6.png"/><Relationship Id="rId7" Type="http://schemas.openxmlformats.org/officeDocument/2006/relationships/image" Target="../media/image36.png"/><Relationship Id="rId2" Type="http://schemas.openxmlformats.org/officeDocument/2006/relationships/image" Target="../media/image21.jpe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40.png"/><Relationship Id="rId4" Type="http://schemas.openxmlformats.org/officeDocument/2006/relationships/image" Target="../media/image27.png"/><Relationship Id="rId9"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38.jpg"/><Relationship Id="rId1" Type="http://schemas.openxmlformats.org/officeDocument/2006/relationships/slideLayout" Target="../slideLayouts/slideLayout6.xml"/><Relationship Id="rId4" Type="http://schemas.openxmlformats.org/officeDocument/2006/relationships/image" Target="../media/image290.png"/></Relationships>
</file>

<file path=ppt/slides/_rels/slide27.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39.jp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9B261F20-E444-4E5C-9EF8-D1179E4196D1}"/>
              </a:ext>
            </a:extLst>
          </p:cNvPr>
          <p:cNvSpPr txBox="1"/>
          <p:nvPr/>
        </p:nvSpPr>
        <p:spPr>
          <a:xfrm>
            <a:off x="1339850" y="120650"/>
            <a:ext cx="15621000" cy="9602629"/>
          </a:xfrm>
          <a:prstGeom prst="rect">
            <a:avLst/>
          </a:prstGeom>
          <a:noFill/>
        </p:spPr>
        <p:txBody>
          <a:bodyPr wrap="square" rtlCol="0">
            <a:spAutoFit/>
          </a:bodyPr>
          <a:lstStyle/>
          <a:p>
            <a:pPr algn="ctr"/>
            <a:r>
              <a:rPr lang="en-US" sz="6600" dirty="0" smtClean="0">
                <a:solidFill>
                  <a:srgbClr val="00B050"/>
                </a:solidFill>
                <a:latin typeface="Algerian" panose="04020705040A02060702" pitchFamily="82" charset="0"/>
              </a:rPr>
              <a:t>Uttara university</a:t>
            </a:r>
          </a:p>
          <a:p>
            <a:pPr algn="ctr"/>
            <a:endParaRPr lang="en-US" sz="13800" dirty="0" smtClean="0">
              <a:solidFill>
                <a:schemeClr val="accent1">
                  <a:lumMod val="50000"/>
                </a:schemeClr>
              </a:solidFill>
              <a:latin typeface="Algerian" panose="04020705040A02060702" pitchFamily="82" charset="0"/>
            </a:endParaRPr>
          </a:p>
          <a:p>
            <a:pPr algn="ctr"/>
            <a:r>
              <a:rPr lang="en-US" sz="13800" dirty="0" smtClean="0">
                <a:solidFill>
                  <a:schemeClr val="accent1">
                    <a:lumMod val="50000"/>
                  </a:schemeClr>
                </a:solidFill>
                <a:latin typeface="Algerian" panose="04020705040A02060702" pitchFamily="82" charset="0"/>
              </a:rPr>
              <a:t>Welcome To</a:t>
            </a:r>
          </a:p>
          <a:p>
            <a:pPr algn="ctr"/>
            <a:r>
              <a:rPr lang="en-US" sz="13800" dirty="0" smtClean="0">
                <a:solidFill>
                  <a:schemeClr val="accent1">
                    <a:lumMod val="50000"/>
                  </a:schemeClr>
                </a:solidFill>
                <a:latin typeface="Algerian" panose="04020705040A02060702" pitchFamily="82" charset="0"/>
              </a:rPr>
              <a:t>Our</a:t>
            </a:r>
          </a:p>
          <a:p>
            <a:pPr algn="ctr"/>
            <a:r>
              <a:rPr lang="en-US" sz="13800" dirty="0" smtClean="0">
                <a:solidFill>
                  <a:schemeClr val="accent1">
                    <a:lumMod val="50000"/>
                  </a:schemeClr>
                </a:solidFill>
                <a:latin typeface="Algerian" panose="04020705040A02060702" pitchFamily="82" charset="0"/>
              </a:rPr>
              <a:t>Presentation</a:t>
            </a:r>
            <a:endParaRPr lang="en-US" sz="13800" dirty="0">
              <a:solidFill>
                <a:schemeClr val="accent1">
                  <a:lumMod val="50000"/>
                </a:schemeClr>
              </a:solidFill>
              <a:latin typeface="Algerian" panose="04020705040A02060702" pitchFamily="82" charset="0"/>
            </a:endParaRPr>
          </a:p>
        </p:txBody>
      </p:sp>
      <p:pic>
        <p:nvPicPr>
          <p:cNvPr id="3" name="Picture 2"/>
          <p:cNvPicPr>
            <a:picLocks noChangeAspect="1"/>
          </p:cNvPicPr>
          <p:nvPr/>
        </p:nvPicPr>
        <p:blipFill>
          <a:blip r:embed="rId2"/>
          <a:stretch>
            <a:fillRect/>
          </a:stretch>
        </p:blipFill>
        <p:spPr>
          <a:xfrm>
            <a:off x="8374063" y="1368425"/>
            <a:ext cx="1552575" cy="2028825"/>
          </a:xfrm>
          <a:prstGeom prst="rect">
            <a:avLst/>
          </a:prstGeom>
        </p:spPr>
      </p:pic>
    </p:spTree>
    <p:extLst>
      <p:ext uri="{BB962C8B-B14F-4D97-AF65-F5344CB8AC3E}">
        <p14:creationId xmlns:p14="http://schemas.microsoft.com/office/powerpoint/2010/main" val="48423915"/>
      </p:ext>
    </p:extLst>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844550" y="4499420"/>
            <a:ext cx="16017875" cy="3614451"/>
          </a:xfrm>
          <a:prstGeom prst="rect">
            <a:avLst/>
          </a:prstGeom>
        </p:spPr>
        <p:txBody>
          <a:bodyPr vert="horz" wrap="square" lIns="0" tIns="13335" rIns="0" bIns="0" rtlCol="0">
            <a:spAutoFit/>
          </a:bodyPr>
          <a:lstStyle/>
          <a:p>
            <a:pPr marL="12700" marR="5080">
              <a:lnSpc>
                <a:spcPct val="100200"/>
              </a:lnSpc>
              <a:spcBef>
                <a:spcPts val="105"/>
              </a:spcBef>
            </a:pPr>
            <a:r>
              <a:rPr lang="en-US" sz="13800" dirty="0" smtClean="0">
                <a:solidFill>
                  <a:schemeClr val="bg1"/>
                </a:solidFill>
                <a:latin typeface="Algerian" panose="04020705040A02060702" pitchFamily="82" charset="0"/>
                <a:cs typeface="Times New Roman"/>
              </a:rPr>
              <a:t> </a:t>
            </a:r>
            <a:r>
              <a:rPr lang="en-US" sz="9600" dirty="0" smtClean="0">
                <a:solidFill>
                  <a:srgbClr val="FFFFFF"/>
                </a:solidFill>
                <a:latin typeface="RQND Pro"/>
                <a:ea typeface="RQND Pro"/>
                <a:cs typeface="RQND Pro"/>
                <a:sym typeface="RQND Pro"/>
              </a:rPr>
              <a:t>“Complex Analysis”</a:t>
            </a:r>
            <a:r>
              <a:rPr lang="en-US" sz="9600" dirty="0">
                <a:solidFill>
                  <a:srgbClr val="FFFFFF"/>
                </a:solidFill>
                <a:latin typeface="RQND Pro"/>
                <a:ea typeface="RQND Pro"/>
                <a:cs typeface="RQND Pro"/>
                <a:sym typeface="RQND Pro"/>
              </a:rPr>
              <a:t/>
            </a:r>
            <a:br>
              <a:rPr lang="en-US" sz="9600" dirty="0">
                <a:solidFill>
                  <a:srgbClr val="FFFFFF"/>
                </a:solidFill>
                <a:latin typeface="RQND Pro"/>
                <a:ea typeface="RQND Pro"/>
                <a:cs typeface="RQND Pro"/>
                <a:sym typeface="RQND Pro"/>
              </a:rPr>
            </a:br>
            <a:endParaRPr sz="9600" dirty="0">
              <a:solidFill>
                <a:schemeClr val="bg1"/>
              </a:solidFill>
              <a:latin typeface="Algerian" panose="04020705040A02060702" pitchFamily="82" charset="0"/>
              <a:cs typeface="Times New Roman"/>
            </a:endParaRPr>
          </a:p>
        </p:txBody>
      </p:sp>
      <p:sp>
        <p:nvSpPr>
          <p:cNvPr id="5" name="TextBox 4">
            <a:extLst>
              <a:ext uri="{FF2B5EF4-FFF2-40B4-BE49-F238E27FC236}">
                <a16:creationId xmlns="" xmlns:a16="http://schemas.microsoft.com/office/drawing/2014/main" id="{48A7CA69-FFEF-72A5-6BF5-FFC842217A9F}"/>
              </a:ext>
            </a:extLst>
          </p:cNvPr>
          <p:cNvSpPr txBox="1"/>
          <p:nvPr/>
        </p:nvSpPr>
        <p:spPr>
          <a:xfrm>
            <a:off x="5645150" y="1492250"/>
            <a:ext cx="6400800" cy="1569660"/>
          </a:xfrm>
          <a:prstGeom prst="rect">
            <a:avLst/>
          </a:prstGeom>
          <a:noFill/>
        </p:spPr>
        <p:txBody>
          <a:bodyPr wrap="square" rtlCol="0">
            <a:spAutoFit/>
          </a:bodyPr>
          <a:lstStyle/>
          <a:p>
            <a:pPr algn="ctr"/>
            <a:r>
              <a:rPr lang="en-US" sz="9600" b="1" dirty="0" smtClean="0">
                <a:solidFill>
                  <a:srgbClr val="FFFF00"/>
                </a:solidFill>
                <a:latin typeface="Freestyle Script" panose="030804020302050B0404" pitchFamily="66" charset="0"/>
              </a:rPr>
              <a:t>Presentation on</a:t>
            </a:r>
            <a:endParaRPr lang="en-US" sz="9600" b="1" dirty="0">
              <a:solidFill>
                <a:srgbClr val="FFFF00"/>
              </a:solidFill>
              <a:latin typeface="Freestyle Script" panose="030804020302050B0404" pitchFamily="66" charset="0"/>
            </a:endParaRPr>
          </a:p>
        </p:txBody>
      </p:sp>
      <p:sp>
        <p:nvSpPr>
          <p:cNvPr id="7" name="TextBox 6">
            <a:extLst>
              <a:ext uri="{FF2B5EF4-FFF2-40B4-BE49-F238E27FC236}">
                <a16:creationId xmlns="" xmlns:a16="http://schemas.microsoft.com/office/drawing/2014/main" id="{9DB6E262-BF82-9549-E649-CFFDAAC407F9}"/>
              </a:ext>
            </a:extLst>
          </p:cNvPr>
          <p:cNvSpPr txBox="1"/>
          <p:nvPr/>
        </p:nvSpPr>
        <p:spPr>
          <a:xfrm>
            <a:off x="4654550" y="6597650"/>
            <a:ext cx="8991600" cy="800219"/>
          </a:xfrm>
          <a:prstGeom prst="rect">
            <a:avLst/>
          </a:prstGeom>
          <a:noFill/>
          <a:ln>
            <a:noFill/>
          </a:ln>
        </p:spPr>
        <p:txBody>
          <a:bodyPr wrap="square" rtlCol="0">
            <a:spAutoFit/>
          </a:bodyPr>
          <a:lstStyle/>
          <a:p>
            <a:pPr algn="ctr"/>
            <a:endParaRPr lang="en-US" sz="2800" dirty="0">
              <a:solidFill>
                <a:schemeClr val="accent5">
                  <a:lumMod val="40000"/>
                  <a:lumOff val="60000"/>
                </a:schemeClr>
              </a:solidFill>
              <a:latin typeface="Arial Rounded MT Bold" panose="020F0704030504030204" pitchFamily="34" charset="0"/>
            </a:endParaRPr>
          </a:p>
          <a:p>
            <a:endParaRPr lang="en-US"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extLst>
              <a:ext uri="{837473B0-CC2E-450A-ABE3-18F120FF3D39}">
                <a1611:picAttrSrcUrl xmlns=""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501224A2-827C-3437-CD7A-F407C0BFC0A4}"/>
              </a:ext>
            </a:extLst>
          </p:cNvPr>
          <p:cNvSpPr txBox="1"/>
          <p:nvPr/>
        </p:nvSpPr>
        <p:spPr>
          <a:xfrm>
            <a:off x="9531350" y="3930650"/>
            <a:ext cx="4715391" cy="869469"/>
          </a:xfrm>
          <a:prstGeom prst="rect">
            <a:avLst/>
          </a:prstGeom>
          <a:noFill/>
        </p:spPr>
        <p:txBody>
          <a:bodyPr wrap="square" rtlCol="0">
            <a:spAutoFit/>
          </a:bodyPr>
          <a:lstStyle/>
          <a:p>
            <a:pPr algn="l"/>
            <a:r>
              <a:rPr lang="en-US" sz="4000" dirty="0" smtClean="0">
                <a:solidFill>
                  <a:srgbClr val="FF0000"/>
                </a:solidFill>
                <a:latin typeface="Arial Rounded MT Bold" panose="020F0704030504030204" pitchFamily="34" charset="0"/>
                <a:cs typeface="Vrinda" panose="020B0502040204020203" pitchFamily="34" charset="0"/>
              </a:rPr>
              <a:t>Presenting</a:t>
            </a:r>
            <a:r>
              <a:rPr lang="en-US" sz="4000" dirty="0" smtClean="0">
                <a:solidFill>
                  <a:srgbClr val="FF0000"/>
                </a:solidFill>
                <a:latin typeface="Arial Rounded MT Bold" panose="020F0704030504030204" pitchFamily="34" charset="0"/>
              </a:rPr>
              <a:t> </a:t>
            </a:r>
            <a:r>
              <a:rPr lang="en-US" sz="4000" dirty="0">
                <a:solidFill>
                  <a:srgbClr val="FF0000"/>
                </a:solidFill>
                <a:latin typeface="Arial Rounded MT Bold" panose="020F0704030504030204" pitchFamily="34" charset="0"/>
              </a:rPr>
              <a:t>To </a:t>
            </a:r>
          </a:p>
          <a:p>
            <a:endParaRPr lang="en-US" sz="1100" dirty="0">
              <a:latin typeface="Arial Rounded MT Bold" panose="020F0704030504030204" pitchFamily="34" charset="0"/>
            </a:endParaRPr>
          </a:p>
        </p:txBody>
      </p:sp>
      <p:sp>
        <p:nvSpPr>
          <p:cNvPr id="11" name="TextBox 8">
            <a:extLst>
              <a:ext uri="{FF2B5EF4-FFF2-40B4-BE49-F238E27FC236}">
                <a16:creationId xmlns="" xmlns:a16="http://schemas.microsoft.com/office/drawing/2014/main" id="{9B6CC541-B9B7-4692-B50C-B3C4370BD5D7}"/>
              </a:ext>
            </a:extLst>
          </p:cNvPr>
          <p:cNvSpPr txBox="1"/>
          <p:nvPr/>
        </p:nvSpPr>
        <p:spPr>
          <a:xfrm>
            <a:off x="1736364" y="2635250"/>
            <a:ext cx="6746875" cy="5847755"/>
          </a:xfrm>
          <a:prstGeom prst="rect">
            <a:avLst/>
          </a:prstGeom>
        </p:spPr>
        <p:txBody>
          <a:bodyPr wrap="square" lIns="0" tIns="0" rIns="0" bIns="0" rtlCol="0" anchor="t">
            <a:spAutoFit/>
          </a:bodyPr>
          <a:lstStyle/>
          <a:p>
            <a:pPr algn="l">
              <a:lnSpc>
                <a:spcPts val="5739"/>
              </a:lnSpc>
            </a:pPr>
            <a:r>
              <a:rPr lang="en-US" sz="4099" b="1" dirty="0">
                <a:solidFill>
                  <a:srgbClr val="000000"/>
                </a:solidFill>
                <a:latin typeface="Times New Roman Bold"/>
                <a:ea typeface="Times New Roman Bold"/>
                <a:cs typeface="Times New Roman Bold"/>
                <a:sym typeface="Times New Roman Bold"/>
              </a:rPr>
              <a:t>Name: Md. </a:t>
            </a:r>
            <a:r>
              <a:rPr lang="en-US" sz="4099" b="1" dirty="0" err="1" smtClean="0">
                <a:solidFill>
                  <a:srgbClr val="000000"/>
                </a:solidFill>
                <a:latin typeface="Times New Roman Bold"/>
                <a:ea typeface="Times New Roman Bold"/>
                <a:cs typeface="Times New Roman Bold"/>
                <a:sym typeface="Times New Roman Bold"/>
              </a:rPr>
              <a:t>Esa</a:t>
            </a:r>
            <a:r>
              <a:rPr lang="en-US" sz="4099" b="1" dirty="0" smtClean="0">
                <a:solidFill>
                  <a:srgbClr val="000000"/>
                </a:solidFill>
                <a:latin typeface="Times New Roman Bold"/>
                <a:ea typeface="Times New Roman Bold"/>
                <a:cs typeface="Times New Roman Bold"/>
                <a:sym typeface="Times New Roman Bold"/>
              </a:rPr>
              <a:t> Mia</a:t>
            </a:r>
            <a:endParaRPr lang="en-US" sz="4099" b="1" dirty="0">
              <a:solidFill>
                <a:srgbClr val="000000"/>
              </a:solidFill>
              <a:latin typeface="Times New Roman Bold"/>
              <a:ea typeface="Times New Roman Bold"/>
              <a:cs typeface="Times New Roman Bold"/>
              <a:sym typeface="Times New Roman Bold"/>
            </a:endParaRPr>
          </a:p>
          <a:p>
            <a:pPr algn="l">
              <a:lnSpc>
                <a:spcPts val="5739"/>
              </a:lnSpc>
            </a:pPr>
            <a:r>
              <a:rPr lang="en-US" sz="4099" b="1" dirty="0">
                <a:solidFill>
                  <a:srgbClr val="000000"/>
                </a:solidFill>
                <a:latin typeface="Times New Roman Bold"/>
                <a:ea typeface="Times New Roman Bold"/>
                <a:cs typeface="Times New Roman Bold"/>
                <a:sym typeface="Times New Roman Bold"/>
              </a:rPr>
              <a:t>ID: </a:t>
            </a:r>
            <a:r>
              <a:rPr lang="en-US" sz="4099" b="1" dirty="0" smtClean="0">
                <a:solidFill>
                  <a:srgbClr val="000000"/>
                </a:solidFill>
                <a:latin typeface="Times New Roman Bold"/>
                <a:ea typeface="Times New Roman Bold"/>
                <a:cs typeface="Times New Roman Bold"/>
                <a:sym typeface="Times New Roman Bold"/>
              </a:rPr>
              <a:t>2231151032</a:t>
            </a:r>
          </a:p>
          <a:p>
            <a:pPr algn="l">
              <a:lnSpc>
                <a:spcPts val="5739"/>
              </a:lnSpc>
            </a:pPr>
            <a:endParaRPr lang="en-US" sz="4099" b="1" dirty="0">
              <a:solidFill>
                <a:srgbClr val="000000"/>
              </a:solidFill>
              <a:latin typeface="Times New Roman Bold"/>
              <a:ea typeface="Times New Roman Bold"/>
              <a:cs typeface="Times New Roman Bold"/>
              <a:sym typeface="Times New Roman Bold"/>
            </a:endParaRPr>
          </a:p>
          <a:p>
            <a:pPr algn="l">
              <a:lnSpc>
                <a:spcPts val="5739"/>
              </a:lnSpc>
            </a:pPr>
            <a:r>
              <a:rPr lang="en-US" sz="4099" b="1" dirty="0" smtClean="0">
                <a:solidFill>
                  <a:srgbClr val="000000"/>
                </a:solidFill>
                <a:latin typeface="Times New Roman Bold"/>
                <a:ea typeface="Times New Roman Bold"/>
                <a:cs typeface="Times New Roman Bold"/>
                <a:sym typeface="Times New Roman Bold"/>
              </a:rPr>
              <a:t>Name: Md. </a:t>
            </a:r>
            <a:r>
              <a:rPr lang="en-US" sz="4099" b="1" dirty="0" err="1" smtClean="0">
                <a:solidFill>
                  <a:srgbClr val="000000"/>
                </a:solidFill>
                <a:latin typeface="Times New Roman Bold"/>
                <a:ea typeface="Times New Roman Bold"/>
                <a:cs typeface="Times New Roman Bold"/>
                <a:sym typeface="Times New Roman Bold"/>
              </a:rPr>
              <a:t>Sobuj</a:t>
            </a:r>
            <a:r>
              <a:rPr lang="en-US" sz="4099" b="1" dirty="0" smtClean="0">
                <a:solidFill>
                  <a:srgbClr val="000000"/>
                </a:solidFill>
                <a:latin typeface="Times New Roman Bold"/>
                <a:ea typeface="Times New Roman Bold"/>
                <a:cs typeface="Times New Roman Bold"/>
                <a:sym typeface="Times New Roman Bold"/>
              </a:rPr>
              <a:t> Ali</a:t>
            </a:r>
          </a:p>
          <a:p>
            <a:pPr algn="l">
              <a:lnSpc>
                <a:spcPts val="5739"/>
              </a:lnSpc>
            </a:pPr>
            <a:r>
              <a:rPr lang="en-US" sz="4099" b="1" dirty="0" smtClean="0">
                <a:solidFill>
                  <a:srgbClr val="000000"/>
                </a:solidFill>
                <a:latin typeface="Times New Roman Bold"/>
                <a:ea typeface="Times New Roman Bold"/>
                <a:cs typeface="Times New Roman Bold"/>
                <a:sym typeface="Times New Roman Bold"/>
              </a:rPr>
              <a:t>ID: 2233151040</a:t>
            </a:r>
          </a:p>
          <a:p>
            <a:pPr algn="l">
              <a:lnSpc>
                <a:spcPts val="5739"/>
              </a:lnSpc>
            </a:pPr>
            <a:endParaRPr lang="en-US" sz="4099" b="1" dirty="0">
              <a:solidFill>
                <a:srgbClr val="000000"/>
              </a:solidFill>
              <a:latin typeface="Times New Roman Bold"/>
              <a:ea typeface="Times New Roman Bold"/>
              <a:cs typeface="Times New Roman Bold"/>
              <a:sym typeface="Times New Roman Bold"/>
            </a:endParaRPr>
          </a:p>
          <a:p>
            <a:pPr algn="l">
              <a:lnSpc>
                <a:spcPts val="5739"/>
              </a:lnSpc>
            </a:pPr>
            <a:r>
              <a:rPr lang="en-US" sz="4099" b="1" dirty="0" smtClean="0">
                <a:solidFill>
                  <a:srgbClr val="000000"/>
                </a:solidFill>
                <a:latin typeface="Times New Roman Bold"/>
                <a:ea typeface="Times New Roman Bold"/>
                <a:cs typeface="Times New Roman Bold"/>
                <a:sym typeface="Times New Roman Bold"/>
              </a:rPr>
              <a:t>Department </a:t>
            </a:r>
            <a:r>
              <a:rPr lang="en-US" sz="4099" b="1" dirty="0">
                <a:solidFill>
                  <a:srgbClr val="000000"/>
                </a:solidFill>
                <a:latin typeface="Times New Roman Bold"/>
                <a:ea typeface="Times New Roman Bold"/>
                <a:cs typeface="Times New Roman Bold"/>
                <a:sym typeface="Times New Roman Bold"/>
              </a:rPr>
              <a:t>of </a:t>
            </a:r>
            <a:r>
              <a:rPr lang="en-US" sz="4099" b="1" dirty="0" smtClean="0">
                <a:solidFill>
                  <a:srgbClr val="000000"/>
                </a:solidFill>
                <a:latin typeface="Times New Roman Bold"/>
                <a:ea typeface="Times New Roman Bold"/>
                <a:cs typeface="Times New Roman Bold"/>
                <a:sym typeface="Times New Roman Bold"/>
              </a:rPr>
              <a:t>Mathematics</a:t>
            </a:r>
          </a:p>
          <a:p>
            <a:pPr algn="l">
              <a:lnSpc>
                <a:spcPts val="5739"/>
              </a:lnSpc>
            </a:pPr>
            <a:r>
              <a:rPr lang="en-US" sz="4099" b="1" dirty="0" smtClean="0">
                <a:solidFill>
                  <a:srgbClr val="000000"/>
                </a:solidFill>
                <a:latin typeface="Times New Roman Bold"/>
                <a:ea typeface="Times New Roman Bold"/>
                <a:cs typeface="Times New Roman Bold"/>
                <a:sym typeface="Times New Roman Bold"/>
              </a:rPr>
              <a:t>Uttara University</a:t>
            </a:r>
            <a:endParaRPr lang="en-US" sz="4099" b="1" dirty="0">
              <a:solidFill>
                <a:srgbClr val="000000"/>
              </a:solidFill>
              <a:latin typeface="Times New Roman Bold"/>
              <a:ea typeface="Times New Roman Bold"/>
              <a:cs typeface="Times New Roman Bold"/>
              <a:sym typeface="Times New Roman Bold"/>
            </a:endParaRPr>
          </a:p>
        </p:txBody>
      </p:sp>
      <p:sp>
        <p:nvSpPr>
          <p:cNvPr id="13" name="TextBox 7">
            <a:extLst>
              <a:ext uri="{FF2B5EF4-FFF2-40B4-BE49-F238E27FC236}">
                <a16:creationId xmlns="" xmlns:a16="http://schemas.microsoft.com/office/drawing/2014/main" id="{875FAF75-502C-402A-932D-2A3A6BF83F35}"/>
              </a:ext>
            </a:extLst>
          </p:cNvPr>
          <p:cNvSpPr txBox="1"/>
          <p:nvPr/>
        </p:nvSpPr>
        <p:spPr>
          <a:xfrm>
            <a:off x="9531350" y="5024528"/>
            <a:ext cx="8448549" cy="2308324"/>
          </a:xfrm>
          <a:prstGeom prst="rect">
            <a:avLst/>
          </a:prstGeom>
        </p:spPr>
        <p:txBody>
          <a:bodyPr wrap="square" lIns="0" tIns="0" rIns="0" bIns="0" rtlCol="0" anchor="t">
            <a:spAutoFit/>
          </a:bodyPr>
          <a:lstStyle/>
          <a:p>
            <a:pPr>
              <a:lnSpc>
                <a:spcPts val="6019"/>
              </a:lnSpc>
            </a:pPr>
            <a:r>
              <a:rPr lang="en-US" sz="4299" b="1" dirty="0" smtClean="0">
                <a:solidFill>
                  <a:srgbClr val="000000"/>
                </a:solidFill>
                <a:latin typeface="Times New Roman Bold"/>
                <a:ea typeface="Times New Roman Bold"/>
                <a:cs typeface="Times New Roman Bold"/>
                <a:sym typeface="Times New Roman Bold"/>
              </a:rPr>
              <a:t>Professor Dr. </a:t>
            </a:r>
            <a:r>
              <a:rPr lang="en-US" sz="4299" b="1" dirty="0" err="1" smtClean="0">
                <a:solidFill>
                  <a:srgbClr val="000000"/>
                </a:solidFill>
                <a:latin typeface="Times New Roman Bold"/>
                <a:ea typeface="Times New Roman Bold"/>
                <a:cs typeface="Times New Roman Bold"/>
                <a:sym typeface="Times New Roman Bold"/>
              </a:rPr>
              <a:t>Shahansha</a:t>
            </a:r>
            <a:r>
              <a:rPr lang="en-US" sz="4299" b="1" dirty="0" smtClean="0">
                <a:solidFill>
                  <a:srgbClr val="000000"/>
                </a:solidFill>
                <a:latin typeface="Times New Roman Bold"/>
                <a:ea typeface="Times New Roman Bold"/>
                <a:cs typeface="Times New Roman Bold"/>
                <a:sym typeface="Times New Roman Bold"/>
              </a:rPr>
              <a:t> Khan</a:t>
            </a:r>
            <a:endParaRPr lang="en-US" sz="4299" b="1" dirty="0">
              <a:solidFill>
                <a:srgbClr val="000000"/>
              </a:solidFill>
              <a:latin typeface="Times New Roman Bold"/>
              <a:ea typeface="Times New Roman Bold"/>
              <a:cs typeface="Times New Roman Bold"/>
              <a:sym typeface="Times New Roman Bold"/>
            </a:endParaRPr>
          </a:p>
          <a:p>
            <a:pPr>
              <a:lnSpc>
                <a:spcPts val="6019"/>
              </a:lnSpc>
            </a:pPr>
            <a:r>
              <a:rPr lang="en-US" sz="4299" b="1" dirty="0" smtClean="0">
                <a:solidFill>
                  <a:srgbClr val="000000"/>
                </a:solidFill>
                <a:latin typeface="Times New Roman Bold"/>
                <a:ea typeface="Times New Roman Bold"/>
                <a:cs typeface="Times New Roman Bold"/>
                <a:sym typeface="Times New Roman Bold"/>
              </a:rPr>
              <a:t>Professor and Chairman</a:t>
            </a:r>
            <a:endParaRPr lang="en-US" sz="4299" b="1" dirty="0">
              <a:solidFill>
                <a:srgbClr val="000000"/>
              </a:solidFill>
              <a:latin typeface="Times New Roman Bold"/>
              <a:ea typeface="Times New Roman Bold"/>
              <a:cs typeface="Times New Roman Bold"/>
              <a:sym typeface="Times New Roman Bold"/>
            </a:endParaRPr>
          </a:p>
          <a:p>
            <a:pPr>
              <a:lnSpc>
                <a:spcPts val="6019"/>
              </a:lnSpc>
            </a:pPr>
            <a:r>
              <a:rPr lang="en-US" sz="4299" b="1" dirty="0" smtClean="0">
                <a:solidFill>
                  <a:srgbClr val="000000"/>
                </a:solidFill>
                <a:latin typeface="Times New Roman Bold"/>
                <a:ea typeface="Times New Roman Bold"/>
                <a:cs typeface="Times New Roman Bold"/>
                <a:sym typeface="Times New Roman Bold"/>
              </a:rPr>
              <a:t>Uttara University</a:t>
            </a:r>
            <a:endParaRPr lang="en-US" sz="4299" b="1" dirty="0">
              <a:solidFill>
                <a:srgbClr val="000000"/>
              </a:solidFill>
              <a:latin typeface="Times New Roman Bold"/>
              <a:ea typeface="Times New Roman Bold"/>
              <a:cs typeface="Times New Roman Bold"/>
              <a:sym typeface="Times New Roman Bold"/>
            </a:endParaRPr>
          </a:p>
        </p:txBody>
      </p:sp>
      <p:sp>
        <p:nvSpPr>
          <p:cNvPr id="14" name="TextBox 13">
            <a:extLst>
              <a:ext uri="{FF2B5EF4-FFF2-40B4-BE49-F238E27FC236}">
                <a16:creationId xmlns="" xmlns:a16="http://schemas.microsoft.com/office/drawing/2014/main" id="{4E9E335F-4865-4387-BB2C-B02E6FAEB621}"/>
              </a:ext>
            </a:extLst>
          </p:cNvPr>
          <p:cNvSpPr txBox="1"/>
          <p:nvPr/>
        </p:nvSpPr>
        <p:spPr>
          <a:xfrm>
            <a:off x="1662978" y="1568450"/>
            <a:ext cx="4715391" cy="869469"/>
          </a:xfrm>
          <a:prstGeom prst="rect">
            <a:avLst/>
          </a:prstGeom>
          <a:noFill/>
        </p:spPr>
        <p:txBody>
          <a:bodyPr wrap="square" rtlCol="0">
            <a:spAutoFit/>
          </a:bodyPr>
          <a:lstStyle/>
          <a:p>
            <a:pPr algn="l"/>
            <a:r>
              <a:rPr lang="en-US" sz="4000" dirty="0">
                <a:solidFill>
                  <a:srgbClr val="FF0000"/>
                </a:solidFill>
                <a:latin typeface="Arial Rounded MT Bold" panose="020F0704030504030204" pitchFamily="34" charset="0"/>
                <a:cs typeface="Vrinda" panose="020B0502040204020203" pitchFamily="34" charset="0"/>
              </a:rPr>
              <a:t>Presenting</a:t>
            </a:r>
            <a:r>
              <a:rPr lang="en-US" sz="4000" dirty="0">
                <a:solidFill>
                  <a:srgbClr val="FF0000"/>
                </a:solidFill>
                <a:latin typeface="Arial Rounded MT Bold" panose="020F0704030504030204" pitchFamily="34" charset="0"/>
              </a:rPr>
              <a:t> By </a:t>
            </a:r>
          </a:p>
          <a:p>
            <a:endParaRPr lang="en-US" sz="1100" dirty="0">
              <a:latin typeface="Arial Rounded MT Bold" panose="020F0704030504030204" pitchFamily="34" charset="0"/>
            </a:endParaRPr>
          </a:p>
        </p:txBody>
      </p:sp>
    </p:spTree>
    <p:extLst>
      <p:ext uri="{BB962C8B-B14F-4D97-AF65-F5344CB8AC3E}">
        <p14:creationId xmlns:p14="http://schemas.microsoft.com/office/powerpoint/2010/main" val="396239342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extLst>
              <a:ext uri="{837473B0-CC2E-450A-ABE3-18F120FF3D39}">
                <a1611:picAttrSrcUrl xmlns=""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89D34F36-CBC1-EE99-F56D-1EAA6A829F15}"/>
              </a:ext>
            </a:extLst>
          </p:cNvPr>
          <p:cNvSpPr txBox="1"/>
          <p:nvPr/>
        </p:nvSpPr>
        <p:spPr>
          <a:xfrm>
            <a:off x="7550150" y="577850"/>
            <a:ext cx="5372100" cy="1015663"/>
          </a:xfrm>
          <a:prstGeom prst="rect">
            <a:avLst/>
          </a:prstGeom>
          <a:noFill/>
        </p:spPr>
        <p:txBody>
          <a:bodyPr wrap="square" rtlCol="0">
            <a:spAutoFit/>
          </a:bodyPr>
          <a:lstStyle/>
          <a:p>
            <a:pPr algn="ctr"/>
            <a:r>
              <a:rPr lang="en-US" sz="6000" dirty="0" err="1" smtClean="0">
                <a:solidFill>
                  <a:srgbClr val="FF0000"/>
                </a:solidFill>
                <a:latin typeface="Algerian" panose="04020705040A02060702" pitchFamily="82" charset="0"/>
              </a:rPr>
              <a:t>OverView</a:t>
            </a:r>
            <a:endParaRPr lang="en-US" sz="6000" dirty="0">
              <a:solidFill>
                <a:srgbClr val="FF0000"/>
              </a:solidFill>
              <a:latin typeface="Algerian" panose="04020705040A02060702" pitchFamily="82" charset="0"/>
            </a:endParaRPr>
          </a:p>
        </p:txBody>
      </p:sp>
      <p:sp>
        <p:nvSpPr>
          <p:cNvPr id="5" name="TextBox 4">
            <a:extLst>
              <a:ext uri="{FF2B5EF4-FFF2-40B4-BE49-F238E27FC236}">
                <a16:creationId xmlns="" xmlns:a16="http://schemas.microsoft.com/office/drawing/2014/main" id="{2AA10F24-2A78-8CF0-A260-751BD11BD4AA}"/>
              </a:ext>
            </a:extLst>
          </p:cNvPr>
          <p:cNvSpPr txBox="1"/>
          <p:nvPr/>
        </p:nvSpPr>
        <p:spPr>
          <a:xfrm>
            <a:off x="7537450" y="2025650"/>
            <a:ext cx="10210800" cy="7386638"/>
          </a:xfrm>
          <a:prstGeom prst="rect">
            <a:avLst/>
          </a:prstGeom>
          <a:noFill/>
        </p:spPr>
        <p:txBody>
          <a:bodyPr wrap="square" rtlCol="0">
            <a:spAutoFit/>
          </a:bodyPr>
          <a:lstStyle/>
          <a:p>
            <a:pPr algn="l"/>
            <a:endParaRPr lang="en-US" b="1" i="0" dirty="0">
              <a:solidFill>
                <a:srgbClr val="0D0D0D"/>
              </a:solidFill>
              <a:effectLst/>
              <a:highlight>
                <a:srgbClr val="FFFFFF"/>
              </a:highlight>
              <a:latin typeface="Söhne"/>
            </a:endParaRPr>
          </a:p>
          <a:p>
            <a:pPr marL="571500" indent="-571500">
              <a:buFont typeface="Wingdings" panose="05000000000000000000" pitchFamily="2" charset="2"/>
              <a:buChar char="Ø"/>
            </a:pPr>
            <a:r>
              <a:rPr lang="en-US" sz="2400" i="0" dirty="0" smtClean="0">
                <a:solidFill>
                  <a:srgbClr val="0D0D0D"/>
                </a:solidFill>
                <a:effectLst/>
                <a:latin typeface="Arial Rounded MT Bold" panose="020F0704030504030204" pitchFamily="34" charset="0"/>
              </a:rPr>
              <a:t>Introduction</a:t>
            </a:r>
          </a:p>
          <a:p>
            <a:pPr marL="571500" indent="-571500">
              <a:buFont typeface="Wingdings" panose="05000000000000000000" pitchFamily="2" charset="2"/>
              <a:buChar char="Ø"/>
            </a:pPr>
            <a:r>
              <a:rPr lang="en-US" sz="2400" dirty="0">
                <a:solidFill>
                  <a:srgbClr val="0D0D0D"/>
                </a:solidFill>
                <a:latin typeface="Arial Rounded MT Bold" panose="020F0704030504030204" pitchFamily="34" charset="0"/>
              </a:rPr>
              <a:t>Complex Number </a:t>
            </a:r>
          </a:p>
          <a:p>
            <a:pPr marL="571500" indent="-571500">
              <a:buFont typeface="Wingdings" panose="05000000000000000000" pitchFamily="2" charset="2"/>
              <a:buChar char="Ø"/>
            </a:pPr>
            <a:r>
              <a:rPr lang="en-US" sz="2400" dirty="0" smtClean="0">
                <a:solidFill>
                  <a:srgbClr val="0D0D0D"/>
                </a:solidFill>
                <a:latin typeface="Arial Rounded MT Bold" panose="020F0704030504030204" pitchFamily="34" charset="0"/>
              </a:rPr>
              <a:t>Geometric </a:t>
            </a:r>
            <a:r>
              <a:rPr lang="en-US" sz="2400" dirty="0">
                <a:solidFill>
                  <a:srgbClr val="0D0D0D"/>
                </a:solidFill>
                <a:latin typeface="Arial Rounded MT Bold" panose="020F0704030504030204" pitchFamily="34" charset="0"/>
              </a:rPr>
              <a:t>Representation </a:t>
            </a:r>
          </a:p>
          <a:p>
            <a:pPr marL="571500" indent="-571500">
              <a:buFont typeface="Wingdings" panose="05000000000000000000" pitchFamily="2" charset="2"/>
              <a:buChar char="Ø"/>
            </a:pPr>
            <a:r>
              <a:rPr lang="en-US" sz="2400" dirty="0" smtClean="0">
                <a:solidFill>
                  <a:srgbClr val="0D0D0D"/>
                </a:solidFill>
                <a:latin typeface="Arial Rounded MT Bold" panose="020F0704030504030204" pitchFamily="34" charset="0"/>
              </a:rPr>
              <a:t>Complex </a:t>
            </a:r>
            <a:r>
              <a:rPr lang="en-US" sz="2400" dirty="0">
                <a:solidFill>
                  <a:srgbClr val="0D0D0D"/>
                </a:solidFill>
                <a:latin typeface="Arial Rounded MT Bold" panose="020F0704030504030204" pitchFamily="34" charset="0"/>
              </a:rPr>
              <a:t>Function </a:t>
            </a:r>
            <a:r>
              <a:rPr lang="en-US" sz="2400" dirty="0" smtClean="0">
                <a:solidFill>
                  <a:srgbClr val="0D0D0D"/>
                </a:solidFill>
                <a:latin typeface="Arial Rounded MT Bold" panose="020F0704030504030204" pitchFamily="34" charset="0"/>
              </a:rPr>
              <a:t> </a:t>
            </a:r>
          </a:p>
          <a:p>
            <a:pPr marL="571500" indent="-571500">
              <a:buFont typeface="Wingdings" panose="05000000000000000000" pitchFamily="2" charset="2"/>
              <a:buChar char="Ø"/>
            </a:pPr>
            <a:r>
              <a:rPr lang="en-US" sz="2400" dirty="0" smtClean="0">
                <a:solidFill>
                  <a:srgbClr val="0D0D0D"/>
                </a:solidFill>
                <a:latin typeface="Arial Rounded MT Bold" panose="020F0704030504030204" pitchFamily="34" charset="0"/>
              </a:rPr>
              <a:t>Function </a:t>
            </a:r>
            <a:r>
              <a:rPr lang="en-US" sz="2400" dirty="0">
                <a:solidFill>
                  <a:srgbClr val="0D0D0D"/>
                </a:solidFill>
                <a:latin typeface="Arial Rounded MT Bold" panose="020F0704030504030204" pitchFamily="34" charset="0"/>
              </a:rPr>
              <a:t>of complex </a:t>
            </a:r>
            <a:r>
              <a:rPr lang="en-US" sz="2400" dirty="0" smtClean="0">
                <a:solidFill>
                  <a:srgbClr val="0D0D0D"/>
                </a:solidFill>
                <a:latin typeface="Arial Rounded MT Bold" panose="020F0704030504030204" pitchFamily="34" charset="0"/>
              </a:rPr>
              <a:t>variable </a:t>
            </a:r>
          </a:p>
          <a:p>
            <a:pPr marL="571500" indent="-571500">
              <a:buFont typeface="Wingdings" panose="05000000000000000000" pitchFamily="2" charset="2"/>
              <a:buChar char="Ø"/>
            </a:pPr>
            <a:r>
              <a:rPr lang="en-US" sz="2400" dirty="0" smtClean="0">
                <a:solidFill>
                  <a:srgbClr val="0D0D0D"/>
                </a:solidFill>
                <a:latin typeface="Arial Rounded MT Bold" panose="020F0704030504030204" pitchFamily="34" charset="0"/>
              </a:rPr>
              <a:t>Differentiability </a:t>
            </a:r>
            <a:r>
              <a:rPr lang="en-US" sz="2400" dirty="0">
                <a:solidFill>
                  <a:srgbClr val="0D0D0D"/>
                </a:solidFill>
                <a:latin typeface="Arial Rounded MT Bold" panose="020F0704030504030204" pitchFamily="34" charset="0"/>
              </a:rPr>
              <a:t>in complex analysis </a:t>
            </a:r>
          </a:p>
          <a:p>
            <a:pPr marL="571500" indent="-571500">
              <a:buFont typeface="Wingdings" panose="05000000000000000000" pitchFamily="2" charset="2"/>
              <a:buChar char="Ø"/>
            </a:pPr>
            <a:r>
              <a:rPr lang="en-US" sz="2400" dirty="0" smtClean="0">
                <a:solidFill>
                  <a:srgbClr val="0D0D0D"/>
                </a:solidFill>
                <a:latin typeface="Arial Rounded MT Bold" panose="020F0704030504030204" pitchFamily="34" charset="0"/>
              </a:rPr>
              <a:t>Cauchy's-Riemann </a:t>
            </a:r>
            <a:r>
              <a:rPr lang="en-US" sz="2400" dirty="0">
                <a:solidFill>
                  <a:srgbClr val="0D0D0D"/>
                </a:solidFill>
                <a:latin typeface="Arial Rounded MT Bold" panose="020F0704030504030204" pitchFamily="34" charset="0"/>
              </a:rPr>
              <a:t>Equation </a:t>
            </a:r>
          </a:p>
          <a:p>
            <a:pPr marL="571500" indent="-571500">
              <a:buFont typeface="Wingdings" panose="05000000000000000000" pitchFamily="2" charset="2"/>
              <a:buChar char="Ø"/>
            </a:pPr>
            <a:r>
              <a:rPr lang="en-US" sz="2400" dirty="0" smtClean="0">
                <a:solidFill>
                  <a:srgbClr val="0D0D0D"/>
                </a:solidFill>
                <a:latin typeface="Arial Rounded MT Bold" panose="020F0704030504030204" pitchFamily="34" charset="0"/>
              </a:rPr>
              <a:t>Analytic </a:t>
            </a:r>
            <a:r>
              <a:rPr lang="en-US" sz="2400" dirty="0">
                <a:solidFill>
                  <a:srgbClr val="0D0D0D"/>
                </a:solidFill>
                <a:latin typeface="Arial Rounded MT Bold" panose="020F0704030504030204" pitchFamily="34" charset="0"/>
              </a:rPr>
              <a:t>Function </a:t>
            </a:r>
          </a:p>
          <a:p>
            <a:pPr marL="571500" indent="-571500">
              <a:buFont typeface="Wingdings" panose="05000000000000000000" pitchFamily="2" charset="2"/>
              <a:buChar char="Ø"/>
            </a:pPr>
            <a:r>
              <a:rPr lang="en-US" sz="2400" dirty="0" smtClean="0">
                <a:solidFill>
                  <a:srgbClr val="0D0D0D"/>
                </a:solidFill>
                <a:latin typeface="Arial Rounded MT Bold" panose="020F0704030504030204" pitchFamily="34" charset="0"/>
              </a:rPr>
              <a:t>Harmonic </a:t>
            </a:r>
            <a:r>
              <a:rPr lang="en-US" sz="2400" dirty="0">
                <a:solidFill>
                  <a:srgbClr val="0D0D0D"/>
                </a:solidFill>
                <a:latin typeface="Arial Rounded MT Bold" panose="020F0704030504030204" pitchFamily="34" charset="0"/>
              </a:rPr>
              <a:t>Function </a:t>
            </a:r>
          </a:p>
          <a:p>
            <a:pPr marL="571500" indent="-571500">
              <a:buFont typeface="Wingdings" panose="05000000000000000000" pitchFamily="2" charset="2"/>
              <a:buChar char="Ø"/>
            </a:pPr>
            <a:r>
              <a:rPr lang="en-US" sz="2400" dirty="0" smtClean="0">
                <a:solidFill>
                  <a:srgbClr val="0D0D0D"/>
                </a:solidFill>
                <a:latin typeface="Arial Rounded MT Bold" panose="020F0704030504030204" pitchFamily="34" charset="0"/>
              </a:rPr>
              <a:t>Contour </a:t>
            </a:r>
            <a:r>
              <a:rPr lang="en-US" sz="2400" dirty="0">
                <a:solidFill>
                  <a:srgbClr val="0D0D0D"/>
                </a:solidFill>
                <a:latin typeface="Arial Rounded MT Bold" panose="020F0704030504030204" pitchFamily="34" charset="0"/>
              </a:rPr>
              <a:t>Integration &amp; Cauchy's theorem </a:t>
            </a:r>
          </a:p>
          <a:p>
            <a:pPr marL="571500" indent="-571500">
              <a:buFont typeface="Wingdings" panose="05000000000000000000" pitchFamily="2" charset="2"/>
              <a:buChar char="Ø"/>
            </a:pPr>
            <a:r>
              <a:rPr lang="en-US" sz="2400" dirty="0" err="1" smtClean="0">
                <a:solidFill>
                  <a:srgbClr val="0D0D0D"/>
                </a:solidFill>
                <a:latin typeface="Arial Rounded MT Bold" panose="020F0704030504030204" pitchFamily="34" charset="0"/>
              </a:rPr>
              <a:t>Zeros</a:t>
            </a:r>
            <a:r>
              <a:rPr lang="en-US" sz="2400" dirty="0" smtClean="0">
                <a:solidFill>
                  <a:srgbClr val="0D0D0D"/>
                </a:solidFill>
                <a:latin typeface="Arial Rounded MT Bold" panose="020F0704030504030204" pitchFamily="34" charset="0"/>
              </a:rPr>
              <a:t> and Poles</a:t>
            </a:r>
          </a:p>
          <a:p>
            <a:pPr marL="571500" indent="-571500">
              <a:buFont typeface="Wingdings" panose="05000000000000000000" pitchFamily="2" charset="2"/>
              <a:buChar char="Ø"/>
            </a:pPr>
            <a:r>
              <a:rPr lang="en-US" sz="2400" dirty="0" smtClean="0">
                <a:solidFill>
                  <a:srgbClr val="0D0D0D"/>
                </a:solidFill>
                <a:latin typeface="Arial Rounded MT Bold" panose="020F0704030504030204" pitchFamily="34" charset="0"/>
              </a:rPr>
              <a:t>Singularities</a:t>
            </a:r>
          </a:p>
          <a:p>
            <a:pPr marL="571500" indent="-571500">
              <a:buFont typeface="Wingdings" panose="05000000000000000000" pitchFamily="2" charset="2"/>
              <a:buChar char="Ø"/>
            </a:pPr>
            <a:r>
              <a:rPr lang="en-US" sz="2400" dirty="0">
                <a:solidFill>
                  <a:srgbClr val="0D0D0D"/>
                </a:solidFill>
                <a:latin typeface="Arial Rounded MT Bold" panose="020F0704030504030204" pitchFamily="34" charset="0"/>
              </a:rPr>
              <a:t>Cauchy's Integral formula </a:t>
            </a:r>
          </a:p>
          <a:p>
            <a:pPr marL="571500" indent="-571500">
              <a:buFont typeface="Wingdings" panose="05000000000000000000" pitchFamily="2" charset="2"/>
              <a:buChar char="Ø"/>
            </a:pPr>
            <a:r>
              <a:rPr lang="en-US" sz="2400" dirty="0">
                <a:solidFill>
                  <a:srgbClr val="0D0D0D"/>
                </a:solidFill>
                <a:latin typeface="Arial Rounded MT Bold" panose="020F0704030504030204" pitchFamily="34" charset="0"/>
              </a:rPr>
              <a:t>Cauchy's Residue theorem </a:t>
            </a:r>
          </a:p>
          <a:p>
            <a:pPr marL="571500" indent="-571500">
              <a:buFont typeface="Wingdings" panose="05000000000000000000" pitchFamily="2" charset="2"/>
              <a:buChar char="Ø"/>
            </a:pPr>
            <a:r>
              <a:rPr lang="en-US" sz="2400" dirty="0" smtClean="0">
                <a:solidFill>
                  <a:srgbClr val="0D0D0D"/>
                </a:solidFill>
                <a:latin typeface="Arial Rounded MT Bold" panose="020F0704030504030204" pitchFamily="34" charset="0"/>
              </a:rPr>
              <a:t>Taylor and Laurent Series</a:t>
            </a:r>
          </a:p>
          <a:p>
            <a:pPr marL="571500" indent="-571500">
              <a:buFont typeface="Wingdings" panose="05000000000000000000" pitchFamily="2" charset="2"/>
              <a:buChar char="Ø"/>
            </a:pPr>
            <a:r>
              <a:rPr lang="en-US" sz="2400" dirty="0" smtClean="0">
                <a:solidFill>
                  <a:srgbClr val="0D0D0D"/>
                </a:solidFill>
                <a:latin typeface="Arial Rounded MT Bold" panose="020F0704030504030204" pitchFamily="34" charset="0"/>
              </a:rPr>
              <a:t>Limits </a:t>
            </a:r>
            <a:r>
              <a:rPr lang="en-US" sz="2400" dirty="0">
                <a:solidFill>
                  <a:srgbClr val="0D0D0D"/>
                </a:solidFill>
                <a:latin typeface="Arial Rounded MT Bold" panose="020F0704030504030204" pitchFamily="34" charset="0"/>
              </a:rPr>
              <a:t>and Continuity </a:t>
            </a:r>
            <a:r>
              <a:rPr lang="en-US" sz="2400" dirty="0" smtClean="0">
                <a:solidFill>
                  <a:srgbClr val="0D0D0D"/>
                </a:solidFill>
                <a:latin typeface="Arial Rounded MT Bold" panose="020F0704030504030204" pitchFamily="34" charset="0"/>
              </a:rPr>
              <a:t> </a:t>
            </a:r>
            <a:endParaRPr lang="en-US" sz="2400" dirty="0">
              <a:solidFill>
                <a:srgbClr val="0D0D0D"/>
              </a:solidFill>
              <a:latin typeface="Arial Rounded MT Bold" panose="020F0704030504030204" pitchFamily="34" charset="0"/>
            </a:endParaRPr>
          </a:p>
          <a:p>
            <a:pPr marL="571500" indent="-571500">
              <a:buFont typeface="Wingdings" panose="05000000000000000000" pitchFamily="2" charset="2"/>
              <a:buChar char="Ø"/>
            </a:pPr>
            <a:r>
              <a:rPr lang="en-US" sz="2400" dirty="0" smtClean="0">
                <a:solidFill>
                  <a:srgbClr val="0D0D0D"/>
                </a:solidFill>
                <a:latin typeface="Arial Rounded MT Bold" panose="020F0704030504030204" pitchFamily="34" charset="0"/>
              </a:rPr>
              <a:t>Application </a:t>
            </a:r>
            <a:r>
              <a:rPr lang="en-US" sz="2400" dirty="0">
                <a:solidFill>
                  <a:srgbClr val="0D0D0D"/>
                </a:solidFill>
                <a:latin typeface="Arial Rounded MT Bold" panose="020F0704030504030204" pitchFamily="34" charset="0"/>
              </a:rPr>
              <a:t>of Complex Analysis </a:t>
            </a:r>
          </a:p>
          <a:p>
            <a:pPr marL="571500" indent="-571500">
              <a:buFont typeface="Wingdings" panose="05000000000000000000" pitchFamily="2" charset="2"/>
              <a:buChar char="Ø"/>
            </a:pPr>
            <a:r>
              <a:rPr lang="en-US" sz="2400" dirty="0" smtClean="0">
                <a:solidFill>
                  <a:srgbClr val="0D0D0D"/>
                </a:solidFill>
                <a:latin typeface="Arial Rounded MT Bold" panose="020F0704030504030204" pitchFamily="34" charset="0"/>
              </a:rPr>
              <a:t>Summary </a:t>
            </a:r>
          </a:p>
          <a:p>
            <a:pPr marL="571500" indent="-571500">
              <a:buFont typeface="Wingdings" panose="05000000000000000000" pitchFamily="2" charset="2"/>
              <a:buChar char="Ø"/>
            </a:pPr>
            <a:r>
              <a:rPr lang="en-US" sz="2400" dirty="0" smtClean="0">
                <a:solidFill>
                  <a:srgbClr val="0D0D0D"/>
                </a:solidFill>
                <a:latin typeface="Arial Rounded MT Bold" panose="020F0704030504030204" pitchFamily="34" charset="0"/>
              </a:rPr>
              <a:t>Conclusion</a:t>
            </a:r>
            <a:endParaRPr lang="en-US" sz="2400" dirty="0">
              <a:solidFill>
                <a:srgbClr val="0D0D0D"/>
              </a:solidFill>
              <a:latin typeface="Arial Rounded MT Bold" panose="020F0704030504030204" pitchFamily="34" charset="0"/>
            </a:endParaRPr>
          </a:p>
        </p:txBody>
      </p:sp>
      <p:grpSp>
        <p:nvGrpSpPr>
          <p:cNvPr id="4" name="Group 13">
            <a:extLst>
              <a:ext uri="{FF2B5EF4-FFF2-40B4-BE49-F238E27FC236}">
                <a16:creationId xmlns="" xmlns:a16="http://schemas.microsoft.com/office/drawing/2014/main" id="{6624163F-0273-4497-A2B1-2ECF4098F34E}"/>
              </a:ext>
            </a:extLst>
          </p:cNvPr>
          <p:cNvGrpSpPr/>
          <p:nvPr/>
        </p:nvGrpSpPr>
        <p:grpSpPr>
          <a:xfrm>
            <a:off x="0" y="-260350"/>
            <a:ext cx="7169150" cy="10591800"/>
            <a:chOff x="-905933" y="-347134"/>
            <a:chExt cx="16967200" cy="14224002"/>
          </a:xfrm>
        </p:grpSpPr>
        <p:pic>
          <p:nvPicPr>
            <p:cNvPr id="6" name="Picture 14">
              <a:extLst>
                <a:ext uri="{FF2B5EF4-FFF2-40B4-BE49-F238E27FC236}">
                  <a16:creationId xmlns="" xmlns:a16="http://schemas.microsoft.com/office/drawing/2014/main" id="{C4EE74FA-9D0E-4E8D-9D43-5B5B9A98B02C}"/>
                </a:ext>
              </a:extLst>
            </p:cNvPr>
            <p:cNvPicPr>
              <a:picLocks noChangeAspect="1"/>
            </p:cNvPicPr>
            <p:nvPr/>
          </p:nvPicPr>
          <p:blipFill rotWithShape="1">
            <a:blip r:embed="rId4"/>
            <a:srcRect l="13399" t="-2345" r="14323" b="6264"/>
            <a:stretch/>
          </p:blipFill>
          <p:spPr>
            <a:xfrm>
              <a:off x="-905933" y="-347134"/>
              <a:ext cx="16967200" cy="14224002"/>
            </a:xfrm>
            <a:prstGeom prst="rect">
              <a:avLst/>
            </a:prstGeom>
          </p:spPr>
        </p:pic>
      </p:grpSp>
    </p:spTree>
    <p:extLst>
      <p:ext uri="{BB962C8B-B14F-4D97-AF65-F5344CB8AC3E}">
        <p14:creationId xmlns:p14="http://schemas.microsoft.com/office/powerpoint/2010/main" val="171562754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 xmlns:a16="http://schemas.microsoft.com/office/drawing/2014/main" id="{21263997-E8F4-88EA-1AF1-397BFD3AEEF8}"/>
              </a:ext>
            </a:extLst>
          </p:cNvPr>
          <p:cNvSpPr txBox="1"/>
          <p:nvPr/>
        </p:nvSpPr>
        <p:spPr>
          <a:xfrm>
            <a:off x="4425950" y="1330414"/>
            <a:ext cx="9601200" cy="1169551"/>
          </a:xfrm>
          <a:prstGeom prst="rect">
            <a:avLst/>
          </a:prstGeom>
          <a:noFill/>
        </p:spPr>
        <p:txBody>
          <a:bodyPr wrap="square" rtlCol="0">
            <a:spAutoFit/>
          </a:bodyPr>
          <a:lstStyle/>
          <a:p>
            <a:pPr algn="ctr"/>
            <a:r>
              <a:rPr lang="en-US" sz="5400" dirty="0">
                <a:solidFill>
                  <a:srgbClr val="FF0000"/>
                </a:solidFill>
                <a:latin typeface="Algerian" panose="04020705040A02060702" pitchFamily="82" charset="0"/>
              </a:rPr>
              <a:t>Introduction</a:t>
            </a:r>
          </a:p>
          <a:p>
            <a:endParaRPr lang="en-US" sz="1400" dirty="0"/>
          </a:p>
        </p:txBody>
      </p:sp>
      <p:sp>
        <p:nvSpPr>
          <p:cNvPr id="2" name="TextBox 1"/>
          <p:cNvSpPr txBox="1"/>
          <p:nvPr/>
        </p:nvSpPr>
        <p:spPr>
          <a:xfrm>
            <a:off x="1873250" y="3244850"/>
            <a:ext cx="14706600" cy="6186309"/>
          </a:xfrm>
          <a:prstGeom prst="rect">
            <a:avLst/>
          </a:prstGeom>
          <a:noFill/>
        </p:spPr>
        <p:txBody>
          <a:bodyPr wrap="square" rtlCol="0">
            <a:spAutoFit/>
          </a:bodyPr>
          <a:lstStyle/>
          <a:p>
            <a:r>
              <a:rPr lang="en-US" sz="4400" dirty="0"/>
              <a:t>Complex Analysis is a branch of mathematics that studies functions of a complex variable. Unlike real numbers, complex numbers have both real and imaginary parts, which allows us to explore mathematical concepts in a richer and more powerful way. In this subject, we learn about analytic functions, limits, differentiation, integration, and various theorems that simplify complicated calculations. Complex Analysis plays an important role in physics, engineering, fluid flow, signal processing, and many modern scientific applications.</a:t>
            </a:r>
            <a:endParaRPr lang="en-US" sz="4400" b="1"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1FF5DC76-398C-F568-1D90-05023B76F682}"/>
              </a:ext>
            </a:extLst>
          </p:cNvPr>
          <p:cNvSpPr txBox="1"/>
          <p:nvPr/>
        </p:nvSpPr>
        <p:spPr>
          <a:xfrm>
            <a:off x="1606550" y="730250"/>
            <a:ext cx="14249400" cy="923330"/>
          </a:xfrm>
          <a:prstGeom prst="rect">
            <a:avLst/>
          </a:prstGeom>
          <a:noFill/>
        </p:spPr>
        <p:txBody>
          <a:bodyPr wrap="square" rtlCol="0">
            <a:spAutoFit/>
          </a:bodyPr>
          <a:lstStyle/>
          <a:p>
            <a:pPr algn="ctr"/>
            <a:r>
              <a:rPr lang="en-US" sz="5400" dirty="0">
                <a:ln w="0"/>
                <a:solidFill>
                  <a:srgbClr val="FF0000"/>
                </a:solidFill>
                <a:effectLst>
                  <a:reflection blurRad="6350" stA="53000" endA="300" endPos="35500" dir="5400000" sy="-90000" algn="bl" rotWithShape="0"/>
                </a:effectLst>
                <a:latin typeface="Algerian" panose="04020705040A02060702" pitchFamily="82" charset="0"/>
              </a:rPr>
              <a:t>What Are Complex Numbers</a:t>
            </a:r>
            <a:r>
              <a:rPr lang="en-US" sz="5400" dirty="0" smtClean="0">
                <a:ln w="0"/>
                <a:solidFill>
                  <a:srgbClr val="FF0000"/>
                </a:solidFill>
                <a:effectLst>
                  <a:reflection blurRad="6350" stA="53000" endA="300" endPos="35500" dir="5400000" sy="-90000" algn="bl" rotWithShape="0"/>
                </a:effectLst>
                <a:latin typeface="Algerian" panose="04020705040A02060702" pitchFamily="82" charset="0"/>
              </a:rPr>
              <a:t>?</a:t>
            </a:r>
            <a:endParaRPr lang="en-US" sz="5400" dirty="0">
              <a:ln w="0"/>
              <a:solidFill>
                <a:srgbClr val="FF0000"/>
              </a:solidFill>
              <a:effectLst>
                <a:reflection blurRad="6350" stA="53000" endA="300" endPos="35500" dir="5400000" sy="-90000" algn="bl" rotWithShape="0"/>
              </a:effectLst>
              <a:latin typeface="Algerian" panose="04020705040A02060702" pitchFamily="82" charset="0"/>
            </a:endParaRPr>
          </a:p>
        </p:txBody>
      </p:sp>
      <p:sp>
        <p:nvSpPr>
          <p:cNvPr id="2" name="AutoShape 2" descr="data:image/jpeg;base64,/9j/4AAQSkZJRgABAQAAAQABAAD/4QDfRXhpZgAASUkqAAgAAAABAA4BAgC9AAAAGgAAAAAAAABUaGUgQXVzdHJpYW4gc2NpZW50aXN0IFByb2Zlc3NvciBFcndpbiBTY2hyb2Rpbmdlci4gSGUgc2hhcmVkIHRoZSAxOTMzIE5vYmVsIFByaXplIGZvciBoaXMgcmVzZWFyY2ggaW50byBhdG9taWMgdGhlb3J5LiAoUGhvdG8gYnkgPyBIdWx0b24tRGV1dHNjaCBDb2xsZWN0aW9uL0NPUkJJUy9Db3JiaXMgdmlhIEdldHR5IEltYWdlcyn/7QEOUGhvdG9zaG9wIDMuMAA4QklNBAQAAAAAAPIcAlAADkh1bHRvbiBEZXV0c2NoHAJ4AL5UaGUgQXVzdHJpYW4gc2NpZW50aXN0IFByb2Zlc3NvciBFcndpbiBTY2hyb2Rpbmdlci4gSGUgc2hhcmVkIHRoZSAxOTMzIE5vYmVsIFByaXplIGZvciBoaXMgcmVzZWFyY2ggaW50byBhdG9taWMgdGhlb3J5LiAoUGhvdG8gYnkgwqkgSHVsdG9uLURldXRzY2ggQ29sbGVjdGlvbi9DT1JCSVMvQ29yYmlzIHZpYSBHZXR0eSBJbWFnZXMpHAJuABdDb3JiaXMgdmlhIEdldHR5IEltYWdlc//hBcRodHRwOi8vbnMuYWRvYmUuY29tL3hhcC8xLjAvADw/eHBhY2tldCBiZWdpbj0i77u/IiBpZD0iVzVNME1wQ2VoaUh6cmVTek5UY3prYzlkIj8+Cjx4OnhtcG1ldGEgeG1sbnM6eD0iYWRvYmU6bnM6bWV0YS8iPgoJPHJkZjpSREYgeG1sbnM6cmRmPSJodHRwOi8vd3d3LnczLm9yZy8xOTk5LzAyLzIyLXJkZi1zeW50YXgtbnMjIj4KCQk8cmRmOkRlc2NyaXB0aW9uIHJkZjphYm91dD0iIiB4bWxuczpwaG90b3Nob3A9Imh0dHA6Ly9ucy5hZG9iZS5jb20vcGhvdG9zaG9wLzEuMC8iIHhtbG5zOklwdGM0eG1wQ29yZT0iaHR0cDovL2lwdGMub3JnL3N0ZC9JcHRjNHhtcENvcmUvMS4wL3htbG5zLyIgICB4bWxuczpHZXR0eUltYWdlc0dJRlQ9Imh0dHA6Ly94bXAuZ2V0dHlpbWFnZXMuY29tL2dpZnQvMS4wLyIgeG1sbnM6ZGM9Imh0dHA6Ly9wdXJsLm9yZy9kYy9lbGVtZW50cy8xLjEvIiB4bWxuczpwbHVzPSJodHRwOi8vbnMudXNlcGx1cy5vcmcvbGRmL3htcC8xLjAvIiAgeG1sbnM6aXB0Y0V4dD0iaHR0cDovL2lwdGMub3JnL3N0ZC9JcHRjNHhtcEV4dC8yMDA4LTAyLTI5LyIgeG1sbnM6eG1wUmlnaHRzPSJodHRwOi8vbnMuYWRvYmUuY29tL3hhcC8xLjAvcmlnaHRzLyIgcGhvdG9zaG9wOkNyZWRpdD0iQ29yYmlzIHZpYSBHZXR0eSBJbWFnZXMiIEdldHR5SW1hZ2VzR0lGVDpBc3NldElEPSI2MTM1MDc1MTYiIHhtcFJpZ2h0czpXZWJTdGF0ZW1lbnQ9Imh0dHBzOi8vd3d3LmdldHR5aW1hZ2VzLmNvbS9ldWxhP3V0bV9tZWRpdW09b3JnYW5pYyZhbXA7dXRtX3NvdXJjZT1nb29nbGUmYW1wO3V0bV9jYW1wYWlnbj1pcHRjdXJsIiA+CjxkYzpjcmVhdG9yPjxyZGY6U2VxPjxyZGY6bGk+SHVsdG9uIERldXRzY2g8L3JkZjpsaT48L3JkZjpTZXE+PC9kYzpjcmVhdG9yPjxkYzpkZXNjcmlwdGlvbj48cmRmOkFsdD48cmRmOmxpIHhtbDpsYW5nPSJ4LWRlZmF1bHQiPlRoZSBBdXN0cmlhbiBzY2llbnRpc3QgUHJvZmVzc29yIEVyd2luIFNjaHJvZGluZ2VyLiBIZSBzaGFyZWQgdGhlIDE5MzMgTm9iZWwgUHJpemUgZm9yIGhpcyByZXNlYXJjaCBpbnRvIGF0b21pYyB0aGVvcnkuIChQaG90byBieSDCqSBIdWx0b24tRGV1dHNjaCBDb2xsZWN0aW9uL0NPUkJJUy9Db3JiaXMgdmlhIEdldHR5IEltYWdlcyk8L3JkZjpsaT48L3JkZjpBbHQ+PC9kYzpkZXNjcmlwdGlvbj4KPHBsdXM6TGljZW5zb3I+PHJkZjpTZXE+PHJkZjpsaSByZGY6cGFyc2VUeXBlPSdSZXNvdXJjZSc+PHBsdXM6TGljZW5zb3JVUkw+aHR0cHM6Ly93d3cuZ2V0dHlpbWFnZXMuY29tL2RldGFpbC82MTM1MDc1MTY/dXRtX21lZGl1bT1vcmdhbmljJmFtcDt1dG1fc291cmNlPWdvb2dsZSZhbXA7dXRtX2NhbXBhaWduPWlwdGN1cmw8L3BsdXM6TGljZW5zb3JVUkw+PC9yZGY6bGk+PC9yZGY6U2VxPjwvcGx1czpMaWNlbnNvcj4KCQk8L3JkZjpEZXNjcmlwdGlvbj4KCTwvcmRmOlJERj4KPC94OnhtcG1ldGE+Cjw/eHBhY2tldCBlbmQ9InciPz4K/9sAhAAJBgcIBwYJCAcICgoJCw0WDw0MDA0bFBUQFiAdIiIgHR8fJCg0LCQmMScfHy09LTE1Nzo6OiMrP0Q/OEM0OTo3AQoKCg0MDRoPDxo3JR8lNzc3Nzc3Nzc3Nzc3Nzc3Nzc3Nzc3Nzc3Nzc3Nzc3Nzc3Nzc3Nzc3Nzc3Nzc3Nzc3Nzf/wAARCAB4AHgDASIAAhEBAxEB/8QAHAAAAQQDAQAAAAAAAAAAAAAABwABBQYCBAgD/8QAORAAAQMDAwEGBAUDAgcAAAAAAQIDBAAFEQYSITEHE0FRYXEigZGhFDJCscEVI1LR8AgWJGJygqL/xAAUAQEAAAAAAAAAAAAAAAAAAAAA/8QAFBEBAAAAAAAAAAAAAAAAAAAAAP/aAAwDAQACEQMRAD8AMoFOaalQICn9aYVFagv0SyRlOy3EpwM4JoJRRGMk8VWL1rW02vvEKeC3UEgoA8hk/ahVq/tSuM1wM2p78O0M5KAPiGMeNDl6U8+tS3XFKUrqSeTQFXVXafJI7mE+tveMnuSAUggY586rFu7TdR29w/8AXKlNk/lkcn6iqWea8zQG/Rfa21Nkpg6gQllxxWGpKeEc9Ary96JtvucK5I3QpLTwHB2KBxXIJrctN5uNmlCVbJbsZ4dFIP7jofnQdfmsTih32b9pjGpii2XNKY11CfhwfgkY6lPkfHb9PQgqPFAhjyrAgA0s+tYk+tBqzAkppVhPOGyc0qCcpAUiOaVBq3KUiBAkSlkANIKuemfCuZtaakm3uetT725GeAOB9KLPbXfHLdZ48FlRSqUokqB5wnw+9AMhbzu1IKlHwoPFRJNOnoSegr3dhvNnDiFJPkRXpHtsh5SUoQSVflAHJoNUGsVHPGOKJOnuzQSW0v3Z5xpGMlKMAY9TVkhaGsDEkNNxPxOQPid5Ax6UAPIJBOCQOpx0rzODXTkfStuYRtjwGEJIxtS2AP2qr6q7OIM6OsxEJZkgfAsDx9fMUALbWtpxDjS1IcQoKQtJwUkdCD4Gjz2Y9pIvgbtF7WE3MAht7ACXwP2V+9AyfDkW+Y7Elo2PtK2rTWdsfkR7jFfhrUiQ26ktqT1Cs8UHXG4GsSsYxXgy5uQk5ySBk06jjmg07i7sbVnypVp3l3ayr24zSoLlTGs6Yig5y7Ybt/UdYvspXubhpDKffqfuftWl2fW9qRIlSn0ghlICc+ZrLtcQ83r65JebCAdikYGNySkc/XP0rDSbxZtMruzhwupPyGKDK8FBnLaGMJOBnx+dWnS9rbS2l2VgKIBa546/vVDnvkyytI59as2m7kEqbadeJAIKUhWB09OtASpshSYR+AlYO04+58sf61t2wIcdYUnoBjBqBt9yYdWpqQsBJ/NuHAzjGKsVn7tboSGgnaODgdKCwtJw3yBWtKZBB44NbTfTjpWD4G0/xQAPtls7Ua4InNIUlSsJWR0Oc49jVP0Q8yxq21LkNhxv8QElJTnk8A/IkH5US+26BJdt7UtpO9plf9zrlIPj+1Dvs8iuS9ZWxtoZKXCs8ZwADQdKNHCAKdXSnQnaMHnHjTLOAaCHuyQphWemKevK9LPcrSPKmoL2D40ia8UOBXSvQUAn7frM49brdeWkApirUy8fEJXjafbcMf8AtQw03n+8kdANxHnXT11t0a722Tb5qAuPIbKFpPkfEeo61zmzZZNk1LcLNIwpxjgODgLTxhQ9wR7UETMTuJJ6+1etrddbdAbwnrz5Cpn+lGRJd2DvG2gA4oJzlR8APE1FzHp1nnKKIaEpRyA+jPHryKApxUx2rXb5RbBUtYQoJH6jxg/z7VnpObKYkyIk0/3UPbOmPh6jHyINDRWuJ7UJlh1mM9HccC/hyNpSeU48D+XnywfE1YdUtzbhbmJdpmluO5GEhwpUAv8AxCQrOc89POgMkq6W63tI/Gzo7G7hIcdCSr2z1rCPcYc5JVGkNrHooGuUmW3ZEtIWgl1SN4LyiMjGR165os9nF9cNglOTmIcG2xWStE3ui0rvh1T47hjxGKC3a5i99pu58ciO4f8A5oL9mKUQdVtTZ6HEMR2StTgICW8jgqOeBg9OtGIKk6pgNtqWGbW6nc+pleVPJ/wB6gHx4Bx70NbNZ7a3G1dZ3XT/AFBXeiGytJSFJQSUqSfE5/agOLa0uIS4hQUlQyCPEUnEhQ6VBaEdcXpG0d7neIjYOev5asJHHNBCXNnKDke9KpCSkLSQfalQbcKSHEBYNSaCCAaHtm1C226hh1KyVHbuHQVfIytyAc8UHlfXpMax3B+AndLajOLZTjOVhJI+9cuWyTJmXJDjsp7vHio94VEnceT9TXWKa5r7R7V/y3ruShlvu4zqxLZCRwArqB7KCvtQWW2BabGhECScfi3W5EgJxvVgK4zyDt24yOcHyqq63mRXnWGYkVDbjSSVvpPLm5OCFA5z06586aJe3bcZBaQh6LKCe/jOEhK8cggjlKh4EefiOKhLg83JfU42laUK52qIJHpnjP0oNJD6kQ3ooaaKXXELLhSd6SnOMHOAPiOeKK+jtHQ9VdnbCNpbksSlOJKVFIdORuSr3CQM+BAPuKSApXwjA8qPHYW6hzSMhnPxszF7h6EAigGeptI3V6W5c4YE5lZ+IIJKk44IIPOcg5HUHirZ2fLhoZTEfjLRIyMJWOhPXHl70T32oMGU48QltUhe4jGApXiffpWLlrgqdEnuUBYHCkjFB4usiPGDTICUBOE44xVK1bpmZfrjZ5UQIjpgtqU5JJ5cJPKMfI8nzq+OpBaUk1E2/wDEyLk82stCKyAEgE7yT5jpQSFrjCPEabAwEoArc6g+tYrIQcU4WMZoNKWoRwVrUMedKo7UroVDcQD8VKgoNvUtUpHecYPHrRgsiiuE3nrihZGhOfjUqTkjdzRTsaNkNCc+FBJpqta40ZA1bEbD6izMYB7iQkZxnqCPEHirMOKXPjQcw6g05c9NrREu7SEOKG5Cm17krTnGQf8AWoSQnA4FHPtqtIkWOPdUnCojmxQ80rIH74+tBEJDiCj9QNBHpOCc0R+xzUsOzXOdHnPpZZkNghTigBuB46+Jzj1oeuIAUcVMwV2hzTzUZ51Me5s3RD5WtJwuPtwoBXQEHnFB0E5uusZbdzjtMgrJaDT3eHH6VZwMH05Hqa3YyCzHSyte/A+FfnVIs+sk3mIpy32S8pCEnu3SwFNLwccLz/vFS9hv1wkPoiXW0vxCvOx4uIWg4/8AEkg+9BNvHbuJIGBQQ7RdQXW0agbVa570cqTlQR0JB8QetHCYAmOtRVgVzPr64i46mlqQctMq7tHy60Bo7KtQXLVtrmP3UIJYdDaHUI27jjJ/j61ZphcjnaskeIPnWt2bWT+gaMtsRaCmQtvvnweoWv4iD7ZA+VTtwhiYwUE7VfpV5UA41RcQ2heTgY6UqhNdxJUOUpt4EYGQR0UPMUqC525j+9gIzz0xV0hJCGkgDpUXb4SUEOAfEetTbaAE8UHqKfHnST0pUFZ7RNNDVGmnobayiSyr8RGUDx3iQcA+hBI+efCuaWnilYJSRkcg8Yrrz1rlvXVqXZ9WXSKoYAkLcR6oWdyfsQPlQQi+TWUaQ7Hc3sqCVEFOSkHg8HrW2q3Potca5YSuM+4trck5KHE9Uq8jggjzBr1hWaTMcGxvj1OKAp6FZnsQmPx+oobkd3HdRVOpCkH/ABA/ir46zsQg95kjk0HLVo+fCmRbrvZYEdaV8j4QAf5ozwrxabkhbLcphxQGHGgemfSgr2qr6zDs0qUlY2soUQfM+A+tAXRVuVf9Z2yI4N4elBx4EZyhJ3q+wNW7tjVItU8WlG4Qn8SGlZ/Mnpt+RB+1ev8Aw/W1cjU824Y/txIuzOP1rIx9kqoD4BSI4p8cdKR5BoIbUen41+iht5RacRnY4BnGfA+lKpinoI+GnaopPnUiDTUqD0T0pZFKlQYFwHgHigl24sMrvcSQ3jvFRtq/XCjj96VKgoFrmOw3G0KWpUbvQ4po/kKsY3Y6ZwTXQ+lYtunWpiW3BTlxAO5bQBPr/v0pUqDculhNzQ4y/MebjrCQGmAlOMf92CevljpVac7JtNBpYYalMvFOESG5Kwpo4wCBnHHqKVKgCGuTfmr0bbqWSt+RAT3LSlYwW+oUPPPXJ58D0o3diNp/puim31pw9OdU+rP+PRI+gB+dNSoCB4cdKb2NKlQJVKlSoP/Z"/>
          <p:cNvSpPr>
            <a:spLocks noChangeAspect="1" noChangeArrowheads="1"/>
          </p:cNvSpPr>
          <p:nvPr/>
        </p:nvSpPr>
        <p:spPr bwMode="auto">
          <a:xfrm>
            <a:off x="5721350" y="4159250"/>
            <a:ext cx="2667000" cy="266700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mc:Choice xmlns:a14="http://schemas.microsoft.com/office/drawing/2010/main" Requires="a14">
          <p:sp>
            <p:nvSpPr>
              <p:cNvPr id="3" name="TextBox 2"/>
              <p:cNvSpPr txBox="1"/>
              <p:nvPr/>
            </p:nvSpPr>
            <p:spPr>
              <a:xfrm>
                <a:off x="1987550" y="2330450"/>
                <a:ext cx="15240000" cy="7478970"/>
              </a:xfrm>
              <a:prstGeom prst="rect">
                <a:avLst/>
              </a:prstGeom>
              <a:noFill/>
            </p:spPr>
            <p:txBody>
              <a:bodyPr wrap="square" rtlCol="0">
                <a:spAutoFit/>
              </a:bodyPr>
              <a:lstStyle/>
              <a:p>
                <a:r>
                  <a:rPr lang="en-US" sz="4000" dirty="0" smtClean="0"/>
                  <a:t>Complex numbers extend the idea of real numbers by including an imaginary component. A complex number is written as:</a:t>
                </a:r>
              </a:p>
              <a:p>
                <a:r>
                  <a:rPr lang="en-US" sz="4000" dirty="0" smtClean="0"/>
                  <a:t>z=</a:t>
                </a:r>
                <a:r>
                  <a:rPr lang="en-US" sz="4000" dirty="0" err="1" smtClean="0"/>
                  <a:t>x+iy</a:t>
                </a:r>
                <a:endParaRPr lang="en-US" sz="4000" dirty="0" smtClean="0"/>
              </a:p>
              <a:p>
                <a:r>
                  <a:rPr lang="en-US" sz="4000" dirty="0" smtClean="0"/>
                  <a:t>Where,</a:t>
                </a:r>
              </a:p>
              <a:p>
                <a:pPr marL="1485900" lvl="2" indent="-571500">
                  <a:buFont typeface="Arial" panose="020B0604020202020204" pitchFamily="34" charset="0"/>
                  <a:buChar char="•"/>
                </a:pPr>
                <a:r>
                  <a:rPr lang="en-US" sz="4000" dirty="0" smtClean="0"/>
                  <a:t>x= Real part</a:t>
                </a:r>
              </a:p>
              <a:p>
                <a:pPr marL="1485900" lvl="2" indent="-571500">
                  <a:buFont typeface="Arial" panose="020B0604020202020204" pitchFamily="34" charset="0"/>
                  <a:buChar char="•"/>
                </a:pPr>
                <a:r>
                  <a:rPr lang="en-US" sz="4000" dirty="0" smtClean="0"/>
                  <a:t>y= Imaginary Part </a:t>
                </a:r>
              </a:p>
              <a:p>
                <a:pPr marL="1485900" lvl="2" indent="-571500">
                  <a:buFont typeface="Arial" panose="020B0604020202020204" pitchFamily="34" charset="0"/>
                  <a:buChar char="•"/>
                </a:pPr>
                <a:r>
                  <a:rPr lang="en-US" sz="4000" dirty="0" err="1" smtClean="0"/>
                  <a:t>i</a:t>
                </a:r>
                <a:r>
                  <a:rPr lang="en-US" sz="4000" dirty="0" smtClean="0"/>
                  <a:t> is the imaginary unit with the property </a:t>
                </a:r>
                <a14:m>
                  <m:oMath xmlns:m="http://schemas.openxmlformats.org/officeDocument/2006/math">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𝑖</m:t>
                        </m:r>
                      </m:e>
                      <m:sup>
                        <m:r>
                          <a:rPr lang="en-US" sz="4000" b="0" i="1" smtClean="0">
                            <a:latin typeface="Cambria Math" panose="02040503050406030204" pitchFamily="18" charset="0"/>
                          </a:rPr>
                          <m:t>2</m:t>
                        </m:r>
                      </m:sup>
                    </m:sSup>
                  </m:oMath>
                </a14:m>
                <a:r>
                  <a:rPr lang="en-US" sz="4000" dirty="0" smtClean="0"/>
                  <a:t>=</a:t>
                </a:r>
                <a:r>
                  <a:rPr lang="en-US" sz="4000" dirty="0"/>
                  <a:t>-1</a:t>
                </a:r>
              </a:p>
              <a:p>
                <a:r>
                  <a:rPr lang="en-US" sz="4000" dirty="0" smtClean="0"/>
                  <a:t>The set of all Complex numbers is denoted by </a:t>
                </a:r>
                <a:r>
                  <a:rPr lang="en-US" sz="4000" dirty="0">
                    <a:latin typeface="Cambria Math" panose="02040503050406030204" pitchFamily="18" charset="0"/>
                    <a:ea typeface="Cambria Math" panose="02040503050406030204" pitchFamily="18" charset="0"/>
                  </a:rPr>
                  <a:t>ℂ</a:t>
                </a:r>
                <a:r>
                  <a:rPr lang="en-US" sz="4000" dirty="0" smtClean="0"/>
                  <a:t>.</a:t>
                </a:r>
              </a:p>
              <a:p>
                <a:endParaRPr lang="en-US" sz="4000" dirty="0" smtClean="0"/>
              </a:p>
              <a:p>
                <a:r>
                  <a:rPr lang="en-US" sz="4000" dirty="0" smtClean="0"/>
                  <a:t>Why do we need complex number?</a:t>
                </a:r>
              </a:p>
              <a:p>
                <a:r>
                  <a:rPr lang="en-US" sz="4000" dirty="0" smtClean="0"/>
                  <a:t>They allow us to solve equations like </a:t>
                </a:r>
                <a14:m>
                  <m:oMath xmlns:m="http://schemas.openxmlformats.org/officeDocument/2006/math">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𝑥</m:t>
                        </m:r>
                      </m:e>
                      <m:sup>
                        <m:r>
                          <a:rPr lang="en-US" sz="4000" b="0" i="1" smtClean="0">
                            <a:latin typeface="Cambria Math" panose="02040503050406030204" pitchFamily="18" charset="0"/>
                          </a:rPr>
                          <m:t>2</m:t>
                        </m:r>
                      </m:sup>
                    </m:sSup>
                    <m:r>
                      <a:rPr lang="en-US" sz="4000" b="0" i="1" smtClean="0">
                        <a:latin typeface="Cambria Math" panose="02040503050406030204" pitchFamily="18" charset="0"/>
                      </a:rPr>
                      <m:t>+1=0,</m:t>
                    </m:r>
                  </m:oMath>
                </a14:m>
                <a:r>
                  <a:rPr lang="en-US" sz="4000" dirty="0" smtClean="0"/>
                  <a:t> which have no real solution.</a:t>
                </a:r>
              </a:p>
            </p:txBody>
          </p:sp>
        </mc:Choice>
        <mc:Fallback>
          <p:sp>
            <p:nvSpPr>
              <p:cNvPr id="3" name="TextBox 2"/>
              <p:cNvSpPr txBox="1">
                <a:spLocks noRot="1" noChangeAspect="1" noMove="1" noResize="1" noEditPoints="1" noAdjustHandles="1" noChangeArrowheads="1" noChangeShapeType="1" noTextEdit="1"/>
              </p:cNvSpPr>
              <p:nvPr/>
            </p:nvSpPr>
            <p:spPr>
              <a:xfrm>
                <a:off x="1987550" y="2330450"/>
                <a:ext cx="15240000" cy="7478970"/>
              </a:xfrm>
              <a:prstGeom prst="rect">
                <a:avLst/>
              </a:prstGeom>
              <a:blipFill rotWithShape="0">
                <a:blip r:embed="rId4"/>
                <a:stretch>
                  <a:fillRect l="-1400" t="-1467" b="-2526"/>
                </a:stretch>
              </a:blipFill>
            </p:spPr>
            <p:txBody>
              <a:bodyPr/>
              <a:lstStyle/>
              <a:p>
                <a:r>
                  <a:rPr lang="en-US">
                    <a:noFill/>
                  </a:rPr>
                  <a:t> </a:t>
                </a:r>
              </a:p>
            </p:txBody>
          </p:sp>
        </mc:Fallback>
      </mc:AlternateContent>
    </p:spTree>
    <p:extLst>
      <p:ext uri="{BB962C8B-B14F-4D97-AF65-F5344CB8AC3E}">
        <p14:creationId xmlns:p14="http://schemas.microsoft.com/office/powerpoint/2010/main" val="921347120"/>
      </p:ext>
    </p:extLst>
  </p:cSld>
  <p:clrMapOvr>
    <a:masterClrMapping/>
  </p:clrMapOvr>
  <p:transition spd="slow">
    <p:split orient="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oft Background Vector Art, Icons, and Graphics for Free ...">
            <a:extLst>
              <a:ext uri="{FF2B5EF4-FFF2-40B4-BE49-F238E27FC236}">
                <a16:creationId xmlns="" xmlns:a16="http://schemas.microsoft.com/office/drawing/2014/main" id="{0D149911-58EC-4F9D-ABB9-730DDC629C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 y="-31750"/>
            <a:ext cx="18300700" cy="102997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 name="Rectangle 1"/>
          <p:cNvSpPr/>
          <p:nvPr/>
        </p:nvSpPr>
        <p:spPr>
          <a:xfrm>
            <a:off x="782782" y="520432"/>
            <a:ext cx="3429000" cy="1125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212850" y="707211"/>
            <a:ext cx="7620000" cy="769441"/>
          </a:xfrm>
          <a:prstGeom prst="rect">
            <a:avLst/>
          </a:prstGeom>
          <a:noFill/>
        </p:spPr>
        <p:txBody>
          <a:bodyPr wrap="square" rtlCol="0">
            <a:spAutoFit/>
          </a:bodyPr>
          <a:lstStyle/>
          <a:p>
            <a:r>
              <a:rPr lang="en-US" sz="4400" b="1" dirty="0" smtClean="0"/>
              <a:t>                   Properties</a:t>
            </a:r>
            <a:endParaRPr lang="en-US" sz="4400" b="1" dirty="0"/>
          </a:p>
        </p:txBody>
      </p:sp>
      <p:sp>
        <p:nvSpPr>
          <p:cNvPr id="7" name="Rectangle 6"/>
          <p:cNvSpPr/>
          <p:nvPr/>
        </p:nvSpPr>
        <p:spPr>
          <a:xfrm>
            <a:off x="1911350" y="4311650"/>
            <a:ext cx="14401800" cy="2895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 name="Rectangle 13"/>
              <p:cNvSpPr/>
              <p:nvPr/>
            </p:nvSpPr>
            <p:spPr>
              <a:xfrm>
                <a:off x="615950" y="1085850"/>
                <a:ext cx="14325600" cy="31530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4000" b="1" dirty="0" smtClean="0"/>
                  <a:t>Equality of complex number : </a:t>
                </a:r>
                <a:r>
                  <a:rPr lang="en-US" sz="4000" dirty="0" smtClean="0"/>
                  <a:t>Let two complex numbers </a:t>
                </a:r>
              </a:p>
              <a:p>
                <a14:m>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𝒛</m:t>
                        </m:r>
                      </m:e>
                      <m:sub>
                        <m:r>
                          <a:rPr lang="en-US" sz="4000" b="1" i="1" smtClean="0">
                            <a:latin typeface="Cambria Math" panose="02040503050406030204" pitchFamily="18" charset="0"/>
                          </a:rPr>
                          <m:t>𝟏</m:t>
                        </m:r>
                      </m:sub>
                    </m:sSub>
                    <m:r>
                      <a:rPr lang="en-US" sz="4000" b="1" i="1" smtClean="0">
                        <a:latin typeface="Cambria Math" panose="02040503050406030204" pitchFamily="18" charset="0"/>
                      </a:rPr>
                      <m:t>=</m:t>
                    </m:r>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𝒙</m:t>
                        </m:r>
                      </m:e>
                      <m:sub>
                        <m:r>
                          <a:rPr lang="en-US" sz="4000" b="1" i="1">
                            <a:latin typeface="Cambria Math" panose="02040503050406030204" pitchFamily="18" charset="0"/>
                          </a:rPr>
                          <m:t>𝟏</m:t>
                        </m:r>
                      </m:sub>
                    </m:sSub>
                  </m:oMath>
                </a14:m>
                <a:r>
                  <a:rPr lang="en-US" sz="4000" b="1" dirty="0" smtClean="0"/>
                  <a:t>+</a:t>
                </a:r>
                <a14:m>
                  <m:oMath xmlns:m="http://schemas.openxmlformats.org/officeDocument/2006/math">
                    <m:sSub>
                      <m:sSubPr>
                        <m:ctrlPr>
                          <a:rPr lang="en-US" sz="4000" b="1" i="1">
                            <a:latin typeface="Cambria Math" panose="02040503050406030204" pitchFamily="18" charset="0"/>
                          </a:rPr>
                        </m:ctrlPr>
                      </m:sSubPr>
                      <m:e>
                        <m:r>
                          <a:rPr lang="en-US" sz="4000" b="1" i="1" smtClean="0">
                            <a:latin typeface="Cambria Math" panose="02040503050406030204" pitchFamily="18" charset="0"/>
                          </a:rPr>
                          <m:t>𝒚</m:t>
                        </m:r>
                      </m:e>
                      <m:sub>
                        <m:r>
                          <a:rPr lang="en-US" sz="4000" b="1" i="1">
                            <a:latin typeface="Cambria Math" panose="02040503050406030204" pitchFamily="18" charset="0"/>
                          </a:rPr>
                          <m:t>𝟏</m:t>
                        </m:r>
                      </m:sub>
                    </m:sSub>
                    <m:r>
                      <a:rPr lang="en-US" sz="4000" b="1" i="1" smtClean="0">
                        <a:latin typeface="Cambria Math" panose="02040503050406030204" pitchFamily="18" charset="0"/>
                      </a:rPr>
                      <m:t> </m:t>
                    </m:r>
                    <m:r>
                      <a:rPr lang="en-US" sz="4000" b="1" i="1" smtClean="0">
                        <a:latin typeface="Cambria Math" panose="02040503050406030204" pitchFamily="18" charset="0"/>
                      </a:rPr>
                      <m:t>𝒂𝒏𝒅</m:t>
                    </m:r>
                    <m:r>
                      <a:rPr lang="en-US" sz="4000" b="1" i="1" smtClean="0">
                        <a:latin typeface="Cambria Math" panose="02040503050406030204" pitchFamily="18" charset="0"/>
                      </a:rPr>
                      <m:t> </m:t>
                    </m:r>
                    <m:sSub>
                      <m:sSubPr>
                        <m:ctrlPr>
                          <a:rPr lang="en-US" sz="4000" b="1" i="1">
                            <a:latin typeface="Cambria Math" panose="02040503050406030204" pitchFamily="18" charset="0"/>
                          </a:rPr>
                        </m:ctrlPr>
                      </m:sSubPr>
                      <m:e>
                        <m:r>
                          <a:rPr lang="en-US" sz="4000" b="1" i="1">
                            <a:latin typeface="Cambria Math" panose="02040503050406030204" pitchFamily="18" charset="0"/>
                          </a:rPr>
                          <m:t>𝒛</m:t>
                        </m:r>
                      </m:e>
                      <m:sub>
                        <m:r>
                          <a:rPr lang="en-US" sz="4000" b="1" i="1" smtClean="0">
                            <a:latin typeface="Cambria Math" panose="02040503050406030204" pitchFamily="18" charset="0"/>
                          </a:rPr>
                          <m:t>𝟐</m:t>
                        </m:r>
                        <m:r>
                          <a:rPr lang="en-US" sz="4000" b="1" i="1" smtClean="0">
                            <a:latin typeface="Cambria Math" panose="02040503050406030204" pitchFamily="18" charset="0"/>
                          </a:rPr>
                          <m:t>=</m:t>
                        </m:r>
                      </m:sub>
                    </m:sSub>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𝒙</m:t>
                        </m:r>
                      </m:e>
                      <m:sub>
                        <m:r>
                          <a:rPr lang="en-US" sz="4000" b="1" i="1" smtClean="0">
                            <a:latin typeface="Cambria Math" panose="02040503050406030204" pitchFamily="18" charset="0"/>
                          </a:rPr>
                          <m:t>𝟐</m:t>
                        </m:r>
                        <m:r>
                          <a:rPr lang="en-US" sz="4000" b="1" i="1" smtClean="0">
                            <a:latin typeface="Cambria Math" panose="02040503050406030204" pitchFamily="18" charset="0"/>
                          </a:rPr>
                          <m:t>+</m:t>
                        </m:r>
                      </m:sub>
                    </m:sSub>
                    <m:sSub>
                      <m:sSubPr>
                        <m:ctrlPr>
                          <a:rPr lang="en-US" sz="4000" b="1" i="1">
                            <a:latin typeface="Cambria Math" panose="02040503050406030204" pitchFamily="18" charset="0"/>
                          </a:rPr>
                        </m:ctrlPr>
                      </m:sSubPr>
                      <m:e>
                        <m:r>
                          <a:rPr lang="en-US" sz="4000" b="1" i="1" smtClean="0">
                            <a:latin typeface="Cambria Math" panose="02040503050406030204" pitchFamily="18" charset="0"/>
                          </a:rPr>
                          <m:t>𝒚</m:t>
                        </m:r>
                      </m:e>
                      <m:sub>
                        <m:r>
                          <a:rPr lang="en-US" sz="4000" b="1" i="1" smtClean="0">
                            <a:latin typeface="Cambria Math" panose="02040503050406030204" pitchFamily="18" charset="0"/>
                          </a:rPr>
                          <m:t>𝟐</m:t>
                        </m:r>
                      </m:sub>
                    </m:sSub>
                  </m:oMath>
                </a14:m>
                <a:r>
                  <a:rPr lang="en-US" sz="4000" b="1" dirty="0" smtClean="0"/>
                  <a:t> </a:t>
                </a:r>
              </a:p>
              <a:p>
                <a:r>
                  <a:rPr lang="en-US" sz="4000" dirty="0" smtClean="0"/>
                  <a:t>Both are equal when </a:t>
                </a:r>
                <a14:m>
                  <m:oMath xmlns:m="http://schemas.openxmlformats.org/officeDocument/2006/math">
                    <m:sSub>
                      <m:sSubPr>
                        <m:ctrlPr>
                          <a:rPr lang="en-US" sz="4000" i="1">
                            <a:latin typeface="Cambria Math" panose="02040503050406030204" pitchFamily="18" charset="0"/>
                          </a:rPr>
                        </m:ctrlPr>
                      </m:sSubPr>
                      <m:e>
                        <m:r>
                          <a:rPr lang="en-US" sz="4000">
                            <a:latin typeface="Cambria Math" panose="02040503050406030204" pitchFamily="18" charset="0"/>
                          </a:rPr>
                          <m:t>𝒙</m:t>
                        </m:r>
                      </m:e>
                      <m:sub>
                        <m:r>
                          <a:rPr lang="en-US" sz="4000">
                            <a:latin typeface="Cambria Math" panose="02040503050406030204" pitchFamily="18" charset="0"/>
                          </a:rPr>
                          <m:t>𝟏</m:t>
                        </m:r>
                      </m:sub>
                    </m:sSub>
                    <m:r>
                      <a:rPr lang="en-US" sz="4000">
                        <a:latin typeface="Cambria Math" panose="02040503050406030204" pitchFamily="18" charset="0"/>
                      </a:rPr>
                      <m:t>=</m:t>
                    </m:r>
                    <m:sSub>
                      <m:sSubPr>
                        <m:ctrlPr>
                          <a:rPr lang="en-US" sz="4000" i="1">
                            <a:latin typeface="Cambria Math" panose="02040503050406030204" pitchFamily="18" charset="0"/>
                          </a:rPr>
                        </m:ctrlPr>
                      </m:sSubPr>
                      <m:e>
                        <m:r>
                          <a:rPr lang="en-US" sz="4000">
                            <a:latin typeface="Cambria Math" panose="02040503050406030204" pitchFamily="18" charset="0"/>
                          </a:rPr>
                          <m:t>𝒙</m:t>
                        </m:r>
                      </m:e>
                      <m:sub>
                        <m:r>
                          <a:rPr lang="en-US" sz="4000">
                            <a:latin typeface="Cambria Math" panose="02040503050406030204" pitchFamily="18" charset="0"/>
                          </a:rPr>
                          <m:t>𝟐</m:t>
                        </m:r>
                        <m:r>
                          <a:rPr lang="en-US" sz="4000">
                            <a:latin typeface="Cambria Math" panose="02040503050406030204" pitchFamily="18" charset="0"/>
                          </a:rPr>
                          <m:t>  </m:t>
                        </m:r>
                        <m:r>
                          <a:rPr lang="en-US" sz="4000">
                            <a:latin typeface="Cambria Math" panose="02040503050406030204" pitchFamily="18" charset="0"/>
                          </a:rPr>
                          <m:t>𝒂𝒏𝒅</m:t>
                        </m:r>
                        <m:r>
                          <a:rPr lang="en-US" sz="4000" b="0" i="0" smtClean="0">
                            <a:latin typeface="Cambria Math" panose="02040503050406030204" pitchFamily="18" charset="0"/>
                          </a:rPr>
                          <m:t> </m:t>
                        </m:r>
                        <m:r>
                          <a:rPr lang="en-US" sz="4000">
                            <a:latin typeface="Cambria Math" panose="02040503050406030204" pitchFamily="18" charset="0"/>
                          </a:rPr>
                          <m:t> </m:t>
                        </m:r>
                      </m:sub>
                    </m:sSub>
                    <m:sSub>
                      <m:sSubPr>
                        <m:ctrlPr>
                          <a:rPr lang="en-US" sz="4000" b="1" i="1">
                            <a:latin typeface="Cambria Math" panose="02040503050406030204" pitchFamily="18" charset="0"/>
                          </a:rPr>
                        </m:ctrlPr>
                      </m:sSubPr>
                      <m:e>
                        <m:r>
                          <a:rPr lang="en-US" sz="4000" b="1" i="1" smtClean="0">
                            <a:latin typeface="Cambria Math" panose="02040503050406030204" pitchFamily="18" charset="0"/>
                          </a:rPr>
                          <m:t>𝒚</m:t>
                        </m:r>
                      </m:e>
                      <m:sub>
                        <m:r>
                          <a:rPr lang="en-US" sz="4000" b="1" i="1">
                            <a:latin typeface="Cambria Math" panose="02040503050406030204" pitchFamily="18" charset="0"/>
                          </a:rPr>
                          <m:t>𝟏</m:t>
                        </m:r>
                      </m:sub>
                    </m:sSub>
                    <m:sSub>
                      <m:sSubPr>
                        <m:ctrlPr>
                          <a:rPr lang="en-US" sz="4000" b="1" i="1">
                            <a:latin typeface="Cambria Math" panose="02040503050406030204" pitchFamily="18" charset="0"/>
                          </a:rPr>
                        </m:ctrlPr>
                      </m:sSubPr>
                      <m:e>
                        <m:r>
                          <a:rPr lang="en-US" sz="4000" b="1" i="1" smtClean="0">
                            <a:latin typeface="Cambria Math" panose="02040503050406030204" pitchFamily="18" charset="0"/>
                          </a:rPr>
                          <m:t>=</m:t>
                        </m:r>
                        <m:r>
                          <a:rPr lang="en-US" sz="4000" b="1" i="1" smtClean="0">
                            <a:latin typeface="Cambria Math" panose="02040503050406030204" pitchFamily="18" charset="0"/>
                          </a:rPr>
                          <m:t>𝒚</m:t>
                        </m:r>
                      </m:e>
                      <m:sub>
                        <m:r>
                          <a:rPr lang="en-US" sz="4000" b="1" i="1" smtClean="0">
                            <a:latin typeface="Cambria Math" panose="02040503050406030204" pitchFamily="18" charset="0"/>
                          </a:rPr>
                          <m:t>𝟐</m:t>
                        </m:r>
                      </m:sub>
                    </m:sSub>
                  </m:oMath>
                </a14:m>
                <a:endParaRPr lang="en-US" sz="4000" dirty="0"/>
              </a:p>
            </p:txBody>
          </p:sp>
        </mc:Choice>
        <mc:Fallback xmlns="">
          <p:sp>
            <p:nvSpPr>
              <p:cNvPr id="14" name="Rectangle 13"/>
              <p:cNvSpPr>
                <a:spLocks noRot="1" noChangeAspect="1" noMove="1" noResize="1" noEditPoints="1" noAdjustHandles="1" noChangeArrowheads="1" noChangeShapeType="1" noTextEdit="1"/>
              </p:cNvSpPr>
              <p:nvPr/>
            </p:nvSpPr>
            <p:spPr>
              <a:xfrm>
                <a:off x="615950" y="1085850"/>
                <a:ext cx="14325600" cy="3153000"/>
              </a:xfrm>
              <a:prstGeom prst="rect">
                <a:avLst/>
              </a:prstGeom>
              <a:blipFill rotWithShape="0">
                <a:blip r:embed="rId3"/>
                <a:stretch>
                  <a:fillRect l="-148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615950" y="4037242"/>
                <a:ext cx="12268200" cy="192065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4000" b="1" dirty="0" smtClean="0"/>
                  <a:t>Modulas of complex number : </a:t>
                </a:r>
                <a:r>
                  <a:rPr lang="en-US" sz="4000" dirty="0" smtClean="0"/>
                  <a:t>Let z=</a:t>
                </a:r>
                <a:r>
                  <a:rPr lang="en-US" sz="4000" dirty="0" err="1" smtClean="0"/>
                  <a:t>x+iy</a:t>
                </a:r>
                <a:r>
                  <a:rPr lang="en-US" sz="4000" dirty="0" smtClean="0"/>
                  <a:t> be the complex number. Then |z|=</a:t>
                </a:r>
                <a14:m>
                  <m:oMath xmlns:m="http://schemas.openxmlformats.org/officeDocument/2006/math">
                    <m:rad>
                      <m:radPr>
                        <m:degHide m:val="on"/>
                        <m:ctrlPr>
                          <a:rPr lang="en-US" sz="4000" b="0" i="1" smtClean="0">
                            <a:latin typeface="Cambria Math" panose="02040503050406030204" pitchFamily="18" charset="0"/>
                            <a:ea typeface="Cambria Math" panose="02040503050406030204" pitchFamily="18" charset="0"/>
                          </a:rPr>
                        </m:ctrlPr>
                      </m:radPr>
                      <m:deg/>
                      <m:e>
                        <m:sSup>
                          <m:sSupPr>
                            <m:ctrlPr>
                              <a:rPr lang="en-US" sz="4000" b="0" i="1" smtClean="0">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𝑥</m:t>
                            </m:r>
                          </m:e>
                          <m:sup>
                            <m:r>
                              <a:rPr lang="en-US" sz="4000" b="0" i="1" smtClean="0">
                                <a:latin typeface="Cambria Math" panose="02040503050406030204" pitchFamily="18" charset="0"/>
                                <a:ea typeface="Cambria Math" panose="02040503050406030204" pitchFamily="18" charset="0"/>
                              </a:rPr>
                              <m:t>2</m:t>
                            </m:r>
                          </m:sup>
                        </m:sSup>
                        <m:r>
                          <a:rPr lang="en-US" sz="4000" b="0" i="1" smtClean="0">
                            <a:latin typeface="Cambria Math" panose="02040503050406030204" pitchFamily="18" charset="0"/>
                            <a:ea typeface="Cambria Math" panose="02040503050406030204" pitchFamily="18" charset="0"/>
                          </a:rPr>
                          <m:t>+</m:t>
                        </m:r>
                        <m:sSup>
                          <m:sSupPr>
                            <m:ctrlPr>
                              <a:rPr lang="en-US" sz="4000" b="0" i="1" smtClean="0">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𝑦</m:t>
                            </m:r>
                          </m:e>
                          <m:sup>
                            <m:r>
                              <a:rPr lang="en-US" sz="4000" b="0" i="1" smtClean="0">
                                <a:latin typeface="Cambria Math" panose="02040503050406030204" pitchFamily="18" charset="0"/>
                                <a:ea typeface="Cambria Math" panose="02040503050406030204" pitchFamily="18" charset="0"/>
                              </a:rPr>
                              <m:t>2</m:t>
                            </m:r>
                          </m:sup>
                        </m:sSup>
                      </m:e>
                    </m:rad>
                  </m:oMath>
                </a14:m>
                <a:endParaRPr lang="en-US" sz="4000" dirty="0" smtClean="0"/>
              </a:p>
              <a:p>
                <a:endParaRPr lang="en-US" sz="4000" dirty="0"/>
              </a:p>
            </p:txBody>
          </p:sp>
        </mc:Choice>
        <mc:Fallback xmlns="">
          <p:sp>
            <p:nvSpPr>
              <p:cNvPr id="18" name="Rectangle 17"/>
              <p:cNvSpPr>
                <a:spLocks noRot="1" noChangeAspect="1" noMove="1" noResize="1" noEditPoints="1" noAdjustHandles="1" noChangeArrowheads="1" noChangeShapeType="1" noTextEdit="1"/>
              </p:cNvSpPr>
              <p:nvPr/>
            </p:nvSpPr>
            <p:spPr>
              <a:xfrm>
                <a:off x="615950" y="4037242"/>
                <a:ext cx="12268200" cy="1920650"/>
              </a:xfrm>
              <a:prstGeom prst="rect">
                <a:avLst/>
              </a:prstGeom>
              <a:blipFill rotWithShape="0">
                <a:blip r:embed="rId4"/>
                <a:stretch>
                  <a:fillRect l="-1739" t="-8889" r="-203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615950" y="5575300"/>
                <a:ext cx="17100550" cy="30480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4000" b="1" dirty="0" smtClean="0"/>
                  <a:t>Argument of complex number : </a:t>
                </a:r>
                <a:r>
                  <a:rPr lang="en-US" sz="4000" dirty="0" smtClean="0"/>
                  <a:t>If z=</a:t>
                </a:r>
                <a:r>
                  <a:rPr lang="en-US" sz="4000" dirty="0" err="1" smtClean="0"/>
                  <a:t>x+iy</a:t>
                </a:r>
                <a:r>
                  <a:rPr lang="en-US" sz="4000" dirty="0" smtClean="0"/>
                  <a:t> be the any complex number then </a:t>
                </a:r>
                <a:r>
                  <a:rPr lang="en-US" sz="4000" dirty="0" err="1" smtClean="0"/>
                  <a:t>arg</a:t>
                </a:r>
                <a:r>
                  <a:rPr lang="en-US" sz="4000" dirty="0" smtClean="0"/>
                  <a:t> z=</a:t>
                </a:r>
                <a14:m>
                  <m:oMath xmlns:m="http://schemas.openxmlformats.org/officeDocument/2006/math">
                    <m:func>
                      <m:funcPr>
                        <m:ctrlPr>
                          <a:rPr lang="en-US" sz="4000" b="0" i="1" smtClean="0">
                            <a:latin typeface="Cambria Math" panose="02040503050406030204" pitchFamily="18" charset="0"/>
                          </a:rPr>
                        </m:ctrlPr>
                      </m:funcPr>
                      <m:fName>
                        <m:sSup>
                          <m:sSupPr>
                            <m:ctrlPr>
                              <a:rPr lang="en-US" sz="4000" b="0" i="1" smtClean="0">
                                <a:latin typeface="Cambria Math" panose="02040503050406030204" pitchFamily="18" charset="0"/>
                              </a:rPr>
                            </m:ctrlPr>
                          </m:sSupPr>
                          <m:e>
                            <m:r>
                              <m:rPr>
                                <m:sty m:val="p"/>
                              </m:rPr>
                              <a:rPr lang="en-US" sz="4000" b="0" i="0" smtClean="0">
                                <a:latin typeface="Cambria Math" panose="02040503050406030204" pitchFamily="18" charset="0"/>
                              </a:rPr>
                              <m:t>tan</m:t>
                            </m:r>
                          </m:e>
                          <m:sup>
                            <m:r>
                              <a:rPr lang="en-US" sz="4000" b="0" i="1" smtClean="0">
                                <a:latin typeface="Cambria Math" panose="02040503050406030204" pitchFamily="18" charset="0"/>
                              </a:rPr>
                              <m:t>−1</m:t>
                            </m:r>
                          </m:sup>
                        </m:sSup>
                      </m:fName>
                      <m:e>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r>
                              <a:rPr lang="en-US" sz="4000" b="0" i="1" smtClean="0">
                                <a:latin typeface="Cambria Math" panose="02040503050406030204" pitchFamily="18" charset="0"/>
                              </a:rPr>
                              <m:t>𝑦</m:t>
                            </m:r>
                          </m:num>
                          <m:den>
                            <m:r>
                              <a:rPr lang="en-US" sz="4000" b="0" i="1" smtClean="0">
                                <a:latin typeface="Cambria Math" panose="02040503050406030204" pitchFamily="18" charset="0"/>
                              </a:rPr>
                              <m:t>𝑥</m:t>
                            </m:r>
                          </m:den>
                        </m:f>
                        <m:r>
                          <a:rPr lang="en-US" sz="4000" b="0" i="1" smtClean="0">
                            <a:latin typeface="Cambria Math" panose="02040503050406030204" pitchFamily="18" charset="0"/>
                          </a:rPr>
                          <m:t>)</m:t>
                        </m:r>
                      </m:e>
                    </m:func>
                  </m:oMath>
                </a14:m>
                <a:r>
                  <a:rPr lang="en-US" sz="4000" dirty="0" smtClean="0"/>
                  <a:t> </a:t>
                </a:r>
              </a:p>
              <a:p>
                <a:r>
                  <a:rPr lang="en-US" sz="4000" dirty="0" smtClean="0">
                    <a:latin typeface="Cambria" panose="02040503050406030204" pitchFamily="18" charset="0"/>
                    <a:ea typeface="Cambria" panose="02040503050406030204" pitchFamily="18" charset="0"/>
                  </a:rPr>
                  <a:t>∴Principal Argument =</a:t>
                </a:r>
                <a:r>
                  <a:rPr lang="en-US" sz="4000" dirty="0" err="1" smtClean="0">
                    <a:latin typeface="Cambria" panose="02040503050406030204" pitchFamily="18" charset="0"/>
                    <a:ea typeface="Cambria" panose="02040503050406030204" pitchFamily="18" charset="0"/>
                  </a:rPr>
                  <a:t>arg</a:t>
                </a:r>
                <a:r>
                  <a:rPr lang="en-US" sz="4000" dirty="0" smtClean="0">
                    <a:latin typeface="Cambria" panose="02040503050406030204" pitchFamily="18" charset="0"/>
                    <a:ea typeface="Cambria" panose="02040503050406030204" pitchFamily="18" charset="0"/>
                  </a:rPr>
                  <a:t> z=</a:t>
                </a:r>
                <a14:m>
                  <m:oMath xmlns:m="http://schemas.openxmlformats.org/officeDocument/2006/math">
                    <m:func>
                      <m:funcPr>
                        <m:ctrlPr>
                          <a:rPr lang="en-US" sz="4000" i="1">
                            <a:latin typeface="Cambria Math" panose="02040503050406030204" pitchFamily="18" charset="0"/>
                          </a:rPr>
                        </m:ctrlPr>
                      </m:funcPr>
                      <m:fName>
                        <m:sSup>
                          <m:sSupPr>
                            <m:ctrlPr>
                              <a:rPr lang="en-US" sz="4000" i="1">
                                <a:latin typeface="Cambria Math" panose="02040503050406030204" pitchFamily="18" charset="0"/>
                              </a:rPr>
                            </m:ctrlPr>
                          </m:sSupPr>
                          <m:e>
                            <m:r>
                              <m:rPr>
                                <m:sty m:val="p"/>
                              </m:rPr>
                              <a:rPr lang="en-US" sz="4000">
                                <a:latin typeface="Cambria Math" panose="02040503050406030204" pitchFamily="18" charset="0"/>
                              </a:rPr>
                              <m:t>tan</m:t>
                            </m:r>
                          </m:e>
                          <m:sup>
                            <m:r>
                              <a:rPr lang="en-US" sz="4000" i="1">
                                <a:latin typeface="Cambria Math" panose="02040503050406030204" pitchFamily="18" charset="0"/>
                              </a:rPr>
                              <m:t>−1</m:t>
                            </m:r>
                          </m:sup>
                        </m:sSup>
                      </m:fName>
                      <m:e>
                        <m:r>
                          <a:rPr lang="en-US" sz="4000" i="1">
                            <a:latin typeface="Cambria Math" panose="02040503050406030204" pitchFamily="18" charset="0"/>
                          </a:rPr>
                          <m:t>(</m:t>
                        </m:r>
                        <m:f>
                          <m:fPr>
                            <m:ctrlPr>
                              <a:rPr lang="en-US" sz="4000" i="1">
                                <a:latin typeface="Cambria Math" panose="02040503050406030204" pitchFamily="18" charset="0"/>
                              </a:rPr>
                            </m:ctrlPr>
                          </m:fPr>
                          <m:num>
                            <m:r>
                              <a:rPr lang="en-US" sz="4000" i="1">
                                <a:latin typeface="Cambria Math" panose="02040503050406030204" pitchFamily="18" charset="0"/>
                              </a:rPr>
                              <m:t>𝑦</m:t>
                            </m:r>
                          </m:num>
                          <m:den>
                            <m:r>
                              <a:rPr lang="en-US" sz="4000" i="1">
                                <a:latin typeface="Cambria Math" panose="02040503050406030204" pitchFamily="18" charset="0"/>
                              </a:rPr>
                              <m:t>𝑥</m:t>
                            </m:r>
                          </m:den>
                        </m:f>
                        <m:r>
                          <a:rPr lang="en-US" sz="4000" i="1">
                            <a:latin typeface="Cambria Math" panose="02040503050406030204" pitchFamily="18" charset="0"/>
                          </a:rPr>
                          <m:t>)</m:t>
                        </m:r>
                      </m:e>
                    </m:func>
                  </m:oMath>
                </a14:m>
                <a:endParaRPr lang="en-US" sz="4000" dirty="0" smtClean="0"/>
              </a:p>
              <a:p>
                <a:r>
                  <a:rPr lang="en-US" sz="4000" dirty="0" smtClean="0"/>
                  <a:t>Then general argument is, 2n</a:t>
                </a:r>
                <a:r>
                  <a:rPr lang="el-GR" sz="4000" dirty="0" smtClean="0">
                    <a:latin typeface="CommercialScript BT" panose="03030803040807090C04" pitchFamily="66" charset="0"/>
                    <a:ea typeface="Cambria Math" panose="02040503050406030204" pitchFamily="18" charset="0"/>
                  </a:rPr>
                  <a:t>π</a:t>
                </a:r>
                <a:r>
                  <a:rPr lang="en-US" sz="4000" dirty="0" smtClean="0"/>
                  <a:t>+ principal </a:t>
                </a:r>
                <a:r>
                  <a:rPr lang="en-US" sz="4000" dirty="0"/>
                  <a:t>Argument </a:t>
                </a:r>
              </a:p>
            </p:txBody>
          </p:sp>
        </mc:Choice>
        <mc:Fallback xmlns="">
          <p:sp>
            <p:nvSpPr>
              <p:cNvPr id="21" name="Rectangle 20"/>
              <p:cNvSpPr>
                <a:spLocks noRot="1" noChangeAspect="1" noMove="1" noResize="1" noEditPoints="1" noAdjustHandles="1" noChangeArrowheads="1" noChangeShapeType="1" noTextEdit="1"/>
              </p:cNvSpPr>
              <p:nvPr/>
            </p:nvSpPr>
            <p:spPr>
              <a:xfrm>
                <a:off x="615950" y="5575300"/>
                <a:ext cx="17100550" cy="3048000"/>
              </a:xfrm>
              <a:prstGeom prst="rect">
                <a:avLst/>
              </a:prstGeom>
              <a:blipFill rotWithShape="0">
                <a:blip r:embed="rId5"/>
                <a:stretch>
                  <a:fillRect l="-1248" t="-2000" b="-700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730250" y="8576700"/>
                <a:ext cx="16764000" cy="177335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4000" b="1" dirty="0" smtClean="0"/>
                  <a:t>Addition of complex number : </a:t>
                </a:r>
                <a:r>
                  <a:rPr lang="en-US" sz="4000" dirty="0" smtClean="0"/>
                  <a:t>Let </a:t>
                </a:r>
                <a14:m>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𝒛</m:t>
                        </m:r>
                      </m:e>
                      <m:sub>
                        <m:r>
                          <a:rPr lang="en-US" sz="4000" b="1" i="1" smtClean="0">
                            <a:latin typeface="Cambria Math" panose="02040503050406030204" pitchFamily="18" charset="0"/>
                          </a:rPr>
                          <m:t>𝟏</m:t>
                        </m:r>
                      </m:sub>
                    </m:sSub>
                    <m:r>
                      <a:rPr lang="en-US" sz="4000" b="1" i="1" smtClean="0">
                        <a:latin typeface="Cambria Math" panose="02040503050406030204" pitchFamily="18" charset="0"/>
                      </a:rPr>
                      <m:t>=</m:t>
                    </m:r>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𝒙</m:t>
                        </m:r>
                      </m:e>
                      <m:sub>
                        <m:r>
                          <a:rPr lang="en-US" sz="4000" b="1" i="1">
                            <a:latin typeface="Cambria Math" panose="02040503050406030204" pitchFamily="18" charset="0"/>
                          </a:rPr>
                          <m:t>𝟏</m:t>
                        </m:r>
                      </m:sub>
                    </m:sSub>
                  </m:oMath>
                </a14:m>
                <a:r>
                  <a:rPr lang="en-US" sz="4000" b="1" dirty="0" smtClean="0"/>
                  <a:t>+</a:t>
                </a:r>
                <a14:m>
                  <m:oMath xmlns:m="http://schemas.openxmlformats.org/officeDocument/2006/math">
                    <m:sSub>
                      <m:sSubPr>
                        <m:ctrlPr>
                          <a:rPr lang="en-US" sz="4000" b="1" i="1">
                            <a:latin typeface="Cambria Math" panose="02040503050406030204" pitchFamily="18" charset="0"/>
                          </a:rPr>
                        </m:ctrlPr>
                      </m:sSubPr>
                      <m:e>
                        <m:r>
                          <a:rPr lang="en-US" sz="4000" b="1" i="1" smtClean="0">
                            <a:latin typeface="Cambria Math" panose="02040503050406030204" pitchFamily="18" charset="0"/>
                          </a:rPr>
                          <m:t>𝒚</m:t>
                        </m:r>
                      </m:e>
                      <m:sub>
                        <m:r>
                          <a:rPr lang="en-US" sz="4000" b="1" i="1">
                            <a:latin typeface="Cambria Math" panose="02040503050406030204" pitchFamily="18" charset="0"/>
                          </a:rPr>
                          <m:t>𝟏</m:t>
                        </m:r>
                      </m:sub>
                    </m:sSub>
                    <m:r>
                      <a:rPr lang="en-US" sz="4000" b="1" i="1" smtClean="0">
                        <a:latin typeface="Cambria Math" panose="02040503050406030204" pitchFamily="18" charset="0"/>
                      </a:rPr>
                      <m:t> </m:t>
                    </m:r>
                    <m:r>
                      <a:rPr lang="en-US" sz="4000" b="1" i="1" smtClean="0">
                        <a:latin typeface="Cambria Math" panose="02040503050406030204" pitchFamily="18" charset="0"/>
                      </a:rPr>
                      <m:t>𝒂𝒏𝒅</m:t>
                    </m:r>
                    <m:r>
                      <a:rPr lang="en-US" sz="4000" b="1" i="1" smtClean="0">
                        <a:latin typeface="Cambria Math" panose="02040503050406030204" pitchFamily="18" charset="0"/>
                      </a:rPr>
                      <m:t> </m:t>
                    </m:r>
                    <m:sSub>
                      <m:sSubPr>
                        <m:ctrlPr>
                          <a:rPr lang="en-US" sz="4000" b="1" i="1">
                            <a:latin typeface="Cambria Math" panose="02040503050406030204" pitchFamily="18" charset="0"/>
                          </a:rPr>
                        </m:ctrlPr>
                      </m:sSubPr>
                      <m:e>
                        <m:r>
                          <a:rPr lang="en-US" sz="4000" b="1" i="1">
                            <a:latin typeface="Cambria Math" panose="02040503050406030204" pitchFamily="18" charset="0"/>
                          </a:rPr>
                          <m:t>𝒛</m:t>
                        </m:r>
                      </m:e>
                      <m:sub>
                        <m:r>
                          <a:rPr lang="en-US" sz="4000" b="1" i="1" smtClean="0">
                            <a:latin typeface="Cambria Math" panose="02040503050406030204" pitchFamily="18" charset="0"/>
                          </a:rPr>
                          <m:t>𝟐</m:t>
                        </m:r>
                        <m:r>
                          <a:rPr lang="en-US" sz="4000" b="1" i="1" smtClean="0">
                            <a:latin typeface="Cambria Math" panose="02040503050406030204" pitchFamily="18" charset="0"/>
                          </a:rPr>
                          <m:t>=</m:t>
                        </m:r>
                      </m:sub>
                    </m:sSub>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𝒙</m:t>
                        </m:r>
                      </m:e>
                      <m:sub>
                        <m:r>
                          <a:rPr lang="en-US" sz="4000" b="1" i="1" smtClean="0">
                            <a:latin typeface="Cambria Math" panose="02040503050406030204" pitchFamily="18" charset="0"/>
                          </a:rPr>
                          <m:t>𝟐</m:t>
                        </m:r>
                        <m:r>
                          <a:rPr lang="en-US" sz="4000" b="1" i="1" smtClean="0">
                            <a:latin typeface="Cambria Math" panose="02040503050406030204" pitchFamily="18" charset="0"/>
                          </a:rPr>
                          <m:t>+</m:t>
                        </m:r>
                      </m:sub>
                    </m:sSub>
                    <m:sSub>
                      <m:sSubPr>
                        <m:ctrlPr>
                          <a:rPr lang="en-US" sz="4000" b="1" i="1">
                            <a:latin typeface="Cambria Math" panose="02040503050406030204" pitchFamily="18" charset="0"/>
                          </a:rPr>
                        </m:ctrlPr>
                      </m:sSubPr>
                      <m:e>
                        <m:r>
                          <a:rPr lang="en-US" sz="4000" b="1" i="1" smtClean="0">
                            <a:latin typeface="Cambria Math" panose="02040503050406030204" pitchFamily="18" charset="0"/>
                          </a:rPr>
                          <m:t>𝒚</m:t>
                        </m:r>
                      </m:e>
                      <m:sub>
                        <m:r>
                          <a:rPr lang="en-US" sz="4000" b="1" i="1" smtClean="0">
                            <a:latin typeface="Cambria Math" panose="02040503050406030204" pitchFamily="18" charset="0"/>
                          </a:rPr>
                          <m:t>𝟐</m:t>
                        </m:r>
                      </m:sub>
                    </m:sSub>
                  </m:oMath>
                </a14:m>
                <a:r>
                  <a:rPr lang="en-US" sz="4000" b="1" dirty="0" smtClean="0"/>
                  <a:t> </a:t>
                </a:r>
              </a:p>
              <a:p>
                <a14:m>
                  <m:oMath xmlns:m="http://schemas.openxmlformats.org/officeDocument/2006/math">
                    <m:sSub>
                      <m:sSubPr>
                        <m:ctrlPr>
                          <a:rPr lang="en-US" sz="4000" i="1">
                            <a:latin typeface="Cambria Math" panose="02040503050406030204" pitchFamily="18" charset="0"/>
                          </a:rPr>
                        </m:ctrlPr>
                      </m:sSubPr>
                      <m:e>
                        <m:r>
                          <a:rPr lang="en-US" sz="4000" b="0" i="0" smtClean="0">
                            <a:latin typeface="Cambria Math" panose="02040503050406030204" pitchFamily="18" charset="0"/>
                          </a:rPr>
                          <m:t>(</m:t>
                        </m:r>
                        <m:r>
                          <a:rPr lang="en-US" sz="4000" b="0" i="1" smtClean="0">
                            <a:latin typeface="Cambria Math" panose="02040503050406030204" pitchFamily="18" charset="0"/>
                          </a:rPr>
                          <m:t>𝑧</m:t>
                        </m:r>
                      </m:e>
                      <m:sub>
                        <m:r>
                          <a:rPr lang="en-US" sz="4000">
                            <a:latin typeface="Cambria Math" panose="02040503050406030204" pitchFamily="18" charset="0"/>
                          </a:rPr>
                          <m:t>𝟏</m:t>
                        </m:r>
                        <m:r>
                          <a:rPr lang="en-US" sz="4000" b="0" i="1" smtClean="0">
                            <a:latin typeface="Cambria Math" panose="02040503050406030204" pitchFamily="18" charset="0"/>
                          </a:rPr>
                          <m:t> </m:t>
                        </m:r>
                      </m:sub>
                    </m:sSub>
                    <m:sSub>
                      <m:sSubPr>
                        <m:ctrlPr>
                          <a:rPr lang="en-US" sz="4000" i="1">
                            <a:latin typeface="Cambria Math" panose="02040503050406030204" pitchFamily="18" charset="0"/>
                          </a:rPr>
                        </m:ctrlPr>
                      </m:sSubPr>
                      <m:e>
                        <m:r>
                          <a:rPr lang="en-US" sz="4000" b="0" i="1" smtClean="0">
                            <a:latin typeface="Cambria Math" panose="02040503050406030204" pitchFamily="18" charset="0"/>
                          </a:rPr>
                          <m:t>+ </m:t>
                        </m:r>
                        <m:r>
                          <a:rPr lang="en-US" sz="4000" b="0" i="1" smtClean="0">
                            <a:latin typeface="Cambria Math" panose="02040503050406030204" pitchFamily="18" charset="0"/>
                          </a:rPr>
                          <m:t>𝑧</m:t>
                        </m:r>
                      </m:e>
                      <m:sub>
                        <m:r>
                          <a:rPr lang="en-US" sz="4000" b="0" i="1" smtClean="0">
                            <a:latin typeface="Cambria Math" panose="02040503050406030204" pitchFamily="18" charset="0"/>
                          </a:rPr>
                          <m:t>2</m:t>
                        </m:r>
                      </m:sub>
                    </m:sSub>
                    <m:r>
                      <a:rPr lang="en-US" sz="4000" i="1">
                        <a:latin typeface="Cambria Math" panose="02040503050406030204" pitchFamily="18" charset="0"/>
                      </a:rPr>
                      <m:t> </m:t>
                    </m:r>
                  </m:oMath>
                </a14:m>
                <a:r>
                  <a:rPr lang="en-US" sz="4000" dirty="0" smtClean="0"/>
                  <a:t>)=(</a:t>
                </a:r>
                <a14:m>
                  <m:oMath xmlns:m="http://schemas.openxmlformats.org/officeDocument/2006/math">
                    <m:sSub>
                      <m:sSubPr>
                        <m:ctrlPr>
                          <a:rPr lang="en-US" sz="4000" i="1">
                            <a:latin typeface="Cambria Math" panose="02040503050406030204" pitchFamily="18" charset="0"/>
                          </a:rPr>
                        </m:ctrlPr>
                      </m:sSubPr>
                      <m:e>
                        <m:r>
                          <a:rPr lang="en-US" sz="4000">
                            <a:latin typeface="Cambria Math" panose="02040503050406030204" pitchFamily="18" charset="0"/>
                          </a:rPr>
                          <m:t>𝒙</m:t>
                        </m:r>
                      </m:e>
                      <m:sub>
                        <m:r>
                          <a:rPr lang="en-US" sz="4000">
                            <a:latin typeface="Cambria Math" panose="02040503050406030204" pitchFamily="18" charset="0"/>
                          </a:rPr>
                          <m:t>𝟏</m:t>
                        </m:r>
                      </m:sub>
                    </m:sSub>
                    <m:r>
                      <a:rPr lang="en-US" sz="4000" b="0" i="0" smtClean="0">
                        <a:latin typeface="Cambria Math" panose="02040503050406030204" pitchFamily="18" charset="0"/>
                      </a:rPr>
                      <m:t>+</m:t>
                    </m:r>
                    <m:sSub>
                      <m:sSubPr>
                        <m:ctrlPr>
                          <a:rPr lang="en-US" sz="4000" i="1">
                            <a:latin typeface="Cambria Math" panose="02040503050406030204" pitchFamily="18" charset="0"/>
                          </a:rPr>
                        </m:ctrlPr>
                      </m:sSubPr>
                      <m:e>
                        <m:r>
                          <a:rPr lang="en-US" sz="4000">
                            <a:latin typeface="Cambria Math" panose="02040503050406030204" pitchFamily="18" charset="0"/>
                          </a:rPr>
                          <m:t>𝒙</m:t>
                        </m:r>
                      </m:e>
                      <m:sub>
                        <m:r>
                          <a:rPr lang="en-US" sz="4000" b="0" i="1" smtClean="0">
                            <a:latin typeface="Cambria Math" panose="02040503050406030204" pitchFamily="18" charset="0"/>
                          </a:rPr>
                          <m:t>2</m:t>
                        </m:r>
                      </m:sub>
                    </m:sSub>
                    <m:r>
                      <a:rPr lang="en-US" sz="4000" b="1" i="1" smtClean="0">
                        <a:latin typeface="Cambria Math" panose="02040503050406030204" pitchFamily="18" charset="0"/>
                      </a:rPr>
                      <m:t>)+</m:t>
                    </m:r>
                    <m:r>
                      <a:rPr lang="en-US" sz="4000" b="1" i="1" smtClean="0">
                        <a:latin typeface="Cambria Math" panose="02040503050406030204" pitchFamily="18" charset="0"/>
                      </a:rPr>
                      <m:t>𝒊</m:t>
                    </m:r>
                    <m:r>
                      <a:rPr lang="en-US" sz="4000" b="1" i="1" smtClean="0">
                        <a:latin typeface="Cambria Math" panose="02040503050406030204" pitchFamily="18" charset="0"/>
                      </a:rPr>
                      <m:t>(</m:t>
                    </m:r>
                    <m:sSub>
                      <m:sSubPr>
                        <m:ctrlPr>
                          <a:rPr lang="en-US" sz="4000" b="1" i="1">
                            <a:latin typeface="Cambria Math" panose="02040503050406030204" pitchFamily="18" charset="0"/>
                          </a:rPr>
                        </m:ctrlPr>
                      </m:sSubPr>
                      <m:e>
                        <m:r>
                          <a:rPr lang="en-US" sz="4000" b="1" i="1" smtClean="0">
                            <a:latin typeface="Cambria Math" panose="02040503050406030204" pitchFamily="18" charset="0"/>
                          </a:rPr>
                          <m:t>𝒚</m:t>
                        </m:r>
                      </m:e>
                      <m:sub>
                        <m:r>
                          <a:rPr lang="en-US" sz="4000" b="1" i="1">
                            <a:latin typeface="Cambria Math" panose="02040503050406030204" pitchFamily="18" charset="0"/>
                          </a:rPr>
                          <m:t>𝟏</m:t>
                        </m:r>
                      </m:sub>
                    </m:sSub>
                    <m:sSub>
                      <m:sSubPr>
                        <m:ctrlPr>
                          <a:rPr lang="en-US" sz="4000" b="1" i="1">
                            <a:latin typeface="Cambria Math" panose="02040503050406030204" pitchFamily="18" charset="0"/>
                          </a:rPr>
                        </m:ctrlPr>
                      </m:sSubPr>
                      <m:e>
                        <m:r>
                          <a:rPr lang="en-US" sz="4000" b="1" i="1" smtClean="0">
                            <a:latin typeface="Cambria Math" panose="02040503050406030204" pitchFamily="18" charset="0"/>
                          </a:rPr>
                          <m:t>+</m:t>
                        </m:r>
                        <m:r>
                          <a:rPr lang="en-US" sz="4000" b="1" i="1" smtClean="0">
                            <a:latin typeface="Cambria Math" panose="02040503050406030204" pitchFamily="18" charset="0"/>
                          </a:rPr>
                          <m:t>𝒚</m:t>
                        </m:r>
                      </m:e>
                      <m:sub>
                        <m:r>
                          <a:rPr lang="en-US" sz="4000" b="1" i="1" smtClean="0">
                            <a:latin typeface="Cambria Math" panose="02040503050406030204" pitchFamily="18" charset="0"/>
                          </a:rPr>
                          <m:t>𝟐</m:t>
                        </m:r>
                      </m:sub>
                    </m:sSub>
                    <m:r>
                      <a:rPr lang="en-US" sz="4000" b="0" i="0" smtClean="0">
                        <a:latin typeface="Cambria Math" panose="02040503050406030204" pitchFamily="18" charset="0"/>
                      </a:rPr>
                      <m:t>)</m:t>
                    </m:r>
                  </m:oMath>
                </a14:m>
                <a:endParaRPr lang="en-US" sz="4000" dirty="0"/>
              </a:p>
            </p:txBody>
          </p:sp>
        </mc:Choice>
        <mc:Fallback xmlns="">
          <p:sp>
            <p:nvSpPr>
              <p:cNvPr id="24" name="Rectangle 23"/>
              <p:cNvSpPr>
                <a:spLocks noRot="1" noChangeAspect="1" noMove="1" noResize="1" noEditPoints="1" noAdjustHandles="1" noChangeArrowheads="1" noChangeShapeType="1" noTextEdit="1"/>
              </p:cNvSpPr>
              <p:nvPr/>
            </p:nvSpPr>
            <p:spPr>
              <a:xfrm>
                <a:off x="730250" y="8576700"/>
                <a:ext cx="16764000" cy="1773350"/>
              </a:xfrm>
              <a:prstGeom prst="rect">
                <a:avLst/>
              </a:prstGeom>
              <a:blipFill rotWithShape="0">
                <a:blip r:embed="rId6"/>
                <a:stretch>
                  <a:fillRect l="-1309" b="-1718"/>
                </a:stretch>
              </a:blipFill>
              <a:ln>
                <a:noFill/>
              </a:ln>
            </p:spPr>
            <p:txBody>
              <a:bodyPr/>
              <a:lstStyle/>
              <a:p>
                <a:r>
                  <a:rPr lang="en-US">
                    <a:noFill/>
                  </a:rPr>
                  <a:t> </a:t>
                </a:r>
              </a:p>
            </p:txBody>
          </p:sp>
        </mc:Fallback>
      </mc:AlternateContent>
      <p:sp>
        <p:nvSpPr>
          <p:cNvPr id="4" name="Rectangle 3"/>
          <p:cNvSpPr/>
          <p:nvPr/>
        </p:nvSpPr>
        <p:spPr>
          <a:xfrm>
            <a:off x="13265150" y="1085850"/>
            <a:ext cx="4800600" cy="44831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Arc 40"/>
          <p:cNvSpPr/>
          <p:nvPr/>
        </p:nvSpPr>
        <p:spPr>
          <a:xfrm>
            <a:off x="15897950" y="3170244"/>
            <a:ext cx="45719" cy="157156"/>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3" name="Group 42"/>
          <p:cNvGrpSpPr/>
          <p:nvPr/>
        </p:nvGrpSpPr>
        <p:grpSpPr>
          <a:xfrm>
            <a:off x="13265150" y="705035"/>
            <a:ext cx="4748943" cy="4673910"/>
            <a:chOff x="13265150" y="705035"/>
            <a:chExt cx="4748943" cy="4673910"/>
          </a:xfrm>
        </p:grpSpPr>
        <p:grpSp>
          <p:nvGrpSpPr>
            <p:cNvPr id="40" name="Group 39"/>
            <p:cNvGrpSpPr/>
            <p:nvPr/>
          </p:nvGrpSpPr>
          <p:grpSpPr>
            <a:xfrm>
              <a:off x="13265150" y="705035"/>
              <a:ext cx="4748943" cy="4673910"/>
              <a:chOff x="13290978" y="707211"/>
              <a:chExt cx="4748943" cy="4673910"/>
            </a:xfrm>
          </p:grpSpPr>
          <p:grpSp>
            <p:nvGrpSpPr>
              <p:cNvPr id="28" name="Group 27"/>
              <p:cNvGrpSpPr/>
              <p:nvPr/>
            </p:nvGrpSpPr>
            <p:grpSpPr>
              <a:xfrm>
                <a:off x="13290978" y="707211"/>
                <a:ext cx="4748943" cy="4673910"/>
                <a:chOff x="13417550" y="665644"/>
                <a:chExt cx="4748943" cy="4673910"/>
              </a:xfrm>
            </p:grpSpPr>
            <p:cxnSp>
              <p:nvCxnSpPr>
                <p:cNvPr id="6" name="Straight Arrow Connector 5"/>
                <p:cNvCxnSpPr/>
                <p:nvPr/>
              </p:nvCxnSpPr>
              <p:spPr>
                <a:xfrm>
                  <a:off x="13417550" y="3321050"/>
                  <a:ext cx="4419600"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5551150" y="1302546"/>
                  <a:ext cx="0" cy="4037008"/>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15551150" y="2559050"/>
                  <a:ext cx="1447800" cy="762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6338978" y="3130853"/>
                  <a:ext cx="685800" cy="707886"/>
                </a:xfrm>
                <a:prstGeom prst="rect">
                  <a:avLst/>
                </a:prstGeom>
                <a:noFill/>
              </p:spPr>
              <p:txBody>
                <a:bodyPr wrap="square" rtlCol="0">
                  <a:spAutoFit/>
                </a:bodyPr>
                <a:lstStyle/>
                <a:p>
                  <a:r>
                    <a:rPr lang="en-US" sz="4000" dirty="0" smtClean="0">
                      <a:latin typeface="Times New Roman" panose="02020603050405020304" pitchFamily="18" charset="0"/>
                      <a:cs typeface="Times New Roman" panose="02020603050405020304" pitchFamily="18" charset="0"/>
                    </a:rPr>
                    <a:t>x</a:t>
                  </a:r>
                  <a:endParaRPr lang="en-US" sz="4000" dirty="0">
                    <a:latin typeface="Times New Roman" panose="02020603050405020304" pitchFamily="18" charset="0"/>
                    <a:cs typeface="Times New Roman" panose="02020603050405020304" pitchFamily="18" charset="0"/>
                  </a:endParaRPr>
                </a:p>
              </p:txBody>
            </p:sp>
            <p:sp>
              <p:nvSpPr>
                <p:cNvPr id="19" name="TextBox 18"/>
                <p:cNvSpPr txBox="1"/>
                <p:nvPr/>
              </p:nvSpPr>
              <p:spPr>
                <a:xfrm>
                  <a:off x="16935451" y="2516760"/>
                  <a:ext cx="914400" cy="707886"/>
                </a:xfrm>
                <a:prstGeom prst="rect">
                  <a:avLst/>
                </a:prstGeom>
                <a:noFill/>
              </p:spPr>
              <p:txBody>
                <a:bodyPr wrap="square" rtlCol="0">
                  <a:spAutoFit/>
                </a:bodyPr>
                <a:lstStyle/>
                <a:p>
                  <a:r>
                    <a:rPr lang="en-US" sz="4000" dirty="0" smtClean="0">
                      <a:latin typeface="Times New Roman" panose="02020603050405020304" pitchFamily="18" charset="0"/>
                      <a:cs typeface="Times New Roman" panose="02020603050405020304" pitchFamily="18" charset="0"/>
                    </a:rPr>
                    <a:t>y</a:t>
                  </a:r>
                  <a:endParaRPr 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 name="TextBox 21"/>
                    <p:cNvSpPr txBox="1"/>
                    <p:nvPr/>
                  </p:nvSpPr>
                  <p:spPr>
                    <a:xfrm rot="20111848">
                      <a:off x="15478850" y="2473774"/>
                      <a:ext cx="1143000" cy="53957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sz="2400" i="1">
                                    <a:latin typeface="Cambria Math" panose="02040503050406030204" pitchFamily="18" charset="0"/>
                                    <a:ea typeface="Cambria Math" panose="02040503050406030204" pitchFamily="18" charset="0"/>
                                  </a:rPr>
                                </m:ctrlPr>
                              </m:radPr>
                              <m:deg/>
                              <m:e>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𝑥</m:t>
                                    </m:r>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𝑦</m:t>
                                    </m:r>
                                  </m:e>
                                  <m:sup>
                                    <m:r>
                                      <a:rPr lang="en-US" sz="2400" i="1">
                                        <a:latin typeface="Cambria Math" panose="02040503050406030204" pitchFamily="18" charset="0"/>
                                        <a:ea typeface="Cambria Math" panose="02040503050406030204" pitchFamily="18" charset="0"/>
                                      </a:rPr>
                                      <m:t>2</m:t>
                                    </m:r>
                                  </m:sup>
                                </m:sSup>
                              </m:e>
                            </m:rad>
                          </m:oMath>
                        </m:oMathPara>
                      </a14:m>
                      <a:endParaRPr lang="en-US" sz="2400" dirty="0">
                        <a:latin typeface="Times New Roman" panose="02020603050405020304" pitchFamily="18" charset="0"/>
                        <a:cs typeface="Times New Roman" panose="02020603050405020304" pitchFamily="18" charset="0"/>
                      </a:endParaRPr>
                    </a:p>
                  </p:txBody>
                </p:sp>
              </mc:Choice>
              <mc:Fallback xmlns="">
                <p:sp>
                  <p:nvSpPr>
                    <p:cNvPr id="22" name="TextBox 21"/>
                    <p:cNvSpPr txBox="1">
                      <a:spLocks noRot="1" noChangeAspect="1" noMove="1" noResize="1" noEditPoints="1" noAdjustHandles="1" noChangeArrowheads="1" noChangeShapeType="1" noTextEdit="1"/>
                    </p:cNvSpPr>
                    <p:nvPr/>
                  </p:nvSpPr>
                  <p:spPr>
                    <a:xfrm rot="20111848">
                      <a:off x="15478850" y="2473774"/>
                      <a:ext cx="1143000" cy="539571"/>
                    </a:xfrm>
                    <a:prstGeom prst="rect">
                      <a:avLst/>
                    </a:prstGeom>
                    <a:blipFill rotWithShape="0">
                      <a:blip r:embed="rId7"/>
                      <a:stretch>
                        <a:fillRect r="-3846"/>
                      </a:stretch>
                    </a:blipFill>
                  </p:spPr>
                  <p:txBody>
                    <a:bodyPr/>
                    <a:lstStyle/>
                    <a:p>
                      <a:r>
                        <a:rPr lang="en-US">
                          <a:noFill/>
                        </a:rPr>
                        <a:t> </a:t>
                      </a:r>
                    </a:p>
                  </p:txBody>
                </p:sp>
              </mc:Fallback>
            </mc:AlternateContent>
            <p:sp>
              <p:nvSpPr>
                <p:cNvPr id="23" name="TextBox 22"/>
                <p:cNvSpPr txBox="1"/>
                <p:nvPr/>
              </p:nvSpPr>
              <p:spPr>
                <a:xfrm>
                  <a:off x="17715644" y="2942679"/>
                  <a:ext cx="450849" cy="769441"/>
                </a:xfrm>
                <a:prstGeom prst="rect">
                  <a:avLst/>
                </a:prstGeom>
                <a:noFill/>
              </p:spPr>
              <p:txBody>
                <a:bodyPr wrap="square" rtlCol="0">
                  <a:spAutoFit/>
                </a:bodyPr>
                <a:lstStyle/>
                <a:p>
                  <a:r>
                    <a:rPr lang="en-US" sz="4400" dirty="0" smtClean="0">
                      <a:latin typeface="Times New Roman" panose="02020603050405020304" pitchFamily="18" charset="0"/>
                      <a:cs typeface="Times New Roman" panose="02020603050405020304" pitchFamily="18" charset="0"/>
                    </a:rPr>
                    <a:t>X</a:t>
                  </a:r>
                  <a:endParaRPr lang="en-US" sz="4400" dirty="0">
                    <a:latin typeface="Times New Roman" panose="02020603050405020304" pitchFamily="18" charset="0"/>
                    <a:cs typeface="Times New Roman" panose="02020603050405020304" pitchFamily="18" charset="0"/>
                  </a:endParaRPr>
                </a:p>
              </p:txBody>
            </p:sp>
            <p:sp>
              <p:nvSpPr>
                <p:cNvPr id="25" name="TextBox 24"/>
                <p:cNvSpPr txBox="1"/>
                <p:nvPr/>
              </p:nvSpPr>
              <p:spPr>
                <a:xfrm>
                  <a:off x="15235171" y="665644"/>
                  <a:ext cx="631958" cy="769441"/>
                </a:xfrm>
                <a:prstGeom prst="rect">
                  <a:avLst/>
                </a:prstGeom>
                <a:noFill/>
              </p:spPr>
              <p:txBody>
                <a:bodyPr wrap="square" rtlCol="0">
                  <a:spAutoFit/>
                </a:bodyPr>
                <a:lstStyle/>
                <a:p>
                  <a:r>
                    <a:rPr lang="en-US" sz="4400" dirty="0" smtClean="0">
                      <a:latin typeface="Times New Roman" panose="02020603050405020304" pitchFamily="18" charset="0"/>
                      <a:cs typeface="Times New Roman" panose="02020603050405020304" pitchFamily="18" charset="0"/>
                    </a:rPr>
                    <a:t>Y</a:t>
                  </a:r>
                  <a:endParaRPr lang="en-US" sz="4400" dirty="0">
                    <a:latin typeface="Times New Roman" panose="02020603050405020304" pitchFamily="18" charset="0"/>
                    <a:cs typeface="Times New Roman" panose="02020603050405020304" pitchFamily="18" charset="0"/>
                  </a:endParaRPr>
                </a:p>
              </p:txBody>
            </p:sp>
          </p:grpSp>
          <p:cxnSp>
            <p:nvCxnSpPr>
              <p:cNvPr id="36" name="Straight Connector 35"/>
              <p:cNvCxnSpPr/>
              <p:nvPr/>
            </p:nvCxnSpPr>
            <p:spPr>
              <a:xfrm>
                <a:off x="16879583" y="2600617"/>
                <a:ext cx="18624" cy="76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2" name="TextBox 41"/>
            <p:cNvSpPr txBox="1"/>
            <p:nvPr/>
          </p:nvSpPr>
          <p:spPr>
            <a:xfrm>
              <a:off x="15875001" y="2910450"/>
              <a:ext cx="533400" cy="523220"/>
            </a:xfrm>
            <a:prstGeom prst="rect">
              <a:avLst/>
            </a:prstGeom>
            <a:noFill/>
          </p:spPr>
          <p:txBody>
            <a:bodyPr wrap="square" rtlCol="0">
              <a:spAutoFit/>
            </a:bodyPr>
            <a:lstStyle/>
            <a:p>
              <a:r>
                <a:rPr lang="el-GR" sz="2800" dirty="0" smtClean="0">
                  <a:latin typeface="Cambria" panose="02040503050406030204" pitchFamily="18" charset="0"/>
                  <a:ea typeface="NSimSun" panose="02010609030101010101" pitchFamily="49" charset="-122"/>
                </a:rPr>
                <a:t>θ</a:t>
              </a:r>
              <a:endParaRPr lang="en-US" sz="2800" dirty="0"/>
            </a:p>
          </p:txBody>
        </p:sp>
      </p:grpSp>
    </p:spTree>
    <p:extLst>
      <p:ext uri="{BB962C8B-B14F-4D97-AF65-F5344CB8AC3E}">
        <p14:creationId xmlns:p14="http://schemas.microsoft.com/office/powerpoint/2010/main" val="220561019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6" presetClass="entr" presetSubtype="16" fill="hold" nodeType="click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circle(in)">
                                      <p:cBhvr>
                                        <p:cTn id="16" dur="2000"/>
                                        <p:tgtEl>
                                          <p:spTgt spid="43"/>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barn(inVertical)">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26"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down)">
                                      <p:cBhvr>
                                        <p:cTn id="26" dur="580">
                                          <p:stCondLst>
                                            <p:cond delay="0"/>
                                          </p:stCondLst>
                                        </p:cTn>
                                        <p:tgtEl>
                                          <p:spTgt spid="24"/>
                                        </p:tgtEl>
                                      </p:cBhvr>
                                    </p:animEffect>
                                    <p:anim calcmode="lin" valueType="num">
                                      <p:cBhvr>
                                        <p:cTn id="27"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32" dur="26">
                                          <p:stCondLst>
                                            <p:cond delay="650"/>
                                          </p:stCondLst>
                                        </p:cTn>
                                        <p:tgtEl>
                                          <p:spTgt spid="24"/>
                                        </p:tgtEl>
                                      </p:cBhvr>
                                      <p:to x="100000" y="60000"/>
                                    </p:animScale>
                                    <p:animScale>
                                      <p:cBhvr>
                                        <p:cTn id="33" dur="166" decel="50000">
                                          <p:stCondLst>
                                            <p:cond delay="676"/>
                                          </p:stCondLst>
                                        </p:cTn>
                                        <p:tgtEl>
                                          <p:spTgt spid="24"/>
                                        </p:tgtEl>
                                      </p:cBhvr>
                                      <p:to x="100000" y="100000"/>
                                    </p:animScale>
                                    <p:animScale>
                                      <p:cBhvr>
                                        <p:cTn id="34" dur="26">
                                          <p:stCondLst>
                                            <p:cond delay="1312"/>
                                          </p:stCondLst>
                                        </p:cTn>
                                        <p:tgtEl>
                                          <p:spTgt spid="24"/>
                                        </p:tgtEl>
                                      </p:cBhvr>
                                      <p:to x="100000" y="80000"/>
                                    </p:animScale>
                                    <p:animScale>
                                      <p:cBhvr>
                                        <p:cTn id="35" dur="166" decel="50000">
                                          <p:stCondLst>
                                            <p:cond delay="1338"/>
                                          </p:stCondLst>
                                        </p:cTn>
                                        <p:tgtEl>
                                          <p:spTgt spid="24"/>
                                        </p:tgtEl>
                                      </p:cBhvr>
                                      <p:to x="100000" y="100000"/>
                                    </p:animScale>
                                    <p:animScale>
                                      <p:cBhvr>
                                        <p:cTn id="36" dur="26">
                                          <p:stCondLst>
                                            <p:cond delay="1642"/>
                                          </p:stCondLst>
                                        </p:cTn>
                                        <p:tgtEl>
                                          <p:spTgt spid="24"/>
                                        </p:tgtEl>
                                      </p:cBhvr>
                                      <p:to x="100000" y="90000"/>
                                    </p:animScale>
                                    <p:animScale>
                                      <p:cBhvr>
                                        <p:cTn id="37" dur="166" decel="50000">
                                          <p:stCondLst>
                                            <p:cond delay="1668"/>
                                          </p:stCondLst>
                                        </p:cTn>
                                        <p:tgtEl>
                                          <p:spTgt spid="24"/>
                                        </p:tgtEl>
                                      </p:cBhvr>
                                      <p:to x="100000" y="100000"/>
                                    </p:animScale>
                                    <p:animScale>
                                      <p:cBhvr>
                                        <p:cTn id="38" dur="26">
                                          <p:stCondLst>
                                            <p:cond delay="1808"/>
                                          </p:stCondLst>
                                        </p:cTn>
                                        <p:tgtEl>
                                          <p:spTgt spid="24"/>
                                        </p:tgtEl>
                                      </p:cBhvr>
                                      <p:to x="100000" y="95000"/>
                                    </p:animScale>
                                    <p:animScale>
                                      <p:cBhvr>
                                        <p:cTn id="39" dur="166" decel="50000">
                                          <p:stCondLst>
                                            <p:cond delay="1834"/>
                                          </p:stCondLst>
                                        </p:cTn>
                                        <p:tgtEl>
                                          <p:spTgt spid="2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21" grpId="0"/>
      <p:bldP spid="24"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2F18956B-1C67-4A87-8CC3-F65D34ECFD82}"/>
              </a:ext>
            </a:extLst>
          </p:cNvPr>
          <p:cNvSpPr txBox="1"/>
          <p:nvPr/>
        </p:nvSpPr>
        <p:spPr>
          <a:xfrm>
            <a:off x="3740150" y="1113786"/>
            <a:ext cx="10515600" cy="1006429"/>
          </a:xfrm>
          <a:prstGeom prst="rect">
            <a:avLst/>
          </a:prstGeom>
          <a:noFill/>
        </p:spPr>
        <p:txBody>
          <a:bodyPr wrap="square" rtlCol="0">
            <a:spAutoFit/>
          </a:bodyPr>
          <a:lstStyle/>
          <a:p>
            <a:pPr algn="ctr" fontAlgn="base">
              <a:lnSpc>
                <a:spcPct val="110000"/>
              </a:lnSpc>
              <a:spcAft>
                <a:spcPts val="875"/>
              </a:spcAft>
              <a:buClr>
                <a:srgbClr val="000000"/>
              </a:buClr>
              <a:buSzPts val="1100"/>
            </a:pPr>
            <a:r>
              <a:rPr lang="en-US" sz="5400" b="1" kern="0" dirty="0" smtClean="0">
                <a:solidFill>
                  <a:srgbClr val="FF0000"/>
                </a:solidFill>
                <a:latin typeface="Algerian" panose="04020705040A02060702" pitchFamily="82" charset="0"/>
                <a:ea typeface="Arial" panose="020B0604020202020204" pitchFamily="34" charset="0"/>
              </a:rPr>
              <a:t>Geometric </a:t>
            </a:r>
            <a:r>
              <a:rPr lang="en-US" sz="5400" b="1" kern="0" dirty="0">
                <a:solidFill>
                  <a:srgbClr val="FF0000"/>
                </a:solidFill>
                <a:latin typeface="Algerian" panose="04020705040A02060702" pitchFamily="82" charset="0"/>
                <a:ea typeface="Arial" panose="020B0604020202020204" pitchFamily="34" charset="0"/>
              </a:rPr>
              <a:t>Representation </a:t>
            </a:r>
            <a:endParaRPr lang="en-US" sz="5400" b="1" kern="0" dirty="0">
              <a:solidFill>
                <a:srgbClr val="FF0000"/>
              </a:solidFill>
              <a:effectLst/>
              <a:latin typeface="Algerian" panose="04020705040A02060702" pitchFamily="82" charset="0"/>
              <a:ea typeface="Arial" panose="020B0604020202020204" pitchFamily="34" charset="0"/>
            </a:endParaRPr>
          </a:p>
        </p:txBody>
      </p:sp>
      <p:sp>
        <p:nvSpPr>
          <p:cNvPr id="6" name="AutoShape 4" descr="The Pros and Cons of Nuclear Power">
            <a:extLst>
              <a:ext uri="{FF2B5EF4-FFF2-40B4-BE49-F238E27FC236}">
                <a16:creationId xmlns="" xmlns:a16="http://schemas.microsoft.com/office/drawing/2014/main" id="{EF3B82D1-09B2-4DE5-AA8B-9B754751F0F5}"/>
              </a:ext>
            </a:extLst>
          </p:cNvPr>
          <p:cNvSpPr>
            <a:spLocks noChangeAspect="1" noChangeArrowheads="1"/>
          </p:cNvSpPr>
          <p:nvPr/>
        </p:nvSpPr>
        <p:spPr bwMode="auto">
          <a:xfrm>
            <a:off x="8997950" y="4997450"/>
            <a:ext cx="3733800" cy="3733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5" name="TextBox 4"/>
              <p:cNvSpPr txBox="1"/>
              <p:nvPr/>
            </p:nvSpPr>
            <p:spPr>
              <a:xfrm>
                <a:off x="1911350" y="2406650"/>
                <a:ext cx="15392400" cy="7570342"/>
              </a:xfrm>
              <a:prstGeom prst="rect">
                <a:avLst/>
              </a:prstGeom>
              <a:noFill/>
            </p:spPr>
            <p:txBody>
              <a:bodyPr wrap="square" rtlCol="0">
                <a:spAutoFit/>
              </a:bodyPr>
              <a:lstStyle/>
              <a:p>
                <a:r>
                  <a:rPr lang="en-US" sz="4400" dirty="0" smtClean="0"/>
                  <a:t>Complex numbers can be represented on the </a:t>
                </a:r>
                <a:r>
                  <a:rPr lang="en-US" sz="4400" dirty="0" err="1"/>
                  <a:t>Argand</a:t>
                </a:r>
                <a:r>
                  <a:rPr lang="en-US" sz="4400" dirty="0"/>
                  <a:t> Plane (also called the complex plane). </a:t>
                </a:r>
                <a:endParaRPr lang="en-US" sz="4400" dirty="0" smtClean="0"/>
              </a:p>
              <a:p>
                <a:pPr marL="2400300" lvl="4" indent="-571500">
                  <a:buFont typeface="Arial" panose="020B0604020202020204" pitchFamily="34" charset="0"/>
                  <a:buChar char="•"/>
                </a:pPr>
                <a:r>
                  <a:rPr lang="en-US" sz="4400" dirty="0" smtClean="0"/>
                  <a:t>Horizontal </a:t>
                </a:r>
                <a:r>
                  <a:rPr lang="en-US" sz="4400" dirty="0"/>
                  <a:t>axis = Real axis </a:t>
                </a:r>
                <a:endParaRPr lang="en-US" sz="4400" dirty="0" smtClean="0"/>
              </a:p>
              <a:p>
                <a:pPr marL="2400300" lvl="4" indent="-571500">
                  <a:buFont typeface="Arial" panose="020B0604020202020204" pitchFamily="34" charset="0"/>
                  <a:buChar char="•"/>
                </a:pPr>
                <a:r>
                  <a:rPr lang="en-US" sz="4400" dirty="0" smtClean="0"/>
                  <a:t>Vertical </a:t>
                </a:r>
                <a:r>
                  <a:rPr lang="en-US" sz="4400" dirty="0"/>
                  <a:t>axis = Imaginary axis </a:t>
                </a:r>
                <a:endParaRPr lang="en-US" sz="4400" dirty="0" smtClean="0"/>
              </a:p>
              <a:p>
                <a:r>
                  <a:rPr lang="en-US" sz="4400" dirty="0" smtClean="0"/>
                  <a:t>Every </a:t>
                </a:r>
                <a:r>
                  <a:rPr lang="en-US" sz="4400" dirty="0"/>
                  <a:t>complex number corresponds to a unique point in this plane. </a:t>
                </a:r>
                <a:endParaRPr lang="en-US" sz="4400" dirty="0" smtClean="0"/>
              </a:p>
              <a:p>
                <a:r>
                  <a:rPr lang="en-US" sz="4400" dirty="0" smtClean="0"/>
                  <a:t>We </a:t>
                </a:r>
                <a:r>
                  <a:rPr lang="en-US" sz="4400" dirty="0"/>
                  <a:t>can also write complex numbers in polar form: </a:t>
                </a:r>
                <a:endParaRPr lang="en-US" sz="4400" dirty="0" smtClean="0"/>
              </a:p>
              <a:p>
                <a:r>
                  <a:rPr lang="en-US" sz="4400" dirty="0" smtClean="0"/>
                  <a:t>Z=r</a:t>
                </a:r>
                <a14:m>
                  <m:oMath xmlns:m="http://schemas.openxmlformats.org/officeDocument/2006/math">
                    <m:sSup>
                      <m:sSupPr>
                        <m:ctrlPr>
                          <a:rPr lang="en-US" sz="4400" b="0" i="1" smtClean="0">
                            <a:latin typeface="Cambria Math" panose="02040503050406030204" pitchFamily="18" charset="0"/>
                          </a:rPr>
                        </m:ctrlPr>
                      </m:sSupPr>
                      <m:e>
                        <m:r>
                          <a:rPr lang="en-US" sz="4400" b="0" i="1" smtClean="0">
                            <a:latin typeface="Cambria Math" panose="02040503050406030204" pitchFamily="18" charset="0"/>
                          </a:rPr>
                          <m:t>𝑒</m:t>
                        </m:r>
                      </m:e>
                      <m:sup>
                        <m:r>
                          <a:rPr lang="en-US" sz="4400" b="0" i="1" smtClean="0">
                            <a:latin typeface="Cambria Math" panose="02040503050406030204" pitchFamily="18" charset="0"/>
                          </a:rPr>
                          <m:t>𝑖</m:t>
                        </m:r>
                        <m:r>
                          <a:rPr lang="en-US" sz="4400" b="0" i="1" smtClean="0">
                            <a:latin typeface="Cambria Math" panose="02040503050406030204" pitchFamily="18" charset="0"/>
                            <a:ea typeface="Cambria Math" panose="02040503050406030204" pitchFamily="18" charset="0"/>
                          </a:rPr>
                          <m:t>𝜃</m:t>
                        </m:r>
                      </m:sup>
                    </m:sSup>
                  </m:oMath>
                </a14:m>
                <a:endParaRPr lang="en-US" sz="4400" dirty="0" smtClean="0"/>
              </a:p>
              <a:p>
                <a:r>
                  <a:rPr lang="en-US" sz="4400" dirty="0" smtClean="0"/>
                  <a:t>Where </a:t>
                </a:r>
              </a:p>
              <a:p>
                <a:pPr marL="2400300" lvl="4" indent="-571500">
                  <a:buFont typeface="Arial" panose="020B0604020202020204" pitchFamily="34" charset="0"/>
                  <a:buChar char="•"/>
                </a:pPr>
                <a:r>
                  <a:rPr lang="en-US" sz="4400" dirty="0" smtClean="0"/>
                  <a:t>r= |z|= Magnitude</a:t>
                </a:r>
              </a:p>
              <a:p>
                <a:pPr marL="2400300" lvl="4" indent="-571500">
                  <a:buFont typeface="Arial" panose="020B0604020202020204" pitchFamily="34" charset="0"/>
                  <a:buChar char="•"/>
                </a:pPr>
                <a:r>
                  <a:rPr lang="en-US" sz="4400" dirty="0" smtClean="0"/>
                  <a:t> </a:t>
                </a:r>
                <a14:m>
                  <m:oMath xmlns:m="http://schemas.openxmlformats.org/officeDocument/2006/math">
                    <m:r>
                      <a:rPr lang="en-US" sz="4400" i="1">
                        <a:latin typeface="Cambria Math" panose="02040503050406030204" pitchFamily="18" charset="0"/>
                        <a:ea typeface="Cambria Math" panose="02040503050406030204" pitchFamily="18" charset="0"/>
                      </a:rPr>
                      <m:t>𝜃</m:t>
                    </m:r>
                  </m:oMath>
                </a14:m>
                <a:r>
                  <a:rPr lang="en-US" sz="4400" dirty="0" smtClean="0"/>
                  <a:t>=</a:t>
                </a:r>
                <a:r>
                  <a:rPr lang="en-US" sz="4400" dirty="0" err="1" smtClean="0"/>
                  <a:t>arg</a:t>
                </a:r>
                <a:r>
                  <a:rPr lang="en-US" sz="4400" dirty="0" smtClean="0"/>
                  <a:t>(z) = argument (angle)            </a:t>
                </a:r>
                <a:endParaRPr lang="en-US" sz="4400" dirty="0"/>
              </a:p>
            </p:txBody>
          </p:sp>
        </mc:Choice>
        <mc:Fallback xmlns="">
          <p:sp>
            <p:nvSpPr>
              <p:cNvPr id="5" name="TextBox 4"/>
              <p:cNvSpPr txBox="1">
                <a:spLocks noRot="1" noChangeAspect="1" noMove="1" noResize="1" noEditPoints="1" noAdjustHandles="1" noChangeArrowheads="1" noChangeShapeType="1" noTextEdit="1"/>
              </p:cNvSpPr>
              <p:nvPr/>
            </p:nvSpPr>
            <p:spPr>
              <a:xfrm>
                <a:off x="1911350" y="2406650"/>
                <a:ext cx="15392400" cy="7570342"/>
              </a:xfrm>
              <a:prstGeom prst="rect">
                <a:avLst/>
              </a:prstGeom>
              <a:blipFill rotWithShape="0">
                <a:blip r:embed="rId4"/>
                <a:stretch>
                  <a:fillRect l="-1624" t="-1691" b="-2899"/>
                </a:stretch>
              </a:blipFill>
            </p:spPr>
            <p:txBody>
              <a:bodyPr/>
              <a:lstStyle/>
              <a:p>
                <a:r>
                  <a:rPr lang="en-US">
                    <a:noFill/>
                  </a:rPr>
                  <a:t> </a:t>
                </a:r>
              </a:p>
            </p:txBody>
          </p:sp>
        </mc:Fallback>
      </mc:AlternateContent>
    </p:spTree>
  </p:cSld>
  <p:clrMapOvr>
    <a:masterClrMapping/>
  </p:clrMapOvr>
  <mc:AlternateContent xmlns:mc="http://schemas.openxmlformats.org/markup-compatibility/2006" xmlns:p15="http://schemas.microsoft.com/office/powerpoint/2012/main">
    <mc:Choice Requires="p15">
      <p:transition spd="slow" advTm="61923">
        <p15:prstTrans prst="fracture"/>
      </p:transition>
    </mc:Choice>
    <mc:Fallback xmlns="">
      <p:transition spd="slow" advTm="61923">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
          <p:cNvSpPr>
            <a:spLocks noChangeArrowheads="1"/>
          </p:cNvSpPr>
          <p:nvPr/>
        </p:nvSpPr>
        <p:spPr bwMode="auto">
          <a:xfrm>
            <a:off x="1149350" y="7836583"/>
            <a:ext cx="103632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2520950" y="5624083"/>
            <a:ext cx="11125200"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p:nvPr/>
        </p:nvSpPr>
        <p:spPr>
          <a:xfrm>
            <a:off x="4806950" y="1224181"/>
            <a:ext cx="4724400" cy="1106269"/>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noFill/>
            </a:endParaRPr>
          </a:p>
        </p:txBody>
      </p:sp>
      <p:sp>
        <p:nvSpPr>
          <p:cNvPr id="3" name="TextBox 2"/>
          <p:cNvSpPr txBox="1"/>
          <p:nvPr/>
        </p:nvSpPr>
        <p:spPr>
          <a:xfrm>
            <a:off x="5949950" y="1224181"/>
            <a:ext cx="6705600" cy="923330"/>
          </a:xfrm>
          <a:prstGeom prst="rect">
            <a:avLst/>
          </a:prstGeom>
          <a:noFill/>
        </p:spPr>
        <p:txBody>
          <a:bodyPr wrap="square" rtlCol="0">
            <a:spAutoFit/>
          </a:bodyPr>
          <a:lstStyle/>
          <a:p>
            <a:r>
              <a:rPr lang="en-US" sz="5400" dirty="0">
                <a:ln w="0"/>
                <a:solidFill>
                  <a:srgbClr val="FF0000"/>
                </a:solidFill>
                <a:effectLst>
                  <a:reflection blurRad="6350" stA="53000" endA="300" endPos="35500" dir="5400000" sy="-90000" algn="bl" rotWithShape="0"/>
                </a:effectLst>
                <a:latin typeface="Algerian" panose="04020705040A02060702" pitchFamily="82" charset="0"/>
              </a:rPr>
              <a:t>Complex Function</a:t>
            </a:r>
          </a:p>
        </p:txBody>
      </p:sp>
      <p:sp>
        <p:nvSpPr>
          <p:cNvPr id="10" name="Rectangle 9"/>
          <p:cNvSpPr/>
          <p:nvPr/>
        </p:nvSpPr>
        <p:spPr>
          <a:xfrm>
            <a:off x="3206750" y="3404242"/>
            <a:ext cx="12649200" cy="17907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4400" dirty="0" smtClean="0">
                <a:latin typeface="Times New Roman" panose="02020603050405020304" pitchFamily="18" charset="0"/>
                <a:cs typeface="Times New Roman" panose="02020603050405020304" pitchFamily="18" charset="0"/>
              </a:rPr>
              <a:t>A Function f(z)=U(</a:t>
            </a:r>
            <a:r>
              <a:rPr lang="en-US" sz="4400" dirty="0" err="1" smtClean="0">
                <a:latin typeface="Times New Roman" panose="02020603050405020304" pitchFamily="18" charset="0"/>
                <a:cs typeface="Times New Roman" panose="02020603050405020304" pitchFamily="18" charset="0"/>
              </a:rPr>
              <a:t>x,y</a:t>
            </a:r>
            <a:r>
              <a:rPr lang="en-US" sz="4400" dirty="0" smtClean="0">
                <a:latin typeface="Times New Roman" panose="02020603050405020304" pitchFamily="18" charset="0"/>
                <a:cs typeface="Times New Roman" panose="02020603050405020304" pitchFamily="18" charset="0"/>
              </a:rPr>
              <a:t>) + </a:t>
            </a:r>
            <a:r>
              <a:rPr lang="en-US" sz="4400" dirty="0" err="1" smtClean="0">
                <a:latin typeface="Times New Roman" panose="02020603050405020304" pitchFamily="18" charset="0"/>
                <a:cs typeface="Times New Roman" panose="02020603050405020304" pitchFamily="18" charset="0"/>
              </a:rPr>
              <a:t>iV</a:t>
            </a:r>
            <a:r>
              <a:rPr lang="en-US" sz="4400" dirty="0" smtClean="0">
                <a:latin typeface="Times New Roman" panose="02020603050405020304" pitchFamily="18" charset="0"/>
                <a:cs typeface="Times New Roman" panose="02020603050405020304" pitchFamily="18" charset="0"/>
              </a:rPr>
              <a:t>(</a:t>
            </a:r>
            <a:r>
              <a:rPr lang="en-US" sz="4400" dirty="0" err="1" smtClean="0">
                <a:latin typeface="Times New Roman" panose="02020603050405020304" pitchFamily="18" charset="0"/>
                <a:cs typeface="Times New Roman" panose="02020603050405020304" pitchFamily="18" charset="0"/>
              </a:rPr>
              <a:t>x,y</a:t>
            </a:r>
            <a:r>
              <a:rPr lang="en-US" sz="4400" dirty="0" smtClean="0">
                <a:latin typeface="Times New Roman" panose="02020603050405020304" pitchFamily="18" charset="0"/>
                <a:cs typeface="Times New Roman" panose="02020603050405020304" pitchFamily="18" charset="0"/>
              </a:rPr>
              <a:t>), where U and V are real valued.   </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Rectangle 11"/>
              <p:cNvSpPr/>
              <p:nvPr/>
            </p:nvSpPr>
            <p:spPr>
              <a:xfrm>
                <a:off x="2901950" y="6198534"/>
                <a:ext cx="12954000" cy="153539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4400" dirty="0" smtClean="0">
                    <a:latin typeface="Times New Roman" panose="02020603050405020304" pitchFamily="18" charset="0"/>
                    <a:cs typeface="Times New Roman" panose="02020603050405020304" pitchFamily="18" charset="0"/>
                  </a:rPr>
                  <a:t>Example: f(z)=</a:t>
                </a:r>
                <a14:m>
                  <m:oMath xmlns:m="http://schemas.openxmlformats.org/officeDocument/2006/math">
                    <m:sSup>
                      <m:sSupPr>
                        <m:ctrlPr>
                          <a:rPr lang="en-US" sz="4400" b="0" i="1" smtClean="0">
                            <a:latin typeface="Cambria Math" panose="02040503050406030204" pitchFamily="18" charset="0"/>
                            <a:cs typeface="Times New Roman" panose="02020603050405020304" pitchFamily="18" charset="0"/>
                          </a:rPr>
                        </m:ctrlPr>
                      </m:sSupPr>
                      <m:e>
                        <m:r>
                          <a:rPr lang="en-US" sz="4400" b="0" i="1" smtClean="0">
                            <a:latin typeface="Cambria Math" panose="02040503050406030204" pitchFamily="18" charset="0"/>
                            <a:cs typeface="Times New Roman" panose="02020603050405020304" pitchFamily="18" charset="0"/>
                          </a:rPr>
                          <m:t>𝑧</m:t>
                        </m:r>
                      </m:e>
                      <m:sup>
                        <m:r>
                          <a:rPr lang="en-US" sz="4400" b="0" i="1" smtClean="0">
                            <a:latin typeface="Cambria Math" panose="02040503050406030204" pitchFamily="18" charset="0"/>
                            <a:cs typeface="Times New Roman" panose="02020603050405020304" pitchFamily="18" charset="0"/>
                          </a:rPr>
                          <m:t>2</m:t>
                        </m:r>
                      </m:sup>
                    </m:sSup>
                    <m:r>
                      <a:rPr lang="en-US" sz="4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𝑈</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4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𝑥</m:t>
                        </m:r>
                      </m:e>
                      <m:sup>
                        <m:r>
                          <a:rPr lang="en-US" sz="44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US" sz="44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4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𝑦</m:t>
                        </m:r>
                      </m:e>
                      <m:sup>
                        <m:r>
                          <a:rPr lang="en-US" sz="44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US" sz="44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𝑉</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=2</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𝑥𝑦</m:t>
                    </m:r>
                  </m:oMath>
                </a14:m>
                <a:endParaRPr lang="en-US" sz="4400" b="0" dirty="0" smtClean="0">
                  <a:latin typeface="Times New Roman" panose="02020603050405020304" pitchFamily="18" charset="0"/>
                  <a:ea typeface="Cambria Math" panose="02040503050406030204" pitchFamily="18" charset="0"/>
                  <a:cs typeface="Times New Roman" panose="02020603050405020304" pitchFamily="18" charset="0"/>
                </a:endParaRPr>
              </a:p>
              <a:p>
                <a:r>
                  <a:rPr lang="en-US" sz="4400" dirty="0" smtClean="0">
                    <a:latin typeface="Times New Roman" panose="02020603050405020304" pitchFamily="18" charset="0"/>
                    <a:cs typeface="Times New Roman" panose="02020603050405020304" pitchFamily="18" charset="0"/>
                  </a:rPr>
                  <a:t>               f(z)=</a:t>
                </a:r>
                <a14:m>
                  <m:oMath xmlns:m="http://schemas.openxmlformats.org/officeDocument/2006/math">
                    <m:sSup>
                      <m:sSupPr>
                        <m:ctrlPr>
                          <a:rPr lang="en-US" sz="4400" b="0" i="1" smtClean="0">
                            <a:latin typeface="Cambria Math" panose="02040503050406030204" pitchFamily="18" charset="0"/>
                            <a:cs typeface="Times New Roman" panose="02020603050405020304" pitchFamily="18" charset="0"/>
                          </a:rPr>
                        </m:ctrlPr>
                      </m:sSupPr>
                      <m:e>
                        <m:r>
                          <a:rPr lang="en-US" sz="4400" b="0" i="1" smtClean="0">
                            <a:latin typeface="Cambria Math" panose="02040503050406030204" pitchFamily="18" charset="0"/>
                            <a:cs typeface="Times New Roman" panose="02020603050405020304" pitchFamily="18" charset="0"/>
                          </a:rPr>
                          <m:t>𝑒</m:t>
                        </m:r>
                      </m:e>
                      <m:sup>
                        <m:r>
                          <a:rPr lang="en-US" sz="4400" b="0" i="1" smtClean="0">
                            <a:latin typeface="Cambria Math" panose="02040503050406030204" pitchFamily="18" charset="0"/>
                            <a:cs typeface="Times New Roman" panose="02020603050405020304" pitchFamily="18" charset="0"/>
                          </a:rPr>
                          <m:t>𝑧</m:t>
                        </m:r>
                      </m:sup>
                    </m:sSup>
                    <m:r>
                      <a:rPr lang="en-US" sz="4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𝑈</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4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𝑒</m:t>
                        </m:r>
                      </m:e>
                      <m:sup>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𝑥</m:t>
                        </m:r>
                      </m:sup>
                    </m:sSup>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𝐶𝑜𝑠</m:t>
                    </m:r>
                    <m:d>
                      <m:dPr>
                        <m:ctrlPr>
                          <a:rPr lang="en-US" sz="4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𝑦</m:t>
                        </m:r>
                      </m:e>
                    </m:d>
                    <m:r>
                      <a:rPr lang="en-US" sz="44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𝑉</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4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𝑒</m:t>
                        </m:r>
                      </m:e>
                      <m:sup>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𝑥</m:t>
                        </m:r>
                      </m:sup>
                    </m:sSup>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𝑆𝑖𝑛</m:t>
                    </m:r>
                    <m:d>
                      <m:dPr>
                        <m:ctrlPr>
                          <a:rPr lang="en-US" sz="4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𝑦</m:t>
                        </m:r>
                      </m:e>
                    </m:d>
                    <m:r>
                      <a:rPr lang="en-US" sz="4400"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sz="4400" dirty="0">
                  <a:latin typeface="Times New Roman" panose="02020603050405020304" pitchFamily="18" charset="0"/>
                  <a:cs typeface="Times New Roman" panose="02020603050405020304" pitchFamily="18" charset="0"/>
                </a:endParaRPr>
              </a:p>
            </p:txBody>
          </p:sp>
        </mc:Choice>
        <mc:Fallback>
          <p:sp>
            <p:nvSpPr>
              <p:cNvPr id="12" name="Rectangle 11"/>
              <p:cNvSpPr>
                <a:spLocks noRot="1" noChangeAspect="1" noMove="1" noResize="1" noEditPoints="1" noAdjustHandles="1" noChangeArrowheads="1" noChangeShapeType="1" noTextEdit="1"/>
              </p:cNvSpPr>
              <p:nvPr/>
            </p:nvSpPr>
            <p:spPr>
              <a:xfrm>
                <a:off x="2901950" y="6198534"/>
                <a:ext cx="12954000" cy="1535392"/>
              </a:xfrm>
              <a:prstGeom prst="rect">
                <a:avLst/>
              </a:prstGeom>
              <a:blipFill rotWithShape="0">
                <a:blip r:embed="rId2"/>
                <a:stretch>
                  <a:fillRect l="-1882" t="-4365" b="-1587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43560765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oft Abstract Background Images - Free Download on Freepik">
            <a:extLst>
              <a:ext uri="{FF2B5EF4-FFF2-40B4-BE49-F238E27FC236}">
                <a16:creationId xmlns="" xmlns:a16="http://schemas.microsoft.com/office/drawing/2014/main" id="{A3D7F748-83C9-4BE4-84EE-E082E3A183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0"/>
            <a:ext cx="18300700" cy="102997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 xmlns:a16="http://schemas.microsoft.com/office/drawing/2014/main" id="{58039DB6-884E-406E-B178-1C5280A19EF2}"/>
              </a:ext>
            </a:extLst>
          </p:cNvPr>
          <p:cNvSpPr txBox="1"/>
          <p:nvPr/>
        </p:nvSpPr>
        <p:spPr>
          <a:xfrm>
            <a:off x="2825750" y="806450"/>
            <a:ext cx="12287250" cy="1138773"/>
          </a:xfrm>
          <a:prstGeom prst="rect">
            <a:avLst/>
          </a:prstGeom>
          <a:noFill/>
        </p:spPr>
        <p:txBody>
          <a:bodyPr wrap="square" rtlCol="0">
            <a:spAutoFit/>
          </a:bodyPr>
          <a:lstStyle/>
          <a:p>
            <a:r>
              <a:rPr lang="en-US" sz="5400" kern="0" dirty="0" smtClean="0">
                <a:solidFill>
                  <a:srgbClr val="FF0000"/>
                </a:solidFill>
                <a:latin typeface="Algerian" panose="04020705040A02060702" pitchFamily="82" charset="0"/>
                <a:ea typeface="Arial" panose="020B0604020202020204" pitchFamily="34" charset="0"/>
              </a:rPr>
              <a:t>Functions </a:t>
            </a:r>
            <a:r>
              <a:rPr lang="en-US" sz="5400" kern="0" dirty="0">
                <a:solidFill>
                  <a:srgbClr val="FF0000"/>
                </a:solidFill>
                <a:latin typeface="Algerian" panose="04020705040A02060702" pitchFamily="82" charset="0"/>
                <a:ea typeface="Arial" panose="020B0604020202020204" pitchFamily="34" charset="0"/>
              </a:rPr>
              <a:t>of a </a:t>
            </a:r>
            <a:r>
              <a:rPr lang="en-US" sz="5400" kern="0" dirty="0" smtClean="0">
                <a:solidFill>
                  <a:srgbClr val="FF0000"/>
                </a:solidFill>
                <a:latin typeface="Algerian" panose="04020705040A02060702" pitchFamily="82" charset="0"/>
                <a:ea typeface="Arial" panose="020B0604020202020204" pitchFamily="34" charset="0"/>
              </a:rPr>
              <a:t>Complex Variable</a:t>
            </a:r>
            <a:endParaRPr lang="en-US" sz="5400" kern="0" dirty="0">
              <a:solidFill>
                <a:srgbClr val="FF0000"/>
              </a:solidFill>
              <a:latin typeface="Algerian" panose="04020705040A02060702" pitchFamily="82" charset="0"/>
              <a:ea typeface="Arial" panose="020B0604020202020204" pitchFamily="34" charset="0"/>
            </a:endParaRPr>
          </a:p>
          <a:p>
            <a:endParaRPr lang="en-US" sz="1400" dirty="0"/>
          </a:p>
        </p:txBody>
      </p:sp>
      <p:sp>
        <p:nvSpPr>
          <p:cNvPr id="4" name="TextBox 3"/>
          <p:cNvSpPr txBox="1"/>
          <p:nvPr/>
        </p:nvSpPr>
        <p:spPr>
          <a:xfrm>
            <a:off x="2216150" y="2238792"/>
            <a:ext cx="14249400" cy="2123658"/>
          </a:xfrm>
          <a:prstGeom prst="rect">
            <a:avLst/>
          </a:prstGeom>
          <a:noFill/>
        </p:spPr>
        <p:txBody>
          <a:bodyPr wrap="square" rtlCol="0">
            <a:spAutoFit/>
          </a:bodyPr>
          <a:lstStyle/>
          <a:p>
            <a:r>
              <a:rPr lang="en-US" sz="4400" dirty="0" smtClean="0">
                <a:latin typeface="Times New Roman" panose="02020603050405020304" pitchFamily="18" charset="0"/>
                <a:cs typeface="Times New Roman" panose="02020603050405020304" pitchFamily="18" charset="0"/>
              </a:rPr>
              <a:t>A complex function is a rule that assigns each complex number z to another complex number w;</a:t>
            </a:r>
          </a:p>
          <a:p>
            <a:r>
              <a:rPr lang="en-US" sz="4400" dirty="0" smtClean="0">
                <a:latin typeface="Times New Roman" panose="02020603050405020304" pitchFamily="18" charset="0"/>
                <a:cs typeface="Times New Roman" panose="02020603050405020304" pitchFamily="18" charset="0"/>
              </a:rPr>
              <a:t> f : C → C   ;It is denoted w=f(z)</a:t>
            </a:r>
            <a:endParaRPr lang="en-US" sz="44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Rectangle 1"/>
              <p:cNvSpPr/>
              <p:nvPr/>
            </p:nvSpPr>
            <p:spPr>
              <a:xfrm>
                <a:off x="2520950" y="4845050"/>
                <a:ext cx="4343400" cy="3276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Example:</a:t>
                </a:r>
              </a:p>
              <a:p>
                <a:pPr marL="1485900" lvl="2" indent="-571500">
                  <a:buFont typeface="Arial" panose="020B0604020202020204" pitchFamily="34" charset="0"/>
                  <a:buChar char="•"/>
                </a:pPr>
                <a:r>
                  <a:rPr lang="en-US" sz="4400" dirty="0" smtClean="0">
                    <a:ln w="0"/>
                    <a:solidFill>
                      <a:schemeClr val="tx1"/>
                    </a:solidFill>
                    <a:latin typeface="Times New Roman" panose="02020603050405020304" pitchFamily="18" charset="0"/>
                    <a:cs typeface="Times New Roman" panose="02020603050405020304" pitchFamily="18" charset="0"/>
                  </a:rPr>
                  <a:t>f(z)=</a:t>
                </a:r>
                <a14:m>
                  <m:oMath xmlns:m="http://schemas.openxmlformats.org/officeDocument/2006/math">
                    <m:sSup>
                      <m:sSupPr>
                        <m:ctrlPr>
                          <a:rPr lang="en-US" sz="4400" b="0" i="1" smtClean="0">
                            <a:ln w="0"/>
                            <a:solidFill>
                              <a:schemeClr val="tx1"/>
                            </a:solidFill>
                            <a:latin typeface="Cambria Math" panose="02040503050406030204" pitchFamily="18" charset="0"/>
                            <a:cs typeface="Times New Roman" panose="02020603050405020304" pitchFamily="18" charset="0"/>
                          </a:rPr>
                        </m:ctrlPr>
                      </m:sSupPr>
                      <m:e>
                        <m:r>
                          <a:rPr lang="en-US" sz="4400" b="0" i="1" smtClean="0">
                            <a:ln w="0"/>
                            <a:solidFill>
                              <a:schemeClr val="tx1"/>
                            </a:solidFill>
                            <a:latin typeface="Cambria Math" panose="02040503050406030204" pitchFamily="18" charset="0"/>
                            <a:cs typeface="Times New Roman" panose="02020603050405020304" pitchFamily="18" charset="0"/>
                          </a:rPr>
                          <m:t>𝑧</m:t>
                        </m:r>
                      </m:e>
                      <m:sup>
                        <m:r>
                          <a:rPr lang="en-US" sz="4400" b="0" i="1" smtClean="0">
                            <a:ln w="0"/>
                            <a:solidFill>
                              <a:schemeClr val="tx1"/>
                            </a:solidFill>
                            <a:latin typeface="Cambria Math" panose="02040503050406030204" pitchFamily="18" charset="0"/>
                            <a:cs typeface="Times New Roman" panose="02020603050405020304" pitchFamily="18" charset="0"/>
                          </a:rPr>
                          <m:t>2</m:t>
                        </m:r>
                      </m:sup>
                    </m:sSup>
                  </m:oMath>
                </a14:m>
                <a:endParaRPr lang="en-US" sz="4400" b="0" dirty="0" smtClean="0">
                  <a:ln w="0"/>
                  <a:solidFill>
                    <a:schemeClr val="tx1"/>
                  </a:solidFill>
                  <a:latin typeface="Times New Roman" panose="02020603050405020304" pitchFamily="18" charset="0"/>
                  <a:cs typeface="Times New Roman" panose="02020603050405020304" pitchFamily="18" charset="0"/>
                </a:endParaRPr>
              </a:p>
              <a:p>
                <a:pPr marL="1485900" lvl="2" indent="-571500">
                  <a:buFont typeface="Arial" panose="020B0604020202020204" pitchFamily="34" charset="0"/>
                  <a:buChar char="•"/>
                </a:pPr>
                <a:r>
                  <a:rPr lang="en-US" sz="4400" dirty="0">
                    <a:ln w="0"/>
                    <a:solidFill>
                      <a:schemeClr val="tx1"/>
                    </a:solidFill>
                    <a:latin typeface="Times New Roman" panose="02020603050405020304" pitchFamily="18" charset="0"/>
                    <a:cs typeface="Times New Roman" panose="02020603050405020304" pitchFamily="18" charset="0"/>
                  </a:rPr>
                  <a:t>f</a:t>
                </a:r>
                <a:r>
                  <a:rPr lang="en-US" sz="4400" dirty="0" smtClean="0">
                    <a:ln w="0"/>
                    <a:solidFill>
                      <a:schemeClr val="tx1"/>
                    </a:solidFill>
                    <a:latin typeface="Times New Roman" panose="02020603050405020304" pitchFamily="18" charset="0"/>
                    <a:cs typeface="Times New Roman" panose="02020603050405020304" pitchFamily="18" charset="0"/>
                  </a:rPr>
                  <a:t>(z)=</a:t>
                </a:r>
                <a14:m>
                  <m:oMath xmlns:m="http://schemas.openxmlformats.org/officeDocument/2006/math">
                    <m:r>
                      <a:rPr lang="en-US" sz="4400" b="0" i="1" smtClean="0">
                        <a:ln w="0"/>
                        <a:solidFill>
                          <a:schemeClr val="tx1"/>
                        </a:solidFill>
                        <a:latin typeface="Cambria Math" panose="02040503050406030204" pitchFamily="18" charset="0"/>
                        <a:cs typeface="Times New Roman" panose="02020603050405020304" pitchFamily="18" charset="0"/>
                      </a:rPr>
                      <m:t>1\</m:t>
                    </m:r>
                    <m:r>
                      <m:rPr>
                        <m:sty m:val="p"/>
                      </m:rPr>
                      <a:rPr lang="en-US" sz="4400" b="0" i="1" smtClean="0">
                        <a:ln w="0"/>
                        <a:solidFill>
                          <a:schemeClr val="tx1"/>
                        </a:solidFill>
                        <a:latin typeface="Cambria Math" panose="02040503050406030204" pitchFamily="18" charset="0"/>
                        <a:cs typeface="Times New Roman" panose="02020603050405020304" pitchFamily="18" charset="0"/>
                      </a:rPr>
                      <m:t>z</m:t>
                    </m:r>
                    <m:r>
                      <a:rPr lang="en-US" sz="4400" b="0" i="1" smtClean="0">
                        <a:ln w="0"/>
                        <a:solidFill>
                          <a:schemeClr val="tx1"/>
                        </a:solidFill>
                        <a:latin typeface="Cambria Math" panose="02040503050406030204" pitchFamily="18" charset="0"/>
                        <a:cs typeface="Times New Roman" panose="02020603050405020304" pitchFamily="18" charset="0"/>
                      </a:rPr>
                      <m:t>  </m:t>
                    </m:r>
                  </m:oMath>
                </a14:m>
                <a:endParaRPr lang="en-US" sz="4400" b="0" dirty="0" smtClean="0">
                  <a:ln w="0"/>
                  <a:solidFill>
                    <a:schemeClr val="tx1"/>
                  </a:solidFill>
                  <a:latin typeface="Times New Roman" panose="02020603050405020304" pitchFamily="18" charset="0"/>
                  <a:cs typeface="Times New Roman" panose="02020603050405020304" pitchFamily="18" charset="0"/>
                </a:endParaRPr>
              </a:p>
              <a:p>
                <a:pPr marL="1485900" lvl="2" indent="-571500">
                  <a:buFont typeface="Arial" panose="020B0604020202020204" pitchFamily="34" charset="0"/>
                  <a:buChar char="•"/>
                </a:pPr>
                <a:r>
                  <a:rPr lang="en-US" sz="4400" dirty="0" smtClean="0">
                    <a:ln w="0"/>
                    <a:solidFill>
                      <a:schemeClr val="tx1"/>
                    </a:solidFill>
                    <a:latin typeface="Times New Roman" panose="02020603050405020304" pitchFamily="18" charset="0"/>
                    <a:cs typeface="Times New Roman" panose="02020603050405020304" pitchFamily="18" charset="0"/>
                  </a:rPr>
                  <a:t>f(z)=</a:t>
                </a:r>
                <a14:m>
                  <m:oMath xmlns:m="http://schemas.openxmlformats.org/officeDocument/2006/math">
                    <m:sSup>
                      <m:sSupPr>
                        <m:ctrlPr>
                          <a:rPr lang="en-US" sz="4400" b="0" i="1" smtClean="0">
                            <a:ln w="0"/>
                            <a:solidFill>
                              <a:schemeClr val="tx1"/>
                            </a:solidFill>
                            <a:latin typeface="Cambria Math" panose="02040503050406030204" pitchFamily="18" charset="0"/>
                            <a:cs typeface="Times New Roman" panose="02020603050405020304" pitchFamily="18" charset="0"/>
                          </a:rPr>
                        </m:ctrlPr>
                      </m:sSupPr>
                      <m:e>
                        <m:r>
                          <a:rPr lang="en-US" sz="4400" b="0" i="1" smtClean="0">
                            <a:ln w="0"/>
                            <a:solidFill>
                              <a:schemeClr val="tx1"/>
                            </a:solidFill>
                            <a:latin typeface="Cambria Math" panose="02040503050406030204" pitchFamily="18" charset="0"/>
                            <a:cs typeface="Times New Roman" panose="02020603050405020304" pitchFamily="18" charset="0"/>
                          </a:rPr>
                          <m:t>𝑒</m:t>
                        </m:r>
                      </m:e>
                      <m:sup>
                        <m:r>
                          <a:rPr lang="en-US" sz="4400" b="0" i="1" smtClean="0">
                            <a:ln w="0"/>
                            <a:solidFill>
                              <a:schemeClr val="tx1"/>
                            </a:solidFill>
                            <a:latin typeface="Cambria Math" panose="02040503050406030204" pitchFamily="18" charset="0"/>
                            <a:cs typeface="Times New Roman" panose="02020603050405020304" pitchFamily="18" charset="0"/>
                          </a:rPr>
                          <m:t>𝑧</m:t>
                        </m:r>
                      </m:sup>
                    </m:sSup>
                  </m:oMath>
                </a14:m>
                <a:endParaRPr lang="en-US" sz="4400" b="0" dirty="0" smtClean="0">
                  <a:ln w="0"/>
                  <a:solidFill>
                    <a:schemeClr val="tx1"/>
                  </a:solidFill>
                  <a:latin typeface="Times New Roman" panose="02020603050405020304" pitchFamily="18" charset="0"/>
                  <a:cs typeface="Times New Roman" panose="02020603050405020304" pitchFamily="18" charset="0"/>
                </a:endParaRPr>
              </a:p>
              <a:p>
                <a:pPr marL="1485900" lvl="2" indent="-571500">
                  <a:buFont typeface="Arial" panose="020B0604020202020204" pitchFamily="34" charset="0"/>
                  <a:buChar char="•"/>
                </a:pPr>
                <a:r>
                  <a:rPr lang="en-US" sz="4400" dirty="0" smtClean="0">
                    <a:ln w="0"/>
                    <a:solidFill>
                      <a:schemeClr val="tx1"/>
                    </a:solidFill>
                    <a:latin typeface="Times New Roman" panose="02020603050405020304" pitchFamily="18" charset="0"/>
                    <a:cs typeface="Times New Roman" panose="02020603050405020304" pitchFamily="18" charset="0"/>
                  </a:rPr>
                  <a:t>f(z)=Sin(z)          </a:t>
                </a:r>
                <a:endParaRPr lang="en-US" sz="4400" dirty="0">
                  <a:latin typeface="Times New Roman" panose="02020603050405020304" pitchFamily="18" charset="0"/>
                  <a:cs typeface="Times New Roman" panose="02020603050405020304"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2520950" y="4845050"/>
                <a:ext cx="4343400" cy="3276600"/>
              </a:xfrm>
              <a:prstGeom prst="rect">
                <a:avLst/>
              </a:prstGeom>
              <a:blipFill rotWithShape="0">
                <a:blip r:embed="rId3"/>
                <a:stretch>
                  <a:fillRect l="-6180" t="-6704" r="-33567" b="-11732"/>
                </a:stretch>
              </a:blipFill>
              <a:ln>
                <a:noFill/>
              </a:ln>
            </p:spPr>
            <p:txBody>
              <a:bodyPr/>
              <a:lstStyle/>
              <a:p>
                <a:r>
                  <a:rPr lang="en-US">
                    <a:noFill/>
                  </a:rPr>
                  <a:t> </a:t>
                </a:r>
              </a:p>
            </p:txBody>
          </p:sp>
        </mc:Fallback>
      </mc:AlternateContent>
      <p:sp>
        <p:nvSpPr>
          <p:cNvPr id="5" name="Rectangle 4"/>
          <p:cNvSpPr/>
          <p:nvPr/>
        </p:nvSpPr>
        <p:spPr>
          <a:xfrm>
            <a:off x="1301750" y="8121650"/>
            <a:ext cx="15925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These functions often behave more smoothly than real functions, which is a key reason complex analysis is so powerful.</a:t>
            </a:r>
          </a:p>
        </p:txBody>
      </p:sp>
      <p:grpSp>
        <p:nvGrpSpPr>
          <p:cNvPr id="48" name="Group 47"/>
          <p:cNvGrpSpPr/>
          <p:nvPr/>
        </p:nvGrpSpPr>
        <p:grpSpPr>
          <a:xfrm>
            <a:off x="8966202" y="4483051"/>
            <a:ext cx="4400550" cy="3714799"/>
            <a:chOff x="8966202" y="4242355"/>
            <a:chExt cx="4400550" cy="3714799"/>
          </a:xfrm>
        </p:grpSpPr>
        <p:grpSp>
          <p:nvGrpSpPr>
            <p:cNvPr id="23" name="Group 22"/>
            <p:cNvGrpSpPr/>
            <p:nvPr/>
          </p:nvGrpSpPr>
          <p:grpSpPr>
            <a:xfrm>
              <a:off x="8966202" y="4242355"/>
              <a:ext cx="4400550" cy="3714799"/>
              <a:chOff x="8945562" y="4656019"/>
              <a:chExt cx="4400550" cy="3714799"/>
            </a:xfrm>
          </p:grpSpPr>
          <p:grpSp>
            <p:nvGrpSpPr>
              <p:cNvPr id="21" name="Group 20"/>
              <p:cNvGrpSpPr/>
              <p:nvPr/>
            </p:nvGrpSpPr>
            <p:grpSpPr>
              <a:xfrm>
                <a:off x="8945562" y="4656019"/>
                <a:ext cx="4400550" cy="3714799"/>
                <a:chOff x="8945562" y="4656019"/>
                <a:chExt cx="4400550" cy="3714799"/>
              </a:xfrm>
            </p:grpSpPr>
            <p:grpSp>
              <p:nvGrpSpPr>
                <p:cNvPr id="16" name="Group 15"/>
                <p:cNvGrpSpPr/>
                <p:nvPr/>
              </p:nvGrpSpPr>
              <p:grpSpPr>
                <a:xfrm>
                  <a:off x="9417050" y="5226050"/>
                  <a:ext cx="3238500" cy="2667000"/>
                  <a:chOff x="8235950" y="4845050"/>
                  <a:chExt cx="3238500" cy="2667000"/>
                </a:xfrm>
              </p:grpSpPr>
              <p:cxnSp>
                <p:nvCxnSpPr>
                  <p:cNvPr id="7" name="Straight Arrow Connector 6"/>
                  <p:cNvCxnSpPr/>
                  <p:nvPr/>
                </p:nvCxnSpPr>
                <p:spPr>
                  <a:xfrm flipV="1">
                    <a:off x="8235950" y="4845050"/>
                    <a:ext cx="0" cy="2667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8235950" y="7372350"/>
                    <a:ext cx="3238500" cy="1206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8235950" y="5759450"/>
                    <a:ext cx="2133600" cy="17335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 name="TextBox 16"/>
                <p:cNvSpPr txBox="1"/>
                <p:nvPr/>
              </p:nvSpPr>
              <p:spPr>
                <a:xfrm>
                  <a:off x="9150350" y="4656019"/>
                  <a:ext cx="1143000" cy="769441"/>
                </a:xfrm>
                <a:prstGeom prst="rect">
                  <a:avLst/>
                </a:prstGeom>
                <a:noFill/>
              </p:spPr>
              <p:txBody>
                <a:bodyPr wrap="square" rtlCol="0">
                  <a:spAutoFit/>
                </a:bodyPr>
                <a:lstStyle/>
                <a:p>
                  <a:r>
                    <a:rPr lang="en-US" sz="4400" dirty="0" smtClean="0"/>
                    <a:t>Y</a:t>
                  </a:r>
                  <a:endParaRPr lang="en-US" sz="4400" dirty="0"/>
                </a:p>
              </p:txBody>
            </p:sp>
            <p:sp>
              <p:nvSpPr>
                <p:cNvPr id="18" name="TextBox 17"/>
                <p:cNvSpPr txBox="1"/>
                <p:nvPr/>
              </p:nvSpPr>
              <p:spPr>
                <a:xfrm>
                  <a:off x="8945562" y="7662932"/>
                  <a:ext cx="638175" cy="707886"/>
                </a:xfrm>
                <a:prstGeom prst="rect">
                  <a:avLst/>
                </a:prstGeom>
                <a:noFill/>
              </p:spPr>
              <p:txBody>
                <a:bodyPr wrap="square" rtlCol="0">
                  <a:spAutoFit/>
                </a:bodyPr>
                <a:lstStyle/>
                <a:p>
                  <a:r>
                    <a:rPr lang="en-US" sz="4000" dirty="0" smtClean="0"/>
                    <a:t>O</a:t>
                  </a:r>
                  <a:endParaRPr lang="en-US" sz="4000" dirty="0"/>
                </a:p>
              </p:txBody>
            </p:sp>
            <p:sp>
              <p:nvSpPr>
                <p:cNvPr id="19" name="TextBox 18"/>
                <p:cNvSpPr txBox="1"/>
                <p:nvPr/>
              </p:nvSpPr>
              <p:spPr>
                <a:xfrm>
                  <a:off x="12507912" y="7399407"/>
                  <a:ext cx="838200" cy="707886"/>
                </a:xfrm>
                <a:prstGeom prst="rect">
                  <a:avLst/>
                </a:prstGeom>
                <a:noFill/>
              </p:spPr>
              <p:txBody>
                <a:bodyPr wrap="square" rtlCol="0">
                  <a:spAutoFit/>
                </a:bodyPr>
                <a:lstStyle/>
                <a:p>
                  <a:r>
                    <a:rPr lang="en-US" sz="4000" dirty="0" smtClean="0"/>
                    <a:t>X</a:t>
                  </a:r>
                  <a:endParaRPr lang="en-US" sz="4000" dirty="0"/>
                </a:p>
              </p:txBody>
            </p:sp>
            <p:sp>
              <p:nvSpPr>
                <p:cNvPr id="20" name="TextBox 19"/>
                <p:cNvSpPr txBox="1"/>
                <p:nvPr/>
              </p:nvSpPr>
              <p:spPr>
                <a:xfrm rot="19839784">
                  <a:off x="11441985" y="5380711"/>
                  <a:ext cx="1257300" cy="707886"/>
                </a:xfrm>
                <a:prstGeom prst="rect">
                  <a:avLst/>
                </a:prstGeom>
                <a:noFill/>
              </p:spPr>
              <p:txBody>
                <a:bodyPr wrap="square" rtlCol="0">
                  <a:spAutoFit/>
                </a:bodyPr>
                <a:lstStyle/>
                <a:p>
                  <a:r>
                    <a:rPr lang="en-US" sz="4000" dirty="0" smtClean="0">
                      <a:latin typeface="Times New Roman" panose="02020603050405020304" pitchFamily="18" charset="0"/>
                      <a:cs typeface="Times New Roman" panose="02020603050405020304" pitchFamily="18" charset="0"/>
                    </a:rPr>
                    <a:t>(</a:t>
                  </a:r>
                  <a:r>
                    <a:rPr lang="en-US" sz="4000" dirty="0" err="1" smtClean="0">
                      <a:latin typeface="Times New Roman" panose="02020603050405020304" pitchFamily="18" charset="0"/>
                      <a:cs typeface="Times New Roman" panose="02020603050405020304" pitchFamily="18" charset="0"/>
                    </a:rPr>
                    <a:t>x,y</a:t>
                  </a:r>
                  <a:r>
                    <a:rPr lang="en-US" sz="4000" dirty="0" smtClean="0">
                      <a:latin typeface="Times New Roman" panose="02020603050405020304" pitchFamily="18" charset="0"/>
                      <a:cs typeface="Times New Roman" panose="02020603050405020304" pitchFamily="18" charset="0"/>
                    </a:rPr>
                    <a:t>)</a:t>
                  </a:r>
                  <a:endParaRPr lang="en-US" sz="4000" dirty="0">
                    <a:latin typeface="Times New Roman" panose="02020603050405020304" pitchFamily="18" charset="0"/>
                    <a:cs typeface="Times New Roman" panose="02020603050405020304" pitchFamily="18" charset="0"/>
                  </a:endParaRPr>
                </a:p>
              </p:txBody>
            </p:sp>
          </p:grpSp>
          <p:sp>
            <p:nvSpPr>
              <p:cNvPr id="22" name="TextBox 21"/>
              <p:cNvSpPr txBox="1"/>
              <p:nvPr/>
            </p:nvSpPr>
            <p:spPr>
              <a:xfrm rot="19331906">
                <a:off x="9607549" y="6140450"/>
                <a:ext cx="1741643"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z</a:t>
                </a:r>
                <a:r>
                  <a:rPr lang="en-US" sz="3600" dirty="0" smtClean="0">
                    <a:latin typeface="Times New Roman" panose="02020603050405020304" pitchFamily="18" charset="0"/>
                    <a:cs typeface="Times New Roman" panose="02020603050405020304" pitchFamily="18" charset="0"/>
                  </a:rPr>
                  <a:t>=</a:t>
                </a:r>
                <a:r>
                  <a:rPr lang="en-US" sz="3600" dirty="0" err="1" smtClean="0">
                    <a:latin typeface="Times New Roman" panose="02020603050405020304" pitchFamily="18" charset="0"/>
                    <a:cs typeface="Times New Roman" panose="02020603050405020304" pitchFamily="18" charset="0"/>
                  </a:rPr>
                  <a:t>x+iy</a:t>
                </a:r>
                <a:endParaRPr lang="en-US" sz="3600" dirty="0">
                  <a:latin typeface="Times New Roman" panose="02020603050405020304" pitchFamily="18" charset="0"/>
                  <a:cs typeface="Times New Roman" panose="02020603050405020304" pitchFamily="18" charset="0"/>
                </a:endParaRPr>
              </a:p>
            </p:txBody>
          </p:sp>
        </p:grpSp>
        <p:sp>
          <p:nvSpPr>
            <p:cNvPr id="24" name="TextBox 23"/>
            <p:cNvSpPr txBox="1"/>
            <p:nvPr/>
          </p:nvSpPr>
          <p:spPr>
            <a:xfrm>
              <a:off x="10101265" y="7415727"/>
              <a:ext cx="1905000" cy="523220"/>
            </a:xfrm>
            <a:prstGeom prst="rect">
              <a:avLst/>
            </a:prstGeom>
            <a:noFill/>
          </p:spPr>
          <p:txBody>
            <a:bodyPr wrap="square" rtlCol="0">
              <a:spAutoFit/>
            </a:bodyPr>
            <a:lstStyle/>
            <a:p>
              <a:r>
                <a:rPr lang="en-US" sz="2800" dirty="0" smtClean="0"/>
                <a:t>Z-Plane</a:t>
              </a:r>
              <a:endParaRPr lang="en-US" sz="2800" dirty="0"/>
            </a:p>
          </p:txBody>
        </p:sp>
      </p:grpSp>
      <p:grpSp>
        <p:nvGrpSpPr>
          <p:cNvPr id="49" name="Group 48"/>
          <p:cNvGrpSpPr/>
          <p:nvPr/>
        </p:nvGrpSpPr>
        <p:grpSpPr>
          <a:xfrm>
            <a:off x="13741400" y="4406851"/>
            <a:ext cx="4400550" cy="3714799"/>
            <a:chOff x="13808075" y="4077860"/>
            <a:chExt cx="4400550" cy="3714799"/>
          </a:xfrm>
        </p:grpSpPr>
        <p:grpSp>
          <p:nvGrpSpPr>
            <p:cNvPr id="25" name="Group 24"/>
            <p:cNvGrpSpPr/>
            <p:nvPr/>
          </p:nvGrpSpPr>
          <p:grpSpPr>
            <a:xfrm>
              <a:off x="13808075" y="4077860"/>
              <a:ext cx="4400550" cy="3714799"/>
              <a:chOff x="8945562" y="4656019"/>
              <a:chExt cx="4400550" cy="3714799"/>
            </a:xfrm>
          </p:grpSpPr>
          <p:grpSp>
            <p:nvGrpSpPr>
              <p:cNvPr id="26" name="Group 25"/>
              <p:cNvGrpSpPr/>
              <p:nvPr/>
            </p:nvGrpSpPr>
            <p:grpSpPr>
              <a:xfrm>
                <a:off x="8945562" y="4656019"/>
                <a:ext cx="4400550" cy="3714799"/>
                <a:chOff x="8945562" y="4656019"/>
                <a:chExt cx="4400550" cy="3714799"/>
              </a:xfrm>
            </p:grpSpPr>
            <p:grpSp>
              <p:nvGrpSpPr>
                <p:cNvPr id="28" name="Group 27"/>
                <p:cNvGrpSpPr/>
                <p:nvPr/>
              </p:nvGrpSpPr>
              <p:grpSpPr>
                <a:xfrm>
                  <a:off x="9417050" y="5226050"/>
                  <a:ext cx="3238500" cy="2667000"/>
                  <a:chOff x="8235950" y="4845050"/>
                  <a:chExt cx="3238500" cy="2667000"/>
                </a:xfrm>
              </p:grpSpPr>
              <p:cxnSp>
                <p:nvCxnSpPr>
                  <p:cNvPr id="33" name="Straight Arrow Connector 32"/>
                  <p:cNvCxnSpPr/>
                  <p:nvPr/>
                </p:nvCxnSpPr>
                <p:spPr>
                  <a:xfrm flipV="1">
                    <a:off x="8235950" y="4845050"/>
                    <a:ext cx="0" cy="2667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8235950" y="7372350"/>
                    <a:ext cx="3238500" cy="1206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8235950" y="5759450"/>
                    <a:ext cx="2133600" cy="17335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p:cNvSpPr txBox="1"/>
                <p:nvPr/>
              </p:nvSpPr>
              <p:spPr>
                <a:xfrm>
                  <a:off x="9150350" y="4656019"/>
                  <a:ext cx="1143000" cy="769441"/>
                </a:xfrm>
                <a:prstGeom prst="rect">
                  <a:avLst/>
                </a:prstGeom>
                <a:noFill/>
              </p:spPr>
              <p:txBody>
                <a:bodyPr wrap="square" rtlCol="0">
                  <a:spAutoFit/>
                </a:bodyPr>
                <a:lstStyle/>
                <a:p>
                  <a:r>
                    <a:rPr lang="en-US" sz="4400" dirty="0" smtClean="0"/>
                    <a:t>Y</a:t>
                  </a:r>
                  <a:endParaRPr lang="en-US" sz="4400" dirty="0"/>
                </a:p>
              </p:txBody>
            </p:sp>
            <p:sp>
              <p:nvSpPr>
                <p:cNvPr id="30" name="TextBox 29"/>
                <p:cNvSpPr txBox="1"/>
                <p:nvPr/>
              </p:nvSpPr>
              <p:spPr>
                <a:xfrm>
                  <a:off x="8945562" y="7662932"/>
                  <a:ext cx="638175" cy="707886"/>
                </a:xfrm>
                <a:prstGeom prst="rect">
                  <a:avLst/>
                </a:prstGeom>
                <a:noFill/>
              </p:spPr>
              <p:txBody>
                <a:bodyPr wrap="square" rtlCol="0">
                  <a:spAutoFit/>
                </a:bodyPr>
                <a:lstStyle/>
                <a:p>
                  <a:r>
                    <a:rPr lang="en-US" sz="4000" dirty="0" smtClean="0"/>
                    <a:t>O</a:t>
                  </a:r>
                  <a:endParaRPr lang="en-US" sz="4000" dirty="0"/>
                </a:p>
              </p:txBody>
            </p:sp>
            <p:sp>
              <p:nvSpPr>
                <p:cNvPr id="31" name="TextBox 30"/>
                <p:cNvSpPr txBox="1"/>
                <p:nvPr/>
              </p:nvSpPr>
              <p:spPr>
                <a:xfrm>
                  <a:off x="12507912" y="7399407"/>
                  <a:ext cx="838200" cy="707886"/>
                </a:xfrm>
                <a:prstGeom prst="rect">
                  <a:avLst/>
                </a:prstGeom>
                <a:noFill/>
              </p:spPr>
              <p:txBody>
                <a:bodyPr wrap="square" rtlCol="0">
                  <a:spAutoFit/>
                </a:bodyPr>
                <a:lstStyle/>
                <a:p>
                  <a:r>
                    <a:rPr lang="en-US" sz="4000" dirty="0" smtClean="0"/>
                    <a:t>X</a:t>
                  </a:r>
                  <a:endParaRPr lang="en-US" sz="4000" dirty="0"/>
                </a:p>
              </p:txBody>
            </p:sp>
            <p:sp>
              <p:nvSpPr>
                <p:cNvPr id="32" name="TextBox 31"/>
                <p:cNvSpPr txBox="1"/>
                <p:nvPr/>
              </p:nvSpPr>
              <p:spPr>
                <a:xfrm rot="19839784">
                  <a:off x="11426079" y="5319947"/>
                  <a:ext cx="1505346" cy="707886"/>
                </a:xfrm>
                <a:prstGeom prst="rect">
                  <a:avLst/>
                </a:prstGeom>
                <a:noFill/>
              </p:spPr>
              <p:txBody>
                <a:bodyPr wrap="square" rtlCol="0">
                  <a:spAutoFit/>
                </a:bodyPr>
                <a:lstStyle/>
                <a:p>
                  <a:r>
                    <a:rPr lang="en-US" sz="4000" dirty="0" smtClean="0">
                      <a:latin typeface="Times New Roman" panose="02020603050405020304" pitchFamily="18" charset="0"/>
                      <a:cs typeface="Times New Roman" panose="02020603050405020304" pitchFamily="18" charset="0"/>
                    </a:rPr>
                    <a:t>(U,V)</a:t>
                  </a:r>
                  <a:endParaRPr lang="en-US" sz="4000" dirty="0">
                    <a:latin typeface="Times New Roman" panose="02020603050405020304" pitchFamily="18" charset="0"/>
                    <a:cs typeface="Times New Roman" panose="02020603050405020304" pitchFamily="18" charset="0"/>
                  </a:endParaRPr>
                </a:p>
              </p:txBody>
            </p:sp>
          </p:grpSp>
          <p:sp>
            <p:nvSpPr>
              <p:cNvPr id="27" name="TextBox 26"/>
              <p:cNvSpPr txBox="1"/>
              <p:nvPr/>
            </p:nvSpPr>
            <p:spPr>
              <a:xfrm rot="19331906">
                <a:off x="9607549" y="6140450"/>
                <a:ext cx="1741643" cy="646331"/>
              </a:xfrm>
              <a:prstGeom prst="rect">
                <a:avLst/>
              </a:prstGeom>
              <a:no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z=</a:t>
                </a:r>
                <a:r>
                  <a:rPr lang="en-US" sz="3600" dirty="0" err="1" smtClean="0">
                    <a:latin typeface="Times New Roman" panose="02020603050405020304" pitchFamily="18" charset="0"/>
                    <a:cs typeface="Times New Roman" panose="02020603050405020304" pitchFamily="18" charset="0"/>
                  </a:rPr>
                  <a:t>u+iv</a:t>
                </a:r>
                <a:endParaRPr lang="en-US" sz="3600" dirty="0">
                  <a:latin typeface="Times New Roman" panose="02020603050405020304" pitchFamily="18" charset="0"/>
                  <a:cs typeface="Times New Roman" panose="02020603050405020304" pitchFamily="18" charset="0"/>
                </a:endParaRPr>
              </a:p>
            </p:txBody>
          </p:sp>
        </p:grpSp>
        <p:sp>
          <p:nvSpPr>
            <p:cNvPr id="36" name="TextBox 35"/>
            <p:cNvSpPr txBox="1"/>
            <p:nvPr/>
          </p:nvSpPr>
          <p:spPr>
            <a:xfrm>
              <a:off x="15236826" y="7254572"/>
              <a:ext cx="1538287" cy="523220"/>
            </a:xfrm>
            <a:prstGeom prst="rect">
              <a:avLst/>
            </a:prstGeom>
            <a:noFill/>
          </p:spPr>
          <p:txBody>
            <a:bodyPr wrap="square" rtlCol="0">
              <a:spAutoFit/>
            </a:bodyPr>
            <a:lstStyle/>
            <a:p>
              <a:r>
                <a:rPr lang="en-US" sz="2800" dirty="0" smtClean="0"/>
                <a:t>W-Plane</a:t>
              </a:r>
              <a:endParaRPr lang="en-US" sz="2800" dirty="0"/>
            </a:p>
          </p:txBody>
        </p:sp>
      </p:grpSp>
    </p:spTree>
    <p:extLst>
      <p:ext uri="{BB962C8B-B14F-4D97-AF65-F5344CB8AC3E}">
        <p14:creationId xmlns:p14="http://schemas.microsoft.com/office/powerpoint/2010/main" val="3816572636"/>
      </p:ext>
    </p:extLst>
  </p:cSld>
  <p:clrMapOvr>
    <a:masterClrMapping/>
  </p:clrMapOvr>
  <mc:AlternateContent xmlns:mc="http://schemas.openxmlformats.org/markup-compatibility/2006" xmlns:p14="http://schemas.microsoft.com/office/powerpoint/2010/main">
    <mc:Choice Requires="p14">
      <p:transition spd="med" p14:dur="700" advTm="61923">
        <p:fade/>
      </p:transition>
    </mc:Choice>
    <mc:Fallback xmlns="">
      <p:transition spd="med" advTm="61923">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0CBBAA1-361B-4E83-8230-81D46462FAE2}"/>
              </a:ext>
            </a:extLst>
          </p:cNvPr>
          <p:cNvSpPr>
            <a:spLocks noGrp="1"/>
          </p:cNvSpPr>
          <p:nvPr>
            <p:ph type="title"/>
          </p:nvPr>
        </p:nvSpPr>
        <p:spPr/>
        <p:txBody>
          <a:bodyPr/>
          <a:lstStyle/>
          <a:p>
            <a:endParaRPr lang="en-US"/>
          </a:p>
        </p:txBody>
      </p:sp>
      <p:pic>
        <p:nvPicPr>
          <p:cNvPr id="5122" name="Picture 2" descr="Powerpoint Background&quot; Images – Browse 13,951 Stock Photos, Vectors, and  Video | Adobe Stock">
            <a:extLst>
              <a:ext uri="{FF2B5EF4-FFF2-40B4-BE49-F238E27FC236}">
                <a16:creationId xmlns="" xmlns:a16="http://schemas.microsoft.com/office/drawing/2014/main" id="{27915A2E-0F1A-4618-834D-2C373BC3CB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0"/>
            <a:ext cx="18305639" cy="103314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 xmlns:a16="http://schemas.microsoft.com/office/drawing/2014/main" id="{5EA5BC5D-8BBF-4AE1-A2F4-9EDDE7211DAC}"/>
              </a:ext>
            </a:extLst>
          </p:cNvPr>
          <p:cNvSpPr txBox="1"/>
          <p:nvPr/>
        </p:nvSpPr>
        <p:spPr>
          <a:xfrm>
            <a:off x="996949" y="844552"/>
            <a:ext cx="15925801" cy="1015663"/>
          </a:xfrm>
          <a:prstGeom prst="rect">
            <a:avLst/>
          </a:prstGeom>
          <a:noFill/>
        </p:spPr>
        <p:txBody>
          <a:bodyPr wrap="square" rtlCol="0">
            <a:spAutoFit/>
          </a:bodyPr>
          <a:lstStyle/>
          <a:p>
            <a:r>
              <a:rPr lang="en-US" sz="6000" dirty="0" smtClean="0">
                <a:solidFill>
                  <a:schemeClr val="accent6">
                    <a:lumMod val="50000"/>
                  </a:schemeClr>
                </a:solidFill>
                <a:latin typeface="Algerian" panose="04020705040A02060702" pitchFamily="82" charset="0"/>
              </a:rPr>
              <a:t>Differentiability </a:t>
            </a:r>
            <a:r>
              <a:rPr lang="en-US" sz="6000" dirty="0">
                <a:solidFill>
                  <a:schemeClr val="accent6">
                    <a:lumMod val="50000"/>
                  </a:schemeClr>
                </a:solidFill>
                <a:latin typeface="Algerian" panose="04020705040A02060702" pitchFamily="82" charset="0"/>
              </a:rPr>
              <a:t>in Complex </a:t>
            </a:r>
            <a:r>
              <a:rPr lang="en-US" sz="6000" dirty="0" smtClean="0">
                <a:solidFill>
                  <a:schemeClr val="accent6">
                    <a:lumMod val="50000"/>
                  </a:schemeClr>
                </a:solidFill>
                <a:latin typeface="Algerian" panose="04020705040A02060702" pitchFamily="82" charset="0"/>
              </a:rPr>
              <a:t>Analysis</a:t>
            </a:r>
            <a:endParaRPr lang="en-US" sz="6000" dirty="0">
              <a:solidFill>
                <a:schemeClr val="accent6">
                  <a:lumMod val="50000"/>
                </a:schemeClr>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5" name="Rectangle 4"/>
              <p:cNvSpPr/>
              <p:nvPr/>
            </p:nvSpPr>
            <p:spPr>
              <a:xfrm>
                <a:off x="1493118" y="2755489"/>
                <a:ext cx="15773401" cy="56025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 function f(z) is </a:t>
                </a:r>
                <a:r>
                  <a:rPr lang="en-US" sz="4400" dirty="0" err="1"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differentiale</a:t>
                </a:r>
                <a:r>
                  <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 point if : </a:t>
                </a:r>
              </a:p>
              <a:p>
                <a:pPr/>
                <a14:m>
                  <m:oMathPara xmlns:m="http://schemas.openxmlformats.org/officeDocument/2006/math">
                    <m:oMathParaPr>
                      <m:jc m:val="centerGroup"/>
                    </m:oMathParaPr>
                    <m:oMath xmlns:m="http://schemas.openxmlformats.org/officeDocument/2006/math">
                      <m:func>
                        <m:funcPr>
                          <m:ctrlPr>
                            <a:rPr lang="en-US" sz="4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funcPr>
                        <m:fName>
                          <m:limLow>
                            <m:limLowPr>
                              <m:ctrlPr>
                                <a:rPr lang="en-US" sz="4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limLowPr>
                            <m:e>
                              <m:r>
                                <m:rPr>
                                  <m:sty m:val="p"/>
                                </m:rPr>
                                <a:rPr lang="en-US" sz="4400" i="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lim</m:t>
                              </m:r>
                            </m:e>
                            <m:lim>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h</m:t>
                              </m:r>
                              <m:r>
                                <a:rPr lang="en-US" sz="4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m:t>
                              </m:r>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0</m:t>
                              </m:r>
                            </m:lim>
                          </m:limLow>
                        </m:fName>
                        <m:e>
                          <m:f>
                            <m:fPr>
                              <m:ctrlPr>
                                <a:rPr lang="en-US" sz="4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fPr>
                            <m:num>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𝑓</m:t>
                              </m:r>
                              <m:d>
                                <m:dPr>
                                  <m:ctrlP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dPr>
                                <m:e>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𝑧</m:t>
                                  </m:r>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m:t>
                                  </m:r>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h</m:t>
                                  </m:r>
                                </m:e>
                              </m:d>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m:t>
                              </m:r>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𝑓</m:t>
                              </m:r>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m:t>
                              </m:r>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𝑧</m:t>
                              </m:r>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m:t>
                              </m:r>
                            </m:num>
                            <m:den>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h</m:t>
                              </m:r>
                            </m:den>
                          </m:f>
                        </m:e>
                      </m:func>
                    </m:oMath>
                  </m:oMathPara>
                </a14:m>
                <a:endParaRPr lang="en-US" sz="4400" dirty="0" smtClean="0">
                  <a:latin typeface="Times New Roman" panose="02020603050405020304" pitchFamily="18" charset="0"/>
                  <a:cs typeface="Times New Roman" panose="02020603050405020304" pitchFamily="18" charset="0"/>
                </a:endParaRPr>
              </a:p>
              <a:p>
                <a:r>
                  <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exists and is independent of the direction from which h approaches 0.</a:t>
                </a:r>
              </a:p>
              <a:p>
                <a:endPar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r>
                  <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Unlike real analysis, Complex differentiability is a very strong condition.</a:t>
                </a:r>
              </a:p>
              <a:p>
                <a:r>
                  <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endParaRPr lang="en-US" sz="4400" dirty="0">
                  <a:latin typeface="Times New Roman" panose="02020603050405020304" pitchFamily="18" charset="0"/>
                  <a:cs typeface="Times New Roman" panose="020206030504050203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493118" y="2755489"/>
                <a:ext cx="15773401" cy="5602536"/>
              </a:xfrm>
              <a:prstGeom prst="rect">
                <a:avLst/>
              </a:prstGeom>
              <a:blipFill rotWithShape="0">
                <a:blip r:embed="rId3"/>
                <a:stretch>
                  <a:fillRect l="-1662" t="-762" r="-1314"/>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181820072"/>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2,232 Brown Bg Stock Vectors and Vector Art | Shutterstock">
            <a:extLst>
              <a:ext uri="{FF2B5EF4-FFF2-40B4-BE49-F238E27FC236}">
                <a16:creationId xmlns="" xmlns:a16="http://schemas.microsoft.com/office/drawing/2014/main" id="{E52C4F7B-96BE-40D1-AC5A-A736D232E4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 y="-26307"/>
            <a:ext cx="18294351" cy="1035775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 xmlns:a16="http://schemas.microsoft.com/office/drawing/2014/main" id="{E9143F76-A671-4651-9C25-BA29C844F8E0}"/>
              </a:ext>
            </a:extLst>
          </p:cNvPr>
          <p:cNvSpPr txBox="1"/>
          <p:nvPr/>
        </p:nvSpPr>
        <p:spPr>
          <a:xfrm>
            <a:off x="3187700" y="806450"/>
            <a:ext cx="11925300" cy="1138773"/>
          </a:xfrm>
          <a:prstGeom prst="rect">
            <a:avLst/>
          </a:prstGeom>
          <a:noFill/>
        </p:spPr>
        <p:txBody>
          <a:bodyPr wrap="square" rtlCol="0">
            <a:spAutoFit/>
          </a:bodyPr>
          <a:lstStyle/>
          <a:p>
            <a:pPr algn="ctr"/>
            <a:r>
              <a:rPr lang="en-US" sz="5400" kern="0" dirty="0" smtClean="0">
                <a:solidFill>
                  <a:srgbClr val="FF0000"/>
                </a:solidFill>
                <a:latin typeface="Algerian" panose="04020705040A02060702" pitchFamily="82" charset="0"/>
              </a:rPr>
              <a:t>Cauchy–Riemann Equations</a:t>
            </a:r>
            <a:endParaRPr lang="en-US" sz="5400" kern="0" dirty="0">
              <a:solidFill>
                <a:srgbClr val="FF0000"/>
              </a:solidFill>
              <a:latin typeface="Algerian" panose="04020705040A02060702" pitchFamily="82" charset="0"/>
            </a:endParaRPr>
          </a:p>
          <a:p>
            <a:endParaRPr lang="en-US" sz="1400" dirty="0"/>
          </a:p>
        </p:txBody>
      </p:sp>
      <mc:AlternateContent xmlns:mc="http://schemas.openxmlformats.org/markup-compatibility/2006">
        <mc:Choice xmlns:a14="http://schemas.microsoft.com/office/drawing/2010/main" Requires="a14">
          <p:sp>
            <p:nvSpPr>
              <p:cNvPr id="4" name="TextBox 3"/>
              <p:cNvSpPr txBox="1"/>
              <p:nvPr/>
            </p:nvSpPr>
            <p:spPr>
              <a:xfrm>
                <a:off x="2444750" y="2940050"/>
                <a:ext cx="14401800" cy="5903154"/>
              </a:xfrm>
              <a:prstGeom prst="rect">
                <a:avLst/>
              </a:prstGeom>
              <a:noFill/>
            </p:spPr>
            <p:txBody>
              <a:bodyPr wrap="square" rtlCol="0">
                <a:spAutoFit/>
              </a:bodyPr>
              <a:lstStyle/>
              <a:p>
                <a:r>
                  <a:rPr lang="en-US" sz="4400" dirty="0" smtClean="0">
                    <a:latin typeface="Times New Roman" panose="02020603050405020304" pitchFamily="18" charset="0"/>
                    <a:cs typeface="Times New Roman" panose="02020603050405020304" pitchFamily="18" charset="0"/>
                  </a:rPr>
                  <a:t>If  f(z) = U(</a:t>
                </a:r>
                <a:r>
                  <a:rPr lang="en-US" sz="4400" dirty="0" err="1" smtClean="0">
                    <a:latin typeface="Times New Roman" panose="02020603050405020304" pitchFamily="18" charset="0"/>
                    <a:cs typeface="Times New Roman" panose="02020603050405020304" pitchFamily="18" charset="0"/>
                  </a:rPr>
                  <a:t>x,y</a:t>
                </a:r>
                <a:r>
                  <a:rPr lang="en-US" sz="4400" dirty="0" smtClean="0">
                    <a:latin typeface="Times New Roman" panose="02020603050405020304" pitchFamily="18" charset="0"/>
                    <a:cs typeface="Times New Roman" panose="02020603050405020304" pitchFamily="18" charset="0"/>
                  </a:rPr>
                  <a:t>) + </a:t>
                </a:r>
                <a:r>
                  <a:rPr lang="en-US" sz="4400" dirty="0" err="1" smtClean="0">
                    <a:latin typeface="Times New Roman" panose="02020603050405020304" pitchFamily="18" charset="0"/>
                    <a:cs typeface="Times New Roman" panose="02020603050405020304" pitchFamily="18" charset="0"/>
                  </a:rPr>
                  <a:t>iV</a:t>
                </a:r>
                <a:r>
                  <a:rPr lang="en-US" sz="4400" dirty="0" smtClean="0">
                    <a:latin typeface="Times New Roman" panose="02020603050405020304" pitchFamily="18" charset="0"/>
                    <a:cs typeface="Times New Roman" panose="02020603050405020304" pitchFamily="18" charset="0"/>
                  </a:rPr>
                  <a:t>(</a:t>
                </a:r>
                <a:r>
                  <a:rPr lang="en-US" sz="4400" dirty="0" err="1" smtClean="0">
                    <a:latin typeface="Times New Roman" panose="02020603050405020304" pitchFamily="18" charset="0"/>
                    <a:cs typeface="Times New Roman" panose="02020603050405020304" pitchFamily="18" charset="0"/>
                  </a:rPr>
                  <a:t>x,y</a:t>
                </a:r>
                <a:r>
                  <a:rPr lang="en-US" sz="4400" dirty="0" smtClean="0">
                    <a:latin typeface="Times New Roman" panose="02020603050405020304" pitchFamily="18" charset="0"/>
                    <a:cs typeface="Times New Roman" panose="02020603050405020304" pitchFamily="18" charset="0"/>
                  </a:rPr>
                  <a:t>) </a:t>
                </a:r>
              </a:p>
              <a:p>
                <a:r>
                  <a:rPr lang="en-US" sz="4400" dirty="0" smtClean="0">
                    <a:latin typeface="Times New Roman" panose="02020603050405020304" pitchFamily="18" charset="0"/>
                    <a:cs typeface="Times New Roman" panose="02020603050405020304" pitchFamily="18" charset="0"/>
                  </a:rPr>
                  <a:t>is differentiable at a point, then it must satisfy the Cauchy-Riemann (CR) equation:</a:t>
                </a:r>
              </a:p>
              <a:p>
                <a:r>
                  <a:rPr lang="en-US" sz="4400" dirty="0" smtClean="0">
                    <a:cs typeface="Times New Roman" panose="02020603050405020304" pitchFamily="18" charset="0"/>
                  </a:rPr>
                  <a:t>                                                  </a:t>
                </a:r>
                <a14:m>
                  <m:oMath xmlns:m="http://schemas.openxmlformats.org/officeDocument/2006/math">
                    <m:f>
                      <m:fPr>
                        <m:ctrlPr>
                          <a:rPr lang="en-US" sz="4400" i="1" smtClean="0">
                            <a:latin typeface="Cambria Math" panose="02040503050406030204" pitchFamily="18" charset="0"/>
                            <a:cs typeface="Times New Roman" panose="02020603050405020304" pitchFamily="18" charset="0"/>
                          </a:rPr>
                        </m:ctrlPr>
                      </m:fPr>
                      <m:num>
                        <m:r>
                          <a:rPr lang="en-US" sz="4400" i="1" smtClean="0">
                            <a:latin typeface="Cambria Math" panose="02040503050406030204" pitchFamily="18" charset="0"/>
                            <a:ea typeface="Cambria Math" panose="02040503050406030204" pitchFamily="18" charset="0"/>
                            <a:cs typeface="Times New Roman" panose="02020603050405020304" pitchFamily="18" charset="0"/>
                          </a:rPr>
                          <m:t>𝜕</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𝑈</m:t>
                        </m:r>
                      </m:num>
                      <m:den>
                        <m:r>
                          <a:rPr lang="en-US" sz="4400" i="1" smtClean="0">
                            <a:latin typeface="Cambria Math" panose="02040503050406030204" pitchFamily="18" charset="0"/>
                            <a:ea typeface="Cambria Math" panose="02040503050406030204" pitchFamily="18" charset="0"/>
                            <a:cs typeface="Times New Roman" panose="02020603050405020304" pitchFamily="18" charset="0"/>
                          </a:rPr>
                          <m:t>𝜕</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𝑥</m:t>
                        </m:r>
                      </m:den>
                    </m:f>
                  </m:oMath>
                </a14:m>
                <a:r>
                  <a:rPr lang="en-US" sz="4400" dirty="0" smtClean="0">
                    <a:latin typeface="Times New Roman" panose="02020603050405020304" pitchFamily="18" charset="0"/>
                    <a:cs typeface="Times New Roman" panose="02020603050405020304" pitchFamily="18" charset="0"/>
                  </a:rPr>
                  <a:t> = </a:t>
                </a:r>
                <a14:m>
                  <m:oMath xmlns:m="http://schemas.openxmlformats.org/officeDocument/2006/math">
                    <m:f>
                      <m:fPr>
                        <m:ctrlPr>
                          <a:rPr lang="en-US" sz="4400" i="1">
                            <a:latin typeface="Cambria Math" panose="02040503050406030204" pitchFamily="18" charset="0"/>
                            <a:cs typeface="Times New Roman" panose="02020603050405020304" pitchFamily="18" charset="0"/>
                          </a:rPr>
                        </m:ctrlPr>
                      </m:fPr>
                      <m:num>
                        <m:r>
                          <a:rPr lang="en-US" sz="4400" i="1">
                            <a:latin typeface="Cambria Math" panose="02040503050406030204" pitchFamily="18" charset="0"/>
                            <a:ea typeface="Cambria Math" panose="02040503050406030204" pitchFamily="18" charset="0"/>
                            <a:cs typeface="Times New Roman" panose="02020603050405020304" pitchFamily="18" charset="0"/>
                          </a:rPr>
                          <m:t>𝜕</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𝑉</m:t>
                        </m:r>
                      </m:num>
                      <m:den>
                        <m:r>
                          <a:rPr lang="en-US" sz="4400" i="1">
                            <a:latin typeface="Cambria Math" panose="02040503050406030204" pitchFamily="18" charset="0"/>
                            <a:ea typeface="Cambria Math" panose="02040503050406030204" pitchFamily="18" charset="0"/>
                            <a:cs typeface="Times New Roman" panose="02020603050405020304" pitchFamily="18" charset="0"/>
                          </a:rPr>
                          <m:t>𝜕</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𝑦</m:t>
                        </m:r>
                      </m:den>
                    </m:f>
                  </m:oMath>
                </a14:m>
                <a:r>
                  <a:rPr lang="en-US" sz="4400" dirty="0" smtClean="0"/>
                  <a:t>  &amp; </a:t>
                </a:r>
                <a14:m>
                  <m:oMath xmlns:m="http://schemas.openxmlformats.org/officeDocument/2006/math">
                    <m:f>
                      <m:fPr>
                        <m:ctrlPr>
                          <a:rPr lang="en-US" sz="4400" i="1">
                            <a:latin typeface="Cambria Math" panose="02040503050406030204" pitchFamily="18" charset="0"/>
                            <a:cs typeface="Times New Roman" panose="02020603050405020304" pitchFamily="18" charset="0"/>
                          </a:rPr>
                        </m:ctrlPr>
                      </m:fPr>
                      <m:num>
                        <m:r>
                          <a:rPr lang="en-US" sz="4400" i="1">
                            <a:latin typeface="Cambria Math" panose="02040503050406030204" pitchFamily="18" charset="0"/>
                            <a:ea typeface="Cambria Math" panose="02040503050406030204" pitchFamily="18" charset="0"/>
                            <a:cs typeface="Times New Roman" panose="02020603050405020304" pitchFamily="18" charset="0"/>
                          </a:rPr>
                          <m:t>𝜕</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𝑈</m:t>
                        </m:r>
                      </m:num>
                      <m:den>
                        <m:r>
                          <a:rPr lang="en-US" sz="4400" i="1">
                            <a:latin typeface="Cambria Math" panose="02040503050406030204" pitchFamily="18" charset="0"/>
                            <a:ea typeface="Cambria Math" panose="02040503050406030204" pitchFamily="18" charset="0"/>
                            <a:cs typeface="Times New Roman" panose="02020603050405020304" pitchFamily="18" charset="0"/>
                          </a:rPr>
                          <m:t>𝜕</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𝑦</m:t>
                        </m:r>
                      </m:den>
                    </m:f>
                  </m:oMath>
                </a14:m>
                <a:r>
                  <a:rPr lang="en-US" sz="4400" dirty="0" smtClean="0"/>
                  <a:t> = -</a:t>
                </a:r>
                <a14:m>
                  <m:oMath xmlns:m="http://schemas.openxmlformats.org/officeDocument/2006/math">
                    <m:f>
                      <m:fPr>
                        <m:ctrlPr>
                          <a:rPr lang="en-US" sz="4400" i="1">
                            <a:latin typeface="Cambria Math" panose="02040503050406030204" pitchFamily="18" charset="0"/>
                            <a:cs typeface="Times New Roman" panose="02020603050405020304" pitchFamily="18" charset="0"/>
                          </a:rPr>
                        </m:ctrlPr>
                      </m:fPr>
                      <m:num>
                        <m:r>
                          <a:rPr lang="en-US" sz="4400" i="1">
                            <a:latin typeface="Cambria Math" panose="02040503050406030204" pitchFamily="18" charset="0"/>
                            <a:ea typeface="Cambria Math" panose="02040503050406030204" pitchFamily="18" charset="0"/>
                            <a:cs typeface="Times New Roman" panose="02020603050405020304" pitchFamily="18" charset="0"/>
                          </a:rPr>
                          <m:t>𝜕</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𝑉</m:t>
                        </m:r>
                      </m:num>
                      <m:den>
                        <m:r>
                          <a:rPr lang="en-US" sz="4400" i="1">
                            <a:latin typeface="Cambria Math" panose="02040503050406030204" pitchFamily="18" charset="0"/>
                            <a:ea typeface="Cambria Math" panose="02040503050406030204" pitchFamily="18" charset="0"/>
                            <a:cs typeface="Times New Roman" panose="02020603050405020304" pitchFamily="18" charset="0"/>
                          </a:rPr>
                          <m:t>𝜕</m:t>
                        </m:r>
                        <m:r>
                          <a:rPr lang="en-US" sz="4400" i="1">
                            <a:latin typeface="Cambria Math" panose="02040503050406030204" pitchFamily="18" charset="0"/>
                            <a:ea typeface="Cambria Math" panose="02040503050406030204" pitchFamily="18" charset="0"/>
                            <a:cs typeface="Times New Roman" panose="02020603050405020304" pitchFamily="18" charset="0"/>
                          </a:rPr>
                          <m:t>𝑥</m:t>
                        </m:r>
                      </m:den>
                    </m:f>
                  </m:oMath>
                </a14:m>
                <a:endParaRPr lang="en-US" sz="4400" dirty="0" smtClean="0"/>
              </a:p>
              <a:p>
                <a:r>
                  <a:rPr lang="en-US" sz="4400" dirty="0" smtClean="0">
                    <a:latin typeface="Times New Roman" panose="02020603050405020304" pitchFamily="18" charset="0"/>
                    <a:cs typeface="Times New Roman" panose="02020603050405020304" pitchFamily="18" charset="0"/>
                  </a:rPr>
                  <a:t>These equations connect the real and imaginary parts of the function.</a:t>
                </a:r>
              </a:p>
              <a:p>
                <a:r>
                  <a:rPr lang="en-US" sz="4400" dirty="0" smtClean="0">
                    <a:latin typeface="Times New Roman" panose="02020603050405020304" pitchFamily="18" charset="0"/>
                    <a:cs typeface="Times New Roman" panose="02020603050405020304" pitchFamily="18" charset="0"/>
                  </a:rPr>
                  <a:t>If the CR equations hold and ‘U,V’ have continuous partial derivatives, then f is analytic.</a:t>
                </a:r>
                <a:endParaRPr lang="en-US" sz="4400" dirty="0">
                  <a:latin typeface="Times New Roman" panose="02020603050405020304" pitchFamily="18" charset="0"/>
                  <a:cs typeface="Times New Roman" panose="02020603050405020304" pitchFamily="18" charset="0"/>
                </a:endParaRPr>
              </a:p>
            </p:txBody>
          </p:sp>
        </mc:Choice>
        <mc:Fallback>
          <p:sp>
            <p:nvSpPr>
              <p:cNvPr id="4" name="TextBox 3"/>
              <p:cNvSpPr txBox="1">
                <a:spLocks noRot="1" noChangeAspect="1" noMove="1" noResize="1" noEditPoints="1" noAdjustHandles="1" noChangeArrowheads="1" noChangeShapeType="1" noTextEdit="1"/>
              </p:cNvSpPr>
              <p:nvPr/>
            </p:nvSpPr>
            <p:spPr>
              <a:xfrm>
                <a:off x="2444750" y="2940050"/>
                <a:ext cx="14401800" cy="5903154"/>
              </a:xfrm>
              <a:prstGeom prst="rect">
                <a:avLst/>
              </a:prstGeom>
              <a:blipFill rotWithShape="0">
                <a:blip r:embed="rId3"/>
                <a:stretch>
                  <a:fillRect l="-1693" t="-1961" b="-4025"/>
                </a:stretch>
              </a:blipFill>
            </p:spPr>
            <p:txBody>
              <a:bodyPr/>
              <a:lstStyle/>
              <a:p>
                <a:r>
                  <a:rPr lang="en-US">
                    <a:noFill/>
                  </a:rPr>
                  <a:t> </a:t>
                </a:r>
              </a:p>
            </p:txBody>
          </p:sp>
        </mc:Fallback>
      </mc:AlternateContent>
    </p:spTree>
    <p:extLst>
      <p:ext uri="{BB962C8B-B14F-4D97-AF65-F5344CB8AC3E}">
        <p14:creationId xmlns:p14="http://schemas.microsoft.com/office/powerpoint/2010/main" val="922366189"/>
      </p:ext>
    </p:extLst>
  </p:cSld>
  <p:clrMapOvr>
    <a:masterClrMapping/>
  </p:clrMapOvr>
  <mc:AlternateContent xmlns:mc="http://schemas.openxmlformats.org/markup-compatibility/2006" xmlns:p14="http://schemas.microsoft.com/office/powerpoint/2010/main">
    <mc:Choice Requires="p14">
      <p:transition spd="slow" p14:dur="1500" advTm="61923">
        <p14:honeycomb/>
      </p:transition>
    </mc:Choice>
    <mc:Fallback xmlns="">
      <p:transition spd="slow" advTm="61923">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300700" cy="10299700"/>
          </a:xfrm>
          <a:prstGeom prst="rect">
            <a:avLst/>
          </a:prstGeom>
          <a:ln>
            <a:solidFill>
              <a:schemeClr val="accent6">
                <a:lumMod val="40000"/>
                <a:lumOff val="60000"/>
              </a:schemeClr>
            </a:solid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r>
              <a:rPr lang="en-US" dirty="0" smtClean="0"/>
              <a:t>  </a:t>
            </a:r>
            <a:endParaRPr lang="en-US" dirty="0"/>
          </a:p>
        </p:txBody>
      </p:sp>
      <p:sp>
        <p:nvSpPr>
          <p:cNvPr id="3" name="Rectangle 2"/>
          <p:cNvSpPr/>
          <p:nvPr/>
        </p:nvSpPr>
        <p:spPr>
          <a:xfrm>
            <a:off x="2825750" y="654050"/>
            <a:ext cx="120396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5400" dirty="0">
                <a:ln w="0"/>
                <a:solidFill>
                  <a:srgbClr val="FF0000"/>
                </a:solidFill>
                <a:effectLst>
                  <a:reflection blurRad="6350" stA="53000" endA="300" endPos="35500" dir="5400000" sy="-90000" algn="bl" rotWithShape="0"/>
                </a:effectLst>
                <a:latin typeface="Algerian" panose="04020705040A02060702" pitchFamily="82" charset="0"/>
              </a:rPr>
              <a:t>Analytic (Holomorphic) Function</a:t>
            </a:r>
          </a:p>
        </p:txBody>
      </p:sp>
      <mc:AlternateContent xmlns:mc="http://schemas.openxmlformats.org/markup-compatibility/2006" xmlns:a14="http://schemas.microsoft.com/office/drawing/2010/main">
        <mc:Choice Requires="a14">
          <p:sp>
            <p:nvSpPr>
              <p:cNvPr id="4" name="Rectangle 3"/>
              <p:cNvSpPr/>
              <p:nvPr/>
            </p:nvSpPr>
            <p:spPr>
              <a:xfrm>
                <a:off x="1841500" y="2106215"/>
                <a:ext cx="15011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sz="4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𝐷𝑒</m:t>
                    </m:r>
                    <m:sSup>
                      <m:sSupPr>
                        <m:ctrlPr>
                          <a:rPr lang="en-US" sz="4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sSupPr>
                      <m:e>
                        <m:r>
                          <a:rPr lang="en-US" sz="4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𝑓</m:t>
                        </m:r>
                      </m:e>
                      <m:sup>
                        <m:r>
                          <a:rPr lang="en-US" sz="4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𝑛</m:t>
                        </m:r>
                      </m:sup>
                    </m:sSup>
                    <m:r>
                      <a:rPr lang="en-US" sz="4400" b="0" i="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 </m:t>
                    </m:r>
                  </m:oMath>
                </a14:m>
                <a:r>
                  <a:rPr lang="en-US" sz="4400" dirty="0" smtClean="0">
                    <a:ln w="0"/>
                    <a:solidFill>
                      <a:schemeClr val="tx1"/>
                    </a:solidFill>
                    <a:latin typeface="Times New Roman" panose="02020603050405020304" pitchFamily="18" charset="0"/>
                    <a:cs typeface="Times New Roman" panose="02020603050405020304" pitchFamily="18" charset="0"/>
                  </a:rPr>
                  <a:t>A single valued complex function f(x) is said to be analytic in the region if </a:t>
                </a:r>
                <a14:m>
                  <m:oMath xmlns:m="http://schemas.openxmlformats.org/officeDocument/2006/math">
                    <m:r>
                      <a:rPr lang="en-US" sz="4400" b="0" i="1" smtClean="0">
                        <a:ln w="0"/>
                        <a:solidFill>
                          <a:schemeClr val="tx1"/>
                        </a:solidFill>
                        <a:latin typeface="Cambria Math" panose="02040503050406030204" pitchFamily="18" charset="0"/>
                        <a:cs typeface="Times New Roman" panose="02020603050405020304" pitchFamily="18" charset="0"/>
                      </a:rPr>
                      <m:t>𝑓</m:t>
                    </m:r>
                    <m:r>
                      <a:rPr lang="en-US" sz="4400" b="0" i="1" smtClean="0">
                        <a:ln w="0"/>
                        <a:solidFill>
                          <a:schemeClr val="tx1"/>
                        </a:solidFill>
                        <a:latin typeface="Cambria Math" panose="02040503050406030204" pitchFamily="18" charset="0"/>
                        <a:cs typeface="Times New Roman" panose="02020603050405020304" pitchFamily="18" charset="0"/>
                      </a:rPr>
                      <m:t>′(</m:t>
                    </m:r>
                    <m:r>
                      <a:rPr lang="en-US" sz="4400" b="0" i="1" smtClean="0">
                        <a:ln w="0"/>
                        <a:solidFill>
                          <a:schemeClr val="tx1"/>
                        </a:solidFill>
                        <a:latin typeface="Cambria Math" panose="02040503050406030204" pitchFamily="18" charset="0"/>
                        <a:cs typeface="Times New Roman" panose="02020603050405020304" pitchFamily="18" charset="0"/>
                      </a:rPr>
                      <m:t>𝑧</m:t>
                    </m:r>
                    <m:r>
                      <a:rPr lang="en-US" sz="4400" b="0" i="1" smtClean="0">
                        <a:ln w="0"/>
                        <a:solidFill>
                          <a:schemeClr val="tx1"/>
                        </a:solidFill>
                        <a:latin typeface="Cambria Math" panose="02040503050406030204" pitchFamily="18" charset="0"/>
                        <a:cs typeface="Times New Roman" panose="02020603050405020304" pitchFamily="18" charset="0"/>
                      </a:rPr>
                      <m:t>)</m:t>
                    </m:r>
                  </m:oMath>
                </a14:m>
                <a:r>
                  <a:rPr lang="en-US" sz="4400" dirty="0" smtClean="0"/>
                  <a:t> </a:t>
                </a:r>
                <a:r>
                  <a:rPr lang="en-US" sz="4400" dirty="0" smtClean="0">
                    <a:ln w="0"/>
                    <a:solidFill>
                      <a:schemeClr val="tx1"/>
                    </a:solidFill>
                  </a:rPr>
                  <a:t>exist</a:t>
                </a:r>
                <a:r>
                  <a:rPr lang="en-US" sz="4400" dirty="0" smtClean="0"/>
                  <a:t> </a:t>
                </a:r>
                <a:r>
                  <a:rPr lang="en-US" sz="4400" dirty="0" smtClean="0">
                    <a:ln w="0"/>
                    <a:solidFill>
                      <a:schemeClr val="tx1"/>
                    </a:solidFill>
                    <a:latin typeface="Times New Roman" panose="02020603050405020304" pitchFamily="18" charset="0"/>
                    <a:cs typeface="Times New Roman" panose="02020603050405020304" pitchFamily="18" charset="0"/>
                  </a:rPr>
                  <a:t>in the region.</a:t>
                </a:r>
                <a:endParaRPr lang="en-US" sz="4400" dirty="0"/>
              </a:p>
            </p:txBody>
          </p:sp>
        </mc:Choice>
        <mc:Fallback xmlns="">
          <p:sp>
            <p:nvSpPr>
              <p:cNvPr id="4" name="Rectangle 3"/>
              <p:cNvSpPr>
                <a:spLocks noRot="1" noChangeAspect="1" noMove="1" noResize="1" noEditPoints="1" noAdjustHandles="1" noChangeArrowheads="1" noChangeShapeType="1" noTextEdit="1"/>
              </p:cNvSpPr>
              <p:nvPr/>
            </p:nvSpPr>
            <p:spPr>
              <a:xfrm>
                <a:off x="1841500" y="2106215"/>
                <a:ext cx="15011400" cy="1219200"/>
              </a:xfrm>
              <a:prstGeom prst="rect">
                <a:avLst/>
              </a:prstGeom>
              <a:blipFill rotWithShape="0">
                <a:blip r:embed="rId2"/>
                <a:stretch>
                  <a:fillRect l="-1624" t="-18500" r="-2436" b="-32500"/>
                </a:stretch>
              </a:blipFill>
              <a:ln>
                <a:noFill/>
              </a:ln>
            </p:spPr>
            <p:txBody>
              <a:bodyPr/>
              <a:lstStyle/>
              <a:p>
                <a:r>
                  <a:rPr lang="en-US">
                    <a:noFill/>
                  </a:rPr>
                  <a:t> </a:t>
                </a:r>
              </a:p>
            </p:txBody>
          </p:sp>
        </mc:Fallback>
      </mc:AlternateContent>
      <p:sp>
        <p:nvSpPr>
          <p:cNvPr id="5" name="Rectangle 4"/>
          <p:cNvSpPr/>
          <p:nvPr/>
        </p:nvSpPr>
        <p:spPr>
          <a:xfrm>
            <a:off x="1758950" y="3906441"/>
            <a:ext cx="150114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dirty="0" smtClean="0">
                <a:ln w="0"/>
                <a:solidFill>
                  <a:schemeClr val="tx1"/>
                </a:solidFill>
                <a:latin typeface="Times New Roman" panose="02020603050405020304" pitchFamily="18" charset="0"/>
                <a:cs typeface="Times New Roman" panose="02020603050405020304" pitchFamily="18" charset="0"/>
              </a:rPr>
              <a:t>Analytic function have many beautiful properties:</a:t>
            </a:r>
          </a:p>
          <a:p>
            <a:pPr marL="1943100" lvl="3" indent="-571500">
              <a:buFont typeface="Arial" panose="020B0604020202020204" pitchFamily="34" charset="0"/>
              <a:buChar char="•"/>
            </a:pPr>
            <a:r>
              <a:rPr lang="en-US" sz="4400" dirty="0" smtClean="0">
                <a:ln w="0"/>
                <a:solidFill>
                  <a:schemeClr val="tx1"/>
                </a:solidFill>
                <a:latin typeface="Times New Roman" panose="02020603050405020304" pitchFamily="18" charset="0"/>
                <a:cs typeface="Times New Roman" panose="02020603050405020304" pitchFamily="18" charset="0"/>
              </a:rPr>
              <a:t>They are infinitely differentiable</a:t>
            </a:r>
          </a:p>
          <a:p>
            <a:pPr marL="1943100" lvl="3" indent="-571500">
              <a:buFont typeface="Arial" panose="020B0604020202020204" pitchFamily="34" charset="0"/>
              <a:buChar char="•"/>
            </a:pPr>
            <a:r>
              <a:rPr lang="en-US" sz="4400" dirty="0" smtClean="0">
                <a:ln w="0"/>
                <a:solidFill>
                  <a:schemeClr val="tx1"/>
                </a:solidFill>
                <a:latin typeface="Times New Roman" panose="02020603050405020304" pitchFamily="18" charset="0"/>
                <a:cs typeface="Times New Roman" panose="02020603050405020304" pitchFamily="18" charset="0"/>
              </a:rPr>
              <a:t>They can be expressed as power series </a:t>
            </a:r>
          </a:p>
          <a:p>
            <a:pPr marL="1943100" lvl="3" indent="-571500">
              <a:buFont typeface="Arial" panose="020B0604020202020204" pitchFamily="34" charset="0"/>
              <a:buChar char="•"/>
            </a:pPr>
            <a:r>
              <a:rPr lang="en-US" sz="4400" dirty="0" smtClean="0">
                <a:ln w="0"/>
                <a:solidFill>
                  <a:schemeClr val="tx1"/>
                </a:solidFill>
                <a:latin typeface="Times New Roman" panose="02020603050405020304" pitchFamily="18" charset="0"/>
                <a:cs typeface="Times New Roman" panose="02020603050405020304" pitchFamily="18" charset="0"/>
              </a:rPr>
              <a:t>They have no sudden jumps or corners. </a:t>
            </a:r>
            <a:endParaRPr lang="en-US" sz="4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Rectangle 5"/>
              <p:cNvSpPr/>
              <p:nvPr/>
            </p:nvSpPr>
            <p:spPr>
              <a:xfrm>
                <a:off x="1758950" y="7073106"/>
                <a:ext cx="15011400" cy="32265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Example of analytic function:</a:t>
                </a:r>
              </a:p>
              <a:p>
                <a:pPr marL="1485900" lvl="2" indent="-571500">
                  <a:buFont typeface="Arial" panose="020B0604020202020204" pitchFamily="34" charset="0"/>
                  <a:buChar char="•"/>
                </a:pPr>
                <a:r>
                  <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Polynomials</a:t>
                </a:r>
              </a:p>
              <a:p>
                <a:pPr marL="1485900" lvl="2" indent="-571500">
                  <a:buFont typeface="Arial" panose="020B0604020202020204" pitchFamily="34" charset="0"/>
                  <a:buChar char="•"/>
                </a:pPr>
                <a:r>
                  <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Exponential function </a:t>
                </a:r>
                <a14:m>
                  <m:oMath xmlns:m="http://schemas.openxmlformats.org/officeDocument/2006/math">
                    <m:sSup>
                      <m:sSupPr>
                        <m:ctrlP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sSupPr>
                      <m:e>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𝑒</m:t>
                        </m:r>
                      </m:e>
                      <m:sup>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𝑧</m:t>
                        </m:r>
                      </m:sup>
                    </m:sSup>
                  </m:oMath>
                </a14:m>
                <a:r>
                  <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p>
              <a:p>
                <a:pPr marL="1485900" lvl="2" indent="-571500">
                  <a:buFont typeface="Arial" panose="020B0604020202020204" pitchFamily="34" charset="0"/>
                  <a:buChar char="•"/>
                </a:pPr>
                <a:r>
                  <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Trigonometric functions Sin(z),Cos(z)</a:t>
                </a:r>
              </a:p>
              <a:p>
                <a:pPr marL="1485900" lvl="2" indent="-571500">
                  <a:buFont typeface="Arial" panose="020B0604020202020204" pitchFamily="34" charset="0"/>
                  <a:buChar char="•"/>
                </a:pPr>
                <a:r>
                  <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Rational functions (except at poles).</a:t>
                </a:r>
              </a:p>
            </p:txBody>
          </p:sp>
        </mc:Choice>
        <mc:Fallback xmlns="">
          <p:sp>
            <p:nvSpPr>
              <p:cNvPr id="6" name="Rectangle 5"/>
              <p:cNvSpPr>
                <a:spLocks noRot="1" noChangeAspect="1" noMove="1" noResize="1" noEditPoints="1" noAdjustHandles="1" noChangeArrowheads="1" noChangeShapeType="1" noTextEdit="1"/>
              </p:cNvSpPr>
              <p:nvPr/>
            </p:nvSpPr>
            <p:spPr>
              <a:xfrm>
                <a:off x="1758950" y="7073106"/>
                <a:ext cx="15011400" cy="3226594"/>
              </a:xfrm>
              <a:prstGeom prst="rect">
                <a:avLst/>
              </a:prstGeom>
              <a:blipFill rotWithShape="0">
                <a:blip r:embed="rId3"/>
                <a:stretch>
                  <a:fillRect l="-1787" t="-7547" b="-13585"/>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0017969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500">
        <p15:prstTrans prst="drape"/>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8300700" cy="102997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187950" y="577850"/>
            <a:ext cx="7924800" cy="1295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000" dirty="0" err="1"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Hermonic</a:t>
            </a:r>
            <a:r>
              <a:rPr lang="en-US" sz="6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Function</a:t>
            </a:r>
            <a:endParaRPr lang="en-US" sz="6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Rectangle 4"/>
              <p:cNvSpPr/>
              <p:nvPr/>
            </p:nvSpPr>
            <p:spPr>
              <a:xfrm>
                <a:off x="1955800" y="2162175"/>
                <a:ext cx="14020800" cy="5715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Let, f(z) be the single valued function f(z) = U(</a:t>
                </a:r>
                <a:r>
                  <a:rPr lang="en-US" sz="4000" dirty="0" err="1"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x,y</a:t>
                </a:r>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 V(</a:t>
                </a:r>
                <a:r>
                  <a:rPr lang="en-US" sz="4000" dirty="0" err="1"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x,y</a:t>
                </a:r>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p>
              <a:p>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Where, U(</a:t>
                </a:r>
                <a:r>
                  <a:rPr lang="en-US" sz="4000" dirty="0" err="1"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x,y</a:t>
                </a:r>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 Real part </a:t>
                </a:r>
              </a:p>
              <a:p>
                <a:r>
                  <a:rPr lang="en-US" sz="4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V(</a:t>
                </a:r>
                <a:r>
                  <a:rPr lang="en-US" sz="4000" dirty="0" err="1"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x,y</a:t>
                </a:r>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 Imaginary part</a:t>
                </a:r>
              </a:p>
              <a:p>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p>
              <a:p>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Then function is harmonic when it satisfy the </a:t>
                </a:r>
                <a:r>
                  <a:rPr lang="en-US" sz="4000" dirty="0" err="1"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laplace</a:t>
                </a:r>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equation.</a:t>
                </a:r>
              </a:p>
              <a:p>
                <a14:m>
                  <m:oMath xmlns:m="http://schemas.openxmlformats.org/officeDocument/2006/math">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                              </m:t>
                    </m:r>
                    <m:sSup>
                      <m:sSupPr>
                        <m:ctrlP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40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e>
                      <m:sup>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2</m:t>
                        </m:r>
                      </m:sup>
                    </m:sSup>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𝑈</m:t>
                    </m:r>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=0</m:t>
                    </m:r>
                  </m:oMath>
                </a14:m>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e>
                      <m:sup>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2</m:t>
                        </m:r>
                      </m:sup>
                    </m:sSup>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𝑉</m:t>
                    </m:r>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=0</m:t>
                    </m:r>
                  </m:oMath>
                </a14:m>
                <a:endPar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US" sz="4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r>
                  <a:rPr lang="en-US" sz="4000" dirty="0" smtClean="0">
                    <a:ln w="0"/>
                    <a:solidFill>
                      <a:schemeClr val="tx1"/>
                    </a:solidFill>
                    <a:effectLst>
                      <a:outerShdw blurRad="38100" dist="19050" dir="2700000" algn="tl" rotWithShape="0">
                        <a:schemeClr val="dk1">
                          <a:alpha val="40000"/>
                        </a:schemeClr>
                      </a:outerShdw>
                    </a:effectLst>
                    <a:latin typeface="Cambria" panose="02040503050406030204" pitchFamily="18" charset="0"/>
                    <a:ea typeface="Cambria" panose="02040503050406030204" pitchFamily="18" charset="0"/>
                    <a:cs typeface="Times New Roman" panose="02020603050405020304" pitchFamily="18" charset="0"/>
                  </a:rPr>
                  <a:t>∴ </a:t>
                </a:r>
                <a14:m>
                  <m:oMath xmlns:m="http://schemas.openxmlformats.org/officeDocument/2006/math">
                    <m:f>
                      <m:fPr>
                        <m:ctrlP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e>
                          <m:sup>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2</m:t>
                            </m:r>
                          </m:sup>
                        </m:sSup>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𝑈</m:t>
                        </m:r>
                      </m:num>
                      <m:den>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𝑥</m:t>
                            </m:r>
                          </m:e>
                          <m:sup>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2</m:t>
                            </m:r>
                          </m:sup>
                        </m:sSup>
                      </m:den>
                    </m:f>
                  </m:oMath>
                </a14:m>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 </a:t>
                </a:r>
                <a14:m>
                  <m:oMath xmlns:m="http://schemas.openxmlformats.org/officeDocument/2006/math">
                    <m:f>
                      <m:f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e>
                          <m:sup>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2</m:t>
                            </m:r>
                          </m:sup>
                        </m:sSup>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𝑈</m:t>
                        </m:r>
                      </m:num>
                      <m:den>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𝑦</m:t>
                            </m:r>
                          </m:e>
                          <m:sup>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2</m:t>
                            </m:r>
                          </m:sup>
                        </m:sSup>
                      </m:den>
                    </m:f>
                    <m:r>
                      <a:rPr lang="en-US" sz="4000" b="0" i="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f>
                      <m:f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e>
                          <m:sup>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2</m:t>
                            </m:r>
                          </m:sup>
                        </m:sSup>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𝑈</m:t>
                        </m:r>
                      </m:num>
                      <m:den>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𝑧</m:t>
                            </m:r>
                          </m:e>
                          <m:sup>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2</m:t>
                            </m:r>
                          </m:sup>
                        </m:sSup>
                      </m:den>
                    </m:f>
                  </m:oMath>
                </a14:m>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=0,    </a:t>
                </a:r>
                <a14:m>
                  <m:oMath xmlns:m="http://schemas.openxmlformats.org/officeDocument/2006/math">
                    <m:f>
                      <m:f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e>
                          <m:sup>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2</m:t>
                            </m:r>
                          </m:sup>
                        </m:sSup>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𝑉</m:t>
                        </m:r>
                      </m:num>
                      <m:den>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𝑥</m:t>
                            </m:r>
                          </m:e>
                          <m:sup>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2</m:t>
                            </m:r>
                          </m:sup>
                        </m:sSup>
                      </m:den>
                    </m:f>
                  </m:oMath>
                </a14:m>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 </a:t>
                </a:r>
                <a14:m>
                  <m:oMath xmlns:m="http://schemas.openxmlformats.org/officeDocument/2006/math">
                    <m:f>
                      <m:f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e>
                          <m:sup>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2</m:t>
                            </m:r>
                          </m:sup>
                        </m:sSup>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𝑉</m:t>
                        </m:r>
                      </m:num>
                      <m:den>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𝑦</m:t>
                            </m:r>
                          </m:e>
                          <m:sup>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2</m:t>
                            </m:r>
                          </m:sup>
                        </m:sSup>
                      </m:den>
                    </m:f>
                  </m:oMath>
                </a14:m>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 </a:t>
                </a:r>
                <a14:m>
                  <m:oMath xmlns:m="http://schemas.openxmlformats.org/officeDocument/2006/math">
                    <m:f>
                      <m:f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e>
                          <m:sup>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2</m:t>
                            </m:r>
                          </m:sup>
                        </m:sSup>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𝑉</m:t>
                        </m:r>
                      </m:num>
                      <m:den>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𝑧</m:t>
                            </m:r>
                          </m:e>
                          <m:sup>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2</m:t>
                            </m:r>
                          </m:sup>
                        </m:sSup>
                      </m:den>
                    </m:f>
                  </m:oMath>
                </a14:m>
                <a:endParaRPr lang="en-US" sz="4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955800" y="2162175"/>
                <a:ext cx="14020800" cy="5715000"/>
              </a:xfrm>
              <a:prstGeom prst="rect">
                <a:avLst/>
              </a:prstGeom>
              <a:blipFill rotWithShape="0">
                <a:blip r:embed="rId2"/>
                <a:stretch>
                  <a:fillRect l="-1696" r="-1304"/>
                </a:stretch>
              </a:blipFill>
              <a:ln>
                <a:noFill/>
              </a:ln>
            </p:spPr>
            <p:txBody>
              <a:bodyPr/>
              <a:lstStyle/>
              <a:p>
                <a:r>
                  <a:rPr lang="en-US">
                    <a:noFill/>
                  </a:rPr>
                  <a:t> </a:t>
                </a:r>
              </a:p>
            </p:txBody>
          </p:sp>
        </mc:Fallback>
      </mc:AlternateContent>
      <p:sp>
        <p:nvSpPr>
          <p:cNvPr id="6" name="Rectangle 5"/>
          <p:cNvSpPr/>
          <p:nvPr/>
        </p:nvSpPr>
        <p:spPr>
          <a:xfrm>
            <a:off x="6407150" y="7902575"/>
            <a:ext cx="10591800" cy="20129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dirty="0" err="1"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Hermonic</a:t>
            </a:r>
            <a:r>
              <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Conjugate:</a:t>
            </a:r>
          </a:p>
          <a:p>
            <a:pPr marL="1943100" lvl="3" indent="-571500">
              <a:buFont typeface="Arial" panose="020B0604020202020204" pitchFamily="34" charset="0"/>
              <a:buChar char="•"/>
            </a:pPr>
            <a:r>
              <a:rPr lang="en-US" sz="4400" dirty="0" smtClean="0">
                <a:ln w="0"/>
                <a:solidFill>
                  <a:schemeClr val="tx1"/>
                </a:solidFill>
                <a:latin typeface="Times New Roman" panose="02020603050405020304" pitchFamily="18" charset="0"/>
                <a:cs typeface="Times New Roman" panose="02020603050405020304" pitchFamily="18" charset="0"/>
              </a:rPr>
              <a:t>U is </a:t>
            </a:r>
            <a:r>
              <a:rPr lang="en-US" sz="4400" dirty="0" err="1" smtClean="0">
                <a:ln w="0"/>
                <a:solidFill>
                  <a:schemeClr val="tx1"/>
                </a:solidFill>
                <a:latin typeface="Times New Roman" panose="02020603050405020304" pitchFamily="18" charset="0"/>
                <a:cs typeface="Times New Roman" panose="02020603050405020304" pitchFamily="18" charset="0"/>
              </a:rPr>
              <a:t>given,V</a:t>
            </a:r>
            <a:r>
              <a:rPr lang="en-US" sz="4400" dirty="0" smtClean="0">
                <a:ln w="0"/>
                <a:solidFill>
                  <a:schemeClr val="tx1"/>
                </a:solidFill>
                <a:latin typeface="Times New Roman" panose="02020603050405020304" pitchFamily="18" charset="0"/>
                <a:cs typeface="Times New Roman" panose="02020603050405020304" pitchFamily="18" charset="0"/>
              </a:rPr>
              <a:t> is harmonic conjugate</a:t>
            </a:r>
          </a:p>
          <a:p>
            <a:pPr marL="1943100" lvl="3" indent="-571500">
              <a:buFont typeface="Arial" panose="020B0604020202020204" pitchFamily="34" charset="0"/>
              <a:buChar char="•"/>
            </a:pPr>
            <a:r>
              <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V is given, U is harmonic conjugate </a:t>
            </a:r>
            <a:endParaRPr lang="en-US" sz="44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31018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p14:dur="250">
        <p15:prstTrans prst="origami"/>
      </p:transition>
    </mc:Choice>
    <mc:Fallback xmlns="">
      <p:transition>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8300700" cy="10299700"/>
          </a:xfrm>
          <a:prstGeom prst="rect">
            <a:avLst/>
          </a:prstGeom>
          <a:gradFill flip="none" rotWithShape="1">
            <a:gsLst>
              <a:gs pos="0">
                <a:schemeClr val="accent5">
                  <a:lumMod val="50000"/>
                  <a:tint val="66000"/>
                  <a:satMod val="160000"/>
                </a:schemeClr>
              </a:gs>
              <a:gs pos="50000">
                <a:schemeClr val="accent5">
                  <a:lumMod val="50000"/>
                  <a:tint val="44500"/>
                  <a:satMod val="160000"/>
                </a:schemeClr>
              </a:gs>
              <a:gs pos="100000">
                <a:schemeClr val="accent5">
                  <a:lumMod val="50000"/>
                  <a:tint val="23500"/>
                  <a:satMod val="160000"/>
                </a:scheme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340350" y="314325"/>
            <a:ext cx="6781800" cy="106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000" i="1" dirty="0" smtClean="0">
                <a:ln w="0"/>
                <a:solidFill>
                  <a:srgbClr val="7030A0"/>
                </a:solidFill>
                <a:latin typeface="Times New Roman" panose="02020603050405020304" pitchFamily="18" charset="0"/>
                <a:cs typeface="Times New Roman" panose="02020603050405020304" pitchFamily="18" charset="0"/>
              </a:rPr>
              <a:t>Contour Integration</a:t>
            </a:r>
            <a:endParaRPr lang="en-US" sz="6000" i="1" dirty="0">
              <a:ln w="0"/>
              <a:solidFill>
                <a:srgbClr val="7030A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Rectangle 4"/>
              <p:cNvSpPr/>
              <p:nvPr/>
            </p:nvSpPr>
            <p:spPr>
              <a:xfrm>
                <a:off x="1911350" y="6902450"/>
                <a:ext cx="14478000" cy="28693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dirty="0" smtClean="0">
                    <a:ln w="0"/>
                    <a:solidFill>
                      <a:srgbClr val="FF0000"/>
                    </a:solidFill>
                    <a:latin typeface="Times New Roman" panose="02020603050405020304" pitchFamily="18" charset="0"/>
                    <a:cs typeface="Times New Roman" panose="02020603050405020304" pitchFamily="18" charset="0"/>
                  </a:rPr>
                  <a:t>Contour Integration: </a:t>
                </a:r>
                <a:r>
                  <a:rPr lang="en-US" sz="4400" dirty="0" smtClean="0">
                    <a:ln w="0"/>
                    <a:solidFill>
                      <a:schemeClr val="tx1"/>
                    </a:solidFill>
                    <a:latin typeface="Times New Roman" panose="02020603050405020304" pitchFamily="18" charset="0"/>
                    <a:cs typeface="Times New Roman" panose="02020603050405020304" pitchFamily="18" charset="0"/>
                  </a:rPr>
                  <a:t>Contour integration is the integration of a complex function along a specified path (contour) in the complex plane.</a:t>
                </a:r>
              </a:p>
              <a:p>
                <a:r>
                  <a:rPr lang="en-US" sz="4400" dirty="0" smtClean="0">
                    <a:ln w="0"/>
                    <a:solidFill>
                      <a:schemeClr val="tx1"/>
                    </a:solidFill>
                    <a:latin typeface="Times New Roman" panose="02020603050405020304" pitchFamily="18" charset="0"/>
                    <a:cs typeface="Times New Roman" panose="02020603050405020304" pitchFamily="18" charset="0"/>
                  </a:rPr>
                  <a:t>Then:</a:t>
                </a:r>
                <a14:m>
                  <m:oMath xmlns:m="http://schemas.openxmlformats.org/officeDocument/2006/math">
                    <m:r>
                      <a:rPr lang="en-US" sz="4400" i="1">
                        <a:ln w="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nary>
                      <m:naryPr>
                        <m:supHide m:val="on"/>
                        <m:ctrlPr>
                          <a:rPr lang="en-US" sz="4400" b="0" i="1" smtClean="0">
                            <a:ln w="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sz="4400" b="0" i="1" smtClean="0">
                            <a:ln w="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𝑐</m:t>
                        </m:r>
                      </m:sub>
                      <m:sup/>
                      <m:e>
                        <m:r>
                          <a:rPr lang="en-US" sz="4400" b="0" i="1" smtClean="0">
                            <a:ln w="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sz="4400" b="0" i="1" smtClean="0">
                                <a:ln w="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4400" b="0" i="1" smtClean="0">
                                <a:ln w="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𝑧</m:t>
                            </m:r>
                          </m:e>
                        </m:d>
                        <m:r>
                          <a:rPr lang="en-US" sz="4400" b="0" i="1" smtClean="0">
                            <a:ln w="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𝑑𝑧</m:t>
                        </m:r>
                      </m:e>
                    </m:nary>
                  </m:oMath>
                </a14:m>
                <a:r>
                  <a:rPr lang="en-US" sz="4400" dirty="0" smtClean="0">
                    <a:ln w="0"/>
                    <a:solidFill>
                      <a:srgbClr val="FF0000"/>
                    </a:solidFill>
                    <a:latin typeface="Times New Roman" panose="02020603050405020304" pitchFamily="18" charset="0"/>
                    <a:cs typeface="Times New Roman" panose="02020603050405020304" pitchFamily="18" charset="0"/>
                  </a:rPr>
                  <a:t>       </a:t>
                </a:r>
                <a:endParaRPr lang="en-US" sz="4400" dirty="0">
                  <a:ln w="0"/>
                  <a:solidFill>
                    <a:srgbClr val="FF0000"/>
                  </a:solidFill>
                  <a:latin typeface="Times New Roman" panose="02020603050405020304" pitchFamily="18" charset="0"/>
                  <a:cs typeface="Times New Roman" panose="020206030504050203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911350" y="6902450"/>
                <a:ext cx="14478000" cy="2869337"/>
              </a:xfrm>
              <a:prstGeom prst="rect">
                <a:avLst/>
              </a:prstGeom>
              <a:blipFill rotWithShape="0">
                <a:blip r:embed="rId2"/>
                <a:stretch>
                  <a:fillRect l="-1726" t="-4246" r="-589" b="-6794"/>
                </a:stretch>
              </a:blipFill>
              <a:ln>
                <a:noFill/>
              </a:ln>
            </p:spPr>
            <p:txBody>
              <a:bodyPr/>
              <a:lstStyle/>
              <a:p>
                <a:r>
                  <a:rPr lang="en-US">
                    <a:noFill/>
                  </a:rPr>
                  <a:t> </a:t>
                </a:r>
              </a:p>
            </p:txBody>
          </p:sp>
        </mc:Fallback>
      </mc:AlternateContent>
      <p:sp>
        <p:nvSpPr>
          <p:cNvPr id="7" name="TextBox 6"/>
          <p:cNvSpPr txBox="1"/>
          <p:nvPr/>
        </p:nvSpPr>
        <p:spPr>
          <a:xfrm>
            <a:off x="2101850" y="1720850"/>
            <a:ext cx="13563600" cy="5016758"/>
          </a:xfrm>
          <a:prstGeom prst="rect">
            <a:avLst/>
          </a:prstGeom>
          <a:noFill/>
        </p:spPr>
        <p:txBody>
          <a:bodyPr wrap="square" rtlCol="0">
            <a:spAutoFit/>
          </a:bodyPr>
          <a:lstStyle/>
          <a:p>
            <a:r>
              <a:rPr lang="en-US" sz="4400" dirty="0" smtClean="0">
                <a:solidFill>
                  <a:srgbClr val="FF0000"/>
                </a:solidFill>
                <a:latin typeface="Times New Roman" panose="02020603050405020304" pitchFamily="18" charset="0"/>
                <a:cs typeface="Times New Roman" panose="02020603050405020304" pitchFamily="18" charset="0"/>
              </a:rPr>
              <a:t>What is Contour?</a:t>
            </a:r>
          </a:p>
          <a:p>
            <a:pPr marL="571500" indent="-571500">
              <a:buFont typeface="Arial" panose="020B0604020202020204" pitchFamily="34" charset="0"/>
              <a:buChar char="•"/>
            </a:pPr>
            <a:r>
              <a:rPr lang="en-US" sz="4400" dirty="0" smtClean="0">
                <a:latin typeface="Times New Roman" panose="02020603050405020304" pitchFamily="18" charset="0"/>
                <a:cs typeface="Times New Roman" panose="02020603050405020304" pitchFamily="18" charset="0"/>
              </a:rPr>
              <a:t>Contour is a directed curve in the complex plane.</a:t>
            </a:r>
          </a:p>
          <a:p>
            <a:pPr marL="571500" indent="-571500">
              <a:buFont typeface="Arial" panose="020B0604020202020204" pitchFamily="34" charset="0"/>
              <a:buChar char="•"/>
            </a:pPr>
            <a:r>
              <a:rPr lang="en-US" sz="4400" dirty="0" smtClean="0">
                <a:latin typeface="Times New Roman" panose="02020603050405020304" pitchFamily="18" charset="0"/>
                <a:cs typeface="Times New Roman" panose="02020603050405020304" pitchFamily="18" charset="0"/>
              </a:rPr>
              <a:t>It may be open or closed.</a:t>
            </a:r>
          </a:p>
          <a:p>
            <a:pPr marL="571500" indent="-571500">
              <a:buFont typeface="Arial" panose="020B0604020202020204" pitchFamily="34" charset="0"/>
              <a:buChar char="•"/>
            </a:pPr>
            <a:r>
              <a:rPr lang="en-US" sz="4400" dirty="0" smtClean="0">
                <a:latin typeface="Times New Roman" panose="02020603050405020304" pitchFamily="18" charset="0"/>
                <a:cs typeface="Times New Roman" panose="02020603050405020304" pitchFamily="18" charset="0"/>
              </a:rPr>
              <a:t>A simple closed contour does not intersect itself.</a:t>
            </a:r>
          </a:p>
          <a:p>
            <a:r>
              <a:rPr lang="en-US" sz="3600" dirty="0" smtClean="0">
                <a:solidFill>
                  <a:srgbClr val="00B050"/>
                </a:solidFill>
                <a:latin typeface="Times New Roman" panose="02020603050405020304" pitchFamily="18" charset="0"/>
                <a:cs typeface="Times New Roman" panose="02020603050405020304" pitchFamily="18" charset="0"/>
              </a:rPr>
              <a:t>Example:  </a:t>
            </a:r>
          </a:p>
          <a:p>
            <a:pPr marL="2857500" lvl="5" indent="-571500">
              <a:buFont typeface="Arial" panose="020B0604020202020204" pitchFamily="34" charset="0"/>
              <a:buChar char="•"/>
            </a:pPr>
            <a:r>
              <a:rPr lang="en-US" sz="3600" dirty="0" smtClean="0">
                <a:latin typeface="Times New Roman" panose="02020603050405020304" pitchFamily="18" charset="0"/>
                <a:cs typeface="Times New Roman" panose="02020603050405020304" pitchFamily="18" charset="0"/>
              </a:rPr>
              <a:t>Circle</a:t>
            </a:r>
          </a:p>
          <a:p>
            <a:pPr marL="2857500" lvl="5" indent="-571500">
              <a:buFont typeface="Arial" panose="020B0604020202020204" pitchFamily="34" charset="0"/>
              <a:buChar char="•"/>
            </a:pPr>
            <a:r>
              <a:rPr lang="en-US" sz="3600" dirty="0" smtClean="0">
                <a:latin typeface="Times New Roman" panose="02020603050405020304" pitchFamily="18" charset="0"/>
                <a:cs typeface="Times New Roman" panose="02020603050405020304" pitchFamily="18" charset="0"/>
              </a:rPr>
              <a:t>Rectangle</a:t>
            </a:r>
          </a:p>
          <a:p>
            <a:pPr marL="2857500" lvl="5" indent="-571500">
              <a:buFont typeface="Arial" panose="020B0604020202020204" pitchFamily="34" charset="0"/>
              <a:buChar char="•"/>
            </a:pPr>
            <a:r>
              <a:rPr lang="en-US" sz="3600" dirty="0" smtClean="0">
                <a:latin typeface="Times New Roman" panose="02020603050405020304" pitchFamily="18" charset="0"/>
                <a:cs typeface="Times New Roman" panose="02020603050405020304" pitchFamily="18" charset="0"/>
              </a:rPr>
              <a:t>Any smooth closed curve</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892174"/>
      </p:ext>
    </p:extLst>
  </p:cSld>
  <p:clrMapOvr>
    <a:masterClrMapping/>
  </p:clrMapOvr>
  <mc:AlternateContent xmlns:mc="http://schemas.openxmlformats.org/markup-compatibility/2006" xmlns:p15="http://schemas.microsoft.com/office/powerpoint/2012/main">
    <mc:Choice Requires="p15">
      <p:transition>
        <p15:prstTrans prst="airplan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p:cNvSpPr/>
              <p:nvPr/>
            </p:nvSpPr>
            <p:spPr>
              <a:xfrm>
                <a:off x="1911350" y="2199482"/>
                <a:ext cx="14478000" cy="29503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dirty="0" smtClean="0">
                    <a:ln w="0"/>
                    <a:solidFill>
                      <a:srgbClr val="FF0000"/>
                    </a:solidFill>
                    <a:latin typeface="Times New Roman" panose="02020603050405020304" pitchFamily="18" charset="0"/>
                    <a:cs typeface="Times New Roman" panose="02020603050405020304" pitchFamily="18" charset="0"/>
                  </a:rPr>
                  <a:t>Cauchy’s Theorem: </a:t>
                </a:r>
                <a:r>
                  <a:rPr lang="en-US" sz="4400" dirty="0" smtClean="0">
                    <a:ln w="0"/>
                    <a:solidFill>
                      <a:schemeClr val="tx1"/>
                    </a:solidFill>
                    <a:latin typeface="Times New Roman" panose="02020603050405020304" pitchFamily="18" charset="0"/>
                    <a:cs typeface="Times New Roman" panose="02020603050405020304" pitchFamily="18" charset="0"/>
                  </a:rPr>
                  <a:t>If f(z) is analytic inside and on a simple closed curve c, then</a:t>
                </a:r>
              </a:p>
              <a:p>
                <a:r>
                  <a:rPr lang="en-US" sz="4400" dirty="0">
                    <a:ln w="0"/>
                    <a:solidFill>
                      <a:schemeClr val="tx1"/>
                    </a:solidFill>
                    <a:latin typeface="Times New Roman" panose="02020603050405020304" pitchFamily="18" charset="0"/>
                    <a:cs typeface="Times New Roman" panose="02020603050405020304" pitchFamily="18" charset="0"/>
                  </a:rPr>
                  <a:t> </a:t>
                </a:r>
                <a:r>
                  <a:rPr lang="en-US" sz="4400" dirty="0" smtClean="0">
                    <a:ln w="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func>
                      <m:funcPr>
                        <m:ctrlPr>
                          <a:rPr lang="en-US" sz="4400" b="0" i="1" smtClean="0">
                            <a:ln w="0"/>
                            <a:solidFill>
                              <a:schemeClr val="tx1"/>
                            </a:solidFill>
                            <a:latin typeface="Cambria Math" panose="02040503050406030204" pitchFamily="18" charset="0"/>
                            <a:cs typeface="Times New Roman" panose="02020603050405020304" pitchFamily="18" charset="0"/>
                          </a:rPr>
                        </m:ctrlPr>
                      </m:funcPr>
                      <m:fName>
                        <m:nary>
                          <m:naryPr>
                            <m:chr m:val="∮"/>
                            <m:supHide m:val="on"/>
                            <m:ctrlPr>
                              <a:rPr lang="en-US" sz="4400" b="0" i="1" smtClean="0">
                                <a:ln w="0"/>
                                <a:solidFill>
                                  <a:schemeClr val="tx1"/>
                                </a:solidFill>
                                <a:latin typeface="Cambria Math" panose="02040503050406030204" pitchFamily="18" charset="0"/>
                                <a:cs typeface="Times New Roman" panose="02020603050405020304" pitchFamily="18" charset="0"/>
                              </a:rPr>
                            </m:ctrlPr>
                          </m:naryPr>
                          <m:sub>
                            <m:r>
                              <a:rPr lang="en-US" sz="4400" b="0" i="1" smtClean="0">
                                <a:ln w="0"/>
                                <a:solidFill>
                                  <a:schemeClr val="tx1"/>
                                </a:solidFill>
                                <a:latin typeface="Cambria Math" panose="02040503050406030204" pitchFamily="18" charset="0"/>
                                <a:cs typeface="Times New Roman" panose="02020603050405020304" pitchFamily="18" charset="0"/>
                              </a:rPr>
                              <m:t>𝑐</m:t>
                            </m:r>
                          </m:sub>
                          <m:sup/>
                          <m:e>
                            <m:r>
                              <a:rPr lang="en-US" sz="4400" i="1">
                                <a:ln w="0"/>
                                <a:solidFill>
                                  <a:schemeClr val="tx1"/>
                                </a:solidFill>
                                <a:latin typeface="Cambria Math" panose="02040503050406030204" pitchFamily="18" charset="0"/>
                                <a:cs typeface="Times New Roman" panose="02020603050405020304" pitchFamily="18" charset="0"/>
                              </a:rPr>
                              <m:t>𝑓</m:t>
                            </m:r>
                            <m:r>
                              <a:rPr lang="en-US" sz="4400" i="1">
                                <a:ln w="0"/>
                                <a:solidFill>
                                  <a:schemeClr val="tx1"/>
                                </a:solidFill>
                                <a:latin typeface="Cambria Math" panose="02040503050406030204" pitchFamily="18" charset="0"/>
                                <a:cs typeface="Times New Roman" panose="02020603050405020304" pitchFamily="18" charset="0"/>
                              </a:rPr>
                              <m:t>(</m:t>
                            </m:r>
                            <m:r>
                              <a:rPr lang="en-US" sz="4400" i="1">
                                <a:ln w="0"/>
                                <a:solidFill>
                                  <a:schemeClr val="tx1"/>
                                </a:solidFill>
                                <a:latin typeface="Cambria Math" panose="02040503050406030204" pitchFamily="18" charset="0"/>
                                <a:cs typeface="Times New Roman" panose="02020603050405020304" pitchFamily="18" charset="0"/>
                              </a:rPr>
                              <m:t>𝑧</m:t>
                            </m:r>
                            <m:r>
                              <a:rPr lang="en-US" sz="4400" i="1">
                                <a:ln w="0"/>
                                <a:solidFill>
                                  <a:schemeClr val="tx1"/>
                                </a:solidFill>
                                <a:latin typeface="Cambria Math" panose="02040503050406030204" pitchFamily="18" charset="0"/>
                                <a:cs typeface="Times New Roman" panose="02020603050405020304" pitchFamily="18" charset="0"/>
                              </a:rPr>
                              <m:t>)</m:t>
                            </m:r>
                          </m:e>
                        </m:nary>
                      </m:fName>
                      <m:e>
                        <m:r>
                          <m:rPr>
                            <m:nor/>
                          </m:rPr>
                          <a:rPr lang="en-US" sz="4400" dirty="0">
                            <a:ln w="0"/>
                            <a:solidFill>
                              <a:schemeClr val="tx1"/>
                            </a:solidFill>
                            <a:latin typeface="Times New Roman" panose="02020603050405020304" pitchFamily="18" charset="0"/>
                            <a:cs typeface="Times New Roman" panose="02020603050405020304" pitchFamily="18" charset="0"/>
                          </a:rPr>
                          <m:t>dz</m:t>
                        </m:r>
                      </m:e>
                    </m:func>
                  </m:oMath>
                </a14:m>
                <a:r>
                  <a:rPr lang="en-US" sz="4400" dirty="0" smtClean="0">
                    <a:ln w="0"/>
                    <a:solidFill>
                      <a:schemeClr val="tx1"/>
                    </a:solidFill>
                    <a:latin typeface="Times New Roman" panose="02020603050405020304" pitchFamily="18" charset="0"/>
                    <a:cs typeface="Times New Roman" panose="02020603050405020304" pitchFamily="18" charset="0"/>
                  </a:rPr>
                  <a:t> = 0</a:t>
                </a:r>
              </a:p>
              <a:p>
                <a:endParaRPr lang="en-US" sz="4400" dirty="0">
                  <a:ln w="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911350" y="2199482"/>
                <a:ext cx="14478000" cy="2950368"/>
              </a:xfrm>
              <a:prstGeom prst="rect">
                <a:avLst/>
              </a:prstGeom>
              <a:blipFill rotWithShape="0">
                <a:blip r:embed="rId2"/>
                <a:stretch>
                  <a:fillRect l="-1726" t="-2893"/>
                </a:stretch>
              </a:blipFill>
              <a:ln>
                <a:noFill/>
              </a:ln>
            </p:spPr>
            <p:txBody>
              <a:bodyPr/>
              <a:lstStyle/>
              <a:p>
                <a:r>
                  <a:rPr lang="en-US">
                    <a:noFill/>
                  </a:rPr>
                  <a:t> </a:t>
                </a:r>
              </a:p>
            </p:txBody>
          </p:sp>
        </mc:Fallback>
      </mc:AlternateContent>
      <p:grpSp>
        <p:nvGrpSpPr>
          <p:cNvPr id="4" name="Group 3"/>
          <p:cNvGrpSpPr/>
          <p:nvPr/>
        </p:nvGrpSpPr>
        <p:grpSpPr>
          <a:xfrm>
            <a:off x="14103350" y="3370987"/>
            <a:ext cx="2286000" cy="2921863"/>
            <a:chOff x="14789150" y="4209187"/>
            <a:chExt cx="2286000" cy="2921863"/>
          </a:xfrm>
        </p:grpSpPr>
        <p:grpSp>
          <p:nvGrpSpPr>
            <p:cNvPr id="5" name="Group 4"/>
            <p:cNvGrpSpPr/>
            <p:nvPr/>
          </p:nvGrpSpPr>
          <p:grpSpPr>
            <a:xfrm>
              <a:off x="14789150" y="4692650"/>
              <a:ext cx="2286000" cy="2438400"/>
              <a:chOff x="14789150" y="4692650"/>
              <a:chExt cx="2286000" cy="2438400"/>
            </a:xfrm>
          </p:grpSpPr>
          <p:sp>
            <p:nvSpPr>
              <p:cNvPr id="9" name="Oval 8"/>
              <p:cNvSpPr/>
              <p:nvPr/>
            </p:nvSpPr>
            <p:spPr>
              <a:xfrm>
                <a:off x="14789150" y="4845050"/>
                <a:ext cx="2286000" cy="2286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15932150" y="4692650"/>
                <a:ext cx="228600" cy="304800"/>
                <a:chOff x="15932150" y="4692650"/>
                <a:chExt cx="228600" cy="304800"/>
              </a:xfrm>
            </p:grpSpPr>
            <p:cxnSp>
              <p:nvCxnSpPr>
                <p:cNvPr id="11" name="Straight Connector 10"/>
                <p:cNvCxnSpPr>
                  <a:endCxn id="9" idx="0"/>
                </p:cNvCxnSpPr>
                <p:nvPr/>
              </p:nvCxnSpPr>
              <p:spPr>
                <a:xfrm flipH="1">
                  <a:off x="15932150" y="4692650"/>
                  <a:ext cx="22860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9" idx="0"/>
                </p:cNvCxnSpPr>
                <p:nvPr/>
              </p:nvCxnSpPr>
              <p:spPr>
                <a:xfrm>
                  <a:off x="15932150" y="4845050"/>
                  <a:ext cx="19050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 name="TextBox 5"/>
            <p:cNvSpPr txBox="1"/>
            <p:nvPr/>
          </p:nvSpPr>
          <p:spPr>
            <a:xfrm>
              <a:off x="16027400" y="4209187"/>
              <a:ext cx="571500" cy="584775"/>
            </a:xfrm>
            <a:prstGeom prst="rect">
              <a:avLst/>
            </a:prstGeom>
            <a:noFill/>
          </p:spPr>
          <p:txBody>
            <a:bodyPr wrap="square" rtlCol="0">
              <a:spAutoFit/>
            </a:bodyPr>
            <a:lstStyle/>
            <a:p>
              <a:r>
                <a:rPr lang="en-US" sz="3200" dirty="0" smtClean="0"/>
                <a:t>C</a:t>
              </a:r>
              <a:endParaRPr lang="en-US" sz="3200" dirty="0"/>
            </a:p>
          </p:txBody>
        </p:sp>
        <p:sp>
          <p:nvSpPr>
            <p:cNvPr id="7" name="TextBox 6"/>
            <p:cNvSpPr txBox="1"/>
            <p:nvPr/>
          </p:nvSpPr>
          <p:spPr>
            <a:xfrm>
              <a:off x="15551150" y="5500836"/>
              <a:ext cx="762000" cy="584775"/>
            </a:xfrm>
            <a:prstGeom prst="rect">
              <a:avLst/>
            </a:prstGeom>
            <a:noFill/>
          </p:spPr>
          <p:txBody>
            <a:bodyPr wrap="square" rtlCol="0">
              <a:spAutoFit/>
            </a:bodyPr>
            <a:lstStyle/>
            <a:p>
              <a:r>
                <a:rPr lang="en-US" sz="3200" dirty="0" smtClean="0"/>
                <a:t>f(z)</a:t>
              </a:r>
              <a:endParaRPr lang="en-US" sz="3200" dirty="0"/>
            </a:p>
          </p:txBody>
        </p:sp>
        <p:sp>
          <p:nvSpPr>
            <p:cNvPr id="8" name="TextBox 7"/>
            <p:cNvSpPr txBox="1"/>
            <p:nvPr/>
          </p:nvSpPr>
          <p:spPr>
            <a:xfrm>
              <a:off x="15684500" y="6460261"/>
              <a:ext cx="609600" cy="523220"/>
            </a:xfrm>
            <a:prstGeom prst="rect">
              <a:avLst/>
            </a:prstGeom>
            <a:noFill/>
          </p:spPr>
          <p:txBody>
            <a:bodyPr wrap="square" rtlCol="0">
              <a:spAutoFit/>
            </a:bodyPr>
            <a:lstStyle/>
            <a:p>
              <a:r>
                <a:rPr lang="en-US" sz="2800" dirty="0" smtClean="0"/>
                <a:t>R</a:t>
              </a:r>
              <a:endParaRPr lang="en-US" sz="2800" dirty="0"/>
            </a:p>
          </p:txBody>
        </p:sp>
      </p:grpSp>
      <p:sp>
        <p:nvSpPr>
          <p:cNvPr id="13" name="TextBox 12"/>
          <p:cNvSpPr txBox="1"/>
          <p:nvPr/>
        </p:nvSpPr>
        <p:spPr>
          <a:xfrm>
            <a:off x="5289550" y="501650"/>
            <a:ext cx="6781800" cy="1107996"/>
          </a:xfrm>
          <a:prstGeom prst="rect">
            <a:avLst/>
          </a:prstGeom>
          <a:noFill/>
        </p:spPr>
        <p:txBody>
          <a:bodyPr wrap="square" rtlCol="0">
            <a:spAutoFit/>
          </a:bodyPr>
          <a:lstStyle/>
          <a:p>
            <a:r>
              <a:rPr lang="en-US" sz="6600" i="1" dirty="0">
                <a:ln w="0"/>
                <a:solidFill>
                  <a:srgbClr val="7030A0"/>
                </a:solidFill>
                <a:latin typeface="Times New Roman" panose="02020603050405020304" pitchFamily="18" charset="0"/>
                <a:cs typeface="Times New Roman" panose="02020603050405020304" pitchFamily="18" charset="0"/>
              </a:rPr>
              <a:t>Cauchy’s Theorem</a:t>
            </a:r>
            <a:endParaRPr lang="en-US" sz="6600" dirty="0"/>
          </a:p>
        </p:txBody>
      </p:sp>
      <p:sp>
        <p:nvSpPr>
          <p:cNvPr id="14" name="TextBox 13"/>
          <p:cNvSpPr txBox="1"/>
          <p:nvPr/>
        </p:nvSpPr>
        <p:spPr>
          <a:xfrm>
            <a:off x="1930400" y="5555198"/>
            <a:ext cx="14839950" cy="3847207"/>
          </a:xfrm>
          <a:prstGeom prst="rect">
            <a:avLst/>
          </a:prstGeom>
          <a:noFill/>
        </p:spPr>
        <p:txBody>
          <a:bodyPr wrap="square" rtlCol="0">
            <a:spAutoFit/>
          </a:bodyPr>
          <a:lstStyle/>
          <a:p>
            <a:r>
              <a:rPr lang="en-US" sz="4400" i="1" dirty="0" smtClean="0">
                <a:solidFill>
                  <a:srgbClr val="FF0000"/>
                </a:solidFill>
                <a:latin typeface="Times New Roman" panose="02020603050405020304" pitchFamily="18" charset="0"/>
                <a:cs typeface="Times New Roman" panose="02020603050405020304" pitchFamily="18" charset="0"/>
              </a:rPr>
              <a:t>Conditions for Cauchy’s Theorem</a:t>
            </a:r>
          </a:p>
          <a:p>
            <a:r>
              <a:rPr lang="en-US" sz="4000" dirty="0" smtClean="0">
                <a:solidFill>
                  <a:srgbClr val="7030A0"/>
                </a:solidFill>
                <a:latin typeface="Times New Roman" panose="02020603050405020304" pitchFamily="18" charset="0"/>
                <a:cs typeface="Times New Roman" panose="02020603050405020304" pitchFamily="18" charset="0"/>
              </a:rPr>
              <a:t>Cauchy’s Theorem is valid if:</a:t>
            </a:r>
          </a:p>
          <a:p>
            <a:pPr marL="1943100" lvl="3" indent="-571500">
              <a:buFont typeface="Arial" panose="020B0604020202020204" pitchFamily="34" charset="0"/>
              <a:buChar char="•"/>
            </a:pPr>
            <a:r>
              <a:rPr lang="en-US" sz="4000" dirty="0" smtClean="0">
                <a:latin typeface="Times New Roman" panose="02020603050405020304" pitchFamily="18" charset="0"/>
                <a:cs typeface="Times New Roman" panose="02020603050405020304" pitchFamily="18" charset="0"/>
              </a:rPr>
              <a:t>The function is analytic</a:t>
            </a:r>
          </a:p>
          <a:p>
            <a:pPr marL="1943100" lvl="3" indent="-571500">
              <a:buFont typeface="Arial" panose="020B0604020202020204" pitchFamily="34" charset="0"/>
              <a:buChar char="•"/>
            </a:pPr>
            <a:r>
              <a:rPr lang="en-US" sz="4000" dirty="0" smtClean="0">
                <a:latin typeface="Times New Roman" panose="02020603050405020304" pitchFamily="18" charset="0"/>
                <a:cs typeface="Times New Roman" panose="02020603050405020304" pitchFamily="18" charset="0"/>
              </a:rPr>
              <a:t>No singularities inside the contour </a:t>
            </a:r>
          </a:p>
          <a:p>
            <a:pPr marL="1943100" lvl="3" indent="-571500">
              <a:buFont typeface="Arial" panose="020B0604020202020204" pitchFamily="34" charset="0"/>
              <a:buChar char="•"/>
            </a:pPr>
            <a:r>
              <a:rPr lang="en-US" sz="4000" dirty="0" smtClean="0">
                <a:latin typeface="Times New Roman" panose="02020603050405020304" pitchFamily="18" charset="0"/>
                <a:cs typeface="Times New Roman" panose="02020603050405020304" pitchFamily="18" charset="0"/>
              </a:rPr>
              <a:t>The contour is closed</a:t>
            </a:r>
          </a:p>
          <a:p>
            <a:pPr marL="1943100" lvl="3" indent="-571500">
              <a:buFont typeface="Arial" panose="020B0604020202020204" pitchFamily="34" charset="0"/>
              <a:buChar char="•"/>
            </a:pPr>
            <a:r>
              <a:rPr lang="en-US" sz="4000" dirty="0" smtClean="0">
                <a:latin typeface="Times New Roman" panose="02020603050405020304" pitchFamily="18" charset="0"/>
                <a:cs typeface="Times New Roman" panose="02020603050405020304" pitchFamily="18" charset="0"/>
              </a:rPr>
              <a:t>The region is simply connected</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38009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8300700" cy="102997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4197350" y="1206321"/>
            <a:ext cx="10820400" cy="1200329"/>
          </a:xfrm>
          <a:prstGeom prst="rect">
            <a:avLst/>
          </a:prstGeom>
          <a:noFill/>
        </p:spPr>
        <p:txBody>
          <a:bodyPr wrap="square" rtlCol="0">
            <a:spAutoFit/>
          </a:bodyPr>
          <a:lstStyle/>
          <a:p>
            <a:r>
              <a:rPr lang="en-US" sz="7200" dirty="0" smtClean="0">
                <a:solidFill>
                  <a:srgbClr val="FFFF00"/>
                </a:solidFill>
                <a:latin typeface="Aramis" panose="020B0600050302020204" pitchFamily="34" charset="0"/>
              </a:rPr>
              <a:t>Example of Cauchy’s Theorem</a:t>
            </a:r>
            <a:endParaRPr lang="en-US" sz="7200" dirty="0">
              <a:solidFill>
                <a:srgbClr val="FFFF00"/>
              </a:solidFill>
              <a:latin typeface="Aramis" panose="020B0600050302020204" pitchFamily="34" charset="0"/>
            </a:endParaRPr>
          </a:p>
        </p:txBody>
      </p:sp>
      <mc:AlternateContent xmlns:mc="http://schemas.openxmlformats.org/markup-compatibility/2006" xmlns:a14="http://schemas.microsoft.com/office/drawing/2010/main">
        <mc:Choice Requires="a14">
          <p:sp>
            <p:nvSpPr>
              <p:cNvPr id="5" name="TextBox 4"/>
              <p:cNvSpPr txBox="1"/>
              <p:nvPr/>
            </p:nvSpPr>
            <p:spPr>
              <a:xfrm>
                <a:off x="2787650" y="3092450"/>
                <a:ext cx="13639800" cy="5725926"/>
              </a:xfrm>
              <a:prstGeom prst="rect">
                <a:avLst/>
              </a:prstGeom>
              <a:noFill/>
            </p:spPr>
            <p:txBody>
              <a:bodyPr wrap="square" rtlCol="0">
                <a:spAutoFit/>
              </a:bodyPr>
              <a:lstStyle/>
              <a:p>
                <a:r>
                  <a:rPr lang="en-US" sz="4400" u="sng" dirty="0" smtClean="0">
                    <a:solidFill>
                      <a:srgbClr val="92D050"/>
                    </a:solidFill>
                    <a:latin typeface="Times New Roman" panose="02020603050405020304" pitchFamily="18" charset="0"/>
                    <a:cs typeface="Times New Roman" panose="02020603050405020304" pitchFamily="18" charset="0"/>
                  </a:rPr>
                  <a:t>Evaluate:</a:t>
                </a:r>
              </a:p>
              <a:p>
                <a14:m>
                  <m:oMath xmlns:m="http://schemas.openxmlformats.org/officeDocument/2006/math">
                    <m:nary>
                      <m:naryPr>
                        <m:chr m:val="∮"/>
                        <m:supHide m:val="on"/>
                        <m:ctrlPr>
                          <a:rPr lang="en-US" sz="4400" b="0" i="1" smtClean="0">
                            <a:solidFill>
                              <a:schemeClr val="bg1"/>
                            </a:solidFill>
                            <a:latin typeface="Cambria Math" panose="02040503050406030204" pitchFamily="18" charset="0"/>
                            <a:cs typeface="Times New Roman" panose="02020603050405020304" pitchFamily="18" charset="0"/>
                          </a:rPr>
                        </m:ctrlPr>
                      </m:naryPr>
                      <m:sub>
                        <m:r>
                          <a:rPr lang="en-US" sz="4400" b="0" i="1" smtClean="0">
                            <a:solidFill>
                              <a:schemeClr val="bg1"/>
                            </a:solidFill>
                            <a:latin typeface="Cambria Math" panose="02040503050406030204" pitchFamily="18" charset="0"/>
                            <a:cs typeface="Times New Roman" panose="02020603050405020304" pitchFamily="18" charset="0"/>
                          </a:rPr>
                          <m:t>𝑐</m:t>
                        </m:r>
                      </m:sub>
                      <m:sup/>
                      <m:e>
                        <m:d>
                          <m:dPr>
                            <m:ctrlPr>
                              <a:rPr lang="en-US" sz="4400" b="0" i="1" smtClean="0">
                                <a:solidFill>
                                  <a:schemeClr val="bg1"/>
                                </a:solidFill>
                                <a:latin typeface="Cambria Math" panose="02040503050406030204" pitchFamily="18" charset="0"/>
                                <a:cs typeface="Times New Roman" panose="02020603050405020304" pitchFamily="18" charset="0"/>
                              </a:rPr>
                            </m:ctrlPr>
                          </m:dPr>
                          <m:e>
                            <m:sSup>
                              <m:sSupPr>
                                <m:ctrlPr>
                                  <a:rPr lang="en-US" sz="4400" b="0" i="1" smtClean="0">
                                    <a:solidFill>
                                      <a:schemeClr val="bg1"/>
                                    </a:solidFill>
                                    <a:latin typeface="Cambria Math" panose="02040503050406030204" pitchFamily="18" charset="0"/>
                                    <a:cs typeface="Times New Roman" panose="02020603050405020304" pitchFamily="18" charset="0"/>
                                  </a:rPr>
                                </m:ctrlPr>
                              </m:sSupPr>
                              <m:e>
                                <m:r>
                                  <a:rPr lang="en-US" sz="4400" b="0" i="1" smtClean="0">
                                    <a:solidFill>
                                      <a:schemeClr val="bg1"/>
                                    </a:solidFill>
                                    <a:latin typeface="Cambria Math" panose="02040503050406030204" pitchFamily="18" charset="0"/>
                                    <a:cs typeface="Times New Roman" panose="02020603050405020304" pitchFamily="18" charset="0"/>
                                  </a:rPr>
                                  <m:t>𝑧</m:t>
                                </m:r>
                              </m:e>
                              <m:sup>
                                <m:r>
                                  <a:rPr lang="en-US" sz="4400" b="0" i="1" smtClean="0">
                                    <a:solidFill>
                                      <a:schemeClr val="bg1"/>
                                    </a:solidFill>
                                    <a:latin typeface="Cambria Math" panose="02040503050406030204" pitchFamily="18" charset="0"/>
                                    <a:cs typeface="Times New Roman" panose="02020603050405020304" pitchFamily="18" charset="0"/>
                                  </a:rPr>
                                  <m:t>2</m:t>
                                </m:r>
                              </m:sup>
                            </m:sSup>
                            <m:r>
                              <a:rPr lang="en-US" sz="4400" b="0" i="1" smtClean="0">
                                <a:solidFill>
                                  <a:schemeClr val="bg1"/>
                                </a:solidFill>
                                <a:latin typeface="Cambria Math" panose="02040503050406030204" pitchFamily="18" charset="0"/>
                                <a:cs typeface="Times New Roman" panose="02020603050405020304" pitchFamily="18" charset="0"/>
                              </a:rPr>
                              <m:t>+3</m:t>
                            </m:r>
                            <m:r>
                              <a:rPr lang="en-US" sz="4400" b="0" i="1" smtClean="0">
                                <a:solidFill>
                                  <a:schemeClr val="bg1"/>
                                </a:solidFill>
                                <a:latin typeface="Cambria Math" panose="02040503050406030204" pitchFamily="18" charset="0"/>
                                <a:cs typeface="Times New Roman" panose="02020603050405020304" pitchFamily="18" charset="0"/>
                              </a:rPr>
                              <m:t>𝑧</m:t>
                            </m:r>
                          </m:e>
                        </m:d>
                        <m:r>
                          <a:rPr lang="en-US" sz="4400" b="0" i="1" smtClean="0">
                            <a:solidFill>
                              <a:schemeClr val="bg1"/>
                            </a:solidFill>
                            <a:latin typeface="Cambria Math" panose="02040503050406030204" pitchFamily="18" charset="0"/>
                            <a:cs typeface="Times New Roman" panose="02020603050405020304" pitchFamily="18" charset="0"/>
                          </a:rPr>
                          <m:t>𝑑𝑧</m:t>
                        </m:r>
                      </m:e>
                    </m:nary>
                  </m:oMath>
                </a14:m>
                <a:r>
                  <a:rPr lang="en-US" sz="4400" dirty="0" smtClean="0">
                    <a:solidFill>
                      <a:schemeClr val="bg1"/>
                    </a:solidFill>
                    <a:latin typeface="Times New Roman" panose="02020603050405020304" pitchFamily="18" charset="0"/>
                    <a:cs typeface="Times New Roman" panose="02020603050405020304" pitchFamily="18" charset="0"/>
                  </a:rPr>
                  <a:t> </a:t>
                </a:r>
              </a:p>
              <a:p>
                <a:endParaRPr lang="en-US" sz="4400" dirty="0" smtClean="0">
                  <a:solidFill>
                    <a:schemeClr val="bg1"/>
                  </a:solidFill>
                  <a:latin typeface="Times New Roman" panose="02020603050405020304" pitchFamily="18" charset="0"/>
                  <a:cs typeface="Times New Roman" panose="02020603050405020304" pitchFamily="18" charset="0"/>
                </a:endParaRPr>
              </a:p>
              <a:p>
                <a:r>
                  <a:rPr lang="en-US" sz="4400" dirty="0" smtClean="0">
                    <a:solidFill>
                      <a:srgbClr val="92D050"/>
                    </a:solidFill>
                    <a:latin typeface="Times New Roman" panose="02020603050405020304" pitchFamily="18" charset="0"/>
                    <a:cs typeface="Times New Roman" panose="02020603050405020304" pitchFamily="18" charset="0"/>
                  </a:rPr>
                  <a:t>Solution:</a:t>
                </a:r>
              </a:p>
              <a:p>
                <a:pPr marL="1485900" lvl="2" indent="-571500">
                  <a:buFont typeface="Arial" panose="020B0604020202020204" pitchFamily="34" charset="0"/>
                  <a:buChar char="•"/>
                </a:pPr>
                <a:r>
                  <a:rPr lang="en-US" sz="4400" dirty="0" smtClean="0">
                    <a:solidFill>
                      <a:schemeClr val="bg1"/>
                    </a:solidFill>
                    <a:latin typeface="Times New Roman" panose="02020603050405020304" pitchFamily="18" charset="0"/>
                    <a:cs typeface="Times New Roman" panose="02020603050405020304" pitchFamily="18" charset="0"/>
                  </a:rPr>
                  <a:t>f(z) = </a:t>
                </a:r>
                <a14:m>
                  <m:oMath xmlns:m="http://schemas.openxmlformats.org/officeDocument/2006/math">
                    <m:sSup>
                      <m:sSupPr>
                        <m:ctrlPr>
                          <a:rPr lang="en-US" sz="4400" i="1">
                            <a:solidFill>
                              <a:schemeClr val="bg1"/>
                            </a:solidFill>
                            <a:latin typeface="Cambria Math" panose="02040503050406030204" pitchFamily="18" charset="0"/>
                            <a:cs typeface="Times New Roman" panose="02020603050405020304" pitchFamily="18" charset="0"/>
                          </a:rPr>
                        </m:ctrlPr>
                      </m:sSupPr>
                      <m:e>
                        <m:r>
                          <a:rPr lang="en-US" sz="4400" i="1">
                            <a:solidFill>
                              <a:schemeClr val="bg1"/>
                            </a:solidFill>
                            <a:latin typeface="Cambria Math" panose="02040503050406030204" pitchFamily="18" charset="0"/>
                            <a:cs typeface="Times New Roman" panose="02020603050405020304" pitchFamily="18" charset="0"/>
                          </a:rPr>
                          <m:t>𝑧</m:t>
                        </m:r>
                      </m:e>
                      <m:sup>
                        <m:r>
                          <a:rPr lang="en-US" sz="4400" i="1">
                            <a:solidFill>
                              <a:schemeClr val="bg1"/>
                            </a:solidFill>
                            <a:latin typeface="Cambria Math" panose="02040503050406030204" pitchFamily="18" charset="0"/>
                            <a:cs typeface="Times New Roman" panose="02020603050405020304" pitchFamily="18" charset="0"/>
                          </a:rPr>
                          <m:t>2</m:t>
                        </m:r>
                      </m:sup>
                    </m:sSup>
                    <m:r>
                      <a:rPr lang="en-US" sz="4400" i="1">
                        <a:solidFill>
                          <a:schemeClr val="bg1"/>
                        </a:solidFill>
                        <a:latin typeface="Cambria Math" panose="02040503050406030204" pitchFamily="18" charset="0"/>
                        <a:cs typeface="Times New Roman" panose="02020603050405020304" pitchFamily="18" charset="0"/>
                      </a:rPr>
                      <m:t>+3</m:t>
                    </m:r>
                    <m:r>
                      <a:rPr lang="en-US" sz="4400" i="1">
                        <a:solidFill>
                          <a:schemeClr val="bg1"/>
                        </a:solidFill>
                        <a:latin typeface="Cambria Math" panose="02040503050406030204" pitchFamily="18" charset="0"/>
                        <a:cs typeface="Times New Roman" panose="02020603050405020304" pitchFamily="18" charset="0"/>
                      </a:rPr>
                      <m:t>𝑧</m:t>
                    </m:r>
                  </m:oMath>
                </a14:m>
                <a:r>
                  <a:rPr lang="en-US" sz="4400" dirty="0" smtClean="0">
                    <a:solidFill>
                      <a:schemeClr val="bg1"/>
                    </a:solidFill>
                    <a:latin typeface="Times New Roman" panose="02020603050405020304" pitchFamily="18" charset="0"/>
                    <a:cs typeface="Times New Roman" panose="02020603050405020304" pitchFamily="18" charset="0"/>
                  </a:rPr>
                  <a:t> </a:t>
                </a:r>
              </a:p>
              <a:p>
                <a:pPr marL="1485900" lvl="2" indent="-571500">
                  <a:buFont typeface="Arial" panose="020B0604020202020204" pitchFamily="34" charset="0"/>
                  <a:buChar char="•"/>
                </a:pPr>
                <a:r>
                  <a:rPr lang="en-US" sz="4400" dirty="0" smtClean="0">
                    <a:solidFill>
                      <a:schemeClr val="bg1"/>
                    </a:solidFill>
                    <a:latin typeface="Times New Roman" panose="02020603050405020304" pitchFamily="18" charset="0"/>
                    <a:cs typeface="Times New Roman" panose="02020603050405020304" pitchFamily="18" charset="0"/>
                  </a:rPr>
                  <a:t>Polynomial function are analytic everywhere</a:t>
                </a:r>
              </a:p>
              <a:p>
                <a:pPr marL="1485900" lvl="2" indent="-571500">
                  <a:buFont typeface="Arial" panose="020B0604020202020204" pitchFamily="34" charset="0"/>
                  <a:buChar char="•"/>
                </a:pPr>
                <a:r>
                  <a:rPr lang="en-US" sz="4400" dirty="0" smtClean="0">
                    <a:solidFill>
                      <a:schemeClr val="bg1"/>
                    </a:solidFill>
                    <a:latin typeface="Times New Roman" panose="02020603050405020304" pitchFamily="18" charset="0"/>
                    <a:cs typeface="Times New Roman" panose="02020603050405020304" pitchFamily="18" charset="0"/>
                  </a:rPr>
                  <a:t>By Cauchy’s Theorem:  </a:t>
                </a:r>
              </a:p>
              <a:p>
                <a:pPr lvl="2"/>
                <a:r>
                  <a:rPr lang="en-US" sz="4400" dirty="0">
                    <a:ln w="0"/>
                    <a:solidFill>
                      <a:schemeClr val="bg1"/>
                    </a:solidFill>
                    <a:latin typeface="Times New Roman" panose="02020603050405020304" pitchFamily="18" charset="0"/>
                    <a:cs typeface="Times New Roman" panose="02020603050405020304" pitchFamily="18" charset="0"/>
                  </a:rPr>
                  <a:t> </a:t>
                </a:r>
                <a:r>
                  <a:rPr lang="en-US" sz="4400" dirty="0" smtClean="0">
                    <a:ln w="0"/>
                    <a:solidFill>
                      <a:schemeClr val="bg1"/>
                    </a:solidFill>
                    <a:latin typeface="Times New Roman" panose="02020603050405020304" pitchFamily="18" charset="0"/>
                    <a:cs typeface="Times New Roman" panose="02020603050405020304" pitchFamily="18" charset="0"/>
                  </a:rPr>
                  <a:t>                                        </a:t>
                </a:r>
                <a14:m>
                  <m:oMath xmlns:m="http://schemas.openxmlformats.org/officeDocument/2006/math">
                    <m:func>
                      <m:funcPr>
                        <m:ctrlPr>
                          <a:rPr lang="en-US" sz="4400" i="1" smtClean="0">
                            <a:ln w="0"/>
                            <a:solidFill>
                              <a:srgbClr val="FFFF00"/>
                            </a:solidFill>
                            <a:latin typeface="Cambria Math" panose="02040503050406030204" pitchFamily="18" charset="0"/>
                            <a:cs typeface="Times New Roman" panose="02020603050405020304" pitchFamily="18" charset="0"/>
                          </a:rPr>
                        </m:ctrlPr>
                      </m:funcPr>
                      <m:fName>
                        <m:nary>
                          <m:naryPr>
                            <m:chr m:val="∮"/>
                            <m:supHide m:val="on"/>
                            <m:ctrlPr>
                              <a:rPr lang="en-US" sz="4400" i="1">
                                <a:ln w="0"/>
                                <a:solidFill>
                                  <a:srgbClr val="FFFF00"/>
                                </a:solidFill>
                                <a:latin typeface="Cambria Math" panose="02040503050406030204" pitchFamily="18" charset="0"/>
                                <a:cs typeface="Times New Roman" panose="02020603050405020304" pitchFamily="18" charset="0"/>
                              </a:rPr>
                            </m:ctrlPr>
                          </m:naryPr>
                          <m:sub>
                            <m:r>
                              <a:rPr lang="en-US" sz="4400" i="1">
                                <a:ln w="0"/>
                                <a:solidFill>
                                  <a:srgbClr val="FFFF00"/>
                                </a:solidFill>
                                <a:latin typeface="Cambria Math" panose="02040503050406030204" pitchFamily="18" charset="0"/>
                                <a:cs typeface="Times New Roman" panose="02020603050405020304" pitchFamily="18" charset="0"/>
                              </a:rPr>
                              <m:t>𝑐</m:t>
                            </m:r>
                          </m:sub>
                          <m:sup/>
                          <m:e>
                            <m:r>
                              <a:rPr lang="en-US" sz="4400" i="1">
                                <a:ln w="0"/>
                                <a:solidFill>
                                  <a:srgbClr val="FFFF00"/>
                                </a:solidFill>
                                <a:latin typeface="Cambria Math" panose="02040503050406030204" pitchFamily="18" charset="0"/>
                                <a:cs typeface="Times New Roman" panose="02020603050405020304" pitchFamily="18" charset="0"/>
                              </a:rPr>
                              <m:t>𝑓</m:t>
                            </m:r>
                            <m:r>
                              <a:rPr lang="en-US" sz="4400" i="1">
                                <a:ln w="0"/>
                                <a:solidFill>
                                  <a:srgbClr val="FFFF00"/>
                                </a:solidFill>
                                <a:latin typeface="Cambria Math" panose="02040503050406030204" pitchFamily="18" charset="0"/>
                                <a:cs typeface="Times New Roman" panose="02020603050405020304" pitchFamily="18" charset="0"/>
                              </a:rPr>
                              <m:t>(</m:t>
                            </m:r>
                            <m:r>
                              <a:rPr lang="en-US" sz="4400" i="1">
                                <a:ln w="0"/>
                                <a:solidFill>
                                  <a:srgbClr val="FFFF00"/>
                                </a:solidFill>
                                <a:latin typeface="Cambria Math" panose="02040503050406030204" pitchFamily="18" charset="0"/>
                                <a:cs typeface="Times New Roman" panose="02020603050405020304" pitchFamily="18" charset="0"/>
                              </a:rPr>
                              <m:t>𝑧</m:t>
                            </m:r>
                            <m:r>
                              <a:rPr lang="en-US" sz="4400" i="1">
                                <a:ln w="0"/>
                                <a:solidFill>
                                  <a:srgbClr val="FFFF00"/>
                                </a:solidFill>
                                <a:latin typeface="Cambria Math" panose="02040503050406030204" pitchFamily="18" charset="0"/>
                                <a:cs typeface="Times New Roman" panose="02020603050405020304" pitchFamily="18" charset="0"/>
                              </a:rPr>
                              <m:t>)</m:t>
                            </m:r>
                          </m:e>
                        </m:nary>
                      </m:fName>
                      <m:e>
                        <m:r>
                          <m:rPr>
                            <m:nor/>
                          </m:rPr>
                          <a:rPr lang="en-US" sz="4400" dirty="0">
                            <a:ln w="0"/>
                            <a:solidFill>
                              <a:srgbClr val="FFFF00"/>
                            </a:solidFill>
                            <a:latin typeface="Times New Roman" panose="02020603050405020304" pitchFamily="18" charset="0"/>
                            <a:cs typeface="Times New Roman" panose="02020603050405020304" pitchFamily="18" charset="0"/>
                          </a:rPr>
                          <m:t>dz</m:t>
                        </m:r>
                      </m:e>
                    </m:func>
                  </m:oMath>
                </a14:m>
                <a:r>
                  <a:rPr lang="en-US" sz="4400" dirty="0">
                    <a:ln w="0"/>
                    <a:solidFill>
                      <a:srgbClr val="FFFF00"/>
                    </a:solidFill>
                    <a:latin typeface="Times New Roman" panose="02020603050405020304" pitchFamily="18" charset="0"/>
                    <a:cs typeface="Times New Roman" panose="02020603050405020304" pitchFamily="18" charset="0"/>
                  </a:rPr>
                  <a:t> = </a:t>
                </a:r>
                <a:r>
                  <a:rPr lang="en-US" sz="4400" dirty="0" smtClean="0">
                    <a:ln w="0"/>
                    <a:solidFill>
                      <a:srgbClr val="FFFF00"/>
                    </a:solidFill>
                    <a:latin typeface="Times New Roman" panose="02020603050405020304" pitchFamily="18" charset="0"/>
                    <a:cs typeface="Times New Roman" panose="02020603050405020304" pitchFamily="18" charset="0"/>
                  </a:rPr>
                  <a:t>0</a:t>
                </a:r>
                <a:endParaRPr lang="en-US" sz="4400" dirty="0">
                  <a:ln w="0"/>
                  <a:solidFill>
                    <a:srgbClr val="FFFF00"/>
                  </a:solidFill>
                  <a:latin typeface="Times New Roman" panose="02020603050405020304" pitchFamily="18" charset="0"/>
                  <a:cs typeface="Times New Roman" panose="020206030504050203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2787650" y="3092450"/>
                <a:ext cx="13639800" cy="5725926"/>
              </a:xfrm>
              <a:prstGeom prst="rect">
                <a:avLst/>
              </a:prstGeom>
              <a:blipFill rotWithShape="0">
                <a:blip r:embed="rId2"/>
                <a:stretch>
                  <a:fillRect l="-1787" t="-2021" b="-2340"/>
                </a:stretch>
              </a:blipFill>
            </p:spPr>
            <p:txBody>
              <a:bodyPr/>
              <a:lstStyle/>
              <a:p>
                <a:r>
                  <a:rPr lang="en-US">
                    <a:noFill/>
                  </a:rPr>
                  <a:t> </a:t>
                </a:r>
              </a:p>
            </p:txBody>
          </p:sp>
        </mc:Fallback>
      </mc:AlternateContent>
    </p:spTree>
    <p:extLst>
      <p:ext uri="{BB962C8B-B14F-4D97-AF65-F5344CB8AC3E}">
        <p14:creationId xmlns:p14="http://schemas.microsoft.com/office/powerpoint/2010/main" val="88114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778"/>
            <a:ext cx="18300700" cy="10294144"/>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0" y="2778"/>
            <a:ext cx="18300700" cy="10294144"/>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FF91C6">
                    <a:alpha val="49000"/>
                  </a:srgbClr>
                </a:gs>
                <a:gs pos="50000">
                  <a:srgbClr val="FFB7C6">
                    <a:alpha val="49000"/>
                  </a:srgbClr>
                </a:gs>
                <a:gs pos="100000">
                  <a:srgbClr val="FFF0F3">
                    <a:alpha val="49000"/>
                  </a:srgbClr>
                </a:gs>
              </a:gsLst>
              <a:lin ang="5400000"/>
            </a:gradFill>
          </p:spPr>
        </p:sp>
        <p:sp>
          <p:nvSpPr>
            <p:cNvPr id="5" name="TextBox 5"/>
            <p:cNvSpPr txBox="1"/>
            <p:nvPr/>
          </p:nvSpPr>
          <p:spPr>
            <a:xfrm>
              <a:off x="0" y="-38100"/>
              <a:ext cx="4816593" cy="2747433"/>
            </a:xfrm>
            <a:prstGeom prst="rect">
              <a:avLst/>
            </a:prstGeom>
          </p:spPr>
          <p:txBody>
            <a:bodyPr lIns="50835" tIns="50835" rIns="50835" bIns="50835" rtlCol="0" anchor="ctr"/>
            <a:lstStyle/>
            <a:p>
              <a:pPr algn="ctr">
                <a:lnSpc>
                  <a:spcPts val="2661"/>
                </a:lnSpc>
                <a:spcBef>
                  <a:spcPct val="0"/>
                </a:spcBef>
              </a:pPr>
              <a:endParaRPr sz="1801"/>
            </a:p>
          </p:txBody>
        </p:sp>
      </p:grpSp>
      <p:sp>
        <p:nvSpPr>
          <p:cNvPr id="7" name="Freeform 7"/>
          <p:cNvSpPr/>
          <p:nvPr/>
        </p:nvSpPr>
        <p:spPr>
          <a:xfrm>
            <a:off x="9150350" y="2778"/>
            <a:ext cx="9150350" cy="10294144"/>
          </a:xfrm>
          <a:custGeom>
            <a:avLst/>
            <a:gdLst/>
            <a:ahLst/>
            <a:cxnLst/>
            <a:rect l="l" t="t" r="r" b="b"/>
            <a:pathLst>
              <a:path w="9144000" h="10287000">
                <a:moveTo>
                  <a:pt x="0" y="0"/>
                </a:moveTo>
                <a:lnTo>
                  <a:pt x="9144000" y="0"/>
                </a:lnTo>
                <a:lnTo>
                  <a:pt x="9144000" y="10287000"/>
                </a:lnTo>
                <a:lnTo>
                  <a:pt x="0" y="10287000"/>
                </a:lnTo>
                <a:lnTo>
                  <a:pt x="0" y="0"/>
                </a:lnTo>
                <a:close/>
              </a:path>
            </a:pathLst>
          </a:custGeom>
          <a:blipFill>
            <a:blip r:embed="rId3"/>
            <a:stretch>
              <a:fillRect t="-5538" b="-13123"/>
            </a:stretch>
          </a:blipFill>
        </p:spPr>
      </p:sp>
      <p:sp>
        <p:nvSpPr>
          <p:cNvPr id="8" name="Freeform 8"/>
          <p:cNvSpPr/>
          <p:nvPr/>
        </p:nvSpPr>
        <p:spPr>
          <a:xfrm>
            <a:off x="0" y="5964251"/>
            <a:ext cx="14796932" cy="4332672"/>
          </a:xfrm>
          <a:custGeom>
            <a:avLst/>
            <a:gdLst/>
            <a:ahLst/>
            <a:cxnLst/>
            <a:rect l="l" t="t" r="r" b="b"/>
            <a:pathLst>
              <a:path w="14786663" h="4329665">
                <a:moveTo>
                  <a:pt x="0" y="0"/>
                </a:moveTo>
                <a:lnTo>
                  <a:pt x="14786663" y="0"/>
                </a:lnTo>
                <a:lnTo>
                  <a:pt x="14786663" y="4329665"/>
                </a:lnTo>
                <a:lnTo>
                  <a:pt x="0" y="4329665"/>
                </a:lnTo>
                <a:lnTo>
                  <a:pt x="0" y="0"/>
                </a:lnTo>
                <a:close/>
              </a:path>
            </a:pathLst>
          </a:custGeom>
          <a:blipFill>
            <a:blip r:embed="rId4"/>
            <a:stretch>
              <a:fillRect b="-22235"/>
            </a:stretch>
          </a:blipFill>
        </p:spPr>
      </p:sp>
      <p:sp>
        <p:nvSpPr>
          <p:cNvPr id="9" name="Freeform 9"/>
          <p:cNvSpPr/>
          <p:nvPr/>
        </p:nvSpPr>
        <p:spPr>
          <a:xfrm>
            <a:off x="4393141" y="5964251"/>
            <a:ext cx="13907559" cy="4332672"/>
          </a:xfrm>
          <a:custGeom>
            <a:avLst/>
            <a:gdLst/>
            <a:ahLst/>
            <a:cxnLst/>
            <a:rect l="l" t="t" r="r" b="b"/>
            <a:pathLst>
              <a:path w="13897908" h="4329665">
                <a:moveTo>
                  <a:pt x="0" y="0"/>
                </a:moveTo>
                <a:lnTo>
                  <a:pt x="13897908" y="0"/>
                </a:lnTo>
                <a:lnTo>
                  <a:pt x="13897908" y="4329665"/>
                </a:lnTo>
                <a:lnTo>
                  <a:pt x="0" y="4329665"/>
                </a:lnTo>
                <a:lnTo>
                  <a:pt x="0" y="0"/>
                </a:lnTo>
                <a:close/>
              </a:path>
            </a:pathLst>
          </a:custGeom>
          <a:blipFill>
            <a:blip r:embed="rId4"/>
            <a:stretch>
              <a:fillRect r="-6394" b="-22235"/>
            </a:stretch>
          </a:blipFill>
        </p:spPr>
      </p:sp>
      <p:sp>
        <p:nvSpPr>
          <p:cNvPr id="10" name="Freeform 10"/>
          <p:cNvSpPr/>
          <p:nvPr/>
        </p:nvSpPr>
        <p:spPr>
          <a:xfrm rot="-3904142" flipH="1">
            <a:off x="14195662" y="-974581"/>
            <a:ext cx="5432543" cy="4889289"/>
          </a:xfrm>
          <a:custGeom>
            <a:avLst/>
            <a:gdLst/>
            <a:ahLst/>
            <a:cxnLst/>
            <a:rect l="l" t="t" r="r" b="b"/>
            <a:pathLst>
              <a:path w="5428773" h="4885896">
                <a:moveTo>
                  <a:pt x="5428773" y="0"/>
                </a:moveTo>
                <a:lnTo>
                  <a:pt x="0" y="0"/>
                </a:lnTo>
                <a:lnTo>
                  <a:pt x="0" y="4885896"/>
                </a:lnTo>
                <a:lnTo>
                  <a:pt x="5428773" y="4885896"/>
                </a:lnTo>
                <a:lnTo>
                  <a:pt x="5428773" y="0"/>
                </a:lnTo>
                <a:close/>
              </a:path>
            </a:pathLst>
          </a:custGeom>
          <a:blipFill>
            <a:blip r:embed="rId5"/>
            <a:stretch>
              <a:fillRect/>
            </a:stretch>
          </a:blipFill>
        </p:spPr>
      </p:sp>
      <p:sp>
        <p:nvSpPr>
          <p:cNvPr id="11" name="Freeform 11"/>
          <p:cNvSpPr/>
          <p:nvPr/>
        </p:nvSpPr>
        <p:spPr>
          <a:xfrm rot="4248475">
            <a:off x="-1173937" y="-1099274"/>
            <a:ext cx="5432543" cy="4889289"/>
          </a:xfrm>
          <a:custGeom>
            <a:avLst/>
            <a:gdLst/>
            <a:ahLst/>
            <a:cxnLst/>
            <a:rect l="l" t="t" r="r" b="b"/>
            <a:pathLst>
              <a:path w="5428773" h="4885896">
                <a:moveTo>
                  <a:pt x="0" y="0"/>
                </a:moveTo>
                <a:lnTo>
                  <a:pt x="5428773" y="0"/>
                </a:lnTo>
                <a:lnTo>
                  <a:pt x="5428773" y="4885896"/>
                </a:lnTo>
                <a:lnTo>
                  <a:pt x="0" y="4885896"/>
                </a:lnTo>
                <a:lnTo>
                  <a:pt x="0" y="0"/>
                </a:lnTo>
                <a:close/>
              </a:path>
            </a:pathLst>
          </a:custGeom>
          <a:blipFill>
            <a:blip r:embed="rId5"/>
            <a:stretch>
              <a:fillRect/>
            </a:stretch>
          </a:blipFill>
        </p:spPr>
      </p:sp>
      <mc:AlternateContent xmlns:mc="http://schemas.openxmlformats.org/markup-compatibility/2006" xmlns:a14="http://schemas.microsoft.com/office/drawing/2010/main">
        <mc:Choice Requires="a14">
          <p:sp>
            <p:nvSpPr>
              <p:cNvPr id="15" name="TextBox 15"/>
              <p:cNvSpPr txBox="1"/>
              <p:nvPr/>
            </p:nvSpPr>
            <p:spPr>
              <a:xfrm>
                <a:off x="3231048" y="2889649"/>
                <a:ext cx="13552910" cy="6647974"/>
              </a:xfrm>
              <a:prstGeom prst="rect">
                <a:avLst/>
              </a:prstGeom>
            </p:spPr>
            <p:txBody>
              <a:bodyPr wrap="square" lIns="0" tIns="0" rIns="0" bIns="0" rtlCol="0" anchor="t">
                <a:spAutoFit/>
              </a:bodyPr>
              <a:lstStyle/>
              <a:p>
                <a:pPr>
                  <a:lnSpc>
                    <a:spcPct val="150000"/>
                  </a:lnSpc>
                </a:pPr>
                <a:r>
                  <a:rPr lang="en-US" sz="4800" spc="-44" dirty="0" smtClean="0">
                    <a:solidFill>
                      <a:srgbClr val="FF5F90"/>
                    </a:solidFill>
                    <a:latin typeface="Times New Roman" panose="02020603050405020304" pitchFamily="18" charset="0"/>
                    <a:ea typeface="TT Commons Pro"/>
                    <a:cs typeface="Times New Roman" panose="02020603050405020304" pitchFamily="18" charset="0"/>
                    <a:sym typeface="TT Commons Pro"/>
                  </a:rPr>
                  <a:t>A point </a:t>
                </a:r>
                <a14:m>
                  <m:oMath xmlns:m="http://schemas.openxmlformats.org/officeDocument/2006/math">
                    <m:sSub>
                      <m:sSubPr>
                        <m:ctrlPr>
                          <a:rPr lang="en-US" sz="4800" i="1" spc="-44" smtClean="0">
                            <a:solidFill>
                              <a:srgbClr val="FF5F90"/>
                            </a:solidFill>
                            <a:latin typeface="Cambria Math" panose="02040503050406030204" pitchFamily="18" charset="0"/>
                            <a:sym typeface="TT Commons Pro"/>
                          </a:rPr>
                        </m:ctrlPr>
                      </m:sSubPr>
                      <m:e>
                        <m:r>
                          <a:rPr lang="en-US" sz="4800" b="0" i="1" spc="-44" smtClean="0">
                            <a:solidFill>
                              <a:srgbClr val="FF5F90"/>
                            </a:solidFill>
                            <a:latin typeface="Cambria Math" panose="02040503050406030204" pitchFamily="18" charset="0"/>
                            <a:sym typeface="TT Commons Pro"/>
                          </a:rPr>
                          <m:t>𝑧</m:t>
                        </m:r>
                      </m:e>
                      <m:sub>
                        <m:r>
                          <a:rPr lang="en-US" sz="4800" b="0" i="1" spc="-44" smtClean="0">
                            <a:solidFill>
                              <a:srgbClr val="FF5F90"/>
                            </a:solidFill>
                            <a:latin typeface="Cambria Math" panose="02040503050406030204" pitchFamily="18" charset="0"/>
                            <a:sym typeface="TT Commons Pro"/>
                          </a:rPr>
                          <m:t>0</m:t>
                        </m:r>
                      </m:sub>
                    </m:sSub>
                  </m:oMath>
                </a14:m>
                <a:r>
                  <a:rPr lang="en-US" sz="4800" spc="-44" dirty="0" smtClean="0">
                    <a:solidFill>
                      <a:srgbClr val="FF5F90"/>
                    </a:solidFill>
                    <a:latin typeface="Times New Roman" panose="02020603050405020304" pitchFamily="18" charset="0"/>
                    <a:ea typeface="TT Commons Pro"/>
                    <a:cs typeface="Times New Roman" panose="02020603050405020304" pitchFamily="18" charset="0"/>
                    <a:sym typeface="TT Commons Pro"/>
                  </a:rPr>
                  <a:t> is called a zero of a complex function f(z) if</a:t>
                </a:r>
              </a:p>
              <a:p>
                <a:pPr>
                  <a:lnSpc>
                    <a:spcPct val="150000"/>
                  </a:lnSpc>
                </a:pPr>
                <a:r>
                  <a:rPr lang="en-US" sz="4800" spc="-44" dirty="0">
                    <a:solidFill>
                      <a:srgbClr val="FF5F90"/>
                    </a:solidFill>
                    <a:latin typeface="Times New Roman" panose="02020603050405020304" pitchFamily="18" charset="0"/>
                    <a:ea typeface="TT Commons Pro"/>
                    <a:cs typeface="Times New Roman" panose="02020603050405020304" pitchFamily="18" charset="0"/>
                    <a:sym typeface="TT Commons Pro"/>
                  </a:rPr>
                  <a:t>f</a:t>
                </a:r>
                <a:r>
                  <a:rPr lang="en-US" sz="4800" spc="-44" dirty="0" smtClean="0">
                    <a:solidFill>
                      <a:srgbClr val="FF5F90"/>
                    </a:solidFill>
                    <a:latin typeface="Times New Roman" panose="02020603050405020304" pitchFamily="18" charset="0"/>
                    <a:ea typeface="TT Commons Pro"/>
                    <a:cs typeface="Times New Roman" panose="02020603050405020304" pitchFamily="18" charset="0"/>
                    <a:sym typeface="TT Commons Pro"/>
                  </a:rPr>
                  <a:t>(z) = 0</a:t>
                </a:r>
              </a:p>
              <a:p>
                <a:pPr>
                  <a:lnSpc>
                    <a:spcPct val="150000"/>
                  </a:lnSpc>
                </a:pPr>
                <a:r>
                  <a:rPr lang="en-US" sz="4800" b="1" spc="-44" dirty="0" smtClean="0">
                    <a:solidFill>
                      <a:srgbClr val="FF5F90"/>
                    </a:solidFill>
                    <a:latin typeface="Times New Roman" panose="02020603050405020304" pitchFamily="18" charset="0"/>
                    <a:ea typeface="TT Commons Pro"/>
                    <a:cs typeface="Times New Roman" panose="02020603050405020304" pitchFamily="18" charset="0"/>
                    <a:sym typeface="TT Commons Pro"/>
                  </a:rPr>
                  <a:t>Types of Zeros</a:t>
                </a:r>
              </a:p>
              <a:p>
                <a:pPr marL="1828800" lvl="3" indent="-457200">
                  <a:lnSpc>
                    <a:spcPct val="150000"/>
                  </a:lnSpc>
                  <a:buFont typeface="Arial" panose="020B0604020202020204" pitchFamily="34" charset="0"/>
                  <a:buChar char="•"/>
                </a:pPr>
                <a:r>
                  <a:rPr lang="en-US" sz="4800" spc="-44" dirty="0">
                    <a:solidFill>
                      <a:srgbClr val="FF5F90"/>
                    </a:solidFill>
                    <a:latin typeface="Times New Roman" panose="02020603050405020304" pitchFamily="18" charset="0"/>
                    <a:ea typeface="TT Commons Pro"/>
                    <a:cs typeface="Times New Roman" panose="02020603050405020304" pitchFamily="18" charset="0"/>
                    <a:sym typeface="TT Commons Pro"/>
                  </a:rPr>
                  <a:t>S</a:t>
                </a:r>
                <a:r>
                  <a:rPr lang="en-US" sz="4800" spc="-44" dirty="0" smtClean="0">
                    <a:solidFill>
                      <a:srgbClr val="FF5F90"/>
                    </a:solidFill>
                    <a:latin typeface="Times New Roman" panose="02020603050405020304" pitchFamily="18" charset="0"/>
                    <a:ea typeface="TT Commons Pro"/>
                    <a:cs typeface="Times New Roman" panose="02020603050405020304" pitchFamily="18" charset="0"/>
                    <a:sym typeface="TT Commons Pro"/>
                  </a:rPr>
                  <a:t>imple Zero: Zero of order 1</a:t>
                </a:r>
              </a:p>
              <a:p>
                <a:pPr marL="1828800" lvl="3" indent="-457200">
                  <a:lnSpc>
                    <a:spcPct val="150000"/>
                  </a:lnSpc>
                  <a:buFont typeface="Arial" panose="020B0604020202020204" pitchFamily="34" charset="0"/>
                  <a:buChar char="•"/>
                </a:pPr>
                <a:r>
                  <a:rPr lang="en-US" sz="4800" spc="-44" dirty="0">
                    <a:solidFill>
                      <a:srgbClr val="FF5F90"/>
                    </a:solidFill>
                    <a:latin typeface="Times New Roman" panose="02020603050405020304" pitchFamily="18" charset="0"/>
                    <a:ea typeface="TT Commons Pro"/>
                    <a:cs typeface="Times New Roman" panose="02020603050405020304" pitchFamily="18" charset="0"/>
                    <a:sym typeface="TT Commons Pro"/>
                  </a:rPr>
                  <a:t>M</a:t>
                </a:r>
                <a:r>
                  <a:rPr lang="en-US" sz="4800" spc="-44" dirty="0" smtClean="0">
                    <a:solidFill>
                      <a:srgbClr val="FF5F90"/>
                    </a:solidFill>
                    <a:latin typeface="Times New Roman" panose="02020603050405020304" pitchFamily="18" charset="0"/>
                    <a:ea typeface="TT Commons Pro"/>
                    <a:cs typeface="Times New Roman" panose="02020603050405020304" pitchFamily="18" charset="0"/>
                    <a:sym typeface="TT Commons Pro"/>
                  </a:rPr>
                  <a:t>ultiple Zero: Zero of order greater than 1</a:t>
                </a:r>
                <a14:m>
                  <m:oMath xmlns:m="http://schemas.openxmlformats.org/officeDocument/2006/math">
                    <m:r>
                      <a:rPr lang="en-US" sz="4800" spc="-44">
                        <a:solidFill>
                          <a:srgbClr val="FF5F90"/>
                        </a:solidFill>
                        <a:latin typeface="Cambria Math" panose="02040503050406030204" pitchFamily="18" charset="0"/>
                        <a:ea typeface="TT Commons Pro"/>
                        <a:cs typeface="TT Commons Pro"/>
                        <a:sym typeface="TT Commons Pro"/>
                      </a:rPr>
                      <m:t> </m:t>
                    </m:r>
                  </m:oMath>
                </a14:m>
                <a:endParaRPr lang="en-US" sz="4800" spc="-44" dirty="0" smtClean="0">
                  <a:solidFill>
                    <a:srgbClr val="FF5F90"/>
                  </a:solidFill>
                  <a:latin typeface="Times New Roman" panose="02020603050405020304" pitchFamily="18" charset="0"/>
                  <a:ea typeface="TT Commons Pro"/>
                  <a:cs typeface="Times New Roman" panose="02020603050405020304" pitchFamily="18" charset="0"/>
                  <a:sym typeface="TT Commons Pro"/>
                </a:endParaRPr>
              </a:p>
              <a:p>
                <a:pPr>
                  <a:lnSpc>
                    <a:spcPct val="150000"/>
                  </a:lnSpc>
                </a:pPr>
                <a:r>
                  <a:rPr lang="en-US" sz="4800" spc="-44" dirty="0" smtClean="0">
                    <a:solidFill>
                      <a:srgbClr val="FF5F90"/>
                    </a:solidFill>
                    <a:latin typeface="Times New Roman" panose="02020603050405020304" pitchFamily="18" charset="0"/>
                    <a:ea typeface="TT Commons Pro"/>
                    <a:cs typeface="Times New Roman" panose="02020603050405020304" pitchFamily="18" charset="0"/>
                    <a:sym typeface="TT Commons Pro"/>
                  </a:rPr>
                  <a:t>Example: f(z) = </a:t>
                </a:r>
                <a14:m>
                  <m:oMath xmlns:m="http://schemas.openxmlformats.org/officeDocument/2006/math">
                    <m:sSup>
                      <m:sSupPr>
                        <m:ctrlPr>
                          <a:rPr lang="en-US" sz="4800" b="0" i="1" spc="-44" smtClean="0">
                            <a:solidFill>
                              <a:srgbClr val="FF5F90"/>
                            </a:solidFill>
                            <a:latin typeface="Cambria Math" panose="02040503050406030204" pitchFamily="18" charset="0"/>
                            <a:ea typeface="TT Commons Pro"/>
                            <a:cs typeface="Times New Roman" panose="02020603050405020304" pitchFamily="18" charset="0"/>
                            <a:sym typeface="TT Commons Pro"/>
                          </a:rPr>
                        </m:ctrlPr>
                      </m:sSupPr>
                      <m:e>
                        <m:r>
                          <a:rPr lang="en-US" sz="4800" b="0" i="1" spc="-44" smtClean="0">
                            <a:solidFill>
                              <a:srgbClr val="FF5F90"/>
                            </a:solidFill>
                            <a:latin typeface="Cambria Math" panose="02040503050406030204" pitchFamily="18" charset="0"/>
                            <a:ea typeface="TT Commons Pro"/>
                            <a:cs typeface="Times New Roman" panose="02020603050405020304" pitchFamily="18" charset="0"/>
                            <a:sym typeface="TT Commons Pro"/>
                          </a:rPr>
                          <m:t>𝑧</m:t>
                        </m:r>
                      </m:e>
                      <m:sup>
                        <m:r>
                          <a:rPr lang="en-US" sz="4800" b="0" i="1" spc="-44" smtClean="0">
                            <a:solidFill>
                              <a:srgbClr val="FF5F90"/>
                            </a:solidFill>
                            <a:latin typeface="Cambria Math" panose="02040503050406030204" pitchFamily="18" charset="0"/>
                            <a:ea typeface="TT Commons Pro"/>
                            <a:cs typeface="Times New Roman" panose="02020603050405020304" pitchFamily="18" charset="0"/>
                            <a:sym typeface="TT Commons Pro"/>
                          </a:rPr>
                          <m:t>2</m:t>
                        </m:r>
                      </m:sup>
                    </m:sSup>
                    <m:r>
                      <a:rPr lang="en-US" sz="4800" b="0" i="1" spc="-44" smtClean="0">
                        <a:solidFill>
                          <a:srgbClr val="FF5F90"/>
                        </a:solidFill>
                        <a:latin typeface="Cambria Math" panose="02040503050406030204" pitchFamily="18" charset="0"/>
                        <a:ea typeface="TT Commons Pro"/>
                        <a:cs typeface="Times New Roman" panose="02020603050405020304" pitchFamily="18" charset="0"/>
                        <a:sym typeface="TT Commons Pro"/>
                      </a:rPr>
                      <m:t>−1</m:t>
                    </m:r>
                  </m:oMath>
                </a14:m>
                <a:endParaRPr lang="en-US" sz="4800" spc="-44" dirty="0">
                  <a:solidFill>
                    <a:srgbClr val="FF5F90"/>
                  </a:solidFill>
                  <a:latin typeface="Times New Roman" panose="02020603050405020304" pitchFamily="18" charset="0"/>
                  <a:ea typeface="TT Commons Pro"/>
                  <a:cs typeface="Times New Roman" panose="02020603050405020304" pitchFamily="18" charset="0"/>
                  <a:sym typeface="TT Commons Pro"/>
                </a:endParaRPr>
              </a:p>
            </p:txBody>
          </p:sp>
        </mc:Choice>
        <mc:Fallback xmlns="">
          <p:sp>
            <p:nvSpPr>
              <p:cNvPr id="15" name="TextBox 15"/>
              <p:cNvSpPr txBox="1">
                <a:spLocks noRot="1" noChangeAspect="1" noMove="1" noResize="1" noEditPoints="1" noAdjustHandles="1" noChangeArrowheads="1" noChangeShapeType="1" noTextEdit="1"/>
              </p:cNvSpPr>
              <p:nvPr/>
            </p:nvSpPr>
            <p:spPr>
              <a:xfrm>
                <a:off x="3231048" y="2889649"/>
                <a:ext cx="13552910" cy="6647974"/>
              </a:xfrm>
              <a:prstGeom prst="rect">
                <a:avLst/>
              </a:prstGeom>
              <a:blipFill rotWithShape="0">
                <a:blip r:embed="rId6"/>
                <a:stretch>
                  <a:fillRect l="-2699" b="-2658"/>
                </a:stretch>
              </a:blipFill>
            </p:spPr>
            <p:txBody>
              <a:bodyPr/>
              <a:lstStyle/>
              <a:p>
                <a:r>
                  <a:rPr lang="en-US">
                    <a:noFill/>
                  </a:rPr>
                  <a:t> </a:t>
                </a:r>
              </a:p>
            </p:txBody>
          </p:sp>
        </mc:Fallback>
      </mc:AlternateContent>
      <p:sp>
        <p:nvSpPr>
          <p:cNvPr id="16" name="Freeform 16"/>
          <p:cNvSpPr/>
          <p:nvPr/>
        </p:nvSpPr>
        <p:spPr>
          <a:xfrm rot="249422">
            <a:off x="-970751" y="7273246"/>
            <a:ext cx="4057579" cy="3703463"/>
          </a:xfrm>
          <a:custGeom>
            <a:avLst/>
            <a:gdLst/>
            <a:ahLst/>
            <a:cxnLst/>
            <a:rect l="l" t="t" r="r" b="b"/>
            <a:pathLst>
              <a:path w="4054763" h="3700893">
                <a:moveTo>
                  <a:pt x="0" y="0"/>
                </a:moveTo>
                <a:lnTo>
                  <a:pt x="4054763" y="0"/>
                </a:lnTo>
                <a:lnTo>
                  <a:pt x="4054763" y="3700893"/>
                </a:lnTo>
                <a:lnTo>
                  <a:pt x="0" y="3700893"/>
                </a:lnTo>
                <a:lnTo>
                  <a:pt x="0" y="0"/>
                </a:lnTo>
                <a:close/>
              </a:path>
            </a:pathLst>
          </a:custGeom>
          <a:blipFill>
            <a:blip r:embed="rId7"/>
            <a:stretch>
              <a:fillRect/>
            </a:stretch>
          </a:blipFill>
        </p:spPr>
      </p:sp>
      <p:sp>
        <p:nvSpPr>
          <p:cNvPr id="17" name="Freeform 17"/>
          <p:cNvSpPr/>
          <p:nvPr/>
        </p:nvSpPr>
        <p:spPr>
          <a:xfrm rot="-588143">
            <a:off x="14636931" y="6690618"/>
            <a:ext cx="4057579" cy="3703463"/>
          </a:xfrm>
          <a:custGeom>
            <a:avLst/>
            <a:gdLst/>
            <a:ahLst/>
            <a:cxnLst/>
            <a:rect l="l" t="t" r="r" b="b"/>
            <a:pathLst>
              <a:path w="4054763" h="3700893">
                <a:moveTo>
                  <a:pt x="0" y="0"/>
                </a:moveTo>
                <a:lnTo>
                  <a:pt x="4054764" y="0"/>
                </a:lnTo>
                <a:lnTo>
                  <a:pt x="4054764" y="3700893"/>
                </a:lnTo>
                <a:lnTo>
                  <a:pt x="0" y="3700893"/>
                </a:lnTo>
                <a:lnTo>
                  <a:pt x="0" y="0"/>
                </a:lnTo>
                <a:close/>
              </a:path>
            </a:pathLst>
          </a:custGeom>
          <a:blipFill>
            <a:blip r:embed="rId7"/>
            <a:stretch>
              <a:fillRect/>
            </a:stretch>
          </a:blipFill>
        </p:spPr>
      </p:sp>
      <p:sp>
        <p:nvSpPr>
          <p:cNvPr id="18" name="Freeform 18"/>
          <p:cNvSpPr/>
          <p:nvPr/>
        </p:nvSpPr>
        <p:spPr>
          <a:xfrm>
            <a:off x="1530350" y="2940050"/>
            <a:ext cx="1821938" cy="2216959"/>
          </a:xfrm>
          <a:custGeom>
            <a:avLst/>
            <a:gdLst/>
            <a:ahLst/>
            <a:cxnLst/>
            <a:rect l="l" t="t" r="r" b="b"/>
            <a:pathLst>
              <a:path w="1820674" h="2215421">
                <a:moveTo>
                  <a:pt x="0" y="0"/>
                </a:moveTo>
                <a:lnTo>
                  <a:pt x="1820674" y="0"/>
                </a:lnTo>
                <a:lnTo>
                  <a:pt x="1820674" y="2215422"/>
                </a:lnTo>
                <a:lnTo>
                  <a:pt x="0" y="2215422"/>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20" name="TextBox 19"/>
          <p:cNvSpPr txBox="1"/>
          <p:nvPr/>
        </p:nvSpPr>
        <p:spPr>
          <a:xfrm>
            <a:off x="4393141" y="951580"/>
            <a:ext cx="11056782" cy="1107996"/>
          </a:xfrm>
          <a:prstGeom prst="rect">
            <a:avLst/>
          </a:prstGeom>
          <a:noFill/>
        </p:spPr>
        <p:txBody>
          <a:bodyPr wrap="square" rtlCol="0">
            <a:spAutoFit/>
          </a:bodyPr>
          <a:lstStyle/>
          <a:p>
            <a:r>
              <a:rPr lang="en-US" sz="6600" b="1" i="1" dirty="0" err="1" smtClean="0">
                <a:solidFill>
                  <a:srgbClr val="FF0000"/>
                </a:solidFill>
                <a:latin typeface="Times New Roman" panose="02020603050405020304" pitchFamily="18" charset="0"/>
                <a:cs typeface="Times New Roman" panose="02020603050405020304" pitchFamily="18" charset="0"/>
              </a:rPr>
              <a:t>Zeros</a:t>
            </a:r>
            <a:r>
              <a:rPr lang="en-US" sz="6600" b="1" i="1" dirty="0" smtClean="0">
                <a:solidFill>
                  <a:srgbClr val="FF0000"/>
                </a:solidFill>
                <a:latin typeface="Times New Roman" panose="02020603050405020304" pitchFamily="18" charset="0"/>
                <a:cs typeface="Times New Roman" panose="02020603050405020304" pitchFamily="18" charset="0"/>
              </a:rPr>
              <a:t> of Complex Function</a:t>
            </a:r>
            <a:endParaRPr lang="en-US" sz="6600" b="1" i="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9"/>
          <p:cNvSpPr/>
          <p:nvPr/>
        </p:nvSpPr>
        <p:spPr>
          <a:xfrm rot="10800000">
            <a:off x="2434690" y="3415206"/>
            <a:ext cx="13431321" cy="5029690"/>
          </a:xfrm>
          <a:prstGeom prst="roundRect">
            <a:avLst>
              <a:gd name="adj" fmla="val 8278"/>
            </a:avLst>
          </a:prstGeom>
          <a:solidFill>
            <a:schemeClr val="accent1"/>
          </a:solidFill>
          <a:ln w="28575" cap="flat" cmpd="sng">
            <a:solidFill>
              <a:schemeClr val="accent2"/>
            </a:solidFill>
            <a:prstDash val="solid"/>
            <a:round/>
            <a:headEnd type="none" w="sm" len="sm"/>
            <a:tailEnd type="none" w="sm" len="sm"/>
          </a:ln>
        </p:spPr>
        <p:txBody>
          <a:bodyPr spcFirstLastPara="1" wrap="square" lIns="182977" tIns="182977" rIns="182977" bIns="182977" anchor="ctr" anchorCtr="0">
            <a:noAutofit/>
          </a:bodyPr>
          <a:lstStyle/>
          <a:p>
            <a:endParaRPr sz="3603"/>
          </a:p>
        </p:txBody>
      </p:sp>
      <p:sp>
        <p:nvSpPr>
          <p:cNvPr id="330" name="Google Shape;330;p39"/>
          <p:cNvSpPr/>
          <p:nvPr/>
        </p:nvSpPr>
        <p:spPr>
          <a:xfrm rot="10800000">
            <a:off x="2434690" y="1854803"/>
            <a:ext cx="13431321" cy="1220047"/>
          </a:xfrm>
          <a:prstGeom prst="roundRect">
            <a:avLst>
              <a:gd name="adj" fmla="val 20280"/>
            </a:avLst>
          </a:prstGeom>
          <a:solidFill>
            <a:schemeClr val="accent1"/>
          </a:solidFill>
          <a:ln w="28575" cap="flat" cmpd="sng">
            <a:solidFill>
              <a:schemeClr val="accent2"/>
            </a:solidFill>
            <a:prstDash val="solid"/>
            <a:round/>
            <a:headEnd type="none" w="sm" len="sm"/>
            <a:tailEnd type="none" w="sm" len="sm"/>
          </a:ln>
        </p:spPr>
        <p:txBody>
          <a:bodyPr spcFirstLastPara="1" wrap="square" lIns="182977" tIns="182977" rIns="182977" bIns="182977" anchor="ctr" anchorCtr="0">
            <a:noAutofit/>
          </a:bodyPr>
          <a:lstStyle/>
          <a:p>
            <a:endParaRPr sz="3603"/>
          </a:p>
        </p:txBody>
      </p:sp>
      <p:sp>
        <p:nvSpPr>
          <p:cNvPr id="331" name="Google Shape;331;p39"/>
          <p:cNvSpPr txBox="1">
            <a:spLocks noGrp="1"/>
          </p:cNvSpPr>
          <p:nvPr>
            <p:ph type="title"/>
          </p:nvPr>
        </p:nvSpPr>
        <p:spPr>
          <a:xfrm>
            <a:off x="3649633" y="1854813"/>
            <a:ext cx="11001435" cy="1220047"/>
          </a:xfrm>
          <a:prstGeom prst="rect">
            <a:avLst/>
          </a:prstGeom>
        </p:spPr>
        <p:txBody>
          <a:bodyPr spcFirstLastPara="1" vert="horz" wrap="square" lIns="182977" tIns="182977" rIns="182977" bIns="182977" rtlCol="0" anchor="ctr" anchorCtr="0">
            <a:noAutofit/>
          </a:bodyPr>
          <a:lstStyle/>
          <a:p>
            <a:r>
              <a:rPr lang="en" sz="6200" dirty="0" smtClean="0">
                <a:solidFill>
                  <a:srgbClr val="FF0000"/>
                </a:solidFill>
                <a:latin typeface="Algerian" panose="04020705040A02060702" pitchFamily="82" charset="0"/>
                <a:cs typeface="Italic" panose="00000400000000000000" pitchFamily="2" charset="0"/>
              </a:rPr>
              <a:t>Pole of Complex Function</a:t>
            </a:r>
            <a:endParaRPr sz="6200" dirty="0">
              <a:solidFill>
                <a:srgbClr val="FF0000"/>
              </a:solidFill>
              <a:latin typeface="Algerian" panose="04020705040A02060702" pitchFamily="82" charset="0"/>
              <a:cs typeface="Italic" panose="00000400000000000000" pitchFamily="2" charset="0"/>
            </a:endParaRPr>
          </a:p>
        </p:txBody>
      </p:sp>
      <mc:AlternateContent xmlns:mc="http://schemas.openxmlformats.org/markup-compatibility/2006" xmlns:a14="http://schemas.microsoft.com/office/drawing/2010/main">
        <mc:Choice Requires="a14">
          <p:sp>
            <p:nvSpPr>
              <p:cNvPr id="332" name="Google Shape;332;p39"/>
              <p:cNvSpPr txBox="1">
                <a:spLocks noGrp="1"/>
              </p:cNvSpPr>
              <p:nvPr>
                <p:ph type="subTitle" idx="1"/>
              </p:nvPr>
            </p:nvSpPr>
            <p:spPr>
              <a:xfrm>
                <a:off x="3649483" y="3854450"/>
                <a:ext cx="11001585" cy="4419600"/>
              </a:xfrm>
              <a:prstGeom prst="rect">
                <a:avLst/>
              </a:prstGeom>
            </p:spPr>
            <p:txBody>
              <a:bodyPr spcFirstLastPara="1" vert="horz" wrap="square" lIns="182977" tIns="182977" rIns="182977" bIns="182977" rtlCol="0" anchor="ctr" anchorCtr="0">
                <a:noAutofit/>
              </a:bodyPr>
              <a:lstStyle/>
              <a:p>
                <a:pPr marL="0" indent="0" algn="l"/>
                <a:r>
                  <a:rPr lang="en" sz="3800" dirty="0" smtClean="0">
                    <a:latin typeface="Times New Roman" panose="02020603050405020304" pitchFamily="18" charset="0"/>
                    <a:cs typeface="Times New Roman" panose="02020603050405020304" pitchFamily="18" charset="0"/>
                  </a:rPr>
                  <a:t>A point </a:t>
                </a:r>
                <a14:m>
                  <m:oMath xmlns:m="http://schemas.openxmlformats.org/officeDocument/2006/math">
                    <m:sSub>
                      <m:sSubPr>
                        <m:ctrlPr>
                          <a:rPr lang="en-US" sz="3800" i="1">
                            <a:latin typeface="Cambria Math" panose="02040503050406030204" pitchFamily="18" charset="0"/>
                            <a:sym typeface="TT Commons Pro"/>
                          </a:rPr>
                        </m:ctrlPr>
                      </m:sSubPr>
                      <m:e>
                        <m:r>
                          <a:rPr lang="en-US" sz="3800">
                            <a:latin typeface="Cambria Math" panose="02040503050406030204" pitchFamily="18" charset="0"/>
                            <a:sym typeface="TT Commons Pro"/>
                          </a:rPr>
                          <m:t>𝑧</m:t>
                        </m:r>
                      </m:e>
                      <m:sub>
                        <m:r>
                          <a:rPr lang="en-US" sz="3800">
                            <a:latin typeface="Cambria Math" panose="02040503050406030204" pitchFamily="18" charset="0"/>
                            <a:sym typeface="TT Commons Pro"/>
                          </a:rPr>
                          <m:t>0</m:t>
                        </m:r>
                      </m:sub>
                    </m:sSub>
                  </m:oMath>
                </a14:m>
                <a:r>
                  <a:rPr lang="en" sz="3800" dirty="0" smtClean="0">
                    <a:latin typeface="Times New Roman" panose="02020603050405020304" pitchFamily="18" charset="0"/>
                    <a:cs typeface="Times New Roman" panose="02020603050405020304" pitchFamily="18" charset="0"/>
                  </a:rPr>
                  <a:t> is called a pole of a function f(z)  if the value of the function becomes infinite as z </a:t>
                </a:r>
                <a:r>
                  <a:rPr lang="en" sz="3800" dirty="0" smtClean="0">
                    <a:latin typeface="Times New Roman" panose="02020603050405020304" pitchFamily="18" charset="0"/>
                    <a:ea typeface="NSimSun" panose="02010609030101010101" pitchFamily="49" charset="-122"/>
                    <a:cs typeface="Times New Roman" panose="02020603050405020304" pitchFamily="18" charset="0"/>
                  </a:rPr>
                  <a:t>→</a:t>
                </a:r>
                <a14:m>
                  <m:oMath xmlns:m="http://schemas.openxmlformats.org/officeDocument/2006/math">
                    <m:sSub>
                      <m:sSubPr>
                        <m:ctrlPr>
                          <a:rPr lang="en-US" sz="3800" i="1">
                            <a:latin typeface="Cambria Math" panose="02040503050406030204" pitchFamily="18" charset="0"/>
                            <a:sym typeface="TT Commons Pro"/>
                          </a:rPr>
                        </m:ctrlPr>
                      </m:sSubPr>
                      <m:e>
                        <m:r>
                          <a:rPr lang="en-US" sz="3800">
                            <a:latin typeface="Cambria Math" panose="02040503050406030204" pitchFamily="18" charset="0"/>
                            <a:sym typeface="TT Commons Pro"/>
                          </a:rPr>
                          <m:t>𝑧</m:t>
                        </m:r>
                      </m:e>
                      <m:sub>
                        <m:r>
                          <a:rPr lang="en-US" sz="3800">
                            <a:latin typeface="Cambria Math" panose="02040503050406030204" pitchFamily="18" charset="0"/>
                            <a:sym typeface="TT Commons Pro"/>
                          </a:rPr>
                          <m:t>0</m:t>
                        </m:r>
                      </m:sub>
                    </m:sSub>
                  </m:oMath>
                </a14:m>
                <a:r>
                  <a:rPr lang="en-US" sz="3800" dirty="0" smtClean="0">
                    <a:latin typeface="Times New Roman" panose="02020603050405020304" pitchFamily="18" charset="0"/>
                    <a:cs typeface="Times New Roman" panose="02020603050405020304" pitchFamily="18" charset="0"/>
                  </a:rPr>
                  <a:t>.</a:t>
                </a:r>
              </a:p>
              <a:p>
                <a:pPr marL="0" indent="0" algn="l"/>
                <a:endParaRPr lang="en-US" sz="3800" dirty="0">
                  <a:latin typeface="Times New Roman" panose="02020603050405020304" pitchFamily="18" charset="0"/>
                  <a:cs typeface="Times New Roman" panose="02020603050405020304" pitchFamily="18" charset="0"/>
                </a:endParaRPr>
              </a:p>
              <a:p>
                <a:pPr marL="0" indent="0" algn="l"/>
                <a:r>
                  <a:rPr lang="en-US" sz="3800" b="1" dirty="0" smtClean="0">
                    <a:latin typeface="Times New Roman" panose="02020603050405020304" pitchFamily="18" charset="0"/>
                    <a:cs typeface="Times New Roman" panose="02020603050405020304" pitchFamily="18" charset="0"/>
                  </a:rPr>
                  <a:t>Types of Poles</a:t>
                </a:r>
              </a:p>
              <a:p>
                <a:pPr marL="1143457" lvl="1" indent="-457200" algn="l">
                  <a:buFont typeface="Wingdings" panose="05000000000000000000" pitchFamily="2" charset="2"/>
                  <a:buChar char="q"/>
                </a:pPr>
                <a:r>
                  <a:rPr lang="en-US" sz="3800" dirty="0" smtClean="0">
                    <a:latin typeface="Times New Roman" panose="02020603050405020304" pitchFamily="18" charset="0"/>
                    <a:cs typeface="Times New Roman" panose="02020603050405020304" pitchFamily="18" charset="0"/>
                  </a:rPr>
                  <a:t>Simple pole (order 1)</a:t>
                </a:r>
              </a:p>
              <a:p>
                <a:pPr marL="1143457" lvl="1" indent="-457200" algn="l">
                  <a:buFont typeface="Wingdings" panose="05000000000000000000" pitchFamily="2" charset="2"/>
                  <a:buChar char="q"/>
                </a:pPr>
                <a:r>
                  <a:rPr lang="en-US" sz="3800" dirty="0" smtClean="0">
                    <a:latin typeface="Times New Roman" panose="02020603050405020304" pitchFamily="18" charset="0"/>
                    <a:cs typeface="Times New Roman" panose="02020603050405020304" pitchFamily="18" charset="0"/>
                  </a:rPr>
                  <a:t>Pole of order of n</a:t>
                </a:r>
                <a:endParaRPr lang="en-US" sz="3800" dirty="0">
                  <a:latin typeface="Times New Roman" panose="02020603050405020304" pitchFamily="18" charset="0"/>
                  <a:cs typeface="Times New Roman" panose="02020603050405020304" pitchFamily="18" charset="0"/>
                </a:endParaRPr>
              </a:p>
              <a:p>
                <a:pPr marL="0" indent="0" algn="l"/>
                <a:r>
                  <a:rPr lang="en-US" sz="3800" dirty="0" smtClean="0">
                    <a:latin typeface="Times New Roman" panose="02020603050405020304" pitchFamily="18" charset="0"/>
                    <a:cs typeface="Times New Roman" panose="02020603050405020304" pitchFamily="18" charset="0"/>
                  </a:rPr>
                  <a:t>Example:    f(z) = </a:t>
                </a:r>
                <a14:m>
                  <m:oMath xmlns:m="http://schemas.openxmlformats.org/officeDocument/2006/math">
                    <m:f>
                      <m:fPr>
                        <m:ctrlPr>
                          <a:rPr lang="en-US" sz="3800" i="1" smtClean="0">
                            <a:latin typeface="Cambria Math" panose="02040503050406030204" pitchFamily="18" charset="0"/>
                          </a:rPr>
                        </m:ctrlPr>
                      </m:fPr>
                      <m:num>
                        <m:r>
                          <a:rPr lang="en-US" sz="3800" b="0" i="1" smtClean="0">
                            <a:latin typeface="Cambria Math" panose="02040503050406030204" pitchFamily="18" charset="0"/>
                          </a:rPr>
                          <m:t>1</m:t>
                        </m:r>
                      </m:num>
                      <m:den>
                        <m:r>
                          <a:rPr lang="en-US" sz="3800" b="0" i="1" smtClean="0">
                            <a:latin typeface="Cambria Math" panose="02040503050406030204" pitchFamily="18" charset="0"/>
                          </a:rPr>
                          <m:t>𝑧</m:t>
                        </m:r>
                        <m:r>
                          <a:rPr lang="en-US" sz="3800" b="0" i="1" smtClean="0">
                            <a:latin typeface="Cambria Math" panose="02040503050406030204" pitchFamily="18" charset="0"/>
                          </a:rPr>
                          <m:t>−</m:t>
                        </m:r>
                        <m:r>
                          <a:rPr lang="en-US" sz="3800" b="0" i="1" smtClean="0">
                            <a:latin typeface="Cambria Math" panose="02040503050406030204" pitchFamily="18" charset="0"/>
                          </a:rPr>
                          <m:t>2</m:t>
                        </m:r>
                      </m:den>
                    </m:f>
                  </m:oMath>
                </a14:m>
                <a:endParaRPr sz="3800" dirty="0">
                  <a:latin typeface="Times New Roman" panose="02020603050405020304" pitchFamily="18" charset="0"/>
                  <a:cs typeface="Times New Roman" panose="02020603050405020304" pitchFamily="18" charset="0"/>
                </a:endParaRPr>
              </a:p>
            </p:txBody>
          </p:sp>
        </mc:Choice>
        <mc:Fallback xmlns="">
          <p:sp>
            <p:nvSpPr>
              <p:cNvPr id="332" name="Google Shape;332;p39"/>
              <p:cNvSpPr txBox="1">
                <a:spLocks noGrp="1" noRot="1" noChangeAspect="1" noMove="1" noResize="1" noEditPoints="1" noAdjustHandles="1" noChangeArrowheads="1" noChangeShapeType="1" noTextEdit="1"/>
              </p:cNvSpPr>
              <p:nvPr>
                <p:ph type="subTitle" idx="1"/>
              </p:nvPr>
            </p:nvSpPr>
            <p:spPr>
              <a:xfrm>
                <a:off x="3649483" y="3854450"/>
                <a:ext cx="11001585" cy="4419600"/>
              </a:xfrm>
              <a:prstGeom prst="rect">
                <a:avLst/>
              </a:prstGeom>
              <a:blipFill rotWithShape="0">
                <a:blip r:embed="rId3"/>
                <a:stretch>
                  <a:fillRect l="-998" t="-1931" b="-2345"/>
                </a:stretch>
              </a:blipFill>
            </p:spPr>
            <p:txBody>
              <a:bodyPr/>
              <a:lstStyle/>
              <a:p>
                <a:r>
                  <a:rPr lang="en-US">
                    <a:noFill/>
                  </a:rPr>
                  <a:t> </a:t>
                </a:r>
              </a:p>
            </p:txBody>
          </p:sp>
        </mc:Fallback>
      </mc:AlternateContent>
    </p:spTree>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778"/>
            <a:ext cx="18300700" cy="10294144"/>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0" y="2778"/>
            <a:ext cx="18300700" cy="10294144"/>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FF91C6">
                    <a:alpha val="49000"/>
                  </a:srgbClr>
                </a:gs>
                <a:gs pos="50000">
                  <a:srgbClr val="FFB7C6">
                    <a:alpha val="49000"/>
                  </a:srgbClr>
                </a:gs>
                <a:gs pos="100000">
                  <a:srgbClr val="FFF0F3">
                    <a:alpha val="49000"/>
                  </a:srgbClr>
                </a:gs>
              </a:gsLst>
              <a:lin ang="5400000"/>
            </a:gradFill>
          </p:spPr>
        </p:sp>
        <p:sp>
          <p:nvSpPr>
            <p:cNvPr id="5" name="TextBox 5"/>
            <p:cNvSpPr txBox="1"/>
            <p:nvPr/>
          </p:nvSpPr>
          <p:spPr>
            <a:xfrm>
              <a:off x="0" y="-38100"/>
              <a:ext cx="4816593" cy="2747433"/>
            </a:xfrm>
            <a:prstGeom prst="rect">
              <a:avLst/>
            </a:prstGeom>
          </p:spPr>
          <p:txBody>
            <a:bodyPr lIns="50835" tIns="50835" rIns="50835" bIns="50835" rtlCol="0" anchor="ctr"/>
            <a:lstStyle/>
            <a:p>
              <a:pPr algn="ctr">
                <a:lnSpc>
                  <a:spcPts val="2661"/>
                </a:lnSpc>
                <a:spcBef>
                  <a:spcPct val="0"/>
                </a:spcBef>
              </a:pPr>
              <a:endParaRPr sz="1801"/>
            </a:p>
          </p:txBody>
        </p:sp>
      </p:grpSp>
      <p:sp>
        <p:nvSpPr>
          <p:cNvPr id="6" name="Freeform 6"/>
          <p:cNvSpPr/>
          <p:nvPr/>
        </p:nvSpPr>
        <p:spPr>
          <a:xfrm>
            <a:off x="0" y="2778"/>
            <a:ext cx="9150350" cy="10294144"/>
          </a:xfrm>
          <a:custGeom>
            <a:avLst/>
            <a:gdLst/>
            <a:ahLst/>
            <a:cxnLst/>
            <a:rect l="l" t="t" r="r" b="b"/>
            <a:pathLst>
              <a:path w="9144000" h="10287000">
                <a:moveTo>
                  <a:pt x="0" y="0"/>
                </a:moveTo>
                <a:lnTo>
                  <a:pt x="9144000" y="0"/>
                </a:lnTo>
                <a:lnTo>
                  <a:pt x="9144000" y="10287000"/>
                </a:lnTo>
                <a:lnTo>
                  <a:pt x="0" y="10287000"/>
                </a:lnTo>
                <a:lnTo>
                  <a:pt x="0" y="0"/>
                </a:lnTo>
                <a:close/>
              </a:path>
            </a:pathLst>
          </a:custGeom>
          <a:blipFill>
            <a:blip r:embed="rId3"/>
            <a:stretch>
              <a:fillRect t="-5538" b="-13123"/>
            </a:stretch>
          </a:blipFill>
        </p:spPr>
      </p:sp>
      <p:sp>
        <p:nvSpPr>
          <p:cNvPr id="7" name="Freeform 7"/>
          <p:cNvSpPr/>
          <p:nvPr/>
        </p:nvSpPr>
        <p:spPr>
          <a:xfrm>
            <a:off x="-894226" y="4714321"/>
            <a:ext cx="6844106" cy="6869867"/>
          </a:xfrm>
          <a:custGeom>
            <a:avLst/>
            <a:gdLst/>
            <a:ahLst/>
            <a:cxnLst/>
            <a:rect l="l" t="t" r="r" b="b"/>
            <a:pathLst>
              <a:path w="6839356" h="6865100">
                <a:moveTo>
                  <a:pt x="0" y="0"/>
                </a:moveTo>
                <a:lnTo>
                  <a:pt x="6839356" y="0"/>
                </a:lnTo>
                <a:lnTo>
                  <a:pt x="6839356" y="6865100"/>
                </a:lnTo>
                <a:lnTo>
                  <a:pt x="0" y="6865100"/>
                </a:lnTo>
                <a:lnTo>
                  <a:pt x="0" y="0"/>
                </a:lnTo>
                <a:close/>
              </a:path>
            </a:pathLst>
          </a:custGeom>
          <a:blipFill>
            <a:blip r:embed="rId4">
              <a:alphaModFix amt="62000"/>
            </a:blip>
            <a:stretch>
              <a:fillRect/>
            </a:stretch>
          </a:blipFill>
        </p:spPr>
      </p:sp>
      <p:sp>
        <p:nvSpPr>
          <p:cNvPr id="8" name="Freeform 8"/>
          <p:cNvSpPr/>
          <p:nvPr/>
        </p:nvSpPr>
        <p:spPr>
          <a:xfrm>
            <a:off x="9150350" y="2778"/>
            <a:ext cx="9150350" cy="10294144"/>
          </a:xfrm>
          <a:custGeom>
            <a:avLst/>
            <a:gdLst/>
            <a:ahLst/>
            <a:cxnLst/>
            <a:rect l="l" t="t" r="r" b="b"/>
            <a:pathLst>
              <a:path w="9144000" h="10287000">
                <a:moveTo>
                  <a:pt x="0" y="0"/>
                </a:moveTo>
                <a:lnTo>
                  <a:pt x="9144000" y="0"/>
                </a:lnTo>
                <a:lnTo>
                  <a:pt x="9144000" y="10287000"/>
                </a:lnTo>
                <a:lnTo>
                  <a:pt x="0" y="10287000"/>
                </a:lnTo>
                <a:lnTo>
                  <a:pt x="0" y="0"/>
                </a:lnTo>
                <a:close/>
              </a:path>
            </a:pathLst>
          </a:custGeom>
          <a:blipFill>
            <a:blip r:embed="rId3"/>
            <a:stretch>
              <a:fillRect t="-5538" b="-13123"/>
            </a:stretch>
          </a:blipFill>
        </p:spPr>
      </p:sp>
      <p:sp>
        <p:nvSpPr>
          <p:cNvPr id="9" name="Freeform 9"/>
          <p:cNvSpPr/>
          <p:nvPr/>
        </p:nvSpPr>
        <p:spPr>
          <a:xfrm>
            <a:off x="0" y="5964251"/>
            <a:ext cx="14796932" cy="4332672"/>
          </a:xfrm>
          <a:custGeom>
            <a:avLst/>
            <a:gdLst/>
            <a:ahLst/>
            <a:cxnLst/>
            <a:rect l="l" t="t" r="r" b="b"/>
            <a:pathLst>
              <a:path w="14786663" h="4329665">
                <a:moveTo>
                  <a:pt x="0" y="0"/>
                </a:moveTo>
                <a:lnTo>
                  <a:pt x="14786663" y="0"/>
                </a:lnTo>
                <a:lnTo>
                  <a:pt x="14786663" y="4329665"/>
                </a:lnTo>
                <a:lnTo>
                  <a:pt x="0" y="4329665"/>
                </a:lnTo>
                <a:lnTo>
                  <a:pt x="0" y="0"/>
                </a:lnTo>
                <a:close/>
              </a:path>
            </a:pathLst>
          </a:custGeom>
          <a:blipFill>
            <a:blip r:embed="rId5"/>
            <a:stretch>
              <a:fillRect b="-22235"/>
            </a:stretch>
          </a:blipFill>
        </p:spPr>
      </p:sp>
      <p:sp>
        <p:nvSpPr>
          <p:cNvPr id="10" name="Freeform 10"/>
          <p:cNvSpPr/>
          <p:nvPr/>
        </p:nvSpPr>
        <p:spPr>
          <a:xfrm>
            <a:off x="4393141" y="5964251"/>
            <a:ext cx="13907559" cy="4332672"/>
          </a:xfrm>
          <a:custGeom>
            <a:avLst/>
            <a:gdLst/>
            <a:ahLst/>
            <a:cxnLst/>
            <a:rect l="l" t="t" r="r" b="b"/>
            <a:pathLst>
              <a:path w="13897908" h="4329665">
                <a:moveTo>
                  <a:pt x="0" y="0"/>
                </a:moveTo>
                <a:lnTo>
                  <a:pt x="13897908" y="0"/>
                </a:lnTo>
                <a:lnTo>
                  <a:pt x="13897908" y="4329665"/>
                </a:lnTo>
                <a:lnTo>
                  <a:pt x="0" y="4329665"/>
                </a:lnTo>
                <a:lnTo>
                  <a:pt x="0" y="0"/>
                </a:lnTo>
                <a:close/>
              </a:path>
            </a:pathLst>
          </a:custGeom>
          <a:blipFill>
            <a:blip r:embed="rId5"/>
            <a:stretch>
              <a:fillRect r="-6394" b="-22235"/>
            </a:stretch>
          </a:blipFill>
        </p:spPr>
      </p:sp>
      <p:sp>
        <p:nvSpPr>
          <p:cNvPr id="11" name="Freeform 11"/>
          <p:cNvSpPr/>
          <p:nvPr/>
        </p:nvSpPr>
        <p:spPr>
          <a:xfrm>
            <a:off x="12757663" y="-1457376"/>
            <a:ext cx="6844106" cy="6869867"/>
          </a:xfrm>
          <a:custGeom>
            <a:avLst/>
            <a:gdLst/>
            <a:ahLst/>
            <a:cxnLst/>
            <a:rect l="l" t="t" r="r" b="b"/>
            <a:pathLst>
              <a:path w="6839356" h="6865100">
                <a:moveTo>
                  <a:pt x="0" y="0"/>
                </a:moveTo>
                <a:lnTo>
                  <a:pt x="6839356" y="0"/>
                </a:lnTo>
                <a:lnTo>
                  <a:pt x="6839356" y="6865100"/>
                </a:lnTo>
                <a:lnTo>
                  <a:pt x="0" y="6865100"/>
                </a:lnTo>
                <a:lnTo>
                  <a:pt x="0" y="0"/>
                </a:lnTo>
                <a:close/>
              </a:path>
            </a:pathLst>
          </a:custGeom>
          <a:blipFill>
            <a:blip r:embed="rId4">
              <a:alphaModFix amt="62000"/>
            </a:blip>
            <a:stretch>
              <a:fillRect/>
            </a:stretch>
          </a:blipFill>
        </p:spPr>
      </p:sp>
      <p:sp>
        <p:nvSpPr>
          <p:cNvPr id="12" name="Freeform 12"/>
          <p:cNvSpPr/>
          <p:nvPr/>
        </p:nvSpPr>
        <p:spPr>
          <a:xfrm rot="-3904142" flipH="1">
            <a:off x="14195662" y="-974581"/>
            <a:ext cx="5432543" cy="4889289"/>
          </a:xfrm>
          <a:custGeom>
            <a:avLst/>
            <a:gdLst/>
            <a:ahLst/>
            <a:cxnLst/>
            <a:rect l="l" t="t" r="r" b="b"/>
            <a:pathLst>
              <a:path w="5428773" h="4885896">
                <a:moveTo>
                  <a:pt x="5428773" y="0"/>
                </a:moveTo>
                <a:lnTo>
                  <a:pt x="0" y="0"/>
                </a:lnTo>
                <a:lnTo>
                  <a:pt x="0" y="4885896"/>
                </a:lnTo>
                <a:lnTo>
                  <a:pt x="5428773" y="4885896"/>
                </a:lnTo>
                <a:lnTo>
                  <a:pt x="5428773" y="0"/>
                </a:lnTo>
                <a:close/>
              </a:path>
            </a:pathLst>
          </a:custGeom>
          <a:blipFill>
            <a:blip r:embed="rId6"/>
            <a:stretch>
              <a:fillRect/>
            </a:stretch>
          </a:blipFill>
        </p:spPr>
      </p:sp>
      <p:sp>
        <p:nvSpPr>
          <p:cNvPr id="13" name="Freeform 13"/>
          <p:cNvSpPr/>
          <p:nvPr/>
        </p:nvSpPr>
        <p:spPr>
          <a:xfrm rot="4248475">
            <a:off x="-1173937" y="-1099273"/>
            <a:ext cx="5432543" cy="4889289"/>
          </a:xfrm>
          <a:custGeom>
            <a:avLst/>
            <a:gdLst/>
            <a:ahLst/>
            <a:cxnLst/>
            <a:rect l="l" t="t" r="r" b="b"/>
            <a:pathLst>
              <a:path w="5428773" h="4885896">
                <a:moveTo>
                  <a:pt x="0" y="0"/>
                </a:moveTo>
                <a:lnTo>
                  <a:pt x="5428773" y="0"/>
                </a:lnTo>
                <a:lnTo>
                  <a:pt x="5428773" y="4885896"/>
                </a:lnTo>
                <a:lnTo>
                  <a:pt x="0" y="4885896"/>
                </a:lnTo>
                <a:lnTo>
                  <a:pt x="0" y="0"/>
                </a:lnTo>
                <a:close/>
              </a:path>
            </a:pathLst>
          </a:custGeom>
          <a:blipFill>
            <a:blip r:embed="rId6"/>
            <a:stretch>
              <a:fillRect/>
            </a:stretch>
          </a:blipFill>
        </p:spPr>
      </p:sp>
      <p:grpSp>
        <p:nvGrpSpPr>
          <p:cNvPr id="14" name="Group 14"/>
          <p:cNvGrpSpPr>
            <a:grpSpLocks noChangeAspect="1"/>
          </p:cNvGrpSpPr>
          <p:nvPr/>
        </p:nvGrpSpPr>
        <p:grpSpPr>
          <a:xfrm>
            <a:off x="1099377" y="1490683"/>
            <a:ext cx="16101946" cy="7318335"/>
            <a:chOff x="0" y="0"/>
            <a:chExt cx="7620000" cy="3463290"/>
          </a:xfrm>
        </p:grpSpPr>
        <p:sp>
          <p:nvSpPr>
            <p:cNvPr id="15" name="Freeform 15"/>
            <p:cNvSpPr/>
            <p:nvPr/>
          </p:nvSpPr>
          <p:spPr>
            <a:xfrm>
              <a:off x="466090" y="466090"/>
              <a:ext cx="6687820" cy="2531110"/>
            </a:xfrm>
            <a:custGeom>
              <a:avLst/>
              <a:gdLst/>
              <a:ahLst/>
              <a:cxnLst/>
              <a:rect l="l" t="t" r="r" b="b"/>
              <a:pathLst>
                <a:path w="6687820" h="2531110">
                  <a:moveTo>
                    <a:pt x="0" y="0"/>
                  </a:moveTo>
                  <a:lnTo>
                    <a:pt x="0" y="2531110"/>
                  </a:lnTo>
                  <a:lnTo>
                    <a:pt x="6687820" y="2531110"/>
                  </a:lnTo>
                  <a:lnTo>
                    <a:pt x="6687820" y="0"/>
                  </a:lnTo>
                  <a:close/>
                </a:path>
              </a:pathLst>
            </a:custGeom>
            <a:solidFill>
              <a:srgbClr val="FFFFFF"/>
            </a:solidFill>
            <a:ln w="12700">
              <a:solidFill>
                <a:srgbClr val="000000"/>
              </a:solidFill>
            </a:ln>
          </p:spPr>
        </p:sp>
        <p:sp>
          <p:nvSpPr>
            <p:cNvPr id="16" name="Freeform 16"/>
            <p:cNvSpPr/>
            <p:nvPr/>
          </p:nvSpPr>
          <p:spPr>
            <a:xfrm>
              <a:off x="0" y="0"/>
              <a:ext cx="7620000" cy="3462020"/>
            </a:xfrm>
            <a:custGeom>
              <a:avLst/>
              <a:gdLst/>
              <a:ahLst/>
              <a:cxnLst/>
              <a:rect l="l" t="t" r="r" b="b"/>
              <a:pathLst>
                <a:path w="7620000" h="3462020">
                  <a:moveTo>
                    <a:pt x="388620" y="388620"/>
                  </a:moveTo>
                  <a:lnTo>
                    <a:pt x="388620" y="3074670"/>
                  </a:lnTo>
                  <a:lnTo>
                    <a:pt x="7231380" y="3074670"/>
                  </a:lnTo>
                  <a:lnTo>
                    <a:pt x="7231380" y="388620"/>
                  </a:lnTo>
                  <a:lnTo>
                    <a:pt x="388620" y="388620"/>
                  </a:lnTo>
                  <a:close/>
                  <a:moveTo>
                    <a:pt x="201930" y="0"/>
                  </a:moveTo>
                  <a:lnTo>
                    <a:pt x="490220" y="0"/>
                  </a:lnTo>
                  <a:cubicBezTo>
                    <a:pt x="490220" y="111760"/>
                    <a:pt x="580390" y="201930"/>
                    <a:pt x="692150" y="201930"/>
                  </a:cubicBezTo>
                  <a:cubicBezTo>
                    <a:pt x="803910" y="201930"/>
                    <a:pt x="895350" y="111760"/>
                    <a:pt x="895350" y="0"/>
                  </a:cubicBezTo>
                  <a:lnTo>
                    <a:pt x="1183640" y="0"/>
                  </a:lnTo>
                  <a:cubicBezTo>
                    <a:pt x="1183640" y="111760"/>
                    <a:pt x="1273810" y="201930"/>
                    <a:pt x="1385570" y="201930"/>
                  </a:cubicBezTo>
                  <a:cubicBezTo>
                    <a:pt x="1497330" y="201930"/>
                    <a:pt x="1587500" y="111760"/>
                    <a:pt x="1587500" y="0"/>
                  </a:cubicBezTo>
                  <a:lnTo>
                    <a:pt x="1875790" y="0"/>
                  </a:lnTo>
                  <a:cubicBezTo>
                    <a:pt x="1875790" y="111760"/>
                    <a:pt x="1965960" y="201930"/>
                    <a:pt x="2077720" y="201930"/>
                  </a:cubicBezTo>
                  <a:cubicBezTo>
                    <a:pt x="2189480" y="201930"/>
                    <a:pt x="2279650" y="111760"/>
                    <a:pt x="2279650" y="0"/>
                  </a:cubicBezTo>
                  <a:lnTo>
                    <a:pt x="2567940" y="0"/>
                  </a:lnTo>
                  <a:cubicBezTo>
                    <a:pt x="2567940" y="111760"/>
                    <a:pt x="2658110" y="201930"/>
                    <a:pt x="2769870" y="201930"/>
                  </a:cubicBezTo>
                  <a:cubicBezTo>
                    <a:pt x="2881630" y="201930"/>
                    <a:pt x="2973070" y="111760"/>
                    <a:pt x="2973070" y="0"/>
                  </a:cubicBezTo>
                  <a:lnTo>
                    <a:pt x="3261360" y="0"/>
                  </a:lnTo>
                  <a:cubicBezTo>
                    <a:pt x="3261360" y="111760"/>
                    <a:pt x="3351530" y="201930"/>
                    <a:pt x="3463290" y="201930"/>
                  </a:cubicBezTo>
                  <a:cubicBezTo>
                    <a:pt x="3575050" y="201930"/>
                    <a:pt x="3665220" y="111760"/>
                    <a:pt x="3665220" y="0"/>
                  </a:cubicBezTo>
                  <a:lnTo>
                    <a:pt x="3953510" y="0"/>
                  </a:lnTo>
                  <a:cubicBezTo>
                    <a:pt x="3953510" y="111760"/>
                    <a:pt x="4043680" y="201930"/>
                    <a:pt x="4155440" y="201930"/>
                  </a:cubicBezTo>
                  <a:cubicBezTo>
                    <a:pt x="4267200" y="201930"/>
                    <a:pt x="4357370" y="111760"/>
                    <a:pt x="4357370" y="0"/>
                  </a:cubicBezTo>
                  <a:lnTo>
                    <a:pt x="4645660" y="0"/>
                  </a:lnTo>
                  <a:cubicBezTo>
                    <a:pt x="4645660" y="111760"/>
                    <a:pt x="4735830" y="201930"/>
                    <a:pt x="4847590" y="201930"/>
                  </a:cubicBezTo>
                  <a:cubicBezTo>
                    <a:pt x="4959350" y="201930"/>
                    <a:pt x="5049520" y="111760"/>
                    <a:pt x="5049520" y="0"/>
                  </a:cubicBezTo>
                  <a:lnTo>
                    <a:pt x="5337810" y="0"/>
                  </a:lnTo>
                  <a:cubicBezTo>
                    <a:pt x="5337810" y="111760"/>
                    <a:pt x="5427980" y="201930"/>
                    <a:pt x="5539740" y="201930"/>
                  </a:cubicBezTo>
                  <a:cubicBezTo>
                    <a:pt x="5651500" y="201930"/>
                    <a:pt x="5741670" y="111760"/>
                    <a:pt x="5741670" y="0"/>
                  </a:cubicBezTo>
                  <a:lnTo>
                    <a:pt x="6032500" y="0"/>
                  </a:lnTo>
                  <a:cubicBezTo>
                    <a:pt x="6032500" y="111760"/>
                    <a:pt x="6122670" y="201930"/>
                    <a:pt x="6234430" y="201930"/>
                  </a:cubicBezTo>
                  <a:cubicBezTo>
                    <a:pt x="6346190" y="201930"/>
                    <a:pt x="6436360" y="111760"/>
                    <a:pt x="6436360" y="0"/>
                  </a:cubicBezTo>
                  <a:lnTo>
                    <a:pt x="6724650" y="0"/>
                  </a:lnTo>
                  <a:cubicBezTo>
                    <a:pt x="6724650" y="111760"/>
                    <a:pt x="6814820" y="201930"/>
                    <a:pt x="6926580" y="201930"/>
                  </a:cubicBezTo>
                  <a:cubicBezTo>
                    <a:pt x="7038341" y="201930"/>
                    <a:pt x="7128510" y="111760"/>
                    <a:pt x="7128510" y="0"/>
                  </a:cubicBezTo>
                  <a:lnTo>
                    <a:pt x="7416800" y="0"/>
                  </a:lnTo>
                  <a:cubicBezTo>
                    <a:pt x="7416800" y="111760"/>
                    <a:pt x="7506970" y="201930"/>
                    <a:pt x="7618730" y="201930"/>
                  </a:cubicBezTo>
                  <a:lnTo>
                    <a:pt x="7618730" y="490220"/>
                  </a:lnTo>
                  <a:cubicBezTo>
                    <a:pt x="7506970" y="490220"/>
                    <a:pt x="7416800" y="580390"/>
                    <a:pt x="7416800" y="692150"/>
                  </a:cubicBezTo>
                  <a:cubicBezTo>
                    <a:pt x="7416800" y="803910"/>
                    <a:pt x="7506970" y="894080"/>
                    <a:pt x="7618730" y="894080"/>
                  </a:cubicBezTo>
                  <a:lnTo>
                    <a:pt x="7618730" y="1182370"/>
                  </a:lnTo>
                  <a:cubicBezTo>
                    <a:pt x="7506970" y="1182370"/>
                    <a:pt x="7416800" y="1272540"/>
                    <a:pt x="7416800" y="1384300"/>
                  </a:cubicBezTo>
                  <a:cubicBezTo>
                    <a:pt x="7416800" y="1496060"/>
                    <a:pt x="7508240" y="1587500"/>
                    <a:pt x="7620000" y="1587500"/>
                  </a:cubicBezTo>
                  <a:lnTo>
                    <a:pt x="7620000" y="1875790"/>
                  </a:lnTo>
                  <a:cubicBezTo>
                    <a:pt x="7508240" y="1875790"/>
                    <a:pt x="7418070" y="1965960"/>
                    <a:pt x="7418070" y="2077720"/>
                  </a:cubicBezTo>
                  <a:cubicBezTo>
                    <a:pt x="7418070" y="2189480"/>
                    <a:pt x="7508239" y="2279650"/>
                    <a:pt x="7620000" y="2279650"/>
                  </a:cubicBezTo>
                  <a:lnTo>
                    <a:pt x="7620000" y="2567940"/>
                  </a:lnTo>
                  <a:cubicBezTo>
                    <a:pt x="7508240" y="2567940"/>
                    <a:pt x="7418070" y="2658110"/>
                    <a:pt x="7418070" y="2769870"/>
                  </a:cubicBezTo>
                  <a:cubicBezTo>
                    <a:pt x="7418070" y="2881630"/>
                    <a:pt x="7508240" y="2971800"/>
                    <a:pt x="7620000" y="2971800"/>
                  </a:cubicBezTo>
                  <a:lnTo>
                    <a:pt x="7620000" y="3260090"/>
                  </a:lnTo>
                  <a:cubicBezTo>
                    <a:pt x="7508240" y="3260090"/>
                    <a:pt x="7418070" y="3350260"/>
                    <a:pt x="7418070" y="3462020"/>
                  </a:cubicBezTo>
                  <a:lnTo>
                    <a:pt x="7129780" y="3462020"/>
                  </a:lnTo>
                  <a:cubicBezTo>
                    <a:pt x="7129780" y="3350260"/>
                    <a:pt x="7039610" y="3260090"/>
                    <a:pt x="6927849" y="3260090"/>
                  </a:cubicBezTo>
                  <a:cubicBezTo>
                    <a:pt x="6816089" y="3260090"/>
                    <a:pt x="6725919" y="3350260"/>
                    <a:pt x="6725919" y="3462020"/>
                  </a:cubicBezTo>
                  <a:lnTo>
                    <a:pt x="6437629" y="3462020"/>
                  </a:lnTo>
                  <a:cubicBezTo>
                    <a:pt x="6437629" y="3350260"/>
                    <a:pt x="6347459" y="3260090"/>
                    <a:pt x="6235699" y="3260090"/>
                  </a:cubicBezTo>
                  <a:cubicBezTo>
                    <a:pt x="6123939" y="3260090"/>
                    <a:pt x="6033769" y="3350260"/>
                    <a:pt x="6033769" y="3462020"/>
                  </a:cubicBezTo>
                  <a:lnTo>
                    <a:pt x="5745479" y="3462020"/>
                  </a:lnTo>
                  <a:cubicBezTo>
                    <a:pt x="5745479" y="3350260"/>
                    <a:pt x="5655309" y="3260090"/>
                    <a:pt x="5543549" y="3260090"/>
                  </a:cubicBezTo>
                  <a:cubicBezTo>
                    <a:pt x="5431789" y="3260090"/>
                    <a:pt x="5341619" y="3350260"/>
                    <a:pt x="5341619" y="3462020"/>
                  </a:cubicBezTo>
                  <a:lnTo>
                    <a:pt x="5053329" y="3462020"/>
                  </a:lnTo>
                  <a:cubicBezTo>
                    <a:pt x="5053329" y="3350260"/>
                    <a:pt x="4963159" y="3260090"/>
                    <a:pt x="4851399" y="3260090"/>
                  </a:cubicBezTo>
                  <a:cubicBezTo>
                    <a:pt x="4739639" y="3260090"/>
                    <a:pt x="4649469" y="3350260"/>
                    <a:pt x="4649469" y="3462020"/>
                  </a:cubicBezTo>
                  <a:lnTo>
                    <a:pt x="4361179" y="3462020"/>
                  </a:lnTo>
                  <a:cubicBezTo>
                    <a:pt x="4361179" y="3350260"/>
                    <a:pt x="4271009" y="3260090"/>
                    <a:pt x="4159249" y="3260090"/>
                  </a:cubicBezTo>
                  <a:cubicBezTo>
                    <a:pt x="4047489" y="3260090"/>
                    <a:pt x="3957319" y="3350260"/>
                    <a:pt x="3957319" y="3462020"/>
                  </a:cubicBezTo>
                  <a:lnTo>
                    <a:pt x="3669029" y="3462020"/>
                  </a:lnTo>
                  <a:cubicBezTo>
                    <a:pt x="3669029" y="3350260"/>
                    <a:pt x="3578859" y="3260090"/>
                    <a:pt x="3467099" y="3260090"/>
                  </a:cubicBezTo>
                  <a:cubicBezTo>
                    <a:pt x="3355339" y="3260090"/>
                    <a:pt x="3265169" y="3350260"/>
                    <a:pt x="3265169" y="3462020"/>
                  </a:cubicBezTo>
                  <a:lnTo>
                    <a:pt x="2976879" y="3462020"/>
                  </a:lnTo>
                  <a:cubicBezTo>
                    <a:pt x="2976879" y="3350260"/>
                    <a:pt x="2886709" y="3260090"/>
                    <a:pt x="2774949" y="3260090"/>
                  </a:cubicBezTo>
                  <a:cubicBezTo>
                    <a:pt x="2663189" y="3260090"/>
                    <a:pt x="2573019" y="3350260"/>
                    <a:pt x="2573019" y="3462020"/>
                  </a:cubicBezTo>
                  <a:lnTo>
                    <a:pt x="2284729" y="3462020"/>
                  </a:lnTo>
                  <a:cubicBezTo>
                    <a:pt x="2284729" y="3350260"/>
                    <a:pt x="2194559" y="3260090"/>
                    <a:pt x="2082799" y="3260090"/>
                  </a:cubicBezTo>
                  <a:cubicBezTo>
                    <a:pt x="1971039" y="3260090"/>
                    <a:pt x="1880869" y="3350260"/>
                    <a:pt x="1880869" y="3462020"/>
                  </a:cubicBezTo>
                  <a:lnTo>
                    <a:pt x="1587500" y="3462020"/>
                  </a:lnTo>
                  <a:cubicBezTo>
                    <a:pt x="1587500" y="3350260"/>
                    <a:pt x="1497330" y="3260090"/>
                    <a:pt x="1385570" y="3260090"/>
                  </a:cubicBezTo>
                  <a:cubicBezTo>
                    <a:pt x="1273810" y="3260090"/>
                    <a:pt x="1183640" y="3350260"/>
                    <a:pt x="1183640" y="3462020"/>
                  </a:cubicBezTo>
                  <a:lnTo>
                    <a:pt x="895350" y="3462020"/>
                  </a:lnTo>
                  <a:cubicBezTo>
                    <a:pt x="895350" y="3350260"/>
                    <a:pt x="805180" y="3260090"/>
                    <a:pt x="693420" y="3260090"/>
                  </a:cubicBezTo>
                  <a:cubicBezTo>
                    <a:pt x="581660" y="3260090"/>
                    <a:pt x="491490" y="3350260"/>
                    <a:pt x="491490" y="3462020"/>
                  </a:cubicBezTo>
                  <a:lnTo>
                    <a:pt x="201930" y="3462020"/>
                  </a:lnTo>
                  <a:cubicBezTo>
                    <a:pt x="201930" y="3350260"/>
                    <a:pt x="111760" y="3260090"/>
                    <a:pt x="0" y="3260090"/>
                  </a:cubicBezTo>
                  <a:lnTo>
                    <a:pt x="0" y="2971800"/>
                  </a:lnTo>
                  <a:cubicBezTo>
                    <a:pt x="111760" y="2971800"/>
                    <a:pt x="201930" y="2881630"/>
                    <a:pt x="201930" y="2769870"/>
                  </a:cubicBezTo>
                  <a:cubicBezTo>
                    <a:pt x="201930" y="2658110"/>
                    <a:pt x="111760" y="2567940"/>
                    <a:pt x="0" y="2567940"/>
                  </a:cubicBezTo>
                  <a:lnTo>
                    <a:pt x="0" y="2279650"/>
                  </a:lnTo>
                  <a:cubicBezTo>
                    <a:pt x="111760" y="2279650"/>
                    <a:pt x="201930" y="2189480"/>
                    <a:pt x="201930" y="2077720"/>
                  </a:cubicBezTo>
                  <a:cubicBezTo>
                    <a:pt x="201930" y="1965960"/>
                    <a:pt x="111760" y="1875790"/>
                    <a:pt x="0" y="1875790"/>
                  </a:cubicBezTo>
                  <a:lnTo>
                    <a:pt x="0" y="1587500"/>
                  </a:lnTo>
                  <a:cubicBezTo>
                    <a:pt x="111760" y="1587500"/>
                    <a:pt x="201930" y="1497330"/>
                    <a:pt x="201930" y="1385570"/>
                  </a:cubicBezTo>
                  <a:cubicBezTo>
                    <a:pt x="201930" y="1273810"/>
                    <a:pt x="111760" y="1183640"/>
                    <a:pt x="0" y="1183640"/>
                  </a:cubicBezTo>
                  <a:lnTo>
                    <a:pt x="0" y="895350"/>
                  </a:lnTo>
                  <a:cubicBezTo>
                    <a:pt x="111760" y="895350"/>
                    <a:pt x="201930" y="805180"/>
                    <a:pt x="201930" y="693420"/>
                  </a:cubicBezTo>
                  <a:cubicBezTo>
                    <a:pt x="201930" y="581660"/>
                    <a:pt x="111760" y="490220"/>
                    <a:pt x="0" y="490220"/>
                  </a:cubicBezTo>
                  <a:lnTo>
                    <a:pt x="0" y="201930"/>
                  </a:lnTo>
                  <a:cubicBezTo>
                    <a:pt x="111760" y="201930"/>
                    <a:pt x="201930" y="111760"/>
                    <a:pt x="201930" y="0"/>
                  </a:cubicBezTo>
                  <a:close/>
                </a:path>
              </a:pathLst>
            </a:custGeom>
            <a:solidFill>
              <a:srgbClr val="FF5F90"/>
            </a:solidFill>
          </p:spPr>
        </p:sp>
        <p:sp>
          <p:nvSpPr>
            <p:cNvPr id="17" name="Freeform 17"/>
            <p:cNvSpPr/>
            <p:nvPr/>
          </p:nvSpPr>
          <p:spPr>
            <a:xfrm>
              <a:off x="370840" y="370840"/>
              <a:ext cx="6878320" cy="2721610"/>
            </a:xfrm>
            <a:custGeom>
              <a:avLst/>
              <a:gdLst/>
              <a:ahLst/>
              <a:cxnLst/>
              <a:rect l="l" t="t" r="r" b="b"/>
              <a:pathLst>
                <a:path w="6878320" h="2721610">
                  <a:moveTo>
                    <a:pt x="0" y="0"/>
                  </a:moveTo>
                  <a:lnTo>
                    <a:pt x="0" y="2721610"/>
                  </a:lnTo>
                  <a:lnTo>
                    <a:pt x="6878320" y="2721610"/>
                  </a:lnTo>
                  <a:lnTo>
                    <a:pt x="6878320" y="0"/>
                  </a:lnTo>
                  <a:lnTo>
                    <a:pt x="0" y="0"/>
                  </a:lnTo>
                  <a:close/>
                  <a:moveTo>
                    <a:pt x="113030" y="2608580"/>
                  </a:moveTo>
                  <a:lnTo>
                    <a:pt x="113030" y="113030"/>
                  </a:lnTo>
                  <a:lnTo>
                    <a:pt x="6765290" y="113030"/>
                  </a:lnTo>
                  <a:lnTo>
                    <a:pt x="6765290" y="2608580"/>
                  </a:lnTo>
                  <a:lnTo>
                    <a:pt x="113030" y="2608580"/>
                  </a:lnTo>
                  <a:close/>
                </a:path>
              </a:pathLst>
            </a:custGeom>
            <a:solidFill>
              <a:srgbClr val="FEBCD1"/>
            </a:solidFill>
          </p:spPr>
        </p:sp>
      </p:grpSp>
      <p:sp>
        <p:nvSpPr>
          <p:cNvPr id="25" name="Freeform 25"/>
          <p:cNvSpPr/>
          <p:nvPr/>
        </p:nvSpPr>
        <p:spPr>
          <a:xfrm rot="-461870">
            <a:off x="-409393" y="842739"/>
            <a:ext cx="6500154" cy="2269637"/>
          </a:xfrm>
          <a:custGeom>
            <a:avLst/>
            <a:gdLst/>
            <a:ahLst/>
            <a:cxnLst/>
            <a:rect l="l" t="t" r="r" b="b"/>
            <a:pathLst>
              <a:path w="6495643" h="2268062">
                <a:moveTo>
                  <a:pt x="0" y="0"/>
                </a:moveTo>
                <a:lnTo>
                  <a:pt x="6495643" y="0"/>
                </a:lnTo>
                <a:lnTo>
                  <a:pt x="6495643" y="2268062"/>
                </a:lnTo>
                <a:lnTo>
                  <a:pt x="0" y="2268062"/>
                </a:lnTo>
                <a:lnTo>
                  <a:pt x="0" y="0"/>
                </a:lnTo>
                <a:close/>
              </a:path>
            </a:pathLst>
          </a:custGeom>
          <a:blipFill>
            <a:blip r:embed="rId7"/>
            <a:stretch>
              <a:fillRect/>
            </a:stretch>
          </a:blipFill>
        </p:spPr>
      </p:sp>
      <p:sp>
        <p:nvSpPr>
          <p:cNvPr id="26" name="Freeform 26"/>
          <p:cNvSpPr/>
          <p:nvPr/>
        </p:nvSpPr>
        <p:spPr>
          <a:xfrm rot="9976885">
            <a:off x="12440856" y="7288893"/>
            <a:ext cx="6500154" cy="2269637"/>
          </a:xfrm>
          <a:custGeom>
            <a:avLst/>
            <a:gdLst/>
            <a:ahLst/>
            <a:cxnLst/>
            <a:rect l="l" t="t" r="r" b="b"/>
            <a:pathLst>
              <a:path w="6495643" h="2268062">
                <a:moveTo>
                  <a:pt x="0" y="0"/>
                </a:moveTo>
                <a:lnTo>
                  <a:pt x="6495643" y="0"/>
                </a:lnTo>
                <a:lnTo>
                  <a:pt x="6495643" y="2268062"/>
                </a:lnTo>
                <a:lnTo>
                  <a:pt x="0" y="2268062"/>
                </a:lnTo>
                <a:lnTo>
                  <a:pt x="0" y="0"/>
                </a:lnTo>
                <a:close/>
              </a:path>
            </a:pathLst>
          </a:custGeom>
          <a:blipFill>
            <a:blip r:embed="rId7"/>
            <a:stretch>
              <a:fillRect/>
            </a:stretch>
          </a:blipFill>
        </p:spPr>
      </p:sp>
      <p:sp>
        <p:nvSpPr>
          <p:cNvPr id="27" name="TextBox 26"/>
          <p:cNvSpPr txBox="1"/>
          <p:nvPr/>
        </p:nvSpPr>
        <p:spPr>
          <a:xfrm>
            <a:off x="5949880" y="2863850"/>
            <a:ext cx="5638870" cy="1015663"/>
          </a:xfrm>
          <a:prstGeom prst="rect">
            <a:avLst/>
          </a:prstGeom>
          <a:noFill/>
        </p:spPr>
        <p:txBody>
          <a:bodyPr wrap="square" rtlCol="0">
            <a:spAutoFit/>
          </a:bodyPr>
          <a:lstStyle/>
          <a:p>
            <a:r>
              <a:rPr lang="en-US" sz="6000" dirty="0" smtClean="0">
                <a:latin typeface="Algerian" panose="04020705040A02060702" pitchFamily="82" charset="0"/>
              </a:rPr>
              <a:t>Singularities</a:t>
            </a:r>
            <a:endParaRPr lang="en-US" sz="6000" dirty="0">
              <a:latin typeface="Algerian" panose="04020705040A02060702" pitchFamily="82" charset="0"/>
            </a:endParaRPr>
          </a:p>
        </p:txBody>
      </p:sp>
      <mc:AlternateContent xmlns:mc="http://schemas.openxmlformats.org/markup-compatibility/2006" xmlns:a14="http://schemas.microsoft.com/office/drawing/2010/main">
        <mc:Choice Requires="a14">
          <p:sp>
            <p:nvSpPr>
              <p:cNvPr id="28" name="TextBox 27"/>
              <p:cNvSpPr txBox="1"/>
              <p:nvPr/>
            </p:nvSpPr>
            <p:spPr>
              <a:xfrm>
                <a:off x="3183485" y="4325511"/>
                <a:ext cx="12598861" cy="2800767"/>
              </a:xfrm>
              <a:prstGeom prst="rect">
                <a:avLst/>
              </a:prstGeom>
              <a:noFill/>
            </p:spPr>
            <p:txBody>
              <a:bodyPr wrap="square" rtlCol="0">
                <a:spAutoFit/>
              </a:bodyPr>
              <a:lstStyle/>
              <a:p>
                <a:r>
                  <a:rPr lang="en-US" sz="4400" dirty="0" smtClean="0">
                    <a:latin typeface="Times New Roman" panose="02020603050405020304" pitchFamily="18" charset="0"/>
                    <a:cs typeface="Times New Roman" panose="02020603050405020304" pitchFamily="18" charset="0"/>
                  </a:rPr>
                  <a:t>A singularity is a point at which a complex function is not analytic.</a:t>
                </a:r>
              </a:p>
              <a:p>
                <a:r>
                  <a:rPr lang="en-US" sz="4400" dirty="0" smtClean="0">
                    <a:latin typeface="Times New Roman" panose="02020603050405020304" pitchFamily="18" charset="0"/>
                    <a:cs typeface="Times New Roman" panose="02020603050405020304" pitchFamily="18" charset="0"/>
                  </a:rPr>
                  <a:t>If a function f(z) is not analytic at z = </a:t>
                </a:r>
                <a14:m>
                  <m:oMath xmlns:m="http://schemas.openxmlformats.org/officeDocument/2006/math">
                    <m:sSub>
                      <m:sSubPr>
                        <m:ctrlPr>
                          <a:rPr lang="en-US" sz="4400" i="1">
                            <a:latin typeface="Cambria Math" panose="02040503050406030204" pitchFamily="18" charset="0"/>
                            <a:sym typeface="TT Commons Pro"/>
                          </a:rPr>
                        </m:ctrlPr>
                      </m:sSubPr>
                      <m:e>
                        <m:r>
                          <a:rPr lang="en-US" sz="4400">
                            <a:latin typeface="Cambria Math" panose="02040503050406030204" pitchFamily="18" charset="0"/>
                            <a:sym typeface="TT Commons Pro"/>
                          </a:rPr>
                          <m:t>𝑧</m:t>
                        </m:r>
                      </m:e>
                      <m:sub>
                        <m:r>
                          <a:rPr lang="en-US" sz="4400">
                            <a:latin typeface="Cambria Math" panose="02040503050406030204" pitchFamily="18" charset="0"/>
                            <a:sym typeface="TT Commons Pro"/>
                          </a:rPr>
                          <m:t>0</m:t>
                        </m:r>
                      </m:sub>
                    </m:sSub>
                  </m:oMath>
                </a14:m>
                <a:r>
                  <a:rPr lang="en-US" sz="4400" dirty="0" smtClean="0">
                    <a:latin typeface="Times New Roman" panose="02020603050405020304" pitchFamily="18" charset="0"/>
                    <a:cs typeface="Times New Roman" panose="02020603050405020304" pitchFamily="18" charset="0"/>
                  </a:rPr>
                  <a:t>, then </a:t>
                </a:r>
                <a14:m>
                  <m:oMath xmlns:m="http://schemas.openxmlformats.org/officeDocument/2006/math">
                    <m:sSub>
                      <m:sSubPr>
                        <m:ctrlPr>
                          <a:rPr lang="en-US" sz="4400" i="1">
                            <a:latin typeface="Cambria Math" panose="02040503050406030204" pitchFamily="18" charset="0"/>
                            <a:sym typeface="TT Commons Pro"/>
                          </a:rPr>
                        </m:ctrlPr>
                      </m:sSubPr>
                      <m:e>
                        <m:r>
                          <a:rPr lang="en-US" sz="4400">
                            <a:latin typeface="Cambria Math" panose="02040503050406030204" pitchFamily="18" charset="0"/>
                            <a:sym typeface="TT Commons Pro"/>
                          </a:rPr>
                          <m:t>𝑧</m:t>
                        </m:r>
                      </m:e>
                      <m:sub>
                        <m:r>
                          <a:rPr lang="en-US" sz="4400">
                            <a:latin typeface="Cambria Math" panose="02040503050406030204" pitchFamily="18" charset="0"/>
                            <a:sym typeface="TT Commons Pro"/>
                          </a:rPr>
                          <m:t>0</m:t>
                        </m:r>
                      </m:sub>
                    </m:sSub>
                  </m:oMath>
                </a14:m>
                <a:r>
                  <a:rPr lang="en-US" sz="4400" dirty="0" smtClean="0">
                    <a:latin typeface="Times New Roman" panose="02020603050405020304" pitchFamily="18" charset="0"/>
                    <a:cs typeface="Times New Roman" panose="02020603050405020304" pitchFamily="18" charset="0"/>
                  </a:rPr>
                  <a:t> is called a singular point.</a:t>
                </a:r>
                <a:endParaRPr lang="en-US" sz="4400" dirty="0">
                  <a:latin typeface="Times New Roman" panose="02020603050405020304" pitchFamily="18" charset="0"/>
                  <a:cs typeface="Times New Roman" panose="02020603050405020304" pitchFamily="18" charset="0"/>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3183485" y="4325511"/>
                <a:ext cx="12598861" cy="2800767"/>
              </a:xfrm>
              <a:prstGeom prst="rect">
                <a:avLst/>
              </a:prstGeom>
              <a:blipFill rotWithShape="0">
                <a:blip r:embed="rId8"/>
                <a:stretch>
                  <a:fillRect l="-1935" t="-4357" r="-629" b="-9804"/>
                </a:stretch>
              </a:blipFill>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250">
        <p:split orient="vert"/>
      </p:transition>
    </mc:Choice>
    <mc:Fallback xmlns="">
      <p:transition spd="slow">
        <p:split orient="vert"/>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777"/>
            <a:ext cx="18300700" cy="10294144"/>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0" y="2777"/>
            <a:ext cx="18300700" cy="10294144"/>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FF91C6">
                    <a:alpha val="49000"/>
                  </a:srgbClr>
                </a:gs>
                <a:gs pos="50000">
                  <a:srgbClr val="FFB7C6">
                    <a:alpha val="49000"/>
                  </a:srgbClr>
                </a:gs>
                <a:gs pos="100000">
                  <a:srgbClr val="FFF0F3">
                    <a:alpha val="49000"/>
                  </a:srgbClr>
                </a:gs>
              </a:gsLst>
              <a:lin ang="5400000"/>
            </a:gradFill>
          </p:spPr>
        </p:sp>
        <p:sp>
          <p:nvSpPr>
            <p:cNvPr id="5" name="TextBox 5"/>
            <p:cNvSpPr txBox="1"/>
            <p:nvPr/>
          </p:nvSpPr>
          <p:spPr>
            <a:xfrm>
              <a:off x="0" y="-38100"/>
              <a:ext cx="4816593" cy="2747433"/>
            </a:xfrm>
            <a:prstGeom prst="rect">
              <a:avLst/>
            </a:prstGeom>
          </p:spPr>
          <p:txBody>
            <a:bodyPr lIns="50835" tIns="50835" rIns="50835" bIns="50835" rtlCol="0" anchor="ctr"/>
            <a:lstStyle/>
            <a:p>
              <a:pPr algn="ctr">
                <a:lnSpc>
                  <a:spcPts val="2661"/>
                </a:lnSpc>
                <a:spcBef>
                  <a:spcPct val="0"/>
                </a:spcBef>
              </a:pPr>
              <a:endParaRPr sz="1801"/>
            </a:p>
          </p:txBody>
        </p:sp>
      </p:grpSp>
      <p:sp>
        <p:nvSpPr>
          <p:cNvPr id="6" name="Freeform 6"/>
          <p:cNvSpPr/>
          <p:nvPr/>
        </p:nvSpPr>
        <p:spPr>
          <a:xfrm>
            <a:off x="0" y="2777"/>
            <a:ext cx="9150350" cy="10294144"/>
          </a:xfrm>
          <a:custGeom>
            <a:avLst/>
            <a:gdLst/>
            <a:ahLst/>
            <a:cxnLst/>
            <a:rect l="l" t="t" r="r" b="b"/>
            <a:pathLst>
              <a:path w="9144000" h="10287000">
                <a:moveTo>
                  <a:pt x="0" y="0"/>
                </a:moveTo>
                <a:lnTo>
                  <a:pt x="9144000" y="0"/>
                </a:lnTo>
                <a:lnTo>
                  <a:pt x="9144000" y="10287000"/>
                </a:lnTo>
                <a:lnTo>
                  <a:pt x="0" y="10287000"/>
                </a:lnTo>
                <a:lnTo>
                  <a:pt x="0" y="0"/>
                </a:lnTo>
                <a:close/>
              </a:path>
            </a:pathLst>
          </a:custGeom>
          <a:blipFill>
            <a:blip r:embed="rId3"/>
            <a:stretch>
              <a:fillRect t="-5538" b="-13123"/>
            </a:stretch>
          </a:blipFill>
        </p:spPr>
      </p:sp>
      <p:sp>
        <p:nvSpPr>
          <p:cNvPr id="7" name="Freeform 7"/>
          <p:cNvSpPr/>
          <p:nvPr/>
        </p:nvSpPr>
        <p:spPr>
          <a:xfrm>
            <a:off x="9150350" y="2777"/>
            <a:ext cx="9150350" cy="10294144"/>
          </a:xfrm>
          <a:custGeom>
            <a:avLst/>
            <a:gdLst/>
            <a:ahLst/>
            <a:cxnLst/>
            <a:rect l="l" t="t" r="r" b="b"/>
            <a:pathLst>
              <a:path w="9144000" h="10287000">
                <a:moveTo>
                  <a:pt x="0" y="0"/>
                </a:moveTo>
                <a:lnTo>
                  <a:pt x="9144000" y="0"/>
                </a:lnTo>
                <a:lnTo>
                  <a:pt x="9144000" y="10287000"/>
                </a:lnTo>
                <a:lnTo>
                  <a:pt x="0" y="10287000"/>
                </a:lnTo>
                <a:lnTo>
                  <a:pt x="0" y="0"/>
                </a:lnTo>
                <a:close/>
              </a:path>
            </a:pathLst>
          </a:custGeom>
          <a:blipFill>
            <a:blip r:embed="rId3"/>
            <a:stretch>
              <a:fillRect t="-5538" b="-13123"/>
            </a:stretch>
          </a:blipFill>
        </p:spPr>
      </p:sp>
      <p:sp>
        <p:nvSpPr>
          <p:cNvPr id="8" name="Freeform 8"/>
          <p:cNvSpPr/>
          <p:nvPr/>
        </p:nvSpPr>
        <p:spPr>
          <a:xfrm>
            <a:off x="0" y="5964250"/>
            <a:ext cx="14796932" cy="4332672"/>
          </a:xfrm>
          <a:custGeom>
            <a:avLst/>
            <a:gdLst/>
            <a:ahLst/>
            <a:cxnLst/>
            <a:rect l="l" t="t" r="r" b="b"/>
            <a:pathLst>
              <a:path w="14786663" h="4329665">
                <a:moveTo>
                  <a:pt x="0" y="0"/>
                </a:moveTo>
                <a:lnTo>
                  <a:pt x="14786663" y="0"/>
                </a:lnTo>
                <a:lnTo>
                  <a:pt x="14786663" y="4329665"/>
                </a:lnTo>
                <a:lnTo>
                  <a:pt x="0" y="4329665"/>
                </a:lnTo>
                <a:lnTo>
                  <a:pt x="0" y="0"/>
                </a:lnTo>
                <a:close/>
              </a:path>
            </a:pathLst>
          </a:custGeom>
          <a:blipFill>
            <a:blip r:embed="rId4"/>
            <a:stretch>
              <a:fillRect b="-22235"/>
            </a:stretch>
          </a:blipFill>
        </p:spPr>
      </p:sp>
      <p:sp>
        <p:nvSpPr>
          <p:cNvPr id="9" name="Freeform 9"/>
          <p:cNvSpPr/>
          <p:nvPr/>
        </p:nvSpPr>
        <p:spPr>
          <a:xfrm>
            <a:off x="4393141" y="5964250"/>
            <a:ext cx="13907559" cy="4332672"/>
          </a:xfrm>
          <a:custGeom>
            <a:avLst/>
            <a:gdLst/>
            <a:ahLst/>
            <a:cxnLst/>
            <a:rect l="l" t="t" r="r" b="b"/>
            <a:pathLst>
              <a:path w="13897908" h="4329665">
                <a:moveTo>
                  <a:pt x="0" y="0"/>
                </a:moveTo>
                <a:lnTo>
                  <a:pt x="13897908" y="0"/>
                </a:lnTo>
                <a:lnTo>
                  <a:pt x="13897908" y="4329665"/>
                </a:lnTo>
                <a:lnTo>
                  <a:pt x="0" y="4329665"/>
                </a:lnTo>
                <a:lnTo>
                  <a:pt x="0" y="0"/>
                </a:lnTo>
                <a:close/>
              </a:path>
            </a:pathLst>
          </a:custGeom>
          <a:blipFill>
            <a:blip r:embed="rId4"/>
            <a:stretch>
              <a:fillRect r="-6394" b="-22235"/>
            </a:stretch>
          </a:blipFill>
        </p:spPr>
      </p:sp>
      <p:sp>
        <p:nvSpPr>
          <p:cNvPr id="10" name="Freeform 10"/>
          <p:cNvSpPr/>
          <p:nvPr/>
        </p:nvSpPr>
        <p:spPr>
          <a:xfrm rot="-3904142" flipH="1">
            <a:off x="14195662" y="-974582"/>
            <a:ext cx="5432543" cy="4889289"/>
          </a:xfrm>
          <a:custGeom>
            <a:avLst/>
            <a:gdLst/>
            <a:ahLst/>
            <a:cxnLst/>
            <a:rect l="l" t="t" r="r" b="b"/>
            <a:pathLst>
              <a:path w="5428773" h="4885896">
                <a:moveTo>
                  <a:pt x="5428773" y="0"/>
                </a:moveTo>
                <a:lnTo>
                  <a:pt x="0" y="0"/>
                </a:lnTo>
                <a:lnTo>
                  <a:pt x="0" y="4885896"/>
                </a:lnTo>
                <a:lnTo>
                  <a:pt x="5428773" y="4885896"/>
                </a:lnTo>
                <a:lnTo>
                  <a:pt x="5428773" y="0"/>
                </a:lnTo>
                <a:close/>
              </a:path>
            </a:pathLst>
          </a:custGeom>
          <a:blipFill>
            <a:blip r:embed="rId5"/>
            <a:stretch>
              <a:fillRect/>
            </a:stretch>
          </a:blipFill>
        </p:spPr>
      </p:sp>
      <p:sp>
        <p:nvSpPr>
          <p:cNvPr id="11" name="Freeform 11"/>
          <p:cNvSpPr/>
          <p:nvPr/>
        </p:nvSpPr>
        <p:spPr>
          <a:xfrm rot="4248475">
            <a:off x="-1173937" y="-1099274"/>
            <a:ext cx="5432543" cy="4889289"/>
          </a:xfrm>
          <a:custGeom>
            <a:avLst/>
            <a:gdLst/>
            <a:ahLst/>
            <a:cxnLst/>
            <a:rect l="l" t="t" r="r" b="b"/>
            <a:pathLst>
              <a:path w="5428773" h="4885896">
                <a:moveTo>
                  <a:pt x="0" y="0"/>
                </a:moveTo>
                <a:lnTo>
                  <a:pt x="5428773" y="0"/>
                </a:lnTo>
                <a:lnTo>
                  <a:pt x="5428773" y="4885896"/>
                </a:lnTo>
                <a:lnTo>
                  <a:pt x="0" y="4885896"/>
                </a:lnTo>
                <a:lnTo>
                  <a:pt x="0" y="0"/>
                </a:lnTo>
                <a:close/>
              </a:path>
            </a:pathLst>
          </a:custGeom>
          <a:blipFill>
            <a:blip r:embed="rId5"/>
            <a:stretch>
              <a:fillRect/>
            </a:stretch>
          </a:blipFill>
        </p:spPr>
      </p:sp>
      <p:sp>
        <p:nvSpPr>
          <p:cNvPr id="12" name="Freeform 12"/>
          <p:cNvSpPr/>
          <p:nvPr/>
        </p:nvSpPr>
        <p:spPr>
          <a:xfrm rot="-657423">
            <a:off x="-1346388" y="5280084"/>
            <a:ext cx="5462592" cy="5353340"/>
          </a:xfrm>
          <a:custGeom>
            <a:avLst/>
            <a:gdLst/>
            <a:ahLst/>
            <a:cxnLst/>
            <a:rect l="l" t="t" r="r" b="b"/>
            <a:pathLst>
              <a:path w="5458801" h="5349625">
                <a:moveTo>
                  <a:pt x="0" y="0"/>
                </a:moveTo>
                <a:lnTo>
                  <a:pt x="5458801" y="0"/>
                </a:lnTo>
                <a:lnTo>
                  <a:pt x="5458801" y="5349625"/>
                </a:lnTo>
                <a:lnTo>
                  <a:pt x="0" y="5349625"/>
                </a:lnTo>
                <a:lnTo>
                  <a:pt x="0" y="0"/>
                </a:lnTo>
                <a:close/>
              </a:path>
            </a:pathLst>
          </a:custGeom>
          <a:blipFill>
            <a:blip r:embed="rId6"/>
            <a:stretch>
              <a:fillRect/>
            </a:stretch>
          </a:blipFill>
        </p:spPr>
      </p:sp>
      <p:sp>
        <p:nvSpPr>
          <p:cNvPr id="19" name="Freeform 19"/>
          <p:cNvSpPr/>
          <p:nvPr/>
        </p:nvSpPr>
        <p:spPr>
          <a:xfrm rot="376846">
            <a:off x="14749630" y="5280084"/>
            <a:ext cx="5462592" cy="5353340"/>
          </a:xfrm>
          <a:custGeom>
            <a:avLst/>
            <a:gdLst/>
            <a:ahLst/>
            <a:cxnLst/>
            <a:rect l="l" t="t" r="r" b="b"/>
            <a:pathLst>
              <a:path w="5458801" h="5349625">
                <a:moveTo>
                  <a:pt x="0" y="0"/>
                </a:moveTo>
                <a:lnTo>
                  <a:pt x="5458802" y="0"/>
                </a:lnTo>
                <a:lnTo>
                  <a:pt x="5458802" y="5349625"/>
                </a:lnTo>
                <a:lnTo>
                  <a:pt x="0" y="5349625"/>
                </a:lnTo>
                <a:lnTo>
                  <a:pt x="0" y="0"/>
                </a:lnTo>
                <a:close/>
              </a:path>
            </a:pathLst>
          </a:custGeom>
          <a:blipFill>
            <a:blip r:embed="rId7"/>
            <a:stretch>
              <a:fillRect/>
            </a:stretch>
          </a:blipFill>
        </p:spPr>
      </p:sp>
      <p:sp>
        <p:nvSpPr>
          <p:cNvPr id="39" name="TextBox 38"/>
          <p:cNvSpPr txBox="1"/>
          <p:nvPr/>
        </p:nvSpPr>
        <p:spPr>
          <a:xfrm>
            <a:off x="3435350" y="577849"/>
            <a:ext cx="12039600" cy="1569660"/>
          </a:xfrm>
          <a:prstGeom prst="rect">
            <a:avLst/>
          </a:prstGeom>
          <a:noFill/>
        </p:spPr>
        <p:txBody>
          <a:bodyPr wrap="square" rtlCol="0">
            <a:spAutoFit/>
          </a:bodyPr>
          <a:lstStyle/>
          <a:p>
            <a:pPr algn="ctr"/>
            <a:r>
              <a:rPr lang="en-US" sz="9600" dirty="0" smtClean="0">
                <a:solidFill>
                  <a:srgbClr val="FF0000"/>
                </a:solidFill>
                <a:latin typeface="Aramis" panose="020B0600050302020204" pitchFamily="34" charset="0"/>
                <a:cs typeface="Italic" panose="00000400000000000000" pitchFamily="2" charset="0"/>
              </a:rPr>
              <a:t>Types of Singularity</a:t>
            </a:r>
            <a:endParaRPr lang="en-US" sz="9600" dirty="0">
              <a:solidFill>
                <a:srgbClr val="FF0000"/>
              </a:solidFill>
              <a:latin typeface="Aramis" panose="020B0600050302020204" pitchFamily="34" charset="0"/>
              <a:cs typeface="Italic" panose="00000400000000000000" pitchFamily="2" charset="0"/>
            </a:endParaRPr>
          </a:p>
        </p:txBody>
      </p:sp>
      <p:grpSp>
        <p:nvGrpSpPr>
          <p:cNvPr id="36" name="Group 35"/>
          <p:cNvGrpSpPr/>
          <p:nvPr/>
        </p:nvGrpSpPr>
        <p:grpSpPr>
          <a:xfrm>
            <a:off x="1171185" y="4462431"/>
            <a:ext cx="4992443" cy="4534613"/>
            <a:chOff x="1171185" y="4462431"/>
            <a:chExt cx="4992443" cy="4534613"/>
          </a:xfrm>
        </p:grpSpPr>
        <p:grpSp>
          <p:nvGrpSpPr>
            <p:cNvPr id="13" name="Group 13"/>
            <p:cNvGrpSpPr/>
            <p:nvPr/>
          </p:nvGrpSpPr>
          <p:grpSpPr>
            <a:xfrm>
              <a:off x="1171185" y="4997343"/>
              <a:ext cx="4992443" cy="3999701"/>
              <a:chOff x="0" y="0"/>
              <a:chExt cx="1313969" cy="1052688"/>
            </a:xfrm>
          </p:grpSpPr>
          <p:sp>
            <p:nvSpPr>
              <p:cNvPr id="14" name="Freeform 14"/>
              <p:cNvSpPr/>
              <p:nvPr/>
            </p:nvSpPr>
            <p:spPr>
              <a:xfrm>
                <a:off x="0" y="0"/>
                <a:ext cx="1313969" cy="1052688"/>
              </a:xfrm>
              <a:custGeom>
                <a:avLst/>
                <a:gdLst/>
                <a:ahLst/>
                <a:cxnLst/>
                <a:rect l="l" t="t" r="r" b="b"/>
                <a:pathLst>
                  <a:path w="1313969" h="1052688">
                    <a:moveTo>
                      <a:pt x="114834" y="0"/>
                    </a:moveTo>
                    <a:lnTo>
                      <a:pt x="1199136" y="0"/>
                    </a:lnTo>
                    <a:cubicBezTo>
                      <a:pt x="1262557" y="0"/>
                      <a:pt x="1313969" y="51413"/>
                      <a:pt x="1313969" y="114834"/>
                    </a:cubicBezTo>
                    <a:lnTo>
                      <a:pt x="1313969" y="937854"/>
                    </a:lnTo>
                    <a:cubicBezTo>
                      <a:pt x="1313969" y="1001275"/>
                      <a:pt x="1262557" y="1052688"/>
                      <a:pt x="1199136" y="1052688"/>
                    </a:cubicBezTo>
                    <a:lnTo>
                      <a:pt x="114834" y="1052688"/>
                    </a:lnTo>
                    <a:cubicBezTo>
                      <a:pt x="84378" y="1052688"/>
                      <a:pt x="55169" y="1040590"/>
                      <a:pt x="33634" y="1019054"/>
                    </a:cubicBezTo>
                    <a:cubicBezTo>
                      <a:pt x="12099" y="997519"/>
                      <a:pt x="0" y="968310"/>
                      <a:pt x="0" y="937854"/>
                    </a:cubicBezTo>
                    <a:lnTo>
                      <a:pt x="0" y="114834"/>
                    </a:lnTo>
                    <a:cubicBezTo>
                      <a:pt x="0" y="51413"/>
                      <a:pt x="51413" y="0"/>
                      <a:pt x="114834" y="0"/>
                    </a:cubicBezTo>
                    <a:close/>
                  </a:path>
                </a:pathLst>
              </a:custGeom>
              <a:solidFill>
                <a:srgbClr val="FDFBFD"/>
              </a:solidFill>
              <a:ln w="114300" cap="rnd">
                <a:gradFill>
                  <a:gsLst>
                    <a:gs pos="0">
                      <a:srgbClr val="FFF0F3">
                        <a:alpha val="100000"/>
                      </a:srgbClr>
                    </a:gs>
                    <a:gs pos="50000">
                      <a:srgbClr val="FFB7C6">
                        <a:alpha val="100000"/>
                      </a:srgbClr>
                    </a:gs>
                    <a:gs pos="100000">
                      <a:srgbClr val="FF91C6">
                        <a:alpha val="100000"/>
                      </a:srgbClr>
                    </a:gs>
                  </a:gsLst>
                  <a:lin ang="5400000"/>
                </a:gradFill>
                <a:prstDash val="solid"/>
                <a:round/>
              </a:ln>
            </p:spPr>
          </p:sp>
          <p:sp>
            <p:nvSpPr>
              <p:cNvPr id="15" name="TextBox 15"/>
              <p:cNvSpPr txBox="1"/>
              <p:nvPr/>
            </p:nvSpPr>
            <p:spPr>
              <a:xfrm>
                <a:off x="0" y="-38100"/>
                <a:ext cx="1313969" cy="1090788"/>
              </a:xfrm>
              <a:prstGeom prst="rect">
                <a:avLst/>
              </a:prstGeom>
            </p:spPr>
            <p:txBody>
              <a:bodyPr lIns="50835" tIns="50835" rIns="50835" bIns="50835" rtlCol="0" anchor="ctr"/>
              <a:lstStyle/>
              <a:p>
                <a:pPr algn="ctr">
                  <a:lnSpc>
                    <a:spcPts val="2522"/>
                  </a:lnSpc>
                </a:pPr>
                <a:endParaRPr sz="1801"/>
              </a:p>
            </p:txBody>
          </p:sp>
        </p:grpSp>
        <p:grpSp>
          <p:nvGrpSpPr>
            <p:cNvPr id="23" name="Group 23"/>
            <p:cNvGrpSpPr/>
            <p:nvPr/>
          </p:nvGrpSpPr>
          <p:grpSpPr>
            <a:xfrm>
              <a:off x="1581509" y="4462431"/>
              <a:ext cx="4171793" cy="1069827"/>
              <a:chOff x="0" y="0"/>
              <a:chExt cx="855764" cy="281570"/>
            </a:xfrm>
          </p:grpSpPr>
          <p:sp>
            <p:nvSpPr>
              <p:cNvPr id="24" name="Freeform 24"/>
              <p:cNvSpPr/>
              <p:nvPr/>
            </p:nvSpPr>
            <p:spPr>
              <a:xfrm>
                <a:off x="0" y="0"/>
                <a:ext cx="855764" cy="281570"/>
              </a:xfrm>
              <a:custGeom>
                <a:avLst/>
                <a:gdLst/>
                <a:ahLst/>
                <a:cxnLst/>
                <a:rect l="l" t="t" r="r" b="b"/>
                <a:pathLst>
                  <a:path w="855764" h="281570">
                    <a:moveTo>
                      <a:pt x="140785" y="0"/>
                    </a:moveTo>
                    <a:lnTo>
                      <a:pt x="714979" y="0"/>
                    </a:lnTo>
                    <a:cubicBezTo>
                      <a:pt x="792732" y="0"/>
                      <a:pt x="855764" y="63032"/>
                      <a:pt x="855764" y="140785"/>
                    </a:cubicBezTo>
                    <a:lnTo>
                      <a:pt x="855764" y="140785"/>
                    </a:lnTo>
                    <a:cubicBezTo>
                      <a:pt x="855764" y="218538"/>
                      <a:pt x="792732" y="281570"/>
                      <a:pt x="714979" y="281570"/>
                    </a:cubicBezTo>
                    <a:lnTo>
                      <a:pt x="140785" y="281570"/>
                    </a:lnTo>
                    <a:cubicBezTo>
                      <a:pt x="63032" y="281570"/>
                      <a:pt x="0" y="218538"/>
                      <a:pt x="0" y="140785"/>
                    </a:cubicBezTo>
                    <a:lnTo>
                      <a:pt x="0" y="140785"/>
                    </a:lnTo>
                    <a:cubicBezTo>
                      <a:pt x="0" y="63032"/>
                      <a:pt x="63032" y="0"/>
                      <a:pt x="140785" y="0"/>
                    </a:cubicBezTo>
                    <a:close/>
                  </a:path>
                </a:pathLst>
              </a:custGeom>
              <a:gradFill rotWithShape="1">
                <a:gsLst>
                  <a:gs pos="0">
                    <a:srgbClr val="FF91C6">
                      <a:alpha val="100000"/>
                    </a:srgbClr>
                  </a:gs>
                  <a:gs pos="50000">
                    <a:srgbClr val="FFB7C6">
                      <a:alpha val="100000"/>
                    </a:srgbClr>
                  </a:gs>
                  <a:gs pos="100000">
                    <a:srgbClr val="FFF0F3">
                      <a:alpha val="100000"/>
                    </a:srgbClr>
                  </a:gs>
                </a:gsLst>
                <a:lin ang="5400000"/>
              </a:gradFill>
              <a:ln cap="rnd">
                <a:noFill/>
                <a:prstDash val="solid"/>
                <a:round/>
              </a:ln>
            </p:spPr>
          </p:sp>
          <p:sp>
            <p:nvSpPr>
              <p:cNvPr id="25" name="TextBox 25"/>
              <p:cNvSpPr txBox="1"/>
              <p:nvPr/>
            </p:nvSpPr>
            <p:spPr>
              <a:xfrm>
                <a:off x="0" y="-38100"/>
                <a:ext cx="855764" cy="319670"/>
              </a:xfrm>
              <a:prstGeom prst="rect">
                <a:avLst/>
              </a:prstGeom>
            </p:spPr>
            <p:txBody>
              <a:bodyPr lIns="50835" tIns="50835" rIns="50835" bIns="50835" rtlCol="0" anchor="ctr"/>
              <a:lstStyle/>
              <a:p>
                <a:pPr algn="ctr">
                  <a:lnSpc>
                    <a:spcPts val="2522"/>
                  </a:lnSpc>
                </a:pPr>
                <a:endParaRPr sz="1801"/>
              </a:p>
            </p:txBody>
          </p:sp>
        </p:grpSp>
        <p:sp>
          <p:nvSpPr>
            <p:cNvPr id="40" name="TextBox 39"/>
            <p:cNvSpPr txBox="1"/>
            <p:nvPr/>
          </p:nvSpPr>
          <p:spPr>
            <a:xfrm>
              <a:off x="1609610" y="4651181"/>
              <a:ext cx="4144718" cy="569387"/>
            </a:xfrm>
            <a:prstGeom prst="rect">
              <a:avLst/>
            </a:prstGeom>
            <a:noFill/>
          </p:spPr>
          <p:txBody>
            <a:bodyPr wrap="square" rtlCol="0">
              <a:spAutoFit/>
            </a:bodyPr>
            <a:lstStyle/>
            <a:p>
              <a:r>
                <a:rPr lang="en-US" sz="3100" b="1" dirty="0" smtClean="0">
                  <a:solidFill>
                    <a:schemeClr val="bg1"/>
                  </a:solidFill>
                  <a:latin typeface="Times New Roman" panose="02020603050405020304" pitchFamily="18" charset="0"/>
                  <a:cs typeface="Times New Roman" panose="02020603050405020304" pitchFamily="18" charset="0"/>
                </a:rPr>
                <a:t>Removable Singularity</a:t>
              </a:r>
              <a:endParaRPr lang="en-US" sz="3100" b="1"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3" name="TextBox 42"/>
                <p:cNvSpPr txBox="1"/>
                <p:nvPr/>
              </p:nvSpPr>
              <p:spPr>
                <a:xfrm>
                  <a:off x="1646614" y="5997700"/>
                  <a:ext cx="4143692" cy="2970044"/>
                </a:xfrm>
                <a:prstGeom prst="rect">
                  <a:avLst/>
                </a:prstGeom>
                <a:noFill/>
              </p:spPr>
              <p:txBody>
                <a:bodyPr wrap="square" rtlCol="0">
                  <a:spAutoFit/>
                </a:bodyPr>
                <a:lstStyle/>
                <a:p>
                  <a:pPr>
                    <a:lnSpc>
                      <a:spcPts val="3061"/>
                    </a:lnSpc>
                  </a:pPr>
                  <a:r>
                    <a:rPr lang="en-US" sz="3200" spc="-34" dirty="0" smtClean="0">
                      <a:solidFill>
                        <a:srgbClr val="FF5F90"/>
                      </a:solidFill>
                      <a:latin typeface="TT Commons Pro"/>
                      <a:ea typeface="TT Commons Pro"/>
                      <a:cs typeface="TT Commons Pro"/>
                      <a:sym typeface="TT Commons Pro"/>
                    </a:rPr>
                    <a:t>If a singularity can be removed by redefining the function at that point.</a:t>
                  </a:r>
                </a:p>
                <a:p>
                  <a:pPr>
                    <a:lnSpc>
                      <a:spcPts val="3061"/>
                    </a:lnSpc>
                  </a:pPr>
                  <a:endParaRPr lang="en-US" sz="3200" spc="-34" dirty="0" smtClean="0">
                    <a:solidFill>
                      <a:srgbClr val="FF5F90"/>
                    </a:solidFill>
                    <a:latin typeface="TT Commons Pro"/>
                    <a:ea typeface="TT Commons Pro"/>
                    <a:cs typeface="TT Commons Pro"/>
                    <a:sym typeface="TT Commons Pro"/>
                  </a:endParaRPr>
                </a:p>
                <a:p>
                  <a:pPr>
                    <a:lnSpc>
                      <a:spcPts val="3061"/>
                    </a:lnSpc>
                  </a:pPr>
                  <a:r>
                    <a:rPr lang="en-US" sz="3200" b="1" i="1" spc="-34" dirty="0">
                      <a:solidFill>
                        <a:srgbClr val="FF5F90"/>
                      </a:solidFill>
                      <a:latin typeface="TT Commons Pro"/>
                      <a:ea typeface="TT Commons Pro"/>
                      <a:cs typeface="TT Commons Pro"/>
                      <a:sym typeface="TT Commons Pro"/>
                    </a:rPr>
                    <a:t>Example</a:t>
                  </a:r>
                  <a:r>
                    <a:rPr lang="en-US" sz="3200" spc="-34" dirty="0" smtClean="0">
                      <a:solidFill>
                        <a:srgbClr val="FF5F90"/>
                      </a:solidFill>
                      <a:latin typeface="TT Commons Pro"/>
                      <a:ea typeface="TT Commons Pro"/>
                      <a:cs typeface="TT Commons Pro"/>
                      <a:sym typeface="TT Commons Pro"/>
                    </a:rPr>
                    <a:t>: f(z) =  </a:t>
                  </a:r>
                  <a14:m>
                    <m:oMath xmlns:m="http://schemas.openxmlformats.org/officeDocument/2006/math">
                      <m:f>
                        <m:fPr>
                          <m:ctrlPr>
                            <a:rPr lang="en-US" sz="3200" i="1" spc="-34">
                              <a:solidFill>
                                <a:srgbClr val="FF5F90"/>
                              </a:solidFill>
                              <a:latin typeface="Cambria Math" panose="02040503050406030204" pitchFamily="18" charset="0"/>
                              <a:ea typeface="TT Commons Pro"/>
                              <a:cs typeface="TT Commons Pro"/>
                            </a:rPr>
                          </m:ctrlPr>
                        </m:fPr>
                        <m:num>
                          <m:func>
                            <m:funcPr>
                              <m:ctrlPr>
                                <a:rPr lang="en-US" sz="3200" i="1" spc="-34">
                                  <a:solidFill>
                                    <a:srgbClr val="FF5F90"/>
                                  </a:solidFill>
                                  <a:latin typeface="Cambria Math" panose="02040503050406030204" pitchFamily="18" charset="0"/>
                                  <a:ea typeface="TT Commons Pro"/>
                                  <a:cs typeface="TT Commons Pro"/>
                                </a:rPr>
                              </m:ctrlPr>
                            </m:funcPr>
                            <m:fName>
                              <m:r>
                                <m:rPr>
                                  <m:sty m:val="p"/>
                                </m:rPr>
                                <a:rPr lang="en-US" sz="3200" spc="-34">
                                  <a:solidFill>
                                    <a:srgbClr val="FF5F90"/>
                                  </a:solidFill>
                                  <a:latin typeface="Cambria Math" panose="02040503050406030204" pitchFamily="18" charset="0"/>
                                  <a:ea typeface="TT Commons Pro"/>
                                  <a:cs typeface="TT Commons Pro"/>
                                </a:rPr>
                                <m:t>sin</m:t>
                              </m:r>
                            </m:fName>
                            <m:e>
                              <m:r>
                                <a:rPr lang="en-US" sz="3200" spc="-34">
                                  <a:solidFill>
                                    <a:srgbClr val="FF5F90"/>
                                  </a:solidFill>
                                  <a:latin typeface="Cambria Math" panose="02040503050406030204" pitchFamily="18" charset="0"/>
                                  <a:ea typeface="TT Commons Pro"/>
                                  <a:cs typeface="TT Commons Pro"/>
                                </a:rPr>
                                <m:t>𝑧</m:t>
                              </m:r>
                            </m:e>
                          </m:func>
                        </m:num>
                        <m:den>
                          <m:r>
                            <a:rPr lang="en-US" sz="3200" spc="-34">
                              <a:solidFill>
                                <a:srgbClr val="FF5F90"/>
                              </a:solidFill>
                              <a:latin typeface="Cambria Math" panose="02040503050406030204" pitchFamily="18" charset="0"/>
                              <a:ea typeface="TT Commons Pro"/>
                              <a:cs typeface="TT Commons Pro"/>
                            </a:rPr>
                            <m:t>𝑧</m:t>
                          </m:r>
                        </m:den>
                      </m:f>
                    </m:oMath>
                  </a14:m>
                  <a:endParaRPr lang="en-US" sz="3200" spc="-34" dirty="0">
                    <a:solidFill>
                      <a:srgbClr val="FF5F90"/>
                    </a:solidFill>
                    <a:latin typeface="TT Commons Pro"/>
                    <a:ea typeface="TT Commons Pro"/>
                    <a:cs typeface="TT Commons Pro"/>
                    <a:sym typeface="TT Commons Pro"/>
                  </a:endParaRPr>
                </a:p>
                <a:p>
                  <a:endParaRPr lang="en-US" sz="3200" dirty="0">
                    <a:latin typeface="Times New Roman" panose="02020603050405020304" pitchFamily="18" charset="0"/>
                    <a:cs typeface="Times New Roman" panose="02020603050405020304" pitchFamily="18" charset="0"/>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1646614" y="5997700"/>
                  <a:ext cx="4143692" cy="2970044"/>
                </a:xfrm>
                <a:prstGeom prst="rect">
                  <a:avLst/>
                </a:prstGeom>
                <a:blipFill rotWithShape="0">
                  <a:blip r:embed="rId8"/>
                  <a:stretch>
                    <a:fillRect l="-3676" t="-5955" r="-5441"/>
                  </a:stretch>
                </a:blipFill>
              </p:spPr>
              <p:txBody>
                <a:bodyPr/>
                <a:lstStyle/>
                <a:p>
                  <a:r>
                    <a:rPr lang="en-US">
                      <a:noFill/>
                    </a:rPr>
                    <a:t> </a:t>
                  </a:r>
                </a:p>
              </p:txBody>
            </p:sp>
          </mc:Fallback>
        </mc:AlternateContent>
      </p:grpSp>
      <p:grpSp>
        <p:nvGrpSpPr>
          <p:cNvPr id="44" name="Group 43"/>
          <p:cNvGrpSpPr/>
          <p:nvPr/>
        </p:nvGrpSpPr>
        <p:grpSpPr>
          <a:xfrm>
            <a:off x="6654129" y="4462431"/>
            <a:ext cx="4992443" cy="4534613"/>
            <a:chOff x="6654129" y="4462431"/>
            <a:chExt cx="4992443" cy="4534613"/>
          </a:xfrm>
        </p:grpSpPr>
        <p:grpSp>
          <p:nvGrpSpPr>
            <p:cNvPr id="16" name="Group 16"/>
            <p:cNvGrpSpPr/>
            <p:nvPr/>
          </p:nvGrpSpPr>
          <p:grpSpPr>
            <a:xfrm>
              <a:off x="6654129" y="4997343"/>
              <a:ext cx="4992443" cy="3999701"/>
              <a:chOff x="0" y="0"/>
              <a:chExt cx="1313969" cy="1052688"/>
            </a:xfrm>
          </p:grpSpPr>
          <p:sp>
            <p:nvSpPr>
              <p:cNvPr id="17" name="Freeform 17"/>
              <p:cNvSpPr/>
              <p:nvPr/>
            </p:nvSpPr>
            <p:spPr>
              <a:xfrm>
                <a:off x="0" y="0"/>
                <a:ext cx="1313969" cy="1052688"/>
              </a:xfrm>
              <a:custGeom>
                <a:avLst/>
                <a:gdLst/>
                <a:ahLst/>
                <a:cxnLst/>
                <a:rect l="l" t="t" r="r" b="b"/>
                <a:pathLst>
                  <a:path w="1313969" h="1052688">
                    <a:moveTo>
                      <a:pt x="114834" y="0"/>
                    </a:moveTo>
                    <a:lnTo>
                      <a:pt x="1199136" y="0"/>
                    </a:lnTo>
                    <a:cubicBezTo>
                      <a:pt x="1262557" y="0"/>
                      <a:pt x="1313969" y="51413"/>
                      <a:pt x="1313969" y="114834"/>
                    </a:cubicBezTo>
                    <a:lnTo>
                      <a:pt x="1313969" y="937854"/>
                    </a:lnTo>
                    <a:cubicBezTo>
                      <a:pt x="1313969" y="1001275"/>
                      <a:pt x="1262557" y="1052688"/>
                      <a:pt x="1199136" y="1052688"/>
                    </a:cubicBezTo>
                    <a:lnTo>
                      <a:pt x="114834" y="1052688"/>
                    </a:lnTo>
                    <a:cubicBezTo>
                      <a:pt x="84378" y="1052688"/>
                      <a:pt x="55169" y="1040590"/>
                      <a:pt x="33634" y="1019054"/>
                    </a:cubicBezTo>
                    <a:cubicBezTo>
                      <a:pt x="12099" y="997519"/>
                      <a:pt x="0" y="968310"/>
                      <a:pt x="0" y="937854"/>
                    </a:cubicBezTo>
                    <a:lnTo>
                      <a:pt x="0" y="114834"/>
                    </a:lnTo>
                    <a:cubicBezTo>
                      <a:pt x="0" y="51413"/>
                      <a:pt x="51413" y="0"/>
                      <a:pt x="114834" y="0"/>
                    </a:cubicBezTo>
                    <a:close/>
                  </a:path>
                </a:pathLst>
              </a:custGeom>
              <a:solidFill>
                <a:srgbClr val="FDFBFD"/>
              </a:solidFill>
              <a:ln w="114300" cap="rnd">
                <a:gradFill>
                  <a:gsLst>
                    <a:gs pos="0">
                      <a:srgbClr val="FFF0F3">
                        <a:alpha val="100000"/>
                      </a:srgbClr>
                    </a:gs>
                    <a:gs pos="50000">
                      <a:srgbClr val="FFB7C6">
                        <a:alpha val="100000"/>
                      </a:srgbClr>
                    </a:gs>
                    <a:gs pos="100000">
                      <a:srgbClr val="FF91C6">
                        <a:alpha val="100000"/>
                      </a:srgbClr>
                    </a:gs>
                  </a:gsLst>
                  <a:lin ang="5400000"/>
                </a:gradFill>
                <a:prstDash val="solid"/>
                <a:round/>
              </a:ln>
            </p:spPr>
          </p:sp>
          <p:sp>
            <p:nvSpPr>
              <p:cNvPr id="18" name="TextBox 18"/>
              <p:cNvSpPr txBox="1"/>
              <p:nvPr/>
            </p:nvSpPr>
            <p:spPr>
              <a:xfrm>
                <a:off x="0" y="-38100"/>
                <a:ext cx="1313969" cy="1090788"/>
              </a:xfrm>
              <a:prstGeom prst="rect">
                <a:avLst/>
              </a:prstGeom>
            </p:spPr>
            <p:txBody>
              <a:bodyPr lIns="50835" tIns="50835" rIns="50835" bIns="50835" rtlCol="0" anchor="ctr"/>
              <a:lstStyle/>
              <a:p>
                <a:pPr algn="ctr">
                  <a:lnSpc>
                    <a:spcPts val="2522"/>
                  </a:lnSpc>
                </a:pPr>
                <a:endParaRPr sz="1801"/>
              </a:p>
            </p:txBody>
          </p:sp>
        </p:grpSp>
        <p:grpSp>
          <p:nvGrpSpPr>
            <p:cNvPr id="26" name="Group 26"/>
            <p:cNvGrpSpPr/>
            <p:nvPr/>
          </p:nvGrpSpPr>
          <p:grpSpPr>
            <a:xfrm>
              <a:off x="7064453" y="4462431"/>
              <a:ext cx="4171793" cy="1069827"/>
              <a:chOff x="0" y="0"/>
              <a:chExt cx="855764" cy="281570"/>
            </a:xfrm>
          </p:grpSpPr>
          <p:sp>
            <p:nvSpPr>
              <p:cNvPr id="27" name="Freeform 27"/>
              <p:cNvSpPr/>
              <p:nvPr/>
            </p:nvSpPr>
            <p:spPr>
              <a:xfrm>
                <a:off x="0" y="0"/>
                <a:ext cx="855764" cy="281570"/>
              </a:xfrm>
              <a:custGeom>
                <a:avLst/>
                <a:gdLst/>
                <a:ahLst/>
                <a:cxnLst/>
                <a:rect l="l" t="t" r="r" b="b"/>
                <a:pathLst>
                  <a:path w="855764" h="281570">
                    <a:moveTo>
                      <a:pt x="140785" y="0"/>
                    </a:moveTo>
                    <a:lnTo>
                      <a:pt x="714979" y="0"/>
                    </a:lnTo>
                    <a:cubicBezTo>
                      <a:pt x="792732" y="0"/>
                      <a:pt x="855764" y="63032"/>
                      <a:pt x="855764" y="140785"/>
                    </a:cubicBezTo>
                    <a:lnTo>
                      <a:pt x="855764" y="140785"/>
                    </a:lnTo>
                    <a:cubicBezTo>
                      <a:pt x="855764" y="218538"/>
                      <a:pt x="792732" y="281570"/>
                      <a:pt x="714979" y="281570"/>
                    </a:cubicBezTo>
                    <a:lnTo>
                      <a:pt x="140785" y="281570"/>
                    </a:lnTo>
                    <a:cubicBezTo>
                      <a:pt x="63032" y="281570"/>
                      <a:pt x="0" y="218538"/>
                      <a:pt x="0" y="140785"/>
                    </a:cubicBezTo>
                    <a:lnTo>
                      <a:pt x="0" y="140785"/>
                    </a:lnTo>
                    <a:cubicBezTo>
                      <a:pt x="0" y="63032"/>
                      <a:pt x="63032" y="0"/>
                      <a:pt x="140785" y="0"/>
                    </a:cubicBezTo>
                    <a:close/>
                  </a:path>
                </a:pathLst>
              </a:custGeom>
              <a:gradFill rotWithShape="1">
                <a:gsLst>
                  <a:gs pos="0">
                    <a:srgbClr val="FF91C6">
                      <a:alpha val="100000"/>
                    </a:srgbClr>
                  </a:gs>
                  <a:gs pos="50000">
                    <a:srgbClr val="FFB7C6">
                      <a:alpha val="100000"/>
                    </a:srgbClr>
                  </a:gs>
                  <a:gs pos="100000">
                    <a:srgbClr val="FFF0F3">
                      <a:alpha val="100000"/>
                    </a:srgbClr>
                  </a:gs>
                </a:gsLst>
                <a:lin ang="5400000"/>
              </a:gradFill>
              <a:ln cap="rnd">
                <a:noFill/>
                <a:prstDash val="solid"/>
                <a:round/>
              </a:ln>
            </p:spPr>
          </p:sp>
          <p:sp>
            <p:nvSpPr>
              <p:cNvPr id="28" name="TextBox 28"/>
              <p:cNvSpPr txBox="1"/>
              <p:nvPr/>
            </p:nvSpPr>
            <p:spPr>
              <a:xfrm>
                <a:off x="0" y="-38100"/>
                <a:ext cx="855764" cy="319670"/>
              </a:xfrm>
              <a:prstGeom prst="rect">
                <a:avLst/>
              </a:prstGeom>
            </p:spPr>
            <p:txBody>
              <a:bodyPr lIns="50835" tIns="50835" rIns="50835" bIns="50835" rtlCol="0" anchor="ctr"/>
              <a:lstStyle/>
              <a:p>
                <a:pPr algn="ctr">
                  <a:lnSpc>
                    <a:spcPts val="2522"/>
                  </a:lnSpc>
                </a:pPr>
                <a:endParaRPr sz="1801"/>
              </a:p>
            </p:txBody>
          </p:sp>
        </p:grpSp>
        <p:sp>
          <p:nvSpPr>
            <p:cNvPr id="41" name="TextBox 40"/>
            <p:cNvSpPr txBox="1"/>
            <p:nvPr/>
          </p:nvSpPr>
          <p:spPr>
            <a:xfrm>
              <a:off x="7334811" y="4651189"/>
              <a:ext cx="3620899" cy="646331"/>
            </a:xfrm>
            <a:prstGeom prst="rect">
              <a:avLst/>
            </a:prstGeom>
            <a:noFill/>
          </p:spPr>
          <p:txBody>
            <a:bodyPr wrap="square" rtlCol="0">
              <a:spAutoFit/>
            </a:bodyPr>
            <a:lstStyle/>
            <a:p>
              <a:pPr algn="ctr"/>
              <a:r>
                <a:rPr lang="en-US" sz="3600" b="1" dirty="0" smtClean="0">
                  <a:solidFill>
                    <a:schemeClr val="bg1"/>
                  </a:solidFill>
                  <a:latin typeface="Times New Roman" panose="02020603050405020304" pitchFamily="18" charset="0"/>
                  <a:cs typeface="Times New Roman" panose="02020603050405020304" pitchFamily="18" charset="0"/>
                </a:rPr>
                <a:t>Pole</a:t>
              </a:r>
              <a:endParaRPr lang="en-US" sz="3600" b="1"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2" name="TextBox 31"/>
                <p:cNvSpPr txBox="1"/>
                <p:nvPr/>
              </p:nvSpPr>
              <p:spPr>
                <a:xfrm>
                  <a:off x="7262715" y="5922409"/>
                  <a:ext cx="4171793" cy="2278637"/>
                </a:xfrm>
                <a:prstGeom prst="rect">
                  <a:avLst/>
                </a:prstGeom>
                <a:noFill/>
              </p:spPr>
              <p:txBody>
                <a:bodyPr wrap="square" rtlCol="0">
                  <a:spAutoFit/>
                </a:bodyPr>
                <a:lstStyle/>
                <a:p>
                  <a:r>
                    <a:rPr lang="en-US" sz="3200" spc="-34" dirty="0">
                      <a:solidFill>
                        <a:srgbClr val="FF5F90"/>
                      </a:solidFill>
                      <a:latin typeface="TT Commons Pro"/>
                      <a:ea typeface="TT Commons Pro"/>
                      <a:cs typeface="TT Commons Pro"/>
                    </a:rPr>
                    <a:t>If the function becomes infinite at the point.</a:t>
                  </a:r>
                </a:p>
                <a:p>
                  <a:r>
                    <a:rPr lang="en-US" sz="3200" spc="-34" dirty="0">
                      <a:solidFill>
                        <a:srgbClr val="FF5F90"/>
                      </a:solidFill>
                      <a:latin typeface="TT Commons Pro"/>
                      <a:ea typeface="TT Commons Pro"/>
                      <a:cs typeface="TT Commons Pro"/>
                    </a:rPr>
                    <a:t>Example: f(z) = </a:t>
                  </a:r>
                  <a14:m>
                    <m:oMath xmlns:m="http://schemas.openxmlformats.org/officeDocument/2006/math">
                      <m:f>
                        <m:fPr>
                          <m:ctrlPr>
                            <a:rPr lang="en-US" sz="3200" i="1" spc="-34">
                              <a:solidFill>
                                <a:srgbClr val="FF5F90"/>
                              </a:solidFill>
                              <a:latin typeface="Cambria Math" panose="02040503050406030204" pitchFamily="18" charset="0"/>
                              <a:ea typeface="TT Commons Pro"/>
                              <a:cs typeface="TT Commons Pro"/>
                            </a:rPr>
                          </m:ctrlPr>
                        </m:fPr>
                        <m:num>
                          <m:r>
                            <a:rPr lang="en-US" sz="3200" spc="-34">
                              <a:solidFill>
                                <a:srgbClr val="FF5F90"/>
                              </a:solidFill>
                              <a:latin typeface="Cambria Math" panose="02040503050406030204" pitchFamily="18" charset="0"/>
                              <a:ea typeface="TT Commons Pro"/>
                              <a:cs typeface="TT Commons Pro"/>
                            </a:rPr>
                            <m:t>1</m:t>
                          </m:r>
                        </m:num>
                        <m:den>
                          <m:sSup>
                            <m:sSupPr>
                              <m:ctrlPr>
                                <a:rPr lang="en-US" sz="3200" i="1" spc="-34">
                                  <a:solidFill>
                                    <a:srgbClr val="FF5F90"/>
                                  </a:solidFill>
                                  <a:latin typeface="Cambria Math" panose="02040503050406030204" pitchFamily="18" charset="0"/>
                                  <a:ea typeface="TT Commons Pro"/>
                                  <a:cs typeface="TT Commons Pro"/>
                                </a:rPr>
                              </m:ctrlPr>
                            </m:sSupPr>
                            <m:e>
                              <m:r>
                                <a:rPr lang="en-US" sz="3200" spc="-34">
                                  <a:solidFill>
                                    <a:srgbClr val="FF5F90"/>
                                  </a:solidFill>
                                  <a:latin typeface="Cambria Math" panose="02040503050406030204" pitchFamily="18" charset="0"/>
                                  <a:ea typeface="TT Commons Pro"/>
                                  <a:cs typeface="TT Commons Pro"/>
                                </a:rPr>
                                <m:t>𝑧</m:t>
                              </m:r>
                            </m:e>
                            <m:sup>
                              <m:r>
                                <a:rPr lang="en-US" sz="3200" spc="-34">
                                  <a:solidFill>
                                    <a:srgbClr val="FF5F90"/>
                                  </a:solidFill>
                                  <a:latin typeface="Cambria Math" panose="02040503050406030204" pitchFamily="18" charset="0"/>
                                  <a:ea typeface="TT Commons Pro"/>
                                  <a:cs typeface="TT Commons Pro"/>
                                </a:rPr>
                                <m:t>2</m:t>
                              </m:r>
                            </m:sup>
                          </m:sSup>
                        </m:den>
                      </m:f>
                    </m:oMath>
                  </a14:m>
                  <a:endParaRPr lang="en-US" sz="3200" spc="-34" dirty="0">
                    <a:solidFill>
                      <a:srgbClr val="FF5F90"/>
                    </a:solidFill>
                    <a:latin typeface="TT Commons Pro"/>
                    <a:ea typeface="TT Commons Pro"/>
                    <a:cs typeface="TT Commons Pro"/>
                  </a:endParaRPr>
                </a:p>
              </p:txBody>
            </p:sp>
          </mc:Choice>
          <mc:Fallback xmlns="">
            <p:sp>
              <p:nvSpPr>
                <p:cNvPr id="32" name="TextBox 31"/>
                <p:cNvSpPr txBox="1">
                  <a:spLocks noRot="1" noChangeAspect="1" noMove="1" noResize="1" noEditPoints="1" noAdjustHandles="1" noChangeArrowheads="1" noChangeShapeType="1" noTextEdit="1"/>
                </p:cNvSpPr>
                <p:nvPr/>
              </p:nvSpPr>
              <p:spPr>
                <a:xfrm>
                  <a:off x="7262715" y="5922409"/>
                  <a:ext cx="4171793" cy="2278637"/>
                </a:xfrm>
                <a:prstGeom prst="rect">
                  <a:avLst/>
                </a:prstGeom>
                <a:blipFill rotWithShape="0">
                  <a:blip r:embed="rId9"/>
                  <a:stretch>
                    <a:fillRect l="-3650" t="-3485" r="-5547" b="-2413"/>
                  </a:stretch>
                </a:blipFill>
              </p:spPr>
              <p:txBody>
                <a:bodyPr/>
                <a:lstStyle/>
                <a:p>
                  <a:r>
                    <a:rPr lang="en-US">
                      <a:noFill/>
                    </a:rPr>
                    <a:t> </a:t>
                  </a:r>
                </a:p>
              </p:txBody>
            </p:sp>
          </mc:Fallback>
        </mc:AlternateContent>
      </p:grpSp>
      <p:grpSp>
        <p:nvGrpSpPr>
          <p:cNvPr id="45" name="Group 44"/>
          <p:cNvGrpSpPr/>
          <p:nvPr/>
        </p:nvGrpSpPr>
        <p:grpSpPr>
          <a:xfrm>
            <a:off x="12137072" y="4462431"/>
            <a:ext cx="4992443" cy="4534613"/>
            <a:chOff x="12137072" y="4462431"/>
            <a:chExt cx="4992443" cy="4534613"/>
          </a:xfrm>
        </p:grpSpPr>
        <p:grpSp>
          <p:nvGrpSpPr>
            <p:cNvPr id="20" name="Group 20"/>
            <p:cNvGrpSpPr/>
            <p:nvPr/>
          </p:nvGrpSpPr>
          <p:grpSpPr>
            <a:xfrm>
              <a:off x="12137072" y="4997343"/>
              <a:ext cx="4992443" cy="3999701"/>
              <a:chOff x="0" y="0"/>
              <a:chExt cx="1313969" cy="1052688"/>
            </a:xfrm>
          </p:grpSpPr>
          <p:sp>
            <p:nvSpPr>
              <p:cNvPr id="21" name="Freeform 21"/>
              <p:cNvSpPr/>
              <p:nvPr/>
            </p:nvSpPr>
            <p:spPr>
              <a:xfrm>
                <a:off x="0" y="0"/>
                <a:ext cx="1313969" cy="1052688"/>
              </a:xfrm>
              <a:custGeom>
                <a:avLst/>
                <a:gdLst/>
                <a:ahLst/>
                <a:cxnLst/>
                <a:rect l="l" t="t" r="r" b="b"/>
                <a:pathLst>
                  <a:path w="1313969" h="1052688">
                    <a:moveTo>
                      <a:pt x="114834" y="0"/>
                    </a:moveTo>
                    <a:lnTo>
                      <a:pt x="1199136" y="0"/>
                    </a:lnTo>
                    <a:cubicBezTo>
                      <a:pt x="1262557" y="0"/>
                      <a:pt x="1313969" y="51413"/>
                      <a:pt x="1313969" y="114834"/>
                    </a:cubicBezTo>
                    <a:lnTo>
                      <a:pt x="1313969" y="937854"/>
                    </a:lnTo>
                    <a:cubicBezTo>
                      <a:pt x="1313969" y="1001275"/>
                      <a:pt x="1262557" y="1052688"/>
                      <a:pt x="1199136" y="1052688"/>
                    </a:cubicBezTo>
                    <a:lnTo>
                      <a:pt x="114834" y="1052688"/>
                    </a:lnTo>
                    <a:cubicBezTo>
                      <a:pt x="84378" y="1052688"/>
                      <a:pt x="55169" y="1040590"/>
                      <a:pt x="33634" y="1019054"/>
                    </a:cubicBezTo>
                    <a:cubicBezTo>
                      <a:pt x="12099" y="997519"/>
                      <a:pt x="0" y="968310"/>
                      <a:pt x="0" y="937854"/>
                    </a:cubicBezTo>
                    <a:lnTo>
                      <a:pt x="0" y="114834"/>
                    </a:lnTo>
                    <a:cubicBezTo>
                      <a:pt x="0" y="51413"/>
                      <a:pt x="51413" y="0"/>
                      <a:pt x="114834" y="0"/>
                    </a:cubicBezTo>
                    <a:close/>
                  </a:path>
                </a:pathLst>
              </a:custGeom>
              <a:solidFill>
                <a:srgbClr val="FDFBFD"/>
              </a:solidFill>
              <a:ln w="114300" cap="rnd">
                <a:gradFill>
                  <a:gsLst>
                    <a:gs pos="0">
                      <a:srgbClr val="FFF0F3">
                        <a:alpha val="100000"/>
                      </a:srgbClr>
                    </a:gs>
                    <a:gs pos="50000">
                      <a:srgbClr val="FFB7C6">
                        <a:alpha val="100000"/>
                      </a:srgbClr>
                    </a:gs>
                    <a:gs pos="100000">
                      <a:srgbClr val="FF91C6">
                        <a:alpha val="100000"/>
                      </a:srgbClr>
                    </a:gs>
                  </a:gsLst>
                  <a:lin ang="5400000"/>
                </a:gradFill>
                <a:prstDash val="solid"/>
                <a:round/>
              </a:ln>
            </p:spPr>
          </p:sp>
          <p:sp>
            <p:nvSpPr>
              <p:cNvPr id="22" name="TextBox 22"/>
              <p:cNvSpPr txBox="1"/>
              <p:nvPr/>
            </p:nvSpPr>
            <p:spPr>
              <a:xfrm>
                <a:off x="0" y="-38100"/>
                <a:ext cx="1313969" cy="1090788"/>
              </a:xfrm>
              <a:prstGeom prst="rect">
                <a:avLst/>
              </a:prstGeom>
            </p:spPr>
            <p:txBody>
              <a:bodyPr lIns="50835" tIns="50835" rIns="50835" bIns="50835" rtlCol="0" anchor="ctr"/>
              <a:lstStyle/>
              <a:p>
                <a:pPr algn="ctr">
                  <a:lnSpc>
                    <a:spcPts val="2522"/>
                  </a:lnSpc>
                </a:pPr>
                <a:endParaRPr sz="1801"/>
              </a:p>
            </p:txBody>
          </p:sp>
        </p:grpSp>
        <p:grpSp>
          <p:nvGrpSpPr>
            <p:cNvPr id="29" name="Group 29"/>
            <p:cNvGrpSpPr/>
            <p:nvPr/>
          </p:nvGrpSpPr>
          <p:grpSpPr>
            <a:xfrm>
              <a:off x="12547397" y="4462431"/>
              <a:ext cx="4171793" cy="1069827"/>
              <a:chOff x="0" y="0"/>
              <a:chExt cx="855764" cy="281570"/>
            </a:xfrm>
          </p:grpSpPr>
          <p:sp>
            <p:nvSpPr>
              <p:cNvPr id="30" name="Freeform 30"/>
              <p:cNvSpPr/>
              <p:nvPr/>
            </p:nvSpPr>
            <p:spPr>
              <a:xfrm>
                <a:off x="0" y="0"/>
                <a:ext cx="855764" cy="281570"/>
              </a:xfrm>
              <a:custGeom>
                <a:avLst/>
                <a:gdLst/>
                <a:ahLst/>
                <a:cxnLst/>
                <a:rect l="l" t="t" r="r" b="b"/>
                <a:pathLst>
                  <a:path w="855764" h="281570">
                    <a:moveTo>
                      <a:pt x="140785" y="0"/>
                    </a:moveTo>
                    <a:lnTo>
                      <a:pt x="714979" y="0"/>
                    </a:lnTo>
                    <a:cubicBezTo>
                      <a:pt x="792732" y="0"/>
                      <a:pt x="855764" y="63032"/>
                      <a:pt x="855764" y="140785"/>
                    </a:cubicBezTo>
                    <a:lnTo>
                      <a:pt x="855764" y="140785"/>
                    </a:lnTo>
                    <a:cubicBezTo>
                      <a:pt x="855764" y="218538"/>
                      <a:pt x="792732" y="281570"/>
                      <a:pt x="714979" y="281570"/>
                    </a:cubicBezTo>
                    <a:lnTo>
                      <a:pt x="140785" y="281570"/>
                    </a:lnTo>
                    <a:cubicBezTo>
                      <a:pt x="63032" y="281570"/>
                      <a:pt x="0" y="218538"/>
                      <a:pt x="0" y="140785"/>
                    </a:cubicBezTo>
                    <a:lnTo>
                      <a:pt x="0" y="140785"/>
                    </a:lnTo>
                    <a:cubicBezTo>
                      <a:pt x="0" y="63032"/>
                      <a:pt x="63032" y="0"/>
                      <a:pt x="140785" y="0"/>
                    </a:cubicBezTo>
                    <a:close/>
                  </a:path>
                </a:pathLst>
              </a:custGeom>
              <a:gradFill rotWithShape="1">
                <a:gsLst>
                  <a:gs pos="0">
                    <a:srgbClr val="FF91C6">
                      <a:alpha val="100000"/>
                    </a:srgbClr>
                  </a:gs>
                  <a:gs pos="50000">
                    <a:srgbClr val="FFB7C6">
                      <a:alpha val="100000"/>
                    </a:srgbClr>
                  </a:gs>
                  <a:gs pos="100000">
                    <a:srgbClr val="FFF0F3">
                      <a:alpha val="100000"/>
                    </a:srgbClr>
                  </a:gs>
                </a:gsLst>
                <a:lin ang="5400000"/>
              </a:gradFill>
              <a:ln cap="rnd">
                <a:noFill/>
                <a:prstDash val="solid"/>
                <a:round/>
              </a:ln>
            </p:spPr>
          </p:sp>
          <p:sp>
            <p:nvSpPr>
              <p:cNvPr id="31" name="TextBox 31"/>
              <p:cNvSpPr txBox="1"/>
              <p:nvPr/>
            </p:nvSpPr>
            <p:spPr>
              <a:xfrm>
                <a:off x="0" y="-38100"/>
                <a:ext cx="855764" cy="319670"/>
              </a:xfrm>
              <a:prstGeom prst="rect">
                <a:avLst/>
              </a:prstGeom>
            </p:spPr>
            <p:txBody>
              <a:bodyPr lIns="50835" tIns="50835" rIns="50835" bIns="50835" rtlCol="0" anchor="ctr"/>
              <a:lstStyle/>
              <a:p>
                <a:pPr algn="ctr">
                  <a:lnSpc>
                    <a:spcPts val="2522"/>
                  </a:lnSpc>
                </a:pPr>
                <a:endParaRPr sz="1801"/>
              </a:p>
            </p:txBody>
          </p:sp>
        </p:grpSp>
        <p:sp>
          <p:nvSpPr>
            <p:cNvPr id="42" name="TextBox 41"/>
            <p:cNvSpPr txBox="1"/>
            <p:nvPr/>
          </p:nvSpPr>
          <p:spPr>
            <a:xfrm>
              <a:off x="12824698" y="4635634"/>
              <a:ext cx="3941142" cy="584775"/>
            </a:xfrm>
            <a:prstGeom prst="rect">
              <a:avLst/>
            </a:prstGeom>
            <a:noFill/>
          </p:spPr>
          <p:txBody>
            <a:bodyPr wrap="square" rtlCol="0">
              <a:spAutoFit/>
            </a:bodyPr>
            <a:lstStyle/>
            <a:p>
              <a:r>
                <a:rPr lang="en-US" sz="3200" b="1" dirty="0" smtClean="0">
                  <a:solidFill>
                    <a:schemeClr val="bg1"/>
                  </a:solidFill>
                  <a:latin typeface="Times New Roman" panose="02020603050405020304" pitchFamily="18" charset="0"/>
                  <a:cs typeface="Times New Roman" panose="02020603050405020304" pitchFamily="18" charset="0"/>
                </a:rPr>
                <a:t>Essential Singularity</a:t>
              </a:r>
              <a:endParaRPr lang="en-US" sz="3200" b="1"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3" name="TextBox 32"/>
                <p:cNvSpPr txBox="1"/>
                <p:nvPr/>
              </p:nvSpPr>
              <p:spPr>
                <a:xfrm>
                  <a:off x="12761070" y="5939106"/>
                  <a:ext cx="3851401" cy="2778902"/>
                </a:xfrm>
                <a:prstGeom prst="rect">
                  <a:avLst/>
                </a:prstGeom>
                <a:noFill/>
              </p:spPr>
              <p:txBody>
                <a:bodyPr wrap="square" rtlCol="0">
                  <a:spAutoFit/>
                </a:bodyPr>
                <a:lstStyle/>
                <a:p>
                  <a:r>
                    <a:rPr lang="en-US" sz="3200" spc="-34" dirty="0">
                      <a:solidFill>
                        <a:srgbClr val="FF5F90"/>
                      </a:solidFill>
                      <a:latin typeface="TT Commons Pro"/>
                      <a:ea typeface="TT Commons Pro"/>
                      <a:cs typeface="TT Commons Pro"/>
                    </a:rPr>
                    <a:t>If the function shows unpredictable behavior near the point.</a:t>
                  </a:r>
                </a:p>
                <a:p>
                  <a:r>
                    <a:rPr lang="en-US" sz="3200" spc="-34" dirty="0">
                      <a:solidFill>
                        <a:srgbClr val="FF5F90"/>
                      </a:solidFill>
                      <a:latin typeface="TT Commons Pro"/>
                      <a:ea typeface="TT Commons Pro"/>
                      <a:cs typeface="TT Commons Pro"/>
                    </a:rPr>
                    <a:t>Example: f(z) = </a:t>
                  </a:r>
                  <a14:m>
                    <m:oMath xmlns:m="http://schemas.openxmlformats.org/officeDocument/2006/math">
                      <m:sSup>
                        <m:sSupPr>
                          <m:ctrlPr>
                            <a:rPr lang="en-US" sz="3200" i="1" spc="-34">
                              <a:solidFill>
                                <a:srgbClr val="FF5F90"/>
                              </a:solidFill>
                              <a:latin typeface="Cambria Math" panose="02040503050406030204" pitchFamily="18" charset="0"/>
                              <a:ea typeface="TT Commons Pro"/>
                              <a:cs typeface="TT Commons Pro"/>
                            </a:rPr>
                          </m:ctrlPr>
                        </m:sSupPr>
                        <m:e>
                          <m:r>
                            <a:rPr lang="en-US" sz="3200" spc="-34">
                              <a:solidFill>
                                <a:srgbClr val="FF5F90"/>
                              </a:solidFill>
                              <a:latin typeface="Cambria Math" panose="02040503050406030204" pitchFamily="18" charset="0"/>
                              <a:ea typeface="TT Commons Pro"/>
                              <a:cs typeface="TT Commons Pro"/>
                            </a:rPr>
                            <m:t>𝑒</m:t>
                          </m:r>
                        </m:e>
                        <m:sup>
                          <m:f>
                            <m:fPr>
                              <m:ctrlPr>
                                <a:rPr lang="en-US" sz="3200" i="1" spc="-34">
                                  <a:solidFill>
                                    <a:srgbClr val="FF5F90"/>
                                  </a:solidFill>
                                  <a:latin typeface="Cambria Math" panose="02040503050406030204" pitchFamily="18" charset="0"/>
                                  <a:ea typeface="TT Commons Pro"/>
                                  <a:cs typeface="TT Commons Pro"/>
                                </a:rPr>
                              </m:ctrlPr>
                            </m:fPr>
                            <m:num>
                              <m:r>
                                <a:rPr lang="en-US" sz="3200" spc="-34">
                                  <a:solidFill>
                                    <a:srgbClr val="FF5F90"/>
                                  </a:solidFill>
                                  <a:latin typeface="Cambria Math" panose="02040503050406030204" pitchFamily="18" charset="0"/>
                                  <a:ea typeface="TT Commons Pro"/>
                                  <a:cs typeface="TT Commons Pro"/>
                                </a:rPr>
                                <m:t>1</m:t>
                              </m:r>
                            </m:num>
                            <m:den>
                              <m:r>
                                <a:rPr lang="en-US" sz="3200" spc="-34">
                                  <a:solidFill>
                                    <a:srgbClr val="FF5F90"/>
                                  </a:solidFill>
                                  <a:latin typeface="Cambria Math" panose="02040503050406030204" pitchFamily="18" charset="0"/>
                                  <a:ea typeface="TT Commons Pro"/>
                                  <a:cs typeface="TT Commons Pro"/>
                                </a:rPr>
                                <m:t>𝑧</m:t>
                              </m:r>
                            </m:den>
                          </m:f>
                        </m:sup>
                      </m:sSup>
                    </m:oMath>
                  </a14:m>
                  <a:endParaRPr lang="en-US" sz="3200" spc="-34" dirty="0">
                    <a:solidFill>
                      <a:srgbClr val="FF5F90"/>
                    </a:solidFill>
                    <a:latin typeface="TT Commons Pro"/>
                    <a:ea typeface="TT Commons Pro"/>
                    <a:cs typeface="TT Commons Pro"/>
                  </a:endParaRPr>
                </a:p>
              </p:txBody>
            </p:sp>
          </mc:Choice>
          <mc:Fallback xmlns="">
            <p:sp>
              <p:nvSpPr>
                <p:cNvPr id="33" name="TextBox 32"/>
                <p:cNvSpPr txBox="1">
                  <a:spLocks noRot="1" noChangeAspect="1" noMove="1" noResize="1" noEditPoints="1" noAdjustHandles="1" noChangeArrowheads="1" noChangeShapeType="1" noTextEdit="1"/>
                </p:cNvSpPr>
                <p:nvPr/>
              </p:nvSpPr>
              <p:spPr>
                <a:xfrm>
                  <a:off x="12761070" y="5939106"/>
                  <a:ext cx="3851401" cy="2778902"/>
                </a:xfrm>
                <a:prstGeom prst="rect">
                  <a:avLst/>
                </a:prstGeom>
                <a:blipFill rotWithShape="0">
                  <a:blip r:embed="rId10"/>
                  <a:stretch>
                    <a:fillRect l="-3956" t="-2851" r="-5380" b="-4605"/>
                  </a:stretch>
                </a:blipFill>
              </p:spPr>
              <p:txBody>
                <a:bodyPr/>
                <a:lstStyle/>
                <a:p>
                  <a:r>
                    <a:rPr lang="en-US">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anim calcmode="lin" valueType="num">
                                      <p:cBhvr>
                                        <p:cTn id="8" dur="1000" fill="hold"/>
                                        <p:tgtEl>
                                          <p:spTgt spid="36"/>
                                        </p:tgtEl>
                                        <p:attrNameLst>
                                          <p:attrName>ppt_x</p:attrName>
                                        </p:attrNameLst>
                                      </p:cBhvr>
                                      <p:tavLst>
                                        <p:tav tm="0">
                                          <p:val>
                                            <p:strVal val="#ppt_x"/>
                                          </p:val>
                                        </p:tav>
                                        <p:tav tm="100000">
                                          <p:val>
                                            <p:strVal val="#ppt_x"/>
                                          </p:val>
                                        </p:tav>
                                      </p:tavLst>
                                    </p:anim>
                                    <p:anim calcmode="lin" valueType="num">
                                      <p:cBhvr>
                                        <p:cTn id="9"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44"/>
                                        </p:tgtEl>
                                        <p:attrNameLst>
                                          <p:attrName>style.visibility</p:attrName>
                                        </p:attrNameLst>
                                      </p:cBhvr>
                                      <p:to>
                                        <p:strVal val="visible"/>
                                      </p:to>
                                    </p:set>
                                    <p:animEffect transition="in" filter="wipe(down)">
                                      <p:cBhvr>
                                        <p:cTn id="14" dur="500"/>
                                        <p:tgtEl>
                                          <p:spTgt spid="44"/>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circle(in)">
                                      <p:cBhvr>
                                        <p:cTn id="19" dur="2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0"/>
          <p:cNvSpPr/>
          <p:nvPr/>
        </p:nvSpPr>
        <p:spPr>
          <a:xfrm>
            <a:off x="1093359" y="2452328"/>
            <a:ext cx="7768791" cy="7032680"/>
          </a:xfrm>
          <a:prstGeom prst="roundRect">
            <a:avLst>
              <a:gd name="adj" fmla="val 8278"/>
            </a:avLst>
          </a:prstGeom>
          <a:solidFill>
            <a:schemeClr val="accent1"/>
          </a:solidFill>
          <a:ln w="28575" cap="flat" cmpd="sng">
            <a:solidFill>
              <a:schemeClr val="accent2"/>
            </a:solidFill>
            <a:prstDash val="solid"/>
            <a:round/>
            <a:headEnd type="none" w="sm" len="sm"/>
            <a:tailEnd type="none" w="sm" len="sm"/>
          </a:ln>
        </p:spPr>
        <p:txBody>
          <a:bodyPr spcFirstLastPara="1" wrap="square" lIns="182977" tIns="182977" rIns="182977" bIns="182977" anchor="ctr" anchorCtr="0">
            <a:noAutofit/>
          </a:bodyPr>
          <a:lstStyle/>
          <a:p>
            <a:endParaRPr sz="3603"/>
          </a:p>
        </p:txBody>
      </p:sp>
      <p:sp>
        <p:nvSpPr>
          <p:cNvPr id="338" name="Google Shape;338;p40"/>
          <p:cNvSpPr/>
          <p:nvPr/>
        </p:nvSpPr>
        <p:spPr>
          <a:xfrm>
            <a:off x="9438550" y="2452328"/>
            <a:ext cx="7768791" cy="7032680"/>
          </a:xfrm>
          <a:prstGeom prst="roundRect">
            <a:avLst>
              <a:gd name="adj" fmla="val 8278"/>
            </a:avLst>
          </a:prstGeom>
          <a:solidFill>
            <a:schemeClr val="accent1"/>
          </a:solidFill>
          <a:ln w="28575" cap="flat" cmpd="sng">
            <a:solidFill>
              <a:schemeClr val="accent2"/>
            </a:solidFill>
            <a:prstDash val="solid"/>
            <a:round/>
            <a:headEnd type="none" w="sm" len="sm"/>
            <a:tailEnd type="none" w="sm" len="sm"/>
          </a:ln>
        </p:spPr>
        <p:txBody>
          <a:bodyPr spcFirstLastPara="1" wrap="square" lIns="182977" tIns="182977" rIns="182977" bIns="182977" anchor="ctr" anchorCtr="0">
            <a:noAutofit/>
          </a:bodyPr>
          <a:lstStyle/>
          <a:p>
            <a:endParaRPr sz="3603"/>
          </a:p>
        </p:txBody>
      </p:sp>
      <p:sp>
        <p:nvSpPr>
          <p:cNvPr id="339" name="Google Shape;339;p40"/>
          <p:cNvSpPr/>
          <p:nvPr/>
        </p:nvSpPr>
        <p:spPr>
          <a:xfrm>
            <a:off x="1093359" y="930021"/>
            <a:ext cx="16113983" cy="1220047"/>
          </a:xfrm>
          <a:prstGeom prst="roundRect">
            <a:avLst>
              <a:gd name="adj" fmla="val 20280"/>
            </a:avLst>
          </a:prstGeom>
          <a:solidFill>
            <a:schemeClr val="accent1"/>
          </a:solidFill>
          <a:ln w="28575" cap="flat" cmpd="sng">
            <a:solidFill>
              <a:schemeClr val="accent2"/>
            </a:solidFill>
            <a:prstDash val="solid"/>
            <a:round/>
            <a:headEnd type="none" w="sm" len="sm"/>
            <a:tailEnd type="none" w="sm" len="sm"/>
          </a:ln>
        </p:spPr>
        <p:txBody>
          <a:bodyPr spcFirstLastPara="1" wrap="square" lIns="182977" tIns="182977" rIns="182977" bIns="182977" anchor="ctr" anchorCtr="0">
            <a:noAutofit/>
          </a:bodyPr>
          <a:lstStyle/>
          <a:p>
            <a:endParaRPr sz="3603"/>
          </a:p>
        </p:txBody>
      </p:sp>
      <p:sp>
        <p:nvSpPr>
          <p:cNvPr id="340" name="Google Shape;340;p40"/>
          <p:cNvSpPr txBox="1">
            <a:spLocks noGrp="1"/>
          </p:cNvSpPr>
          <p:nvPr>
            <p:ph type="title"/>
          </p:nvPr>
        </p:nvSpPr>
        <p:spPr>
          <a:xfrm>
            <a:off x="2139950" y="5035314"/>
            <a:ext cx="5965740" cy="731908"/>
          </a:xfrm>
          <a:prstGeom prst="rect">
            <a:avLst/>
          </a:prstGeom>
        </p:spPr>
        <p:txBody>
          <a:bodyPr spcFirstLastPara="1" vert="horz" wrap="square" lIns="182977" tIns="182977" rIns="182977" bIns="182977" rtlCol="0" anchor="ctr" anchorCtr="0">
            <a:noAutofit/>
          </a:bodyPr>
          <a:lstStyle/>
          <a:p>
            <a:r>
              <a:rPr lang="en" sz="6600" dirty="0" smtClean="0"/>
              <a:t>Zeros</a:t>
            </a:r>
            <a:endParaRPr sz="6600" dirty="0"/>
          </a:p>
        </p:txBody>
      </p:sp>
      <p:sp>
        <p:nvSpPr>
          <p:cNvPr id="341" name="Google Shape;341;p40"/>
          <p:cNvSpPr txBox="1">
            <a:spLocks noGrp="1"/>
          </p:cNvSpPr>
          <p:nvPr>
            <p:ph type="title" idx="4"/>
          </p:nvPr>
        </p:nvSpPr>
        <p:spPr>
          <a:xfrm>
            <a:off x="1441000" y="1082523"/>
            <a:ext cx="15418700" cy="915035"/>
          </a:xfrm>
          <a:prstGeom prst="rect">
            <a:avLst/>
          </a:prstGeom>
        </p:spPr>
        <p:txBody>
          <a:bodyPr spcFirstLastPara="1" vert="horz" wrap="square" lIns="182977" tIns="182977" rIns="182977" bIns="182977" rtlCol="0" anchor="ctr" anchorCtr="0">
            <a:noAutofit/>
          </a:bodyPr>
          <a:lstStyle/>
          <a:p>
            <a:r>
              <a:rPr lang="en" dirty="0" smtClean="0"/>
              <a:t>Difference between Zeros and Poles</a:t>
            </a:r>
            <a:endParaRPr dirty="0"/>
          </a:p>
        </p:txBody>
      </p:sp>
      <p:sp>
        <p:nvSpPr>
          <p:cNvPr id="342" name="Google Shape;342;p40"/>
          <p:cNvSpPr txBox="1">
            <a:spLocks noGrp="1"/>
          </p:cNvSpPr>
          <p:nvPr>
            <p:ph type="title" idx="2"/>
          </p:nvPr>
        </p:nvSpPr>
        <p:spPr>
          <a:xfrm>
            <a:off x="10525690" y="5063306"/>
            <a:ext cx="5965740" cy="731908"/>
          </a:xfrm>
          <a:prstGeom prst="rect">
            <a:avLst/>
          </a:prstGeom>
        </p:spPr>
        <p:txBody>
          <a:bodyPr spcFirstLastPara="1" vert="horz" wrap="square" lIns="182977" tIns="182977" rIns="182977" bIns="182977" rtlCol="0" anchor="ctr" anchorCtr="0">
            <a:noAutofit/>
          </a:bodyPr>
          <a:lstStyle/>
          <a:p>
            <a:r>
              <a:rPr lang="en" sz="7200" dirty="0" smtClean="0"/>
              <a:t>Poles</a:t>
            </a:r>
            <a:endParaRPr sz="7200" dirty="0"/>
          </a:p>
        </p:txBody>
      </p:sp>
      <mc:AlternateContent xmlns:mc="http://schemas.openxmlformats.org/markup-compatibility/2006" xmlns:a14="http://schemas.microsoft.com/office/drawing/2010/main">
        <mc:Choice Requires="a14">
          <p:sp>
            <p:nvSpPr>
              <p:cNvPr id="343" name="Google Shape;343;p40"/>
              <p:cNvSpPr txBox="1">
                <a:spLocks noGrp="1"/>
              </p:cNvSpPr>
              <p:nvPr>
                <p:ph type="subTitle" idx="1"/>
              </p:nvPr>
            </p:nvSpPr>
            <p:spPr>
              <a:xfrm>
                <a:off x="10311841" y="6383388"/>
                <a:ext cx="7066427" cy="2022804"/>
              </a:xfrm>
              <a:prstGeom prst="rect">
                <a:avLst/>
              </a:prstGeom>
            </p:spPr>
            <p:txBody>
              <a:bodyPr spcFirstLastPara="1" vert="horz" wrap="square" lIns="182977" tIns="182977" rIns="182977" bIns="182977" rtlCol="0" anchor="ctr" anchorCtr="0">
                <a:noAutofit/>
              </a:bodyPr>
              <a:lstStyle/>
              <a:p>
                <a:pPr marL="457200" indent="-457200" algn="l">
                  <a:buFont typeface="Wingdings" panose="05000000000000000000" pitchFamily="2" charset="2"/>
                  <a:buChar char="ü"/>
                </a:pPr>
                <a:r>
                  <a:rPr lang="en" sz="4000" dirty="0" smtClean="0">
                    <a:latin typeface="+mj-lt"/>
                  </a:rPr>
                  <a:t>Function value is infinity</a:t>
                </a:r>
              </a:p>
              <a:p>
                <a:pPr marL="457200" indent="-457200" algn="l">
                  <a:buFont typeface="Wingdings" panose="05000000000000000000" pitchFamily="2" charset="2"/>
                  <a:buChar char="ü"/>
                </a:pPr>
                <a:r>
                  <a:rPr lang="en" sz="4000" dirty="0" smtClean="0">
                    <a:latin typeface="+mj-lt"/>
                  </a:rPr>
                  <a:t>Function becomes unbounded</a:t>
                </a:r>
              </a:p>
              <a:p>
                <a:pPr marL="0" indent="0" algn="l"/>
                <a:r>
                  <a:rPr lang="en-US" sz="4000" dirty="0" smtClean="0">
                    <a:solidFill>
                      <a:srgbClr val="FFFF00"/>
                    </a:solidFill>
                    <a:latin typeface="+mj-lt"/>
                  </a:rPr>
                  <a:t>Example: f(z) = </a:t>
                </a:r>
                <a14:m>
                  <m:oMath xmlns:m="http://schemas.openxmlformats.org/officeDocument/2006/math">
                    <m:f>
                      <m:fPr>
                        <m:ctrlPr>
                          <a:rPr lang="ar-AE" sz="4000" i="1" smtClean="0">
                            <a:solidFill>
                              <a:srgbClr val="FFFF00"/>
                            </a:solidFill>
                            <a:latin typeface="Cambria Math" panose="02040503050406030204" pitchFamily="18" charset="0"/>
                          </a:rPr>
                        </m:ctrlPr>
                      </m:fPr>
                      <m:num>
                        <m:r>
                          <a:rPr lang="ar-AE" sz="4000" b="0" i="1" smtClean="0">
                            <a:solidFill>
                              <a:srgbClr val="FFFF00"/>
                            </a:solidFill>
                            <a:latin typeface="Cambria Math" panose="02040503050406030204" pitchFamily="18" charset="0"/>
                          </a:rPr>
                          <m:t>1</m:t>
                        </m:r>
                      </m:num>
                      <m:den>
                        <m:r>
                          <a:rPr lang="ar-AE" sz="4000" b="0" i="1" smtClean="0">
                            <a:solidFill>
                              <a:srgbClr val="FFFF00"/>
                            </a:solidFill>
                            <a:latin typeface="Cambria Math" panose="02040503050406030204" pitchFamily="18" charset="0"/>
                          </a:rPr>
                          <m:t>𝑧</m:t>
                        </m:r>
                      </m:den>
                    </m:f>
                  </m:oMath>
                </a14:m>
                <a:r>
                  <a:rPr lang="ar-AE" sz="4000" dirty="0" smtClean="0">
                    <a:solidFill>
                      <a:srgbClr val="FFFF00"/>
                    </a:solidFill>
                    <a:latin typeface="+mj-lt"/>
                  </a:rPr>
                  <a:t>  </a:t>
                </a:r>
                <a:r>
                  <a:rPr lang="en-US" sz="4000" dirty="0" smtClean="0">
                    <a:solidFill>
                      <a:srgbClr val="FFFF00"/>
                    </a:solidFill>
                    <a:latin typeface="+mj-lt"/>
                  </a:rPr>
                  <a:t>at z = 0</a:t>
                </a:r>
                <a:endParaRPr lang="en-US" sz="4000" dirty="0">
                  <a:solidFill>
                    <a:srgbClr val="FFFF00"/>
                  </a:solidFill>
                  <a:latin typeface="+mj-lt"/>
                </a:endParaRPr>
              </a:p>
            </p:txBody>
          </p:sp>
        </mc:Choice>
        <mc:Fallback xmlns="">
          <p:sp>
            <p:nvSpPr>
              <p:cNvPr id="343" name="Google Shape;343;p40"/>
              <p:cNvSpPr txBox="1">
                <a:spLocks noGrp="1" noRot="1" noChangeAspect="1" noMove="1" noResize="1" noEditPoints="1" noAdjustHandles="1" noChangeArrowheads="1" noChangeShapeType="1" noTextEdit="1"/>
              </p:cNvSpPr>
              <p:nvPr>
                <p:ph type="subTitle" idx="1"/>
              </p:nvPr>
            </p:nvSpPr>
            <p:spPr>
              <a:xfrm>
                <a:off x="10311841" y="6383388"/>
                <a:ext cx="7066427" cy="2022804"/>
              </a:xfrm>
              <a:prstGeom prst="rect">
                <a:avLst/>
              </a:prstGeom>
              <a:blipFill rotWithShape="0">
                <a:blip r:embed="rId3"/>
                <a:stretch>
                  <a:fillRect l="-1812" t="-24398" b="-26205"/>
                </a:stretch>
              </a:blipFill>
            </p:spPr>
            <p:txBody>
              <a:bodyPr/>
              <a:lstStyle/>
              <a:p>
                <a:r>
                  <a:rPr lang="en-US">
                    <a:noFill/>
                  </a:rPr>
                  <a:t> </a:t>
                </a:r>
              </a:p>
            </p:txBody>
          </p:sp>
        </mc:Fallback>
      </mc:AlternateContent>
      <p:sp>
        <p:nvSpPr>
          <p:cNvPr id="344" name="Google Shape;344;p40"/>
          <p:cNvSpPr txBox="1">
            <a:spLocks noGrp="1"/>
          </p:cNvSpPr>
          <p:nvPr>
            <p:ph type="subTitle" idx="3"/>
          </p:nvPr>
        </p:nvSpPr>
        <p:spPr>
          <a:xfrm>
            <a:off x="1997936" y="6292694"/>
            <a:ext cx="5959631" cy="2022804"/>
          </a:xfrm>
          <a:prstGeom prst="rect">
            <a:avLst/>
          </a:prstGeom>
        </p:spPr>
        <p:txBody>
          <a:bodyPr spcFirstLastPara="1" vert="horz" wrap="square" lIns="182977" tIns="182977" rIns="182977" bIns="182977" rtlCol="0" anchor="ctr" anchorCtr="0">
            <a:noAutofit/>
          </a:bodyPr>
          <a:lstStyle/>
          <a:p>
            <a:pPr marL="457200" indent="-457200" algn="l">
              <a:buFont typeface="Wingdings" panose="05000000000000000000" pitchFamily="2" charset="2"/>
              <a:buChar char="ü"/>
            </a:pPr>
            <a:r>
              <a:rPr lang="en-US" sz="4400" dirty="0" err="1"/>
              <a:t>Funtion</a:t>
            </a:r>
            <a:r>
              <a:rPr lang="en-US" sz="4400" dirty="0"/>
              <a:t> value is zero</a:t>
            </a:r>
          </a:p>
          <a:p>
            <a:pPr marL="457200" indent="-457200" algn="l">
              <a:buFont typeface="Wingdings" panose="05000000000000000000" pitchFamily="2" charset="2"/>
              <a:buChar char="ü"/>
            </a:pPr>
            <a:r>
              <a:rPr lang="en-US" sz="4400" dirty="0"/>
              <a:t>Function remains finite</a:t>
            </a:r>
          </a:p>
          <a:p>
            <a:pPr marL="0" indent="0" algn="l"/>
            <a:r>
              <a:rPr lang="en-US" sz="4400" dirty="0" smtClean="0">
                <a:solidFill>
                  <a:srgbClr val="FFFF00"/>
                </a:solidFill>
              </a:rPr>
              <a:t>Example</a:t>
            </a:r>
            <a:r>
              <a:rPr lang="en-US" sz="4400" dirty="0">
                <a:solidFill>
                  <a:srgbClr val="FFFF00"/>
                </a:solidFill>
              </a:rPr>
              <a:t>: f(z) = z at z = 0</a:t>
            </a:r>
            <a:endParaRPr sz="4400" dirty="0">
              <a:solidFill>
                <a:srgbClr val="FFFF00"/>
              </a:solidFill>
            </a:endParaRPr>
          </a:p>
        </p:txBody>
      </p:sp>
      <p:sp>
        <p:nvSpPr>
          <p:cNvPr id="347" name="Google Shape;347;p40"/>
          <p:cNvSpPr/>
          <p:nvPr/>
        </p:nvSpPr>
        <p:spPr>
          <a:xfrm>
            <a:off x="4420568" y="3885008"/>
            <a:ext cx="1114369" cy="1114369"/>
          </a:xfrm>
          <a:custGeom>
            <a:avLst/>
            <a:gdLst/>
            <a:ahLst/>
            <a:cxnLst/>
            <a:rect l="l" t="t" r="r" b="b"/>
            <a:pathLst>
              <a:path w="110148" h="110148" extrusionOk="0">
                <a:moveTo>
                  <a:pt x="69488" y="6777"/>
                </a:moveTo>
                <a:lnTo>
                  <a:pt x="70940" y="7369"/>
                </a:lnTo>
                <a:lnTo>
                  <a:pt x="72392" y="7961"/>
                </a:lnTo>
                <a:lnTo>
                  <a:pt x="73791" y="8606"/>
                </a:lnTo>
                <a:lnTo>
                  <a:pt x="75189" y="9251"/>
                </a:lnTo>
                <a:lnTo>
                  <a:pt x="76587" y="10004"/>
                </a:lnTo>
                <a:lnTo>
                  <a:pt x="77932" y="10704"/>
                </a:lnTo>
                <a:lnTo>
                  <a:pt x="79223" y="11510"/>
                </a:lnTo>
                <a:lnTo>
                  <a:pt x="80567" y="12317"/>
                </a:lnTo>
                <a:lnTo>
                  <a:pt x="81858" y="13178"/>
                </a:lnTo>
                <a:lnTo>
                  <a:pt x="83095" y="14038"/>
                </a:lnTo>
                <a:lnTo>
                  <a:pt x="84332" y="15006"/>
                </a:lnTo>
                <a:lnTo>
                  <a:pt x="85515" y="15921"/>
                </a:lnTo>
                <a:lnTo>
                  <a:pt x="86698" y="16889"/>
                </a:lnTo>
                <a:lnTo>
                  <a:pt x="87882" y="17910"/>
                </a:lnTo>
                <a:lnTo>
                  <a:pt x="89011" y="18986"/>
                </a:lnTo>
                <a:lnTo>
                  <a:pt x="90087" y="20008"/>
                </a:lnTo>
                <a:lnTo>
                  <a:pt x="91162" y="21137"/>
                </a:lnTo>
                <a:lnTo>
                  <a:pt x="92184" y="22267"/>
                </a:lnTo>
                <a:lnTo>
                  <a:pt x="93206" y="23396"/>
                </a:lnTo>
                <a:lnTo>
                  <a:pt x="94174" y="24580"/>
                </a:lnTo>
                <a:lnTo>
                  <a:pt x="95142" y="25817"/>
                </a:lnTo>
                <a:lnTo>
                  <a:pt x="96057" y="27054"/>
                </a:lnTo>
                <a:lnTo>
                  <a:pt x="96917" y="28291"/>
                </a:lnTo>
                <a:lnTo>
                  <a:pt x="97778" y="29581"/>
                </a:lnTo>
                <a:lnTo>
                  <a:pt x="98585" y="30872"/>
                </a:lnTo>
                <a:lnTo>
                  <a:pt x="99391" y="32217"/>
                </a:lnTo>
                <a:lnTo>
                  <a:pt x="100144" y="33561"/>
                </a:lnTo>
                <a:lnTo>
                  <a:pt x="100843" y="34906"/>
                </a:lnTo>
                <a:lnTo>
                  <a:pt x="101543" y="36304"/>
                </a:lnTo>
                <a:lnTo>
                  <a:pt x="102188" y="37756"/>
                </a:lnTo>
                <a:lnTo>
                  <a:pt x="102780" y="39155"/>
                </a:lnTo>
                <a:lnTo>
                  <a:pt x="103317" y="40607"/>
                </a:lnTo>
                <a:lnTo>
                  <a:pt x="69488" y="6777"/>
                </a:lnTo>
                <a:close/>
                <a:moveTo>
                  <a:pt x="52170" y="3282"/>
                </a:moveTo>
                <a:lnTo>
                  <a:pt x="53568" y="3335"/>
                </a:lnTo>
                <a:lnTo>
                  <a:pt x="54913" y="3443"/>
                </a:lnTo>
                <a:lnTo>
                  <a:pt x="56257" y="3604"/>
                </a:lnTo>
                <a:lnTo>
                  <a:pt x="57602" y="3766"/>
                </a:lnTo>
                <a:lnTo>
                  <a:pt x="58946" y="3981"/>
                </a:lnTo>
                <a:lnTo>
                  <a:pt x="60291" y="4196"/>
                </a:lnTo>
                <a:lnTo>
                  <a:pt x="62926" y="4787"/>
                </a:lnTo>
                <a:lnTo>
                  <a:pt x="105307" y="47168"/>
                </a:lnTo>
                <a:lnTo>
                  <a:pt x="105899" y="49804"/>
                </a:lnTo>
                <a:lnTo>
                  <a:pt x="106114" y="51148"/>
                </a:lnTo>
                <a:lnTo>
                  <a:pt x="106329" y="52493"/>
                </a:lnTo>
                <a:lnTo>
                  <a:pt x="106491" y="53837"/>
                </a:lnTo>
                <a:lnTo>
                  <a:pt x="106652" y="55182"/>
                </a:lnTo>
                <a:lnTo>
                  <a:pt x="106760" y="56580"/>
                </a:lnTo>
                <a:lnTo>
                  <a:pt x="106867" y="57979"/>
                </a:lnTo>
                <a:lnTo>
                  <a:pt x="52170" y="3282"/>
                </a:lnTo>
                <a:close/>
                <a:moveTo>
                  <a:pt x="51148" y="48298"/>
                </a:moveTo>
                <a:lnTo>
                  <a:pt x="61851" y="58947"/>
                </a:lnTo>
                <a:lnTo>
                  <a:pt x="51148" y="58947"/>
                </a:lnTo>
                <a:lnTo>
                  <a:pt x="51148" y="48298"/>
                </a:lnTo>
                <a:close/>
                <a:moveTo>
                  <a:pt x="51148" y="20653"/>
                </a:moveTo>
                <a:lnTo>
                  <a:pt x="89495" y="58947"/>
                </a:lnTo>
                <a:lnTo>
                  <a:pt x="80244" y="58947"/>
                </a:lnTo>
                <a:lnTo>
                  <a:pt x="51148" y="29904"/>
                </a:lnTo>
                <a:lnTo>
                  <a:pt x="51148" y="20653"/>
                </a:lnTo>
                <a:close/>
                <a:moveTo>
                  <a:pt x="51148" y="6831"/>
                </a:moveTo>
                <a:lnTo>
                  <a:pt x="103264" y="58947"/>
                </a:lnTo>
                <a:lnTo>
                  <a:pt x="94013" y="58947"/>
                </a:lnTo>
                <a:lnTo>
                  <a:pt x="51148" y="16082"/>
                </a:lnTo>
                <a:lnTo>
                  <a:pt x="51148" y="6831"/>
                </a:lnTo>
                <a:close/>
                <a:moveTo>
                  <a:pt x="49212" y="1"/>
                </a:moveTo>
                <a:lnTo>
                  <a:pt x="48943" y="108"/>
                </a:lnTo>
                <a:lnTo>
                  <a:pt x="48674" y="270"/>
                </a:lnTo>
                <a:lnTo>
                  <a:pt x="48405" y="431"/>
                </a:lnTo>
                <a:lnTo>
                  <a:pt x="48190" y="700"/>
                </a:lnTo>
                <a:lnTo>
                  <a:pt x="48082" y="969"/>
                </a:lnTo>
                <a:lnTo>
                  <a:pt x="47975" y="1292"/>
                </a:lnTo>
                <a:lnTo>
                  <a:pt x="47921" y="1614"/>
                </a:lnTo>
                <a:lnTo>
                  <a:pt x="47921" y="11026"/>
                </a:lnTo>
                <a:lnTo>
                  <a:pt x="45769" y="11134"/>
                </a:lnTo>
                <a:lnTo>
                  <a:pt x="43672" y="11349"/>
                </a:lnTo>
                <a:lnTo>
                  <a:pt x="41521" y="11672"/>
                </a:lnTo>
                <a:lnTo>
                  <a:pt x="39423" y="12048"/>
                </a:lnTo>
                <a:lnTo>
                  <a:pt x="37326" y="12532"/>
                </a:lnTo>
                <a:lnTo>
                  <a:pt x="35282" y="13124"/>
                </a:lnTo>
                <a:lnTo>
                  <a:pt x="33238" y="13769"/>
                </a:lnTo>
                <a:lnTo>
                  <a:pt x="31248" y="14522"/>
                </a:lnTo>
                <a:lnTo>
                  <a:pt x="29312" y="15329"/>
                </a:lnTo>
                <a:lnTo>
                  <a:pt x="27376" y="16243"/>
                </a:lnTo>
                <a:lnTo>
                  <a:pt x="25493" y="17211"/>
                </a:lnTo>
                <a:lnTo>
                  <a:pt x="23665" y="18287"/>
                </a:lnTo>
                <a:lnTo>
                  <a:pt x="21836" y="19470"/>
                </a:lnTo>
                <a:lnTo>
                  <a:pt x="20115" y="20707"/>
                </a:lnTo>
                <a:lnTo>
                  <a:pt x="18394" y="21998"/>
                </a:lnTo>
                <a:lnTo>
                  <a:pt x="16727" y="23396"/>
                </a:lnTo>
                <a:lnTo>
                  <a:pt x="16511" y="23665"/>
                </a:lnTo>
                <a:lnTo>
                  <a:pt x="16350" y="23934"/>
                </a:lnTo>
                <a:lnTo>
                  <a:pt x="16243" y="24203"/>
                </a:lnTo>
                <a:lnTo>
                  <a:pt x="16189" y="24526"/>
                </a:lnTo>
                <a:lnTo>
                  <a:pt x="16189" y="24848"/>
                </a:lnTo>
                <a:lnTo>
                  <a:pt x="16296" y="25117"/>
                </a:lnTo>
                <a:lnTo>
                  <a:pt x="16404" y="25440"/>
                </a:lnTo>
                <a:lnTo>
                  <a:pt x="16619" y="25709"/>
                </a:lnTo>
                <a:lnTo>
                  <a:pt x="16888" y="25924"/>
                </a:lnTo>
                <a:lnTo>
                  <a:pt x="17157" y="26085"/>
                </a:lnTo>
                <a:lnTo>
                  <a:pt x="17480" y="26193"/>
                </a:lnTo>
                <a:lnTo>
                  <a:pt x="17802" y="26247"/>
                </a:lnTo>
                <a:lnTo>
                  <a:pt x="18071" y="26193"/>
                </a:lnTo>
                <a:lnTo>
                  <a:pt x="18394" y="26139"/>
                </a:lnTo>
                <a:lnTo>
                  <a:pt x="18663" y="26032"/>
                </a:lnTo>
                <a:lnTo>
                  <a:pt x="18878" y="25817"/>
                </a:lnTo>
                <a:lnTo>
                  <a:pt x="20438" y="24526"/>
                </a:lnTo>
                <a:lnTo>
                  <a:pt x="21997" y="23289"/>
                </a:lnTo>
                <a:lnTo>
                  <a:pt x="23611" y="22159"/>
                </a:lnTo>
                <a:lnTo>
                  <a:pt x="25332" y="21084"/>
                </a:lnTo>
                <a:lnTo>
                  <a:pt x="27053" y="20062"/>
                </a:lnTo>
                <a:lnTo>
                  <a:pt x="28774" y="19147"/>
                </a:lnTo>
                <a:lnTo>
                  <a:pt x="30603" y="18287"/>
                </a:lnTo>
                <a:lnTo>
                  <a:pt x="32431" y="17534"/>
                </a:lnTo>
                <a:lnTo>
                  <a:pt x="34260" y="16835"/>
                </a:lnTo>
                <a:lnTo>
                  <a:pt x="36142" y="16189"/>
                </a:lnTo>
                <a:lnTo>
                  <a:pt x="38078" y="15652"/>
                </a:lnTo>
                <a:lnTo>
                  <a:pt x="40015" y="15221"/>
                </a:lnTo>
                <a:lnTo>
                  <a:pt x="41951" y="14845"/>
                </a:lnTo>
                <a:lnTo>
                  <a:pt x="43941" y="14576"/>
                </a:lnTo>
                <a:lnTo>
                  <a:pt x="45931" y="14361"/>
                </a:lnTo>
                <a:lnTo>
                  <a:pt x="47921" y="14253"/>
                </a:lnTo>
                <a:lnTo>
                  <a:pt x="47921" y="35067"/>
                </a:lnTo>
                <a:lnTo>
                  <a:pt x="47975" y="35390"/>
                </a:lnTo>
                <a:lnTo>
                  <a:pt x="48082" y="35713"/>
                </a:lnTo>
                <a:lnTo>
                  <a:pt x="48190" y="35981"/>
                </a:lnTo>
                <a:lnTo>
                  <a:pt x="48405" y="36197"/>
                </a:lnTo>
                <a:lnTo>
                  <a:pt x="48674" y="36412"/>
                </a:lnTo>
                <a:lnTo>
                  <a:pt x="48943" y="36519"/>
                </a:lnTo>
                <a:lnTo>
                  <a:pt x="49212" y="36627"/>
                </a:lnTo>
                <a:lnTo>
                  <a:pt x="49534" y="36681"/>
                </a:lnTo>
                <a:lnTo>
                  <a:pt x="49857" y="36627"/>
                </a:lnTo>
                <a:lnTo>
                  <a:pt x="50180" y="36519"/>
                </a:lnTo>
                <a:lnTo>
                  <a:pt x="50449" y="36412"/>
                </a:lnTo>
                <a:lnTo>
                  <a:pt x="50718" y="36197"/>
                </a:lnTo>
                <a:lnTo>
                  <a:pt x="50879" y="35981"/>
                </a:lnTo>
                <a:lnTo>
                  <a:pt x="51040" y="35713"/>
                </a:lnTo>
                <a:lnTo>
                  <a:pt x="51148" y="35390"/>
                </a:lnTo>
                <a:lnTo>
                  <a:pt x="51148" y="35067"/>
                </a:lnTo>
                <a:lnTo>
                  <a:pt x="51148" y="34476"/>
                </a:lnTo>
                <a:lnTo>
                  <a:pt x="75673" y="58947"/>
                </a:lnTo>
                <a:lnTo>
                  <a:pt x="66422" y="58947"/>
                </a:lnTo>
                <a:lnTo>
                  <a:pt x="51148" y="43726"/>
                </a:lnTo>
                <a:lnTo>
                  <a:pt x="51148" y="42651"/>
                </a:lnTo>
                <a:lnTo>
                  <a:pt x="51148" y="42328"/>
                </a:lnTo>
                <a:lnTo>
                  <a:pt x="51040" y="42059"/>
                </a:lnTo>
                <a:lnTo>
                  <a:pt x="50879" y="41736"/>
                </a:lnTo>
                <a:lnTo>
                  <a:pt x="50718" y="41521"/>
                </a:lnTo>
                <a:lnTo>
                  <a:pt x="50449" y="41306"/>
                </a:lnTo>
                <a:lnTo>
                  <a:pt x="50180" y="41198"/>
                </a:lnTo>
                <a:lnTo>
                  <a:pt x="49857" y="41091"/>
                </a:lnTo>
                <a:lnTo>
                  <a:pt x="49534" y="41037"/>
                </a:lnTo>
                <a:lnTo>
                  <a:pt x="49212" y="41091"/>
                </a:lnTo>
                <a:lnTo>
                  <a:pt x="48943" y="41198"/>
                </a:lnTo>
                <a:lnTo>
                  <a:pt x="48674" y="41306"/>
                </a:lnTo>
                <a:lnTo>
                  <a:pt x="48405" y="41521"/>
                </a:lnTo>
                <a:lnTo>
                  <a:pt x="48190" y="41736"/>
                </a:lnTo>
                <a:lnTo>
                  <a:pt x="48082" y="42059"/>
                </a:lnTo>
                <a:lnTo>
                  <a:pt x="47975" y="42328"/>
                </a:lnTo>
                <a:lnTo>
                  <a:pt x="47921" y="42651"/>
                </a:lnTo>
                <a:lnTo>
                  <a:pt x="47921" y="60560"/>
                </a:lnTo>
                <a:lnTo>
                  <a:pt x="47975" y="60883"/>
                </a:lnTo>
                <a:lnTo>
                  <a:pt x="48082" y="61206"/>
                </a:lnTo>
                <a:lnTo>
                  <a:pt x="48190" y="61475"/>
                </a:lnTo>
                <a:lnTo>
                  <a:pt x="48405" y="61690"/>
                </a:lnTo>
                <a:lnTo>
                  <a:pt x="58086" y="71371"/>
                </a:lnTo>
                <a:lnTo>
                  <a:pt x="58355" y="71586"/>
                </a:lnTo>
                <a:lnTo>
                  <a:pt x="58624" y="71747"/>
                </a:lnTo>
                <a:lnTo>
                  <a:pt x="58893" y="71801"/>
                </a:lnTo>
                <a:lnTo>
                  <a:pt x="59215" y="71855"/>
                </a:lnTo>
                <a:lnTo>
                  <a:pt x="59538" y="71801"/>
                </a:lnTo>
                <a:lnTo>
                  <a:pt x="59807" y="71747"/>
                </a:lnTo>
                <a:lnTo>
                  <a:pt x="60130" y="71586"/>
                </a:lnTo>
                <a:lnTo>
                  <a:pt x="60345" y="71371"/>
                </a:lnTo>
                <a:lnTo>
                  <a:pt x="60560" y="71102"/>
                </a:lnTo>
                <a:lnTo>
                  <a:pt x="60721" y="70833"/>
                </a:lnTo>
                <a:lnTo>
                  <a:pt x="60829" y="70564"/>
                </a:lnTo>
                <a:lnTo>
                  <a:pt x="60829" y="70241"/>
                </a:lnTo>
                <a:lnTo>
                  <a:pt x="60829" y="69918"/>
                </a:lnTo>
                <a:lnTo>
                  <a:pt x="60721" y="69650"/>
                </a:lnTo>
                <a:lnTo>
                  <a:pt x="60560" y="69327"/>
                </a:lnTo>
                <a:lnTo>
                  <a:pt x="60345" y="69112"/>
                </a:lnTo>
                <a:lnTo>
                  <a:pt x="53460" y="62174"/>
                </a:lnTo>
                <a:lnTo>
                  <a:pt x="95842" y="62174"/>
                </a:lnTo>
                <a:lnTo>
                  <a:pt x="95734" y="64325"/>
                </a:lnTo>
                <a:lnTo>
                  <a:pt x="95519" y="66476"/>
                </a:lnTo>
                <a:lnTo>
                  <a:pt x="95196" y="68574"/>
                </a:lnTo>
                <a:lnTo>
                  <a:pt x="94766" y="70618"/>
                </a:lnTo>
                <a:lnTo>
                  <a:pt x="94282" y="72661"/>
                </a:lnTo>
                <a:lnTo>
                  <a:pt x="93690" y="74651"/>
                </a:lnTo>
                <a:lnTo>
                  <a:pt x="92991" y="76588"/>
                </a:lnTo>
                <a:lnTo>
                  <a:pt x="92238" y="78524"/>
                </a:lnTo>
                <a:lnTo>
                  <a:pt x="91431" y="80406"/>
                </a:lnTo>
                <a:lnTo>
                  <a:pt x="90517" y="82235"/>
                </a:lnTo>
                <a:lnTo>
                  <a:pt x="89495" y="84010"/>
                </a:lnTo>
                <a:lnTo>
                  <a:pt x="88420" y="85731"/>
                </a:lnTo>
                <a:lnTo>
                  <a:pt x="87290" y="87452"/>
                </a:lnTo>
                <a:lnTo>
                  <a:pt x="86053" y="89065"/>
                </a:lnTo>
                <a:lnTo>
                  <a:pt x="84762" y="90625"/>
                </a:lnTo>
                <a:lnTo>
                  <a:pt x="83418" y="92131"/>
                </a:lnTo>
                <a:lnTo>
                  <a:pt x="65831" y="74544"/>
                </a:lnTo>
                <a:lnTo>
                  <a:pt x="65562" y="74329"/>
                </a:lnTo>
                <a:lnTo>
                  <a:pt x="65293" y="74221"/>
                </a:lnTo>
                <a:lnTo>
                  <a:pt x="64970" y="74114"/>
                </a:lnTo>
                <a:lnTo>
                  <a:pt x="64701" y="74060"/>
                </a:lnTo>
                <a:lnTo>
                  <a:pt x="64378" y="74114"/>
                </a:lnTo>
                <a:lnTo>
                  <a:pt x="64056" y="74221"/>
                </a:lnTo>
                <a:lnTo>
                  <a:pt x="63787" y="74329"/>
                </a:lnTo>
                <a:lnTo>
                  <a:pt x="63518" y="74544"/>
                </a:lnTo>
                <a:lnTo>
                  <a:pt x="63357" y="74813"/>
                </a:lnTo>
                <a:lnTo>
                  <a:pt x="63195" y="75082"/>
                </a:lnTo>
                <a:lnTo>
                  <a:pt x="63088" y="75404"/>
                </a:lnTo>
                <a:lnTo>
                  <a:pt x="63088" y="75673"/>
                </a:lnTo>
                <a:lnTo>
                  <a:pt x="63088" y="75996"/>
                </a:lnTo>
                <a:lnTo>
                  <a:pt x="63195" y="76319"/>
                </a:lnTo>
                <a:lnTo>
                  <a:pt x="63357" y="76588"/>
                </a:lnTo>
                <a:lnTo>
                  <a:pt x="63518" y="76856"/>
                </a:lnTo>
                <a:lnTo>
                  <a:pt x="81159" y="94443"/>
                </a:lnTo>
                <a:lnTo>
                  <a:pt x="79545" y="95842"/>
                </a:lnTo>
                <a:lnTo>
                  <a:pt x="77878" y="97186"/>
                </a:lnTo>
                <a:lnTo>
                  <a:pt x="76211" y="98477"/>
                </a:lnTo>
                <a:lnTo>
                  <a:pt x="74436" y="99660"/>
                </a:lnTo>
                <a:lnTo>
                  <a:pt x="72607" y="100736"/>
                </a:lnTo>
                <a:lnTo>
                  <a:pt x="70725" y="101758"/>
                </a:lnTo>
                <a:lnTo>
                  <a:pt x="68789" y="102726"/>
                </a:lnTo>
                <a:lnTo>
                  <a:pt x="66799" y="103587"/>
                </a:lnTo>
                <a:lnTo>
                  <a:pt x="64809" y="104339"/>
                </a:lnTo>
                <a:lnTo>
                  <a:pt x="62711" y="104985"/>
                </a:lnTo>
                <a:lnTo>
                  <a:pt x="60614" y="105576"/>
                </a:lnTo>
                <a:lnTo>
                  <a:pt x="58462" y="106061"/>
                </a:lnTo>
                <a:lnTo>
                  <a:pt x="56311" y="106437"/>
                </a:lnTo>
                <a:lnTo>
                  <a:pt x="54052" y="106706"/>
                </a:lnTo>
                <a:lnTo>
                  <a:pt x="51847" y="106867"/>
                </a:lnTo>
                <a:lnTo>
                  <a:pt x="49534" y="106921"/>
                </a:lnTo>
                <a:lnTo>
                  <a:pt x="47168" y="106813"/>
                </a:lnTo>
                <a:lnTo>
                  <a:pt x="44801" y="106652"/>
                </a:lnTo>
                <a:lnTo>
                  <a:pt x="42489" y="106383"/>
                </a:lnTo>
                <a:lnTo>
                  <a:pt x="40230" y="105953"/>
                </a:lnTo>
                <a:lnTo>
                  <a:pt x="37971" y="105415"/>
                </a:lnTo>
                <a:lnTo>
                  <a:pt x="35766" y="104824"/>
                </a:lnTo>
                <a:lnTo>
                  <a:pt x="33614" y="104071"/>
                </a:lnTo>
                <a:lnTo>
                  <a:pt x="31517" y="103264"/>
                </a:lnTo>
                <a:lnTo>
                  <a:pt x="29473" y="102349"/>
                </a:lnTo>
                <a:lnTo>
                  <a:pt x="27483" y="101274"/>
                </a:lnTo>
                <a:lnTo>
                  <a:pt x="25547" y="100198"/>
                </a:lnTo>
                <a:lnTo>
                  <a:pt x="23665" y="98961"/>
                </a:lnTo>
                <a:lnTo>
                  <a:pt x="21836" y="97670"/>
                </a:lnTo>
                <a:lnTo>
                  <a:pt x="20115" y="96326"/>
                </a:lnTo>
                <a:lnTo>
                  <a:pt x="18394" y="94874"/>
                </a:lnTo>
                <a:lnTo>
                  <a:pt x="16780" y="93314"/>
                </a:lnTo>
                <a:lnTo>
                  <a:pt x="15274" y="91701"/>
                </a:lnTo>
                <a:lnTo>
                  <a:pt x="13822" y="90033"/>
                </a:lnTo>
                <a:lnTo>
                  <a:pt x="12424" y="88258"/>
                </a:lnTo>
                <a:lnTo>
                  <a:pt x="11133" y="86430"/>
                </a:lnTo>
                <a:lnTo>
                  <a:pt x="9950" y="84547"/>
                </a:lnTo>
                <a:lnTo>
                  <a:pt x="8820" y="82611"/>
                </a:lnTo>
                <a:lnTo>
                  <a:pt x="7799" y="80621"/>
                </a:lnTo>
                <a:lnTo>
                  <a:pt x="6884" y="78577"/>
                </a:lnTo>
                <a:lnTo>
                  <a:pt x="6024" y="76480"/>
                </a:lnTo>
                <a:lnTo>
                  <a:pt x="5325" y="74329"/>
                </a:lnTo>
                <a:lnTo>
                  <a:pt x="4679" y="72124"/>
                </a:lnTo>
                <a:lnTo>
                  <a:pt x="4141" y="69918"/>
                </a:lnTo>
                <a:lnTo>
                  <a:pt x="3765" y="67606"/>
                </a:lnTo>
                <a:lnTo>
                  <a:pt x="3442" y="65293"/>
                </a:lnTo>
                <a:lnTo>
                  <a:pt x="3281" y="62927"/>
                </a:lnTo>
                <a:lnTo>
                  <a:pt x="3227" y="60560"/>
                </a:lnTo>
                <a:lnTo>
                  <a:pt x="3281" y="58570"/>
                </a:lnTo>
                <a:lnTo>
                  <a:pt x="3388" y="56634"/>
                </a:lnTo>
                <a:lnTo>
                  <a:pt x="3603" y="54644"/>
                </a:lnTo>
                <a:lnTo>
                  <a:pt x="3872" y="52708"/>
                </a:lnTo>
                <a:lnTo>
                  <a:pt x="4249" y="50772"/>
                </a:lnTo>
                <a:lnTo>
                  <a:pt x="4733" y="48889"/>
                </a:lnTo>
                <a:lnTo>
                  <a:pt x="5271" y="47007"/>
                </a:lnTo>
                <a:lnTo>
                  <a:pt x="5862" y="45125"/>
                </a:lnTo>
                <a:lnTo>
                  <a:pt x="6562" y="43296"/>
                </a:lnTo>
                <a:lnTo>
                  <a:pt x="7315" y="41467"/>
                </a:lnTo>
                <a:lnTo>
                  <a:pt x="8175" y="39693"/>
                </a:lnTo>
                <a:lnTo>
                  <a:pt x="9089" y="37971"/>
                </a:lnTo>
                <a:lnTo>
                  <a:pt x="10111" y="36250"/>
                </a:lnTo>
                <a:lnTo>
                  <a:pt x="11187" y="34637"/>
                </a:lnTo>
                <a:lnTo>
                  <a:pt x="12316" y="33023"/>
                </a:lnTo>
                <a:lnTo>
                  <a:pt x="13500" y="31464"/>
                </a:lnTo>
                <a:lnTo>
                  <a:pt x="13661" y="31195"/>
                </a:lnTo>
                <a:lnTo>
                  <a:pt x="13822" y="30872"/>
                </a:lnTo>
                <a:lnTo>
                  <a:pt x="13876" y="30549"/>
                </a:lnTo>
                <a:lnTo>
                  <a:pt x="13876" y="30281"/>
                </a:lnTo>
                <a:lnTo>
                  <a:pt x="13822" y="29958"/>
                </a:lnTo>
                <a:lnTo>
                  <a:pt x="13661" y="29689"/>
                </a:lnTo>
                <a:lnTo>
                  <a:pt x="13500" y="29420"/>
                </a:lnTo>
                <a:lnTo>
                  <a:pt x="13284" y="29205"/>
                </a:lnTo>
                <a:lnTo>
                  <a:pt x="13016" y="28990"/>
                </a:lnTo>
                <a:lnTo>
                  <a:pt x="12693" y="28882"/>
                </a:lnTo>
                <a:lnTo>
                  <a:pt x="12370" y="28828"/>
                </a:lnTo>
                <a:lnTo>
                  <a:pt x="12101" y="28828"/>
                </a:lnTo>
                <a:lnTo>
                  <a:pt x="11779" y="28882"/>
                </a:lnTo>
                <a:lnTo>
                  <a:pt x="11510" y="28990"/>
                </a:lnTo>
                <a:lnTo>
                  <a:pt x="11241" y="29205"/>
                </a:lnTo>
                <a:lnTo>
                  <a:pt x="11026" y="29420"/>
                </a:lnTo>
                <a:lnTo>
                  <a:pt x="9681" y="31087"/>
                </a:lnTo>
                <a:lnTo>
                  <a:pt x="8498" y="32808"/>
                </a:lnTo>
                <a:lnTo>
                  <a:pt x="7368" y="34583"/>
                </a:lnTo>
                <a:lnTo>
                  <a:pt x="6293" y="36412"/>
                </a:lnTo>
                <a:lnTo>
                  <a:pt x="5325" y="38240"/>
                </a:lnTo>
                <a:lnTo>
                  <a:pt x="4410" y="40123"/>
                </a:lnTo>
                <a:lnTo>
                  <a:pt x="3550" y="42059"/>
                </a:lnTo>
                <a:lnTo>
                  <a:pt x="2851" y="44049"/>
                </a:lnTo>
                <a:lnTo>
                  <a:pt x="2151" y="46039"/>
                </a:lnTo>
                <a:lnTo>
                  <a:pt x="1613" y="48029"/>
                </a:lnTo>
                <a:lnTo>
                  <a:pt x="1129" y="50073"/>
                </a:lnTo>
                <a:lnTo>
                  <a:pt x="699" y="52170"/>
                </a:lnTo>
                <a:lnTo>
                  <a:pt x="376" y="54268"/>
                </a:lnTo>
                <a:lnTo>
                  <a:pt x="161" y="56365"/>
                </a:lnTo>
                <a:lnTo>
                  <a:pt x="54" y="58463"/>
                </a:lnTo>
                <a:lnTo>
                  <a:pt x="0" y="60560"/>
                </a:lnTo>
                <a:lnTo>
                  <a:pt x="54" y="63034"/>
                </a:lnTo>
                <a:lnTo>
                  <a:pt x="215" y="65508"/>
                </a:lnTo>
                <a:lnTo>
                  <a:pt x="538" y="67928"/>
                </a:lnTo>
                <a:lnTo>
                  <a:pt x="968" y="70295"/>
                </a:lnTo>
                <a:lnTo>
                  <a:pt x="1452" y="72661"/>
                </a:lnTo>
                <a:lnTo>
                  <a:pt x="2098" y="75028"/>
                </a:lnTo>
                <a:lnTo>
                  <a:pt x="2851" y="77287"/>
                </a:lnTo>
                <a:lnTo>
                  <a:pt x="3765" y="79546"/>
                </a:lnTo>
                <a:lnTo>
                  <a:pt x="4733" y="81751"/>
                </a:lnTo>
                <a:lnTo>
                  <a:pt x="5809" y="83902"/>
                </a:lnTo>
                <a:lnTo>
                  <a:pt x="6992" y="86000"/>
                </a:lnTo>
                <a:lnTo>
                  <a:pt x="8283" y="88043"/>
                </a:lnTo>
                <a:lnTo>
                  <a:pt x="9681" y="90033"/>
                </a:lnTo>
                <a:lnTo>
                  <a:pt x="11187" y="91969"/>
                </a:lnTo>
                <a:lnTo>
                  <a:pt x="12800" y="93798"/>
                </a:lnTo>
                <a:lnTo>
                  <a:pt x="14521" y="95627"/>
                </a:lnTo>
                <a:lnTo>
                  <a:pt x="16296" y="97294"/>
                </a:lnTo>
                <a:lnTo>
                  <a:pt x="18179" y="98907"/>
                </a:lnTo>
                <a:lnTo>
                  <a:pt x="20061" y="100413"/>
                </a:lnTo>
                <a:lnTo>
                  <a:pt x="22051" y="101812"/>
                </a:lnTo>
                <a:lnTo>
                  <a:pt x="24095" y="103102"/>
                </a:lnTo>
                <a:lnTo>
                  <a:pt x="26192" y="104339"/>
                </a:lnTo>
                <a:lnTo>
                  <a:pt x="28398" y="105415"/>
                </a:lnTo>
                <a:lnTo>
                  <a:pt x="30603" y="106383"/>
                </a:lnTo>
                <a:lnTo>
                  <a:pt x="32808" y="107244"/>
                </a:lnTo>
                <a:lnTo>
                  <a:pt x="35120" y="107997"/>
                </a:lnTo>
                <a:lnTo>
                  <a:pt x="37433" y="108642"/>
                </a:lnTo>
                <a:lnTo>
                  <a:pt x="39800" y="109180"/>
                </a:lnTo>
                <a:lnTo>
                  <a:pt x="42220" y="109610"/>
                </a:lnTo>
                <a:lnTo>
                  <a:pt x="44640" y="109879"/>
                </a:lnTo>
                <a:lnTo>
                  <a:pt x="47060" y="110040"/>
                </a:lnTo>
                <a:lnTo>
                  <a:pt x="49534" y="110148"/>
                </a:lnTo>
                <a:lnTo>
                  <a:pt x="52008" y="110040"/>
                </a:lnTo>
                <a:lnTo>
                  <a:pt x="54482" y="109879"/>
                </a:lnTo>
                <a:lnTo>
                  <a:pt x="56903" y="109610"/>
                </a:lnTo>
                <a:lnTo>
                  <a:pt x="59323" y="109180"/>
                </a:lnTo>
                <a:lnTo>
                  <a:pt x="61636" y="108642"/>
                </a:lnTo>
                <a:lnTo>
                  <a:pt x="64002" y="107997"/>
                </a:lnTo>
                <a:lnTo>
                  <a:pt x="66261" y="107244"/>
                </a:lnTo>
                <a:lnTo>
                  <a:pt x="68520" y="106383"/>
                </a:lnTo>
                <a:lnTo>
                  <a:pt x="70725" y="105415"/>
                </a:lnTo>
                <a:lnTo>
                  <a:pt x="72876" y="104339"/>
                </a:lnTo>
                <a:lnTo>
                  <a:pt x="74974" y="103102"/>
                </a:lnTo>
                <a:lnTo>
                  <a:pt x="77018" y="101812"/>
                </a:lnTo>
                <a:lnTo>
                  <a:pt x="79007" y="100413"/>
                </a:lnTo>
                <a:lnTo>
                  <a:pt x="80944" y="98907"/>
                </a:lnTo>
                <a:lnTo>
                  <a:pt x="82826" y="97294"/>
                </a:lnTo>
                <a:lnTo>
                  <a:pt x="84601" y="95627"/>
                </a:lnTo>
                <a:lnTo>
                  <a:pt x="86214" y="93906"/>
                </a:lnTo>
                <a:lnTo>
                  <a:pt x="87774" y="92131"/>
                </a:lnTo>
                <a:lnTo>
                  <a:pt x="89226" y="90248"/>
                </a:lnTo>
                <a:lnTo>
                  <a:pt x="90571" y="88366"/>
                </a:lnTo>
                <a:lnTo>
                  <a:pt x="91862" y="86430"/>
                </a:lnTo>
                <a:lnTo>
                  <a:pt x="93045" y="84440"/>
                </a:lnTo>
                <a:lnTo>
                  <a:pt x="94067" y="82342"/>
                </a:lnTo>
                <a:lnTo>
                  <a:pt x="95035" y="80245"/>
                </a:lnTo>
                <a:lnTo>
                  <a:pt x="95949" y="78147"/>
                </a:lnTo>
                <a:lnTo>
                  <a:pt x="96702" y="75942"/>
                </a:lnTo>
                <a:lnTo>
                  <a:pt x="97348" y="73737"/>
                </a:lnTo>
                <a:lnTo>
                  <a:pt x="97939" y="71478"/>
                </a:lnTo>
                <a:lnTo>
                  <a:pt x="98369" y="69165"/>
                </a:lnTo>
                <a:lnTo>
                  <a:pt x="98692" y="66853"/>
                </a:lnTo>
                <a:lnTo>
                  <a:pt x="98961" y="64540"/>
                </a:lnTo>
                <a:lnTo>
                  <a:pt x="99069" y="62174"/>
                </a:lnTo>
                <a:lnTo>
                  <a:pt x="108534" y="62174"/>
                </a:lnTo>
                <a:lnTo>
                  <a:pt x="108857" y="62120"/>
                </a:lnTo>
                <a:lnTo>
                  <a:pt x="109180" y="62066"/>
                </a:lnTo>
                <a:lnTo>
                  <a:pt x="109449" y="61905"/>
                </a:lnTo>
                <a:lnTo>
                  <a:pt x="109664" y="61690"/>
                </a:lnTo>
                <a:lnTo>
                  <a:pt x="109879" y="61475"/>
                </a:lnTo>
                <a:lnTo>
                  <a:pt x="109987" y="61206"/>
                </a:lnTo>
                <a:lnTo>
                  <a:pt x="110094" y="60883"/>
                </a:lnTo>
                <a:lnTo>
                  <a:pt x="110148" y="60560"/>
                </a:lnTo>
                <a:lnTo>
                  <a:pt x="110148" y="59054"/>
                </a:lnTo>
                <a:lnTo>
                  <a:pt x="110040" y="57548"/>
                </a:lnTo>
                <a:lnTo>
                  <a:pt x="109987" y="56042"/>
                </a:lnTo>
                <a:lnTo>
                  <a:pt x="109825" y="54537"/>
                </a:lnTo>
                <a:lnTo>
                  <a:pt x="109664" y="53084"/>
                </a:lnTo>
                <a:lnTo>
                  <a:pt x="109503" y="51579"/>
                </a:lnTo>
                <a:lnTo>
                  <a:pt x="109234" y="50126"/>
                </a:lnTo>
                <a:lnTo>
                  <a:pt x="108965" y="48674"/>
                </a:lnTo>
                <a:lnTo>
                  <a:pt x="108696" y="47222"/>
                </a:lnTo>
                <a:lnTo>
                  <a:pt x="108319" y="45770"/>
                </a:lnTo>
                <a:lnTo>
                  <a:pt x="107943" y="44318"/>
                </a:lnTo>
                <a:lnTo>
                  <a:pt x="107566" y="42919"/>
                </a:lnTo>
                <a:lnTo>
                  <a:pt x="107082" y="41521"/>
                </a:lnTo>
                <a:lnTo>
                  <a:pt x="106598" y="40123"/>
                </a:lnTo>
                <a:lnTo>
                  <a:pt x="106114" y="38724"/>
                </a:lnTo>
                <a:lnTo>
                  <a:pt x="105576" y="37380"/>
                </a:lnTo>
                <a:lnTo>
                  <a:pt x="104985" y="36035"/>
                </a:lnTo>
                <a:lnTo>
                  <a:pt x="104339" y="34691"/>
                </a:lnTo>
                <a:lnTo>
                  <a:pt x="103694" y="33346"/>
                </a:lnTo>
                <a:lnTo>
                  <a:pt x="103049" y="32055"/>
                </a:lnTo>
                <a:lnTo>
                  <a:pt x="102349" y="30765"/>
                </a:lnTo>
                <a:lnTo>
                  <a:pt x="101596" y="29474"/>
                </a:lnTo>
                <a:lnTo>
                  <a:pt x="100790" y="28237"/>
                </a:lnTo>
                <a:lnTo>
                  <a:pt x="99983" y="26946"/>
                </a:lnTo>
                <a:lnTo>
                  <a:pt x="99176" y="25763"/>
                </a:lnTo>
                <a:lnTo>
                  <a:pt x="98262" y="24526"/>
                </a:lnTo>
                <a:lnTo>
                  <a:pt x="97401" y="23343"/>
                </a:lnTo>
                <a:lnTo>
                  <a:pt x="96433" y="22213"/>
                </a:lnTo>
                <a:lnTo>
                  <a:pt x="95465" y="21030"/>
                </a:lnTo>
                <a:lnTo>
                  <a:pt x="94497" y="19900"/>
                </a:lnTo>
                <a:lnTo>
                  <a:pt x="93475" y="18825"/>
                </a:lnTo>
                <a:lnTo>
                  <a:pt x="92399" y="17749"/>
                </a:lnTo>
                <a:lnTo>
                  <a:pt x="91324" y="16673"/>
                </a:lnTo>
                <a:lnTo>
                  <a:pt x="90194" y="15652"/>
                </a:lnTo>
                <a:lnTo>
                  <a:pt x="89065" y="14630"/>
                </a:lnTo>
                <a:lnTo>
                  <a:pt x="87935" y="13662"/>
                </a:lnTo>
                <a:lnTo>
                  <a:pt x="86752" y="12747"/>
                </a:lnTo>
                <a:lnTo>
                  <a:pt x="85569" y="11833"/>
                </a:lnTo>
                <a:lnTo>
                  <a:pt x="84386" y="10972"/>
                </a:lnTo>
                <a:lnTo>
                  <a:pt x="83149" y="10112"/>
                </a:lnTo>
                <a:lnTo>
                  <a:pt x="81912" y="9305"/>
                </a:lnTo>
                <a:lnTo>
                  <a:pt x="80621" y="8552"/>
                </a:lnTo>
                <a:lnTo>
                  <a:pt x="79384" y="7799"/>
                </a:lnTo>
                <a:lnTo>
                  <a:pt x="78093" y="7100"/>
                </a:lnTo>
                <a:lnTo>
                  <a:pt x="76749" y="6401"/>
                </a:lnTo>
                <a:lnTo>
                  <a:pt x="75458" y="5756"/>
                </a:lnTo>
                <a:lnTo>
                  <a:pt x="74113" y="5164"/>
                </a:lnTo>
                <a:lnTo>
                  <a:pt x="72769" y="4572"/>
                </a:lnTo>
                <a:lnTo>
                  <a:pt x="71370" y="4034"/>
                </a:lnTo>
                <a:lnTo>
                  <a:pt x="70026" y="3497"/>
                </a:lnTo>
                <a:lnTo>
                  <a:pt x="68627" y="3013"/>
                </a:lnTo>
                <a:lnTo>
                  <a:pt x="67175" y="2582"/>
                </a:lnTo>
                <a:lnTo>
                  <a:pt x="65777" y="2152"/>
                </a:lnTo>
                <a:lnTo>
                  <a:pt x="64378" y="1776"/>
                </a:lnTo>
                <a:lnTo>
                  <a:pt x="62926" y="1453"/>
                </a:lnTo>
                <a:lnTo>
                  <a:pt x="61474" y="1130"/>
                </a:lnTo>
                <a:lnTo>
                  <a:pt x="60022" y="861"/>
                </a:lnTo>
                <a:lnTo>
                  <a:pt x="58516" y="646"/>
                </a:lnTo>
                <a:lnTo>
                  <a:pt x="57064" y="431"/>
                </a:lnTo>
                <a:lnTo>
                  <a:pt x="55558" y="270"/>
                </a:lnTo>
                <a:lnTo>
                  <a:pt x="54052" y="162"/>
                </a:lnTo>
                <a:lnTo>
                  <a:pt x="52600" y="55"/>
                </a:lnTo>
                <a:lnTo>
                  <a:pt x="51040" y="1"/>
                </a:lnTo>
                <a:close/>
              </a:path>
            </a:pathLst>
          </a:custGeom>
          <a:solidFill>
            <a:schemeClr val="lt2"/>
          </a:solidFill>
          <a:ln>
            <a:noFill/>
          </a:ln>
        </p:spPr>
        <p:txBody>
          <a:bodyPr spcFirstLastPara="1" wrap="square" lIns="182977" tIns="182977" rIns="182977" bIns="182977" anchor="ctr" anchorCtr="0">
            <a:noAutofit/>
          </a:bodyPr>
          <a:lstStyle/>
          <a:p>
            <a:endParaRPr sz="3603"/>
          </a:p>
        </p:txBody>
      </p:sp>
      <p:grpSp>
        <p:nvGrpSpPr>
          <p:cNvPr id="348" name="Google Shape;348;p40"/>
          <p:cNvGrpSpPr/>
          <p:nvPr/>
        </p:nvGrpSpPr>
        <p:grpSpPr>
          <a:xfrm>
            <a:off x="12800876" y="3885040"/>
            <a:ext cx="1044179" cy="1114369"/>
            <a:chOff x="4801625" y="1479975"/>
            <a:chExt cx="2580250" cy="2753700"/>
          </a:xfrm>
        </p:grpSpPr>
        <p:sp>
          <p:nvSpPr>
            <p:cNvPr id="349" name="Google Shape;349;p40"/>
            <p:cNvSpPr/>
            <p:nvPr/>
          </p:nvSpPr>
          <p:spPr>
            <a:xfrm>
              <a:off x="4801625" y="1479975"/>
              <a:ext cx="2580250" cy="2265625"/>
            </a:xfrm>
            <a:custGeom>
              <a:avLst/>
              <a:gdLst/>
              <a:ahLst/>
              <a:cxnLst/>
              <a:rect l="l" t="t" r="r" b="b"/>
              <a:pathLst>
                <a:path w="103210" h="90625" extrusionOk="0">
                  <a:moveTo>
                    <a:pt x="11241" y="75404"/>
                  </a:moveTo>
                  <a:lnTo>
                    <a:pt x="12316" y="76210"/>
                  </a:lnTo>
                  <a:lnTo>
                    <a:pt x="13338" y="77125"/>
                  </a:lnTo>
                  <a:lnTo>
                    <a:pt x="14199" y="78093"/>
                  </a:lnTo>
                  <a:lnTo>
                    <a:pt x="15059" y="79115"/>
                  </a:lnTo>
                  <a:lnTo>
                    <a:pt x="14844" y="79276"/>
                  </a:lnTo>
                  <a:lnTo>
                    <a:pt x="14575" y="79437"/>
                  </a:lnTo>
                  <a:lnTo>
                    <a:pt x="14360" y="79706"/>
                  </a:lnTo>
                  <a:lnTo>
                    <a:pt x="14199" y="79975"/>
                  </a:lnTo>
                  <a:lnTo>
                    <a:pt x="14091" y="80244"/>
                  </a:lnTo>
                  <a:lnTo>
                    <a:pt x="14038" y="80567"/>
                  </a:lnTo>
                  <a:lnTo>
                    <a:pt x="14091" y="80836"/>
                  </a:lnTo>
                  <a:lnTo>
                    <a:pt x="14145" y="81158"/>
                  </a:lnTo>
                  <a:lnTo>
                    <a:pt x="14306" y="81481"/>
                  </a:lnTo>
                  <a:lnTo>
                    <a:pt x="14575" y="81804"/>
                  </a:lnTo>
                  <a:lnTo>
                    <a:pt x="14898" y="82073"/>
                  </a:lnTo>
                  <a:lnTo>
                    <a:pt x="15275" y="82180"/>
                  </a:lnTo>
                  <a:lnTo>
                    <a:pt x="15651" y="82234"/>
                  </a:lnTo>
                  <a:lnTo>
                    <a:pt x="16081" y="82180"/>
                  </a:lnTo>
                  <a:lnTo>
                    <a:pt x="16512" y="82019"/>
                  </a:lnTo>
                  <a:lnTo>
                    <a:pt x="16673" y="81911"/>
                  </a:lnTo>
                  <a:lnTo>
                    <a:pt x="17264" y="83202"/>
                  </a:lnTo>
                  <a:lnTo>
                    <a:pt x="17695" y="84547"/>
                  </a:lnTo>
                  <a:lnTo>
                    <a:pt x="18017" y="85945"/>
                  </a:lnTo>
                  <a:lnTo>
                    <a:pt x="18233" y="87397"/>
                  </a:lnTo>
                  <a:lnTo>
                    <a:pt x="4410" y="87397"/>
                  </a:lnTo>
                  <a:lnTo>
                    <a:pt x="11241" y="75404"/>
                  </a:lnTo>
                  <a:close/>
                  <a:moveTo>
                    <a:pt x="59968" y="80620"/>
                  </a:moveTo>
                  <a:lnTo>
                    <a:pt x="59968" y="87397"/>
                  </a:lnTo>
                  <a:lnTo>
                    <a:pt x="53192" y="87397"/>
                  </a:lnTo>
                  <a:lnTo>
                    <a:pt x="53192" y="80620"/>
                  </a:lnTo>
                  <a:close/>
                  <a:moveTo>
                    <a:pt x="91969" y="75404"/>
                  </a:moveTo>
                  <a:lnTo>
                    <a:pt x="98800" y="87397"/>
                  </a:lnTo>
                  <a:lnTo>
                    <a:pt x="84978" y="87397"/>
                  </a:lnTo>
                  <a:lnTo>
                    <a:pt x="85193" y="85945"/>
                  </a:lnTo>
                  <a:lnTo>
                    <a:pt x="85515" y="84547"/>
                  </a:lnTo>
                  <a:lnTo>
                    <a:pt x="85946" y="83202"/>
                  </a:lnTo>
                  <a:lnTo>
                    <a:pt x="86483" y="81911"/>
                  </a:lnTo>
                  <a:lnTo>
                    <a:pt x="86699" y="82019"/>
                  </a:lnTo>
                  <a:lnTo>
                    <a:pt x="87129" y="82180"/>
                  </a:lnTo>
                  <a:lnTo>
                    <a:pt x="87505" y="82234"/>
                  </a:lnTo>
                  <a:lnTo>
                    <a:pt x="87936" y="82180"/>
                  </a:lnTo>
                  <a:lnTo>
                    <a:pt x="88312" y="82073"/>
                  </a:lnTo>
                  <a:lnTo>
                    <a:pt x="88635" y="81804"/>
                  </a:lnTo>
                  <a:lnTo>
                    <a:pt x="88904" y="81481"/>
                  </a:lnTo>
                  <a:lnTo>
                    <a:pt x="89065" y="81158"/>
                  </a:lnTo>
                  <a:lnTo>
                    <a:pt x="89119" y="80836"/>
                  </a:lnTo>
                  <a:lnTo>
                    <a:pt x="89119" y="80567"/>
                  </a:lnTo>
                  <a:lnTo>
                    <a:pt x="89119" y="80244"/>
                  </a:lnTo>
                  <a:lnTo>
                    <a:pt x="89011" y="79975"/>
                  </a:lnTo>
                  <a:lnTo>
                    <a:pt x="88850" y="79706"/>
                  </a:lnTo>
                  <a:lnTo>
                    <a:pt x="88635" y="79437"/>
                  </a:lnTo>
                  <a:lnTo>
                    <a:pt x="88366" y="79276"/>
                  </a:lnTo>
                  <a:lnTo>
                    <a:pt x="88151" y="79115"/>
                  </a:lnTo>
                  <a:lnTo>
                    <a:pt x="88957" y="78093"/>
                  </a:lnTo>
                  <a:lnTo>
                    <a:pt x="89872" y="77125"/>
                  </a:lnTo>
                  <a:lnTo>
                    <a:pt x="90894" y="76210"/>
                  </a:lnTo>
                  <a:lnTo>
                    <a:pt x="91969" y="75404"/>
                  </a:lnTo>
                  <a:close/>
                  <a:moveTo>
                    <a:pt x="51578" y="0"/>
                  </a:moveTo>
                  <a:lnTo>
                    <a:pt x="51202" y="54"/>
                  </a:lnTo>
                  <a:lnTo>
                    <a:pt x="50771" y="215"/>
                  </a:lnTo>
                  <a:lnTo>
                    <a:pt x="50449" y="484"/>
                  </a:lnTo>
                  <a:lnTo>
                    <a:pt x="50180" y="807"/>
                  </a:lnTo>
                  <a:lnTo>
                    <a:pt x="39154" y="20115"/>
                  </a:lnTo>
                  <a:lnTo>
                    <a:pt x="39047" y="20437"/>
                  </a:lnTo>
                  <a:lnTo>
                    <a:pt x="38993" y="20706"/>
                  </a:lnTo>
                  <a:lnTo>
                    <a:pt x="38939" y="21029"/>
                  </a:lnTo>
                  <a:lnTo>
                    <a:pt x="38993" y="21352"/>
                  </a:lnTo>
                  <a:lnTo>
                    <a:pt x="39100" y="21621"/>
                  </a:lnTo>
                  <a:lnTo>
                    <a:pt x="39262" y="21890"/>
                  </a:lnTo>
                  <a:lnTo>
                    <a:pt x="39477" y="22105"/>
                  </a:lnTo>
                  <a:lnTo>
                    <a:pt x="39746" y="22320"/>
                  </a:lnTo>
                  <a:lnTo>
                    <a:pt x="40069" y="22427"/>
                  </a:lnTo>
                  <a:lnTo>
                    <a:pt x="40391" y="22535"/>
                  </a:lnTo>
                  <a:lnTo>
                    <a:pt x="40714" y="22535"/>
                  </a:lnTo>
                  <a:lnTo>
                    <a:pt x="40983" y="22481"/>
                  </a:lnTo>
                  <a:lnTo>
                    <a:pt x="41306" y="22374"/>
                  </a:lnTo>
                  <a:lnTo>
                    <a:pt x="41574" y="22212"/>
                  </a:lnTo>
                  <a:lnTo>
                    <a:pt x="41790" y="21997"/>
                  </a:lnTo>
                  <a:lnTo>
                    <a:pt x="41951" y="21728"/>
                  </a:lnTo>
                  <a:lnTo>
                    <a:pt x="49965" y="7691"/>
                  </a:lnTo>
                  <a:lnTo>
                    <a:pt x="49965" y="56848"/>
                  </a:lnTo>
                  <a:lnTo>
                    <a:pt x="49642" y="56902"/>
                  </a:lnTo>
                  <a:lnTo>
                    <a:pt x="49319" y="57064"/>
                  </a:lnTo>
                  <a:lnTo>
                    <a:pt x="49050" y="57279"/>
                  </a:lnTo>
                  <a:lnTo>
                    <a:pt x="48781" y="57601"/>
                  </a:lnTo>
                  <a:lnTo>
                    <a:pt x="48674" y="57870"/>
                  </a:lnTo>
                  <a:lnTo>
                    <a:pt x="48566" y="58193"/>
                  </a:lnTo>
                  <a:lnTo>
                    <a:pt x="48566" y="58516"/>
                  </a:lnTo>
                  <a:lnTo>
                    <a:pt x="48620" y="58838"/>
                  </a:lnTo>
                  <a:lnTo>
                    <a:pt x="48728" y="59107"/>
                  </a:lnTo>
                  <a:lnTo>
                    <a:pt x="48889" y="59376"/>
                  </a:lnTo>
                  <a:lnTo>
                    <a:pt x="49104" y="59591"/>
                  </a:lnTo>
                  <a:lnTo>
                    <a:pt x="49373" y="59807"/>
                  </a:lnTo>
                  <a:lnTo>
                    <a:pt x="49965" y="60183"/>
                  </a:lnTo>
                  <a:lnTo>
                    <a:pt x="49965" y="87397"/>
                  </a:lnTo>
                  <a:lnTo>
                    <a:pt x="21460" y="87397"/>
                  </a:lnTo>
                  <a:lnTo>
                    <a:pt x="21352" y="86268"/>
                  </a:lnTo>
                  <a:lnTo>
                    <a:pt x="21137" y="85192"/>
                  </a:lnTo>
                  <a:lnTo>
                    <a:pt x="20922" y="84116"/>
                  </a:lnTo>
                  <a:lnTo>
                    <a:pt x="20599" y="83041"/>
                  </a:lnTo>
                  <a:lnTo>
                    <a:pt x="20223" y="82019"/>
                  </a:lnTo>
                  <a:lnTo>
                    <a:pt x="19846" y="80997"/>
                  </a:lnTo>
                  <a:lnTo>
                    <a:pt x="19362" y="79975"/>
                  </a:lnTo>
                  <a:lnTo>
                    <a:pt x="18824" y="79007"/>
                  </a:lnTo>
                  <a:lnTo>
                    <a:pt x="18233" y="78093"/>
                  </a:lnTo>
                  <a:lnTo>
                    <a:pt x="17641" y="77178"/>
                  </a:lnTo>
                  <a:lnTo>
                    <a:pt x="16942" y="76318"/>
                  </a:lnTo>
                  <a:lnTo>
                    <a:pt x="16243" y="75511"/>
                  </a:lnTo>
                  <a:lnTo>
                    <a:pt x="15436" y="74704"/>
                  </a:lnTo>
                  <a:lnTo>
                    <a:pt x="14629" y="73951"/>
                  </a:lnTo>
                  <a:lnTo>
                    <a:pt x="13769" y="73252"/>
                  </a:lnTo>
                  <a:lnTo>
                    <a:pt x="12854" y="72607"/>
                  </a:lnTo>
                  <a:lnTo>
                    <a:pt x="27591" y="46845"/>
                  </a:lnTo>
                  <a:lnTo>
                    <a:pt x="30495" y="48620"/>
                  </a:lnTo>
                  <a:lnTo>
                    <a:pt x="30925" y="48781"/>
                  </a:lnTo>
                  <a:lnTo>
                    <a:pt x="31302" y="48835"/>
                  </a:lnTo>
                  <a:lnTo>
                    <a:pt x="31732" y="48781"/>
                  </a:lnTo>
                  <a:lnTo>
                    <a:pt x="32109" y="48620"/>
                  </a:lnTo>
                  <a:lnTo>
                    <a:pt x="32431" y="48351"/>
                  </a:lnTo>
                  <a:lnTo>
                    <a:pt x="32700" y="48028"/>
                  </a:lnTo>
                  <a:lnTo>
                    <a:pt x="32862" y="47759"/>
                  </a:lnTo>
                  <a:lnTo>
                    <a:pt x="32915" y="47436"/>
                  </a:lnTo>
                  <a:lnTo>
                    <a:pt x="32915" y="47114"/>
                  </a:lnTo>
                  <a:lnTo>
                    <a:pt x="32862" y="46791"/>
                  </a:lnTo>
                  <a:lnTo>
                    <a:pt x="32808" y="46522"/>
                  </a:lnTo>
                  <a:lnTo>
                    <a:pt x="32646" y="46253"/>
                  </a:lnTo>
                  <a:lnTo>
                    <a:pt x="32431" y="46038"/>
                  </a:lnTo>
                  <a:lnTo>
                    <a:pt x="32162" y="45823"/>
                  </a:lnTo>
                  <a:lnTo>
                    <a:pt x="29204" y="44048"/>
                  </a:lnTo>
                  <a:lnTo>
                    <a:pt x="38240" y="28236"/>
                  </a:lnTo>
                  <a:lnTo>
                    <a:pt x="38348" y="27967"/>
                  </a:lnTo>
                  <a:lnTo>
                    <a:pt x="38455" y="27644"/>
                  </a:lnTo>
                  <a:lnTo>
                    <a:pt x="38455" y="27322"/>
                  </a:lnTo>
                  <a:lnTo>
                    <a:pt x="38401" y="27053"/>
                  </a:lnTo>
                  <a:lnTo>
                    <a:pt x="38294" y="26730"/>
                  </a:lnTo>
                  <a:lnTo>
                    <a:pt x="38132" y="26461"/>
                  </a:lnTo>
                  <a:lnTo>
                    <a:pt x="37917" y="26246"/>
                  </a:lnTo>
                  <a:lnTo>
                    <a:pt x="37648" y="26031"/>
                  </a:lnTo>
                  <a:lnTo>
                    <a:pt x="37326" y="25923"/>
                  </a:lnTo>
                  <a:lnTo>
                    <a:pt x="37003" y="25870"/>
                  </a:lnTo>
                  <a:lnTo>
                    <a:pt x="36734" y="25870"/>
                  </a:lnTo>
                  <a:lnTo>
                    <a:pt x="36411" y="25923"/>
                  </a:lnTo>
                  <a:lnTo>
                    <a:pt x="36089" y="26031"/>
                  </a:lnTo>
                  <a:lnTo>
                    <a:pt x="35873" y="26192"/>
                  </a:lnTo>
                  <a:lnTo>
                    <a:pt x="35605" y="26407"/>
                  </a:lnTo>
                  <a:lnTo>
                    <a:pt x="35443" y="26676"/>
                  </a:lnTo>
                  <a:lnTo>
                    <a:pt x="215" y="88204"/>
                  </a:lnTo>
                  <a:lnTo>
                    <a:pt x="54" y="88580"/>
                  </a:lnTo>
                  <a:lnTo>
                    <a:pt x="0" y="89011"/>
                  </a:lnTo>
                  <a:lnTo>
                    <a:pt x="54" y="89441"/>
                  </a:lnTo>
                  <a:lnTo>
                    <a:pt x="215" y="89817"/>
                  </a:lnTo>
                  <a:lnTo>
                    <a:pt x="484" y="90140"/>
                  </a:lnTo>
                  <a:lnTo>
                    <a:pt x="807" y="90409"/>
                  </a:lnTo>
                  <a:lnTo>
                    <a:pt x="1183" y="90570"/>
                  </a:lnTo>
                  <a:lnTo>
                    <a:pt x="1614" y="90624"/>
                  </a:lnTo>
                  <a:lnTo>
                    <a:pt x="101597" y="90624"/>
                  </a:lnTo>
                  <a:lnTo>
                    <a:pt x="102027" y="90570"/>
                  </a:lnTo>
                  <a:lnTo>
                    <a:pt x="102403" y="90409"/>
                  </a:lnTo>
                  <a:lnTo>
                    <a:pt x="102726" y="90140"/>
                  </a:lnTo>
                  <a:lnTo>
                    <a:pt x="102995" y="89817"/>
                  </a:lnTo>
                  <a:lnTo>
                    <a:pt x="103156" y="89441"/>
                  </a:lnTo>
                  <a:lnTo>
                    <a:pt x="103210" y="89011"/>
                  </a:lnTo>
                  <a:lnTo>
                    <a:pt x="103156" y="88580"/>
                  </a:lnTo>
                  <a:lnTo>
                    <a:pt x="102995" y="88204"/>
                  </a:lnTo>
                  <a:lnTo>
                    <a:pt x="67767" y="26676"/>
                  </a:lnTo>
                  <a:lnTo>
                    <a:pt x="67606" y="26407"/>
                  </a:lnTo>
                  <a:lnTo>
                    <a:pt x="67337" y="26192"/>
                  </a:lnTo>
                  <a:lnTo>
                    <a:pt x="67068" y="26031"/>
                  </a:lnTo>
                  <a:lnTo>
                    <a:pt x="66799" y="25923"/>
                  </a:lnTo>
                  <a:lnTo>
                    <a:pt x="66476" y="25870"/>
                  </a:lnTo>
                  <a:lnTo>
                    <a:pt x="66207" y="25870"/>
                  </a:lnTo>
                  <a:lnTo>
                    <a:pt x="65884" y="25923"/>
                  </a:lnTo>
                  <a:lnTo>
                    <a:pt x="65562" y="26031"/>
                  </a:lnTo>
                  <a:lnTo>
                    <a:pt x="65293" y="26246"/>
                  </a:lnTo>
                  <a:lnTo>
                    <a:pt x="65078" y="26461"/>
                  </a:lnTo>
                  <a:lnTo>
                    <a:pt x="64916" y="26730"/>
                  </a:lnTo>
                  <a:lnTo>
                    <a:pt x="64809" y="27053"/>
                  </a:lnTo>
                  <a:lnTo>
                    <a:pt x="64755" y="27322"/>
                  </a:lnTo>
                  <a:lnTo>
                    <a:pt x="64755" y="27644"/>
                  </a:lnTo>
                  <a:lnTo>
                    <a:pt x="64863" y="27967"/>
                  </a:lnTo>
                  <a:lnTo>
                    <a:pt x="64970" y="28236"/>
                  </a:lnTo>
                  <a:lnTo>
                    <a:pt x="74006" y="44048"/>
                  </a:lnTo>
                  <a:lnTo>
                    <a:pt x="71048" y="45823"/>
                  </a:lnTo>
                  <a:lnTo>
                    <a:pt x="70779" y="46038"/>
                  </a:lnTo>
                  <a:lnTo>
                    <a:pt x="70564" y="46253"/>
                  </a:lnTo>
                  <a:lnTo>
                    <a:pt x="70402" y="46522"/>
                  </a:lnTo>
                  <a:lnTo>
                    <a:pt x="70295" y="46791"/>
                  </a:lnTo>
                  <a:lnTo>
                    <a:pt x="70295" y="47114"/>
                  </a:lnTo>
                  <a:lnTo>
                    <a:pt x="70295" y="47436"/>
                  </a:lnTo>
                  <a:lnTo>
                    <a:pt x="70348" y="47759"/>
                  </a:lnTo>
                  <a:lnTo>
                    <a:pt x="70510" y="48028"/>
                  </a:lnTo>
                  <a:lnTo>
                    <a:pt x="70779" y="48351"/>
                  </a:lnTo>
                  <a:lnTo>
                    <a:pt x="71101" y="48620"/>
                  </a:lnTo>
                  <a:lnTo>
                    <a:pt x="71478" y="48781"/>
                  </a:lnTo>
                  <a:lnTo>
                    <a:pt x="71908" y="48835"/>
                  </a:lnTo>
                  <a:lnTo>
                    <a:pt x="72285" y="48781"/>
                  </a:lnTo>
                  <a:lnTo>
                    <a:pt x="72715" y="48620"/>
                  </a:lnTo>
                  <a:lnTo>
                    <a:pt x="75619" y="46845"/>
                  </a:lnTo>
                  <a:lnTo>
                    <a:pt x="90356" y="72607"/>
                  </a:lnTo>
                  <a:lnTo>
                    <a:pt x="89442" y="73252"/>
                  </a:lnTo>
                  <a:lnTo>
                    <a:pt x="88581" y="73951"/>
                  </a:lnTo>
                  <a:lnTo>
                    <a:pt x="87774" y="74704"/>
                  </a:lnTo>
                  <a:lnTo>
                    <a:pt x="86967" y="75511"/>
                  </a:lnTo>
                  <a:lnTo>
                    <a:pt x="86268" y="76318"/>
                  </a:lnTo>
                  <a:lnTo>
                    <a:pt x="85569" y="77178"/>
                  </a:lnTo>
                  <a:lnTo>
                    <a:pt x="84978" y="78093"/>
                  </a:lnTo>
                  <a:lnTo>
                    <a:pt x="84386" y="79007"/>
                  </a:lnTo>
                  <a:lnTo>
                    <a:pt x="83848" y="79975"/>
                  </a:lnTo>
                  <a:lnTo>
                    <a:pt x="83364" y="80997"/>
                  </a:lnTo>
                  <a:lnTo>
                    <a:pt x="82988" y="82019"/>
                  </a:lnTo>
                  <a:lnTo>
                    <a:pt x="82611" y="83041"/>
                  </a:lnTo>
                  <a:lnTo>
                    <a:pt x="82288" y="84116"/>
                  </a:lnTo>
                  <a:lnTo>
                    <a:pt x="82073" y="85192"/>
                  </a:lnTo>
                  <a:lnTo>
                    <a:pt x="81858" y="86268"/>
                  </a:lnTo>
                  <a:lnTo>
                    <a:pt x="81751" y="87397"/>
                  </a:lnTo>
                  <a:lnTo>
                    <a:pt x="63195" y="87397"/>
                  </a:lnTo>
                  <a:lnTo>
                    <a:pt x="63195" y="79007"/>
                  </a:lnTo>
                  <a:lnTo>
                    <a:pt x="63195" y="78684"/>
                  </a:lnTo>
                  <a:lnTo>
                    <a:pt x="63088" y="78362"/>
                  </a:lnTo>
                  <a:lnTo>
                    <a:pt x="62926" y="78093"/>
                  </a:lnTo>
                  <a:lnTo>
                    <a:pt x="62765" y="77878"/>
                  </a:lnTo>
                  <a:lnTo>
                    <a:pt x="62496" y="77662"/>
                  </a:lnTo>
                  <a:lnTo>
                    <a:pt x="62227" y="77501"/>
                  </a:lnTo>
                  <a:lnTo>
                    <a:pt x="61905" y="77393"/>
                  </a:lnTo>
                  <a:lnTo>
                    <a:pt x="53192" y="77393"/>
                  </a:lnTo>
                  <a:lnTo>
                    <a:pt x="53192" y="60183"/>
                  </a:lnTo>
                  <a:lnTo>
                    <a:pt x="53837" y="59807"/>
                  </a:lnTo>
                  <a:lnTo>
                    <a:pt x="54106" y="59591"/>
                  </a:lnTo>
                  <a:lnTo>
                    <a:pt x="54321" y="59376"/>
                  </a:lnTo>
                  <a:lnTo>
                    <a:pt x="54482" y="59107"/>
                  </a:lnTo>
                  <a:lnTo>
                    <a:pt x="54590" y="58838"/>
                  </a:lnTo>
                  <a:lnTo>
                    <a:pt x="54644" y="58516"/>
                  </a:lnTo>
                  <a:lnTo>
                    <a:pt x="54644" y="58193"/>
                  </a:lnTo>
                  <a:lnTo>
                    <a:pt x="54536" y="57870"/>
                  </a:lnTo>
                  <a:lnTo>
                    <a:pt x="54429" y="57601"/>
                  </a:lnTo>
                  <a:lnTo>
                    <a:pt x="54160" y="57279"/>
                  </a:lnTo>
                  <a:lnTo>
                    <a:pt x="53891" y="57064"/>
                  </a:lnTo>
                  <a:lnTo>
                    <a:pt x="53568" y="56902"/>
                  </a:lnTo>
                  <a:lnTo>
                    <a:pt x="53192" y="56848"/>
                  </a:lnTo>
                  <a:lnTo>
                    <a:pt x="53192" y="7691"/>
                  </a:lnTo>
                  <a:lnTo>
                    <a:pt x="61259" y="21728"/>
                  </a:lnTo>
                  <a:lnTo>
                    <a:pt x="61474" y="22051"/>
                  </a:lnTo>
                  <a:lnTo>
                    <a:pt x="61851" y="22320"/>
                  </a:lnTo>
                  <a:lnTo>
                    <a:pt x="62227" y="22481"/>
                  </a:lnTo>
                  <a:lnTo>
                    <a:pt x="62657" y="22535"/>
                  </a:lnTo>
                  <a:lnTo>
                    <a:pt x="63034" y="22481"/>
                  </a:lnTo>
                  <a:lnTo>
                    <a:pt x="63410" y="22320"/>
                  </a:lnTo>
                  <a:lnTo>
                    <a:pt x="63679" y="22105"/>
                  </a:lnTo>
                  <a:lnTo>
                    <a:pt x="63895" y="21890"/>
                  </a:lnTo>
                  <a:lnTo>
                    <a:pt x="64056" y="21621"/>
                  </a:lnTo>
                  <a:lnTo>
                    <a:pt x="64217" y="21352"/>
                  </a:lnTo>
                  <a:lnTo>
                    <a:pt x="64217" y="21029"/>
                  </a:lnTo>
                  <a:lnTo>
                    <a:pt x="64217" y="20706"/>
                  </a:lnTo>
                  <a:lnTo>
                    <a:pt x="64163" y="20437"/>
                  </a:lnTo>
                  <a:lnTo>
                    <a:pt x="64056" y="20115"/>
                  </a:lnTo>
                  <a:lnTo>
                    <a:pt x="52977" y="807"/>
                  </a:lnTo>
                  <a:lnTo>
                    <a:pt x="52761" y="484"/>
                  </a:lnTo>
                  <a:lnTo>
                    <a:pt x="52439" y="215"/>
                  </a:lnTo>
                  <a:lnTo>
                    <a:pt x="52008" y="54"/>
                  </a:lnTo>
                  <a:lnTo>
                    <a:pt x="51578" y="0"/>
                  </a:lnTo>
                  <a:close/>
                </a:path>
              </a:pathLst>
            </a:custGeom>
            <a:solidFill>
              <a:schemeClr val="lt2"/>
            </a:solidFill>
            <a:ln>
              <a:noFill/>
            </a:ln>
          </p:spPr>
          <p:txBody>
            <a:bodyPr spcFirstLastPara="1" wrap="square" lIns="182977" tIns="182977" rIns="182977" bIns="182977" anchor="ctr" anchorCtr="0">
              <a:noAutofit/>
            </a:bodyPr>
            <a:lstStyle/>
            <a:p>
              <a:endParaRPr sz="3603"/>
            </a:p>
          </p:txBody>
        </p:sp>
        <p:sp>
          <p:nvSpPr>
            <p:cNvPr id="350" name="Google Shape;350;p40"/>
            <p:cNvSpPr/>
            <p:nvPr/>
          </p:nvSpPr>
          <p:spPr>
            <a:xfrm>
              <a:off x="5963325" y="3802025"/>
              <a:ext cx="256850" cy="431650"/>
            </a:xfrm>
            <a:custGeom>
              <a:avLst/>
              <a:gdLst/>
              <a:ahLst/>
              <a:cxnLst/>
              <a:rect l="l" t="t" r="r" b="b"/>
              <a:pathLst>
                <a:path w="10274" h="17266" extrusionOk="0">
                  <a:moveTo>
                    <a:pt x="5540" y="3228"/>
                  </a:moveTo>
                  <a:lnTo>
                    <a:pt x="5863" y="3335"/>
                  </a:lnTo>
                  <a:lnTo>
                    <a:pt x="6186" y="3551"/>
                  </a:lnTo>
                  <a:lnTo>
                    <a:pt x="6455" y="3766"/>
                  </a:lnTo>
                  <a:lnTo>
                    <a:pt x="6724" y="4035"/>
                  </a:lnTo>
                  <a:lnTo>
                    <a:pt x="6885" y="4357"/>
                  </a:lnTo>
                  <a:lnTo>
                    <a:pt x="6993" y="4734"/>
                  </a:lnTo>
                  <a:lnTo>
                    <a:pt x="7046" y="5110"/>
                  </a:lnTo>
                  <a:lnTo>
                    <a:pt x="7046" y="6993"/>
                  </a:lnTo>
                  <a:lnTo>
                    <a:pt x="3228" y="6993"/>
                  </a:lnTo>
                  <a:lnTo>
                    <a:pt x="3228" y="5110"/>
                  </a:lnTo>
                  <a:lnTo>
                    <a:pt x="3282" y="4734"/>
                  </a:lnTo>
                  <a:lnTo>
                    <a:pt x="3389" y="4357"/>
                  </a:lnTo>
                  <a:lnTo>
                    <a:pt x="3550" y="4035"/>
                  </a:lnTo>
                  <a:lnTo>
                    <a:pt x="3766" y="3766"/>
                  </a:lnTo>
                  <a:lnTo>
                    <a:pt x="4088" y="3551"/>
                  </a:lnTo>
                  <a:lnTo>
                    <a:pt x="4411" y="3335"/>
                  </a:lnTo>
                  <a:lnTo>
                    <a:pt x="4734" y="3228"/>
                  </a:lnTo>
                  <a:close/>
                  <a:moveTo>
                    <a:pt x="4626" y="1"/>
                  </a:moveTo>
                  <a:lnTo>
                    <a:pt x="4088" y="109"/>
                  </a:lnTo>
                  <a:lnTo>
                    <a:pt x="3604" y="216"/>
                  </a:lnTo>
                  <a:lnTo>
                    <a:pt x="3120" y="377"/>
                  </a:lnTo>
                  <a:lnTo>
                    <a:pt x="2690" y="593"/>
                  </a:lnTo>
                  <a:lnTo>
                    <a:pt x="2260" y="861"/>
                  </a:lnTo>
                  <a:lnTo>
                    <a:pt x="1883" y="1130"/>
                  </a:lnTo>
                  <a:lnTo>
                    <a:pt x="1507" y="1507"/>
                  </a:lnTo>
                  <a:lnTo>
                    <a:pt x="1184" y="1830"/>
                  </a:lnTo>
                  <a:lnTo>
                    <a:pt x="861" y="2260"/>
                  </a:lnTo>
                  <a:lnTo>
                    <a:pt x="646" y="2690"/>
                  </a:lnTo>
                  <a:lnTo>
                    <a:pt x="431" y="3120"/>
                  </a:lnTo>
                  <a:lnTo>
                    <a:pt x="216" y="3604"/>
                  </a:lnTo>
                  <a:lnTo>
                    <a:pt x="108" y="4088"/>
                  </a:lnTo>
                  <a:lnTo>
                    <a:pt x="55" y="4572"/>
                  </a:lnTo>
                  <a:lnTo>
                    <a:pt x="1" y="5110"/>
                  </a:lnTo>
                  <a:lnTo>
                    <a:pt x="1" y="15652"/>
                  </a:lnTo>
                  <a:lnTo>
                    <a:pt x="55" y="15974"/>
                  </a:lnTo>
                  <a:lnTo>
                    <a:pt x="108" y="16297"/>
                  </a:lnTo>
                  <a:lnTo>
                    <a:pt x="270" y="16566"/>
                  </a:lnTo>
                  <a:lnTo>
                    <a:pt x="485" y="16835"/>
                  </a:lnTo>
                  <a:lnTo>
                    <a:pt x="700" y="16996"/>
                  </a:lnTo>
                  <a:lnTo>
                    <a:pt x="969" y="17158"/>
                  </a:lnTo>
                  <a:lnTo>
                    <a:pt x="1292" y="17265"/>
                  </a:lnTo>
                  <a:lnTo>
                    <a:pt x="1937" y="17265"/>
                  </a:lnTo>
                  <a:lnTo>
                    <a:pt x="2260" y="17158"/>
                  </a:lnTo>
                  <a:lnTo>
                    <a:pt x="2529" y="16996"/>
                  </a:lnTo>
                  <a:lnTo>
                    <a:pt x="2744" y="16835"/>
                  </a:lnTo>
                  <a:lnTo>
                    <a:pt x="2959" y="16566"/>
                  </a:lnTo>
                  <a:lnTo>
                    <a:pt x="3120" y="16297"/>
                  </a:lnTo>
                  <a:lnTo>
                    <a:pt x="3174" y="15974"/>
                  </a:lnTo>
                  <a:lnTo>
                    <a:pt x="3228" y="15652"/>
                  </a:lnTo>
                  <a:lnTo>
                    <a:pt x="3228" y="10220"/>
                  </a:lnTo>
                  <a:lnTo>
                    <a:pt x="7046" y="10220"/>
                  </a:lnTo>
                  <a:lnTo>
                    <a:pt x="7046" y="15652"/>
                  </a:lnTo>
                  <a:lnTo>
                    <a:pt x="7046" y="15974"/>
                  </a:lnTo>
                  <a:lnTo>
                    <a:pt x="7154" y="16297"/>
                  </a:lnTo>
                  <a:lnTo>
                    <a:pt x="7315" y="16566"/>
                  </a:lnTo>
                  <a:lnTo>
                    <a:pt x="7530" y="16835"/>
                  </a:lnTo>
                  <a:lnTo>
                    <a:pt x="7746" y="16996"/>
                  </a:lnTo>
                  <a:lnTo>
                    <a:pt x="8014" y="17158"/>
                  </a:lnTo>
                  <a:lnTo>
                    <a:pt x="8337" y="17265"/>
                  </a:lnTo>
                  <a:lnTo>
                    <a:pt x="8983" y="17265"/>
                  </a:lnTo>
                  <a:lnTo>
                    <a:pt x="9305" y="17158"/>
                  </a:lnTo>
                  <a:lnTo>
                    <a:pt x="9574" y="16996"/>
                  </a:lnTo>
                  <a:lnTo>
                    <a:pt x="9789" y="16835"/>
                  </a:lnTo>
                  <a:lnTo>
                    <a:pt x="10004" y="16566"/>
                  </a:lnTo>
                  <a:lnTo>
                    <a:pt x="10112" y="16297"/>
                  </a:lnTo>
                  <a:lnTo>
                    <a:pt x="10220" y="15974"/>
                  </a:lnTo>
                  <a:lnTo>
                    <a:pt x="10273" y="15652"/>
                  </a:lnTo>
                  <a:lnTo>
                    <a:pt x="10273" y="5110"/>
                  </a:lnTo>
                  <a:lnTo>
                    <a:pt x="10220" y="4572"/>
                  </a:lnTo>
                  <a:lnTo>
                    <a:pt x="10166" y="4088"/>
                  </a:lnTo>
                  <a:lnTo>
                    <a:pt x="10058" y="3604"/>
                  </a:lnTo>
                  <a:lnTo>
                    <a:pt x="9843" y="3120"/>
                  </a:lnTo>
                  <a:lnTo>
                    <a:pt x="9628" y="2690"/>
                  </a:lnTo>
                  <a:lnTo>
                    <a:pt x="9413" y="2260"/>
                  </a:lnTo>
                  <a:lnTo>
                    <a:pt x="9090" y="1830"/>
                  </a:lnTo>
                  <a:lnTo>
                    <a:pt x="8767" y="1507"/>
                  </a:lnTo>
                  <a:lnTo>
                    <a:pt x="8391" y="1130"/>
                  </a:lnTo>
                  <a:lnTo>
                    <a:pt x="8014" y="861"/>
                  </a:lnTo>
                  <a:lnTo>
                    <a:pt x="7584" y="593"/>
                  </a:lnTo>
                  <a:lnTo>
                    <a:pt x="7154" y="377"/>
                  </a:lnTo>
                  <a:lnTo>
                    <a:pt x="6670" y="216"/>
                  </a:lnTo>
                  <a:lnTo>
                    <a:pt x="6186" y="109"/>
                  </a:lnTo>
                  <a:lnTo>
                    <a:pt x="5648" y="1"/>
                  </a:lnTo>
                  <a:close/>
                </a:path>
              </a:pathLst>
            </a:custGeom>
            <a:solidFill>
              <a:schemeClr val="lt2"/>
            </a:solidFill>
            <a:ln>
              <a:noFill/>
            </a:ln>
          </p:spPr>
          <p:txBody>
            <a:bodyPr spcFirstLastPara="1" wrap="square" lIns="182977" tIns="182977" rIns="182977" bIns="182977" anchor="ctr" anchorCtr="0">
              <a:noAutofit/>
            </a:bodyPr>
            <a:lstStyle/>
            <a:p>
              <a:endParaRPr sz="3603"/>
            </a:p>
          </p:txBody>
        </p:sp>
        <p:sp>
          <p:nvSpPr>
            <p:cNvPr id="351" name="Google Shape;351;p40"/>
            <p:cNvSpPr/>
            <p:nvPr/>
          </p:nvSpPr>
          <p:spPr>
            <a:xfrm>
              <a:off x="5051700" y="2099800"/>
              <a:ext cx="256850" cy="432975"/>
            </a:xfrm>
            <a:custGeom>
              <a:avLst/>
              <a:gdLst/>
              <a:ahLst/>
              <a:cxnLst/>
              <a:rect l="l" t="t" r="r" b="b"/>
              <a:pathLst>
                <a:path w="10274" h="17319" extrusionOk="0">
                  <a:moveTo>
                    <a:pt x="5110" y="3228"/>
                  </a:moveTo>
                  <a:lnTo>
                    <a:pt x="5487" y="3282"/>
                  </a:lnTo>
                  <a:lnTo>
                    <a:pt x="5863" y="3389"/>
                  </a:lnTo>
                  <a:lnTo>
                    <a:pt x="6186" y="3551"/>
                  </a:lnTo>
                  <a:lnTo>
                    <a:pt x="6455" y="3766"/>
                  </a:lnTo>
                  <a:lnTo>
                    <a:pt x="6724" y="4088"/>
                  </a:lnTo>
                  <a:lnTo>
                    <a:pt x="6885" y="4411"/>
                  </a:lnTo>
                  <a:lnTo>
                    <a:pt x="6993" y="4734"/>
                  </a:lnTo>
                  <a:lnTo>
                    <a:pt x="7046" y="5110"/>
                  </a:lnTo>
                  <a:lnTo>
                    <a:pt x="6993" y="5541"/>
                  </a:lnTo>
                  <a:lnTo>
                    <a:pt x="6885" y="5863"/>
                  </a:lnTo>
                  <a:lnTo>
                    <a:pt x="6724" y="6186"/>
                  </a:lnTo>
                  <a:lnTo>
                    <a:pt x="6455" y="6455"/>
                  </a:lnTo>
                  <a:lnTo>
                    <a:pt x="6186" y="6724"/>
                  </a:lnTo>
                  <a:lnTo>
                    <a:pt x="5863" y="6885"/>
                  </a:lnTo>
                  <a:lnTo>
                    <a:pt x="5487" y="6993"/>
                  </a:lnTo>
                  <a:lnTo>
                    <a:pt x="5110" y="7046"/>
                  </a:lnTo>
                  <a:lnTo>
                    <a:pt x="3228" y="7046"/>
                  </a:lnTo>
                  <a:lnTo>
                    <a:pt x="3228" y="3228"/>
                  </a:lnTo>
                  <a:close/>
                  <a:moveTo>
                    <a:pt x="5110" y="10273"/>
                  </a:moveTo>
                  <a:lnTo>
                    <a:pt x="5487" y="10327"/>
                  </a:lnTo>
                  <a:lnTo>
                    <a:pt x="5863" y="10435"/>
                  </a:lnTo>
                  <a:lnTo>
                    <a:pt x="6186" y="10596"/>
                  </a:lnTo>
                  <a:lnTo>
                    <a:pt x="6455" y="10811"/>
                  </a:lnTo>
                  <a:lnTo>
                    <a:pt x="6724" y="11080"/>
                  </a:lnTo>
                  <a:lnTo>
                    <a:pt x="6885" y="11403"/>
                  </a:lnTo>
                  <a:lnTo>
                    <a:pt x="6993" y="11779"/>
                  </a:lnTo>
                  <a:lnTo>
                    <a:pt x="7046" y="12156"/>
                  </a:lnTo>
                  <a:lnTo>
                    <a:pt x="6993" y="12532"/>
                  </a:lnTo>
                  <a:lnTo>
                    <a:pt x="6885" y="12909"/>
                  </a:lnTo>
                  <a:lnTo>
                    <a:pt x="6724" y="13231"/>
                  </a:lnTo>
                  <a:lnTo>
                    <a:pt x="6455" y="13500"/>
                  </a:lnTo>
                  <a:lnTo>
                    <a:pt x="6186" y="13769"/>
                  </a:lnTo>
                  <a:lnTo>
                    <a:pt x="5863" y="13931"/>
                  </a:lnTo>
                  <a:lnTo>
                    <a:pt x="5487" y="14038"/>
                  </a:lnTo>
                  <a:lnTo>
                    <a:pt x="5110" y="14092"/>
                  </a:lnTo>
                  <a:lnTo>
                    <a:pt x="3228" y="14092"/>
                  </a:lnTo>
                  <a:lnTo>
                    <a:pt x="3228" y="10273"/>
                  </a:lnTo>
                  <a:close/>
                  <a:moveTo>
                    <a:pt x="1614" y="1"/>
                  </a:moveTo>
                  <a:lnTo>
                    <a:pt x="1292" y="55"/>
                  </a:lnTo>
                  <a:lnTo>
                    <a:pt x="969" y="108"/>
                  </a:lnTo>
                  <a:lnTo>
                    <a:pt x="700" y="270"/>
                  </a:lnTo>
                  <a:lnTo>
                    <a:pt x="485" y="485"/>
                  </a:lnTo>
                  <a:lnTo>
                    <a:pt x="270" y="700"/>
                  </a:lnTo>
                  <a:lnTo>
                    <a:pt x="108" y="969"/>
                  </a:lnTo>
                  <a:lnTo>
                    <a:pt x="55" y="1292"/>
                  </a:lnTo>
                  <a:lnTo>
                    <a:pt x="1" y="1614"/>
                  </a:lnTo>
                  <a:lnTo>
                    <a:pt x="1" y="15705"/>
                  </a:lnTo>
                  <a:lnTo>
                    <a:pt x="55" y="16028"/>
                  </a:lnTo>
                  <a:lnTo>
                    <a:pt x="108" y="16297"/>
                  </a:lnTo>
                  <a:lnTo>
                    <a:pt x="270" y="16566"/>
                  </a:lnTo>
                  <a:lnTo>
                    <a:pt x="485" y="16835"/>
                  </a:lnTo>
                  <a:lnTo>
                    <a:pt x="700" y="16996"/>
                  </a:lnTo>
                  <a:lnTo>
                    <a:pt x="969" y="17158"/>
                  </a:lnTo>
                  <a:lnTo>
                    <a:pt x="1292" y="17265"/>
                  </a:lnTo>
                  <a:lnTo>
                    <a:pt x="1614" y="17319"/>
                  </a:lnTo>
                  <a:lnTo>
                    <a:pt x="5110" y="17319"/>
                  </a:lnTo>
                  <a:lnTo>
                    <a:pt x="5648" y="17265"/>
                  </a:lnTo>
                  <a:lnTo>
                    <a:pt x="6186" y="17211"/>
                  </a:lnTo>
                  <a:lnTo>
                    <a:pt x="6670" y="17050"/>
                  </a:lnTo>
                  <a:lnTo>
                    <a:pt x="7100" y="16889"/>
                  </a:lnTo>
                  <a:lnTo>
                    <a:pt x="7584" y="16674"/>
                  </a:lnTo>
                  <a:lnTo>
                    <a:pt x="8014" y="16405"/>
                  </a:lnTo>
                  <a:lnTo>
                    <a:pt x="8391" y="16136"/>
                  </a:lnTo>
                  <a:lnTo>
                    <a:pt x="8767" y="15813"/>
                  </a:lnTo>
                  <a:lnTo>
                    <a:pt x="9090" y="15437"/>
                  </a:lnTo>
                  <a:lnTo>
                    <a:pt x="9359" y="15060"/>
                  </a:lnTo>
                  <a:lnTo>
                    <a:pt x="9628" y="14630"/>
                  </a:lnTo>
                  <a:lnTo>
                    <a:pt x="9843" y="14146"/>
                  </a:lnTo>
                  <a:lnTo>
                    <a:pt x="10004" y="13716"/>
                  </a:lnTo>
                  <a:lnTo>
                    <a:pt x="10166" y="13178"/>
                  </a:lnTo>
                  <a:lnTo>
                    <a:pt x="10220" y="12694"/>
                  </a:lnTo>
                  <a:lnTo>
                    <a:pt x="10273" y="12156"/>
                  </a:lnTo>
                  <a:lnTo>
                    <a:pt x="10220" y="11672"/>
                  </a:lnTo>
                  <a:lnTo>
                    <a:pt x="10166" y="11188"/>
                  </a:lnTo>
                  <a:lnTo>
                    <a:pt x="10058" y="10704"/>
                  </a:lnTo>
                  <a:lnTo>
                    <a:pt x="9897" y="10220"/>
                  </a:lnTo>
                  <a:lnTo>
                    <a:pt x="9682" y="9789"/>
                  </a:lnTo>
                  <a:lnTo>
                    <a:pt x="9467" y="9413"/>
                  </a:lnTo>
                  <a:lnTo>
                    <a:pt x="9144" y="8983"/>
                  </a:lnTo>
                  <a:lnTo>
                    <a:pt x="8875" y="8660"/>
                  </a:lnTo>
                  <a:lnTo>
                    <a:pt x="9144" y="8283"/>
                  </a:lnTo>
                  <a:lnTo>
                    <a:pt x="9467" y="7907"/>
                  </a:lnTo>
                  <a:lnTo>
                    <a:pt x="9682" y="7477"/>
                  </a:lnTo>
                  <a:lnTo>
                    <a:pt x="9897" y="7046"/>
                  </a:lnTo>
                  <a:lnTo>
                    <a:pt x="10058" y="6616"/>
                  </a:lnTo>
                  <a:lnTo>
                    <a:pt x="10166" y="6132"/>
                  </a:lnTo>
                  <a:lnTo>
                    <a:pt x="10220" y="5648"/>
                  </a:lnTo>
                  <a:lnTo>
                    <a:pt x="10273" y="5110"/>
                  </a:lnTo>
                  <a:lnTo>
                    <a:pt x="10220" y="4626"/>
                  </a:lnTo>
                  <a:lnTo>
                    <a:pt x="10166" y="4088"/>
                  </a:lnTo>
                  <a:lnTo>
                    <a:pt x="10004" y="3604"/>
                  </a:lnTo>
                  <a:lnTo>
                    <a:pt x="9843" y="3120"/>
                  </a:lnTo>
                  <a:lnTo>
                    <a:pt x="9628" y="2690"/>
                  </a:lnTo>
                  <a:lnTo>
                    <a:pt x="9359" y="2260"/>
                  </a:lnTo>
                  <a:lnTo>
                    <a:pt x="9090" y="1883"/>
                  </a:lnTo>
                  <a:lnTo>
                    <a:pt x="8767" y="1507"/>
                  </a:lnTo>
                  <a:lnTo>
                    <a:pt x="8391" y="1184"/>
                  </a:lnTo>
                  <a:lnTo>
                    <a:pt x="8014" y="861"/>
                  </a:lnTo>
                  <a:lnTo>
                    <a:pt x="7584" y="646"/>
                  </a:lnTo>
                  <a:lnTo>
                    <a:pt x="7100" y="431"/>
                  </a:lnTo>
                  <a:lnTo>
                    <a:pt x="6670" y="216"/>
                  </a:lnTo>
                  <a:lnTo>
                    <a:pt x="6186" y="108"/>
                  </a:lnTo>
                  <a:lnTo>
                    <a:pt x="5648" y="55"/>
                  </a:lnTo>
                  <a:lnTo>
                    <a:pt x="5110" y="1"/>
                  </a:lnTo>
                  <a:close/>
                </a:path>
              </a:pathLst>
            </a:custGeom>
            <a:solidFill>
              <a:schemeClr val="lt2"/>
            </a:solidFill>
            <a:ln>
              <a:noFill/>
            </a:ln>
          </p:spPr>
          <p:txBody>
            <a:bodyPr spcFirstLastPara="1" wrap="square" lIns="182977" tIns="182977" rIns="182977" bIns="182977" anchor="ctr" anchorCtr="0">
              <a:noAutofit/>
            </a:bodyPr>
            <a:lstStyle/>
            <a:p>
              <a:endParaRPr sz="3603"/>
            </a:p>
          </p:txBody>
        </p:sp>
        <p:sp>
          <p:nvSpPr>
            <p:cNvPr id="352" name="Google Shape;352;p40"/>
            <p:cNvSpPr/>
            <p:nvPr/>
          </p:nvSpPr>
          <p:spPr>
            <a:xfrm>
              <a:off x="6874950" y="2099800"/>
              <a:ext cx="256850" cy="432975"/>
            </a:xfrm>
            <a:custGeom>
              <a:avLst/>
              <a:gdLst/>
              <a:ahLst/>
              <a:cxnLst/>
              <a:rect l="l" t="t" r="r" b="b"/>
              <a:pathLst>
                <a:path w="10274" h="17319" extrusionOk="0">
                  <a:moveTo>
                    <a:pt x="5164" y="1"/>
                  </a:moveTo>
                  <a:lnTo>
                    <a:pt x="4626" y="55"/>
                  </a:lnTo>
                  <a:lnTo>
                    <a:pt x="4088" y="108"/>
                  </a:lnTo>
                  <a:lnTo>
                    <a:pt x="3604" y="216"/>
                  </a:lnTo>
                  <a:lnTo>
                    <a:pt x="3120" y="431"/>
                  </a:lnTo>
                  <a:lnTo>
                    <a:pt x="2690" y="646"/>
                  </a:lnTo>
                  <a:lnTo>
                    <a:pt x="2260" y="861"/>
                  </a:lnTo>
                  <a:lnTo>
                    <a:pt x="1883" y="1184"/>
                  </a:lnTo>
                  <a:lnTo>
                    <a:pt x="1507" y="1507"/>
                  </a:lnTo>
                  <a:lnTo>
                    <a:pt x="1184" y="1883"/>
                  </a:lnTo>
                  <a:lnTo>
                    <a:pt x="861" y="2260"/>
                  </a:lnTo>
                  <a:lnTo>
                    <a:pt x="646" y="2690"/>
                  </a:lnTo>
                  <a:lnTo>
                    <a:pt x="431" y="3120"/>
                  </a:lnTo>
                  <a:lnTo>
                    <a:pt x="216" y="3604"/>
                  </a:lnTo>
                  <a:lnTo>
                    <a:pt x="108" y="4088"/>
                  </a:lnTo>
                  <a:lnTo>
                    <a:pt x="55" y="4626"/>
                  </a:lnTo>
                  <a:lnTo>
                    <a:pt x="1" y="5110"/>
                  </a:lnTo>
                  <a:lnTo>
                    <a:pt x="1" y="12156"/>
                  </a:lnTo>
                  <a:lnTo>
                    <a:pt x="55" y="12694"/>
                  </a:lnTo>
                  <a:lnTo>
                    <a:pt x="108" y="13178"/>
                  </a:lnTo>
                  <a:lnTo>
                    <a:pt x="216" y="13716"/>
                  </a:lnTo>
                  <a:lnTo>
                    <a:pt x="431" y="14146"/>
                  </a:lnTo>
                  <a:lnTo>
                    <a:pt x="646" y="14630"/>
                  </a:lnTo>
                  <a:lnTo>
                    <a:pt x="861" y="15060"/>
                  </a:lnTo>
                  <a:lnTo>
                    <a:pt x="1184" y="15437"/>
                  </a:lnTo>
                  <a:lnTo>
                    <a:pt x="1507" y="15813"/>
                  </a:lnTo>
                  <a:lnTo>
                    <a:pt x="1883" y="16136"/>
                  </a:lnTo>
                  <a:lnTo>
                    <a:pt x="2260" y="16405"/>
                  </a:lnTo>
                  <a:lnTo>
                    <a:pt x="2690" y="16674"/>
                  </a:lnTo>
                  <a:lnTo>
                    <a:pt x="3120" y="16889"/>
                  </a:lnTo>
                  <a:lnTo>
                    <a:pt x="3604" y="17050"/>
                  </a:lnTo>
                  <a:lnTo>
                    <a:pt x="4088" y="17211"/>
                  </a:lnTo>
                  <a:lnTo>
                    <a:pt x="4626" y="17265"/>
                  </a:lnTo>
                  <a:lnTo>
                    <a:pt x="5164" y="17319"/>
                  </a:lnTo>
                  <a:lnTo>
                    <a:pt x="5648" y="17265"/>
                  </a:lnTo>
                  <a:lnTo>
                    <a:pt x="6186" y="17211"/>
                  </a:lnTo>
                  <a:lnTo>
                    <a:pt x="6670" y="17050"/>
                  </a:lnTo>
                  <a:lnTo>
                    <a:pt x="7154" y="16889"/>
                  </a:lnTo>
                  <a:lnTo>
                    <a:pt x="7584" y="16674"/>
                  </a:lnTo>
                  <a:lnTo>
                    <a:pt x="8014" y="16405"/>
                  </a:lnTo>
                  <a:lnTo>
                    <a:pt x="8391" y="16136"/>
                  </a:lnTo>
                  <a:lnTo>
                    <a:pt x="8767" y="15813"/>
                  </a:lnTo>
                  <a:lnTo>
                    <a:pt x="9090" y="15437"/>
                  </a:lnTo>
                  <a:lnTo>
                    <a:pt x="9413" y="15060"/>
                  </a:lnTo>
                  <a:lnTo>
                    <a:pt x="9628" y="14630"/>
                  </a:lnTo>
                  <a:lnTo>
                    <a:pt x="9843" y="14146"/>
                  </a:lnTo>
                  <a:lnTo>
                    <a:pt x="10058" y="13716"/>
                  </a:lnTo>
                  <a:lnTo>
                    <a:pt x="10166" y="13178"/>
                  </a:lnTo>
                  <a:lnTo>
                    <a:pt x="10220" y="12694"/>
                  </a:lnTo>
                  <a:lnTo>
                    <a:pt x="10273" y="12156"/>
                  </a:lnTo>
                  <a:lnTo>
                    <a:pt x="10220" y="11833"/>
                  </a:lnTo>
                  <a:lnTo>
                    <a:pt x="10166" y="11564"/>
                  </a:lnTo>
                  <a:lnTo>
                    <a:pt x="10004" y="11241"/>
                  </a:lnTo>
                  <a:lnTo>
                    <a:pt x="9789" y="11026"/>
                  </a:lnTo>
                  <a:lnTo>
                    <a:pt x="9574" y="10811"/>
                  </a:lnTo>
                  <a:lnTo>
                    <a:pt x="9305" y="10704"/>
                  </a:lnTo>
                  <a:lnTo>
                    <a:pt x="8983" y="10596"/>
                  </a:lnTo>
                  <a:lnTo>
                    <a:pt x="8660" y="10542"/>
                  </a:lnTo>
                  <a:lnTo>
                    <a:pt x="8337" y="10596"/>
                  </a:lnTo>
                  <a:lnTo>
                    <a:pt x="8014" y="10704"/>
                  </a:lnTo>
                  <a:lnTo>
                    <a:pt x="7746" y="10811"/>
                  </a:lnTo>
                  <a:lnTo>
                    <a:pt x="7530" y="11026"/>
                  </a:lnTo>
                  <a:lnTo>
                    <a:pt x="7315" y="11241"/>
                  </a:lnTo>
                  <a:lnTo>
                    <a:pt x="7154" y="11564"/>
                  </a:lnTo>
                  <a:lnTo>
                    <a:pt x="7100" y="11833"/>
                  </a:lnTo>
                  <a:lnTo>
                    <a:pt x="7046" y="12156"/>
                  </a:lnTo>
                  <a:lnTo>
                    <a:pt x="6993" y="12532"/>
                  </a:lnTo>
                  <a:lnTo>
                    <a:pt x="6885" y="12909"/>
                  </a:lnTo>
                  <a:lnTo>
                    <a:pt x="6724" y="13231"/>
                  </a:lnTo>
                  <a:lnTo>
                    <a:pt x="6509" y="13500"/>
                  </a:lnTo>
                  <a:lnTo>
                    <a:pt x="6186" y="13769"/>
                  </a:lnTo>
                  <a:lnTo>
                    <a:pt x="5863" y="13931"/>
                  </a:lnTo>
                  <a:lnTo>
                    <a:pt x="5540" y="14038"/>
                  </a:lnTo>
                  <a:lnTo>
                    <a:pt x="5164" y="14092"/>
                  </a:lnTo>
                  <a:lnTo>
                    <a:pt x="4734" y="14038"/>
                  </a:lnTo>
                  <a:lnTo>
                    <a:pt x="4411" y="13931"/>
                  </a:lnTo>
                  <a:lnTo>
                    <a:pt x="4088" y="13769"/>
                  </a:lnTo>
                  <a:lnTo>
                    <a:pt x="3819" y="13500"/>
                  </a:lnTo>
                  <a:lnTo>
                    <a:pt x="3550" y="13231"/>
                  </a:lnTo>
                  <a:lnTo>
                    <a:pt x="3389" y="12909"/>
                  </a:lnTo>
                  <a:lnTo>
                    <a:pt x="3282" y="12532"/>
                  </a:lnTo>
                  <a:lnTo>
                    <a:pt x="3228" y="12156"/>
                  </a:lnTo>
                  <a:lnTo>
                    <a:pt x="3228" y="5110"/>
                  </a:lnTo>
                  <a:lnTo>
                    <a:pt x="3282" y="4734"/>
                  </a:lnTo>
                  <a:lnTo>
                    <a:pt x="3389" y="4411"/>
                  </a:lnTo>
                  <a:lnTo>
                    <a:pt x="3550" y="4088"/>
                  </a:lnTo>
                  <a:lnTo>
                    <a:pt x="3819" y="3766"/>
                  </a:lnTo>
                  <a:lnTo>
                    <a:pt x="4088" y="3551"/>
                  </a:lnTo>
                  <a:lnTo>
                    <a:pt x="4411" y="3389"/>
                  </a:lnTo>
                  <a:lnTo>
                    <a:pt x="4734" y="3282"/>
                  </a:lnTo>
                  <a:lnTo>
                    <a:pt x="5164" y="3228"/>
                  </a:lnTo>
                  <a:lnTo>
                    <a:pt x="5540" y="3282"/>
                  </a:lnTo>
                  <a:lnTo>
                    <a:pt x="5863" y="3389"/>
                  </a:lnTo>
                  <a:lnTo>
                    <a:pt x="6186" y="3551"/>
                  </a:lnTo>
                  <a:lnTo>
                    <a:pt x="6509" y="3766"/>
                  </a:lnTo>
                  <a:lnTo>
                    <a:pt x="6724" y="4088"/>
                  </a:lnTo>
                  <a:lnTo>
                    <a:pt x="6885" y="4411"/>
                  </a:lnTo>
                  <a:lnTo>
                    <a:pt x="6993" y="4734"/>
                  </a:lnTo>
                  <a:lnTo>
                    <a:pt x="7046" y="5110"/>
                  </a:lnTo>
                  <a:lnTo>
                    <a:pt x="7100" y="5433"/>
                  </a:lnTo>
                  <a:lnTo>
                    <a:pt x="7154" y="5756"/>
                  </a:lnTo>
                  <a:lnTo>
                    <a:pt x="7315" y="6025"/>
                  </a:lnTo>
                  <a:lnTo>
                    <a:pt x="7530" y="6293"/>
                  </a:lnTo>
                  <a:lnTo>
                    <a:pt x="7746" y="6455"/>
                  </a:lnTo>
                  <a:lnTo>
                    <a:pt x="8014" y="6616"/>
                  </a:lnTo>
                  <a:lnTo>
                    <a:pt x="8337" y="6724"/>
                  </a:lnTo>
                  <a:lnTo>
                    <a:pt x="8983" y="6724"/>
                  </a:lnTo>
                  <a:lnTo>
                    <a:pt x="9305" y="6616"/>
                  </a:lnTo>
                  <a:lnTo>
                    <a:pt x="9574" y="6455"/>
                  </a:lnTo>
                  <a:lnTo>
                    <a:pt x="9789" y="6293"/>
                  </a:lnTo>
                  <a:lnTo>
                    <a:pt x="10004" y="6025"/>
                  </a:lnTo>
                  <a:lnTo>
                    <a:pt x="10166" y="5756"/>
                  </a:lnTo>
                  <a:lnTo>
                    <a:pt x="10220" y="5433"/>
                  </a:lnTo>
                  <a:lnTo>
                    <a:pt x="10273" y="5110"/>
                  </a:lnTo>
                  <a:lnTo>
                    <a:pt x="10220" y="4626"/>
                  </a:lnTo>
                  <a:lnTo>
                    <a:pt x="10166" y="4088"/>
                  </a:lnTo>
                  <a:lnTo>
                    <a:pt x="10058" y="3604"/>
                  </a:lnTo>
                  <a:lnTo>
                    <a:pt x="9843" y="3120"/>
                  </a:lnTo>
                  <a:lnTo>
                    <a:pt x="9628" y="2690"/>
                  </a:lnTo>
                  <a:lnTo>
                    <a:pt x="9413" y="2260"/>
                  </a:lnTo>
                  <a:lnTo>
                    <a:pt x="9090" y="1883"/>
                  </a:lnTo>
                  <a:lnTo>
                    <a:pt x="8767" y="1507"/>
                  </a:lnTo>
                  <a:lnTo>
                    <a:pt x="8391" y="1184"/>
                  </a:lnTo>
                  <a:lnTo>
                    <a:pt x="8014" y="861"/>
                  </a:lnTo>
                  <a:lnTo>
                    <a:pt x="7584" y="646"/>
                  </a:lnTo>
                  <a:lnTo>
                    <a:pt x="7154" y="431"/>
                  </a:lnTo>
                  <a:lnTo>
                    <a:pt x="6670" y="216"/>
                  </a:lnTo>
                  <a:lnTo>
                    <a:pt x="6186" y="108"/>
                  </a:lnTo>
                  <a:lnTo>
                    <a:pt x="5648" y="55"/>
                  </a:lnTo>
                  <a:lnTo>
                    <a:pt x="5164" y="1"/>
                  </a:lnTo>
                  <a:close/>
                </a:path>
              </a:pathLst>
            </a:custGeom>
            <a:solidFill>
              <a:schemeClr val="lt2"/>
            </a:solidFill>
            <a:ln>
              <a:noFill/>
            </a:ln>
          </p:spPr>
          <p:txBody>
            <a:bodyPr spcFirstLastPara="1" wrap="square" lIns="182977" tIns="182977" rIns="182977" bIns="182977" anchor="ctr" anchorCtr="0">
              <a:noAutofit/>
            </a:bodyPr>
            <a:lstStyle/>
            <a:p>
              <a:endParaRPr sz="3603"/>
            </a:p>
          </p:txBody>
        </p:sp>
        <p:sp>
          <p:nvSpPr>
            <p:cNvPr id="353" name="Google Shape;353;p40"/>
            <p:cNvSpPr/>
            <p:nvPr/>
          </p:nvSpPr>
          <p:spPr>
            <a:xfrm>
              <a:off x="7069925" y="3527750"/>
              <a:ext cx="108925" cy="98175"/>
            </a:xfrm>
            <a:custGeom>
              <a:avLst/>
              <a:gdLst/>
              <a:ahLst/>
              <a:cxnLst/>
              <a:rect l="l" t="t" r="r" b="b"/>
              <a:pathLst>
                <a:path w="4357" h="3927" extrusionOk="0">
                  <a:moveTo>
                    <a:pt x="1237" y="0"/>
                  </a:moveTo>
                  <a:lnTo>
                    <a:pt x="915" y="108"/>
                  </a:lnTo>
                  <a:lnTo>
                    <a:pt x="646" y="269"/>
                  </a:lnTo>
                  <a:lnTo>
                    <a:pt x="431" y="484"/>
                  </a:lnTo>
                  <a:lnTo>
                    <a:pt x="215" y="753"/>
                  </a:lnTo>
                  <a:lnTo>
                    <a:pt x="108" y="1076"/>
                  </a:lnTo>
                  <a:lnTo>
                    <a:pt x="0" y="1345"/>
                  </a:lnTo>
                  <a:lnTo>
                    <a:pt x="0" y="1668"/>
                  </a:lnTo>
                  <a:lnTo>
                    <a:pt x="54" y="1990"/>
                  </a:lnTo>
                  <a:lnTo>
                    <a:pt x="162" y="2259"/>
                  </a:lnTo>
                  <a:lnTo>
                    <a:pt x="323" y="2528"/>
                  </a:lnTo>
                  <a:lnTo>
                    <a:pt x="538" y="2797"/>
                  </a:lnTo>
                  <a:lnTo>
                    <a:pt x="807" y="2958"/>
                  </a:lnTo>
                  <a:lnTo>
                    <a:pt x="1937" y="3657"/>
                  </a:lnTo>
                  <a:lnTo>
                    <a:pt x="2367" y="3873"/>
                  </a:lnTo>
                  <a:lnTo>
                    <a:pt x="2743" y="3926"/>
                  </a:lnTo>
                  <a:lnTo>
                    <a:pt x="3174" y="3873"/>
                  </a:lnTo>
                  <a:lnTo>
                    <a:pt x="3550" y="3711"/>
                  </a:lnTo>
                  <a:lnTo>
                    <a:pt x="3873" y="3442"/>
                  </a:lnTo>
                  <a:lnTo>
                    <a:pt x="4142" y="3120"/>
                  </a:lnTo>
                  <a:lnTo>
                    <a:pt x="4303" y="2797"/>
                  </a:lnTo>
                  <a:lnTo>
                    <a:pt x="4357" y="2528"/>
                  </a:lnTo>
                  <a:lnTo>
                    <a:pt x="4357" y="2205"/>
                  </a:lnTo>
                  <a:lnTo>
                    <a:pt x="4303" y="1883"/>
                  </a:lnTo>
                  <a:lnTo>
                    <a:pt x="4195" y="1614"/>
                  </a:lnTo>
                  <a:lnTo>
                    <a:pt x="4088" y="1345"/>
                  </a:lnTo>
                  <a:lnTo>
                    <a:pt x="3873" y="1076"/>
                  </a:lnTo>
                  <a:lnTo>
                    <a:pt x="3604" y="915"/>
                  </a:lnTo>
                  <a:lnTo>
                    <a:pt x="2421" y="215"/>
                  </a:lnTo>
                  <a:lnTo>
                    <a:pt x="2152" y="54"/>
                  </a:lnTo>
                  <a:lnTo>
                    <a:pt x="1829" y="0"/>
                  </a:lnTo>
                  <a:close/>
                </a:path>
              </a:pathLst>
            </a:custGeom>
            <a:solidFill>
              <a:schemeClr val="lt2"/>
            </a:solidFill>
            <a:ln>
              <a:noFill/>
            </a:ln>
          </p:spPr>
          <p:txBody>
            <a:bodyPr spcFirstLastPara="1" wrap="square" lIns="182977" tIns="182977" rIns="182977" bIns="182977" anchor="ctr" anchorCtr="0">
              <a:noAutofit/>
            </a:bodyPr>
            <a:lstStyle/>
            <a:p>
              <a:endParaRPr sz="3603"/>
            </a:p>
          </p:txBody>
        </p:sp>
        <p:sp>
          <p:nvSpPr>
            <p:cNvPr id="354" name="Google Shape;354;p40"/>
            <p:cNvSpPr/>
            <p:nvPr/>
          </p:nvSpPr>
          <p:spPr>
            <a:xfrm>
              <a:off x="6718975" y="3318000"/>
              <a:ext cx="135825" cy="114300"/>
            </a:xfrm>
            <a:custGeom>
              <a:avLst/>
              <a:gdLst/>
              <a:ahLst/>
              <a:cxnLst/>
              <a:rect l="l" t="t" r="r" b="b"/>
              <a:pathLst>
                <a:path w="5433" h="4572" extrusionOk="0">
                  <a:moveTo>
                    <a:pt x="1507" y="0"/>
                  </a:moveTo>
                  <a:lnTo>
                    <a:pt x="1184" y="54"/>
                  </a:lnTo>
                  <a:lnTo>
                    <a:pt x="915" y="161"/>
                  </a:lnTo>
                  <a:lnTo>
                    <a:pt x="646" y="323"/>
                  </a:lnTo>
                  <a:lnTo>
                    <a:pt x="377" y="538"/>
                  </a:lnTo>
                  <a:lnTo>
                    <a:pt x="216" y="807"/>
                  </a:lnTo>
                  <a:lnTo>
                    <a:pt x="55" y="1076"/>
                  </a:lnTo>
                  <a:lnTo>
                    <a:pt x="1" y="1398"/>
                  </a:lnTo>
                  <a:lnTo>
                    <a:pt x="1" y="1721"/>
                  </a:lnTo>
                  <a:lnTo>
                    <a:pt x="55" y="1990"/>
                  </a:lnTo>
                  <a:lnTo>
                    <a:pt x="108" y="2313"/>
                  </a:lnTo>
                  <a:lnTo>
                    <a:pt x="270" y="2582"/>
                  </a:lnTo>
                  <a:lnTo>
                    <a:pt x="485" y="2797"/>
                  </a:lnTo>
                  <a:lnTo>
                    <a:pt x="754" y="3012"/>
                  </a:lnTo>
                  <a:lnTo>
                    <a:pt x="3013" y="4303"/>
                  </a:lnTo>
                  <a:lnTo>
                    <a:pt x="3389" y="4518"/>
                  </a:lnTo>
                  <a:lnTo>
                    <a:pt x="3820" y="4572"/>
                  </a:lnTo>
                  <a:lnTo>
                    <a:pt x="4196" y="4518"/>
                  </a:lnTo>
                  <a:lnTo>
                    <a:pt x="4572" y="4357"/>
                  </a:lnTo>
                  <a:lnTo>
                    <a:pt x="4949" y="4088"/>
                  </a:lnTo>
                  <a:lnTo>
                    <a:pt x="5218" y="3765"/>
                  </a:lnTo>
                  <a:lnTo>
                    <a:pt x="5325" y="3442"/>
                  </a:lnTo>
                  <a:lnTo>
                    <a:pt x="5433" y="3173"/>
                  </a:lnTo>
                  <a:lnTo>
                    <a:pt x="5433" y="2851"/>
                  </a:lnTo>
                  <a:lnTo>
                    <a:pt x="5379" y="2528"/>
                  </a:lnTo>
                  <a:lnTo>
                    <a:pt x="5272" y="2259"/>
                  </a:lnTo>
                  <a:lnTo>
                    <a:pt x="5110" y="1990"/>
                  </a:lnTo>
                  <a:lnTo>
                    <a:pt x="4895" y="1721"/>
                  </a:lnTo>
                  <a:lnTo>
                    <a:pt x="4626" y="1560"/>
                  </a:lnTo>
                  <a:lnTo>
                    <a:pt x="2421" y="215"/>
                  </a:lnTo>
                  <a:lnTo>
                    <a:pt x="2098" y="108"/>
                  </a:lnTo>
                  <a:lnTo>
                    <a:pt x="1830" y="0"/>
                  </a:lnTo>
                  <a:close/>
                </a:path>
              </a:pathLst>
            </a:custGeom>
            <a:solidFill>
              <a:schemeClr val="lt2"/>
            </a:solidFill>
            <a:ln>
              <a:noFill/>
            </a:ln>
          </p:spPr>
          <p:txBody>
            <a:bodyPr spcFirstLastPara="1" wrap="square" lIns="182977" tIns="182977" rIns="182977" bIns="182977" anchor="ctr" anchorCtr="0">
              <a:noAutofit/>
            </a:bodyPr>
            <a:lstStyle/>
            <a:p>
              <a:endParaRPr sz="3603"/>
            </a:p>
          </p:txBody>
        </p:sp>
        <p:sp>
          <p:nvSpPr>
            <p:cNvPr id="355" name="Google Shape;355;p40"/>
            <p:cNvSpPr/>
            <p:nvPr/>
          </p:nvSpPr>
          <p:spPr>
            <a:xfrm>
              <a:off x="6542850" y="3213125"/>
              <a:ext cx="135825" cy="114300"/>
            </a:xfrm>
            <a:custGeom>
              <a:avLst/>
              <a:gdLst/>
              <a:ahLst/>
              <a:cxnLst/>
              <a:rect l="l" t="t" r="r" b="b"/>
              <a:pathLst>
                <a:path w="5433" h="4572" extrusionOk="0">
                  <a:moveTo>
                    <a:pt x="1506" y="0"/>
                  </a:moveTo>
                  <a:lnTo>
                    <a:pt x="1237" y="54"/>
                  </a:lnTo>
                  <a:lnTo>
                    <a:pt x="915" y="161"/>
                  </a:lnTo>
                  <a:lnTo>
                    <a:pt x="646" y="323"/>
                  </a:lnTo>
                  <a:lnTo>
                    <a:pt x="431" y="538"/>
                  </a:lnTo>
                  <a:lnTo>
                    <a:pt x="215" y="807"/>
                  </a:lnTo>
                  <a:lnTo>
                    <a:pt x="108" y="1129"/>
                  </a:lnTo>
                  <a:lnTo>
                    <a:pt x="0" y="1398"/>
                  </a:lnTo>
                  <a:lnTo>
                    <a:pt x="0" y="1721"/>
                  </a:lnTo>
                  <a:lnTo>
                    <a:pt x="54" y="2044"/>
                  </a:lnTo>
                  <a:lnTo>
                    <a:pt x="162" y="2313"/>
                  </a:lnTo>
                  <a:lnTo>
                    <a:pt x="323" y="2582"/>
                  </a:lnTo>
                  <a:lnTo>
                    <a:pt x="538" y="2851"/>
                  </a:lnTo>
                  <a:lnTo>
                    <a:pt x="807" y="3012"/>
                  </a:lnTo>
                  <a:lnTo>
                    <a:pt x="3012" y="4356"/>
                  </a:lnTo>
                  <a:lnTo>
                    <a:pt x="3389" y="4518"/>
                  </a:lnTo>
                  <a:lnTo>
                    <a:pt x="3819" y="4572"/>
                  </a:lnTo>
                  <a:lnTo>
                    <a:pt x="4249" y="4518"/>
                  </a:lnTo>
                  <a:lnTo>
                    <a:pt x="4626" y="4356"/>
                  </a:lnTo>
                  <a:lnTo>
                    <a:pt x="4948" y="4141"/>
                  </a:lnTo>
                  <a:lnTo>
                    <a:pt x="5217" y="3765"/>
                  </a:lnTo>
                  <a:lnTo>
                    <a:pt x="5379" y="3496"/>
                  </a:lnTo>
                  <a:lnTo>
                    <a:pt x="5432" y="3173"/>
                  </a:lnTo>
                  <a:lnTo>
                    <a:pt x="5432" y="2851"/>
                  </a:lnTo>
                  <a:lnTo>
                    <a:pt x="5379" y="2582"/>
                  </a:lnTo>
                  <a:lnTo>
                    <a:pt x="5271" y="2259"/>
                  </a:lnTo>
                  <a:lnTo>
                    <a:pt x="5110" y="1990"/>
                  </a:lnTo>
                  <a:lnTo>
                    <a:pt x="4895" y="1775"/>
                  </a:lnTo>
                  <a:lnTo>
                    <a:pt x="4679" y="1560"/>
                  </a:lnTo>
                  <a:lnTo>
                    <a:pt x="2421" y="269"/>
                  </a:lnTo>
                  <a:lnTo>
                    <a:pt x="2152" y="108"/>
                  </a:lnTo>
                  <a:lnTo>
                    <a:pt x="1829" y="54"/>
                  </a:lnTo>
                  <a:lnTo>
                    <a:pt x="1506" y="0"/>
                  </a:lnTo>
                  <a:close/>
                </a:path>
              </a:pathLst>
            </a:custGeom>
            <a:solidFill>
              <a:schemeClr val="lt2"/>
            </a:solidFill>
            <a:ln>
              <a:noFill/>
            </a:ln>
          </p:spPr>
          <p:txBody>
            <a:bodyPr spcFirstLastPara="1" wrap="square" lIns="182977" tIns="182977" rIns="182977" bIns="182977" anchor="ctr" anchorCtr="0">
              <a:noAutofit/>
            </a:bodyPr>
            <a:lstStyle/>
            <a:p>
              <a:endParaRPr sz="3603"/>
            </a:p>
          </p:txBody>
        </p:sp>
        <p:sp>
          <p:nvSpPr>
            <p:cNvPr id="356" name="Google Shape;356;p40"/>
            <p:cNvSpPr/>
            <p:nvPr/>
          </p:nvSpPr>
          <p:spPr>
            <a:xfrm>
              <a:off x="6366700" y="3109575"/>
              <a:ext cx="137175" cy="112975"/>
            </a:xfrm>
            <a:custGeom>
              <a:avLst/>
              <a:gdLst/>
              <a:ahLst/>
              <a:cxnLst/>
              <a:rect l="l" t="t" r="r" b="b"/>
              <a:pathLst>
                <a:path w="5487" h="4519" extrusionOk="0">
                  <a:moveTo>
                    <a:pt x="1560" y="1"/>
                  </a:moveTo>
                  <a:lnTo>
                    <a:pt x="1238" y="55"/>
                  </a:lnTo>
                  <a:lnTo>
                    <a:pt x="969" y="162"/>
                  </a:lnTo>
                  <a:lnTo>
                    <a:pt x="700" y="323"/>
                  </a:lnTo>
                  <a:lnTo>
                    <a:pt x="431" y="485"/>
                  </a:lnTo>
                  <a:lnTo>
                    <a:pt x="270" y="754"/>
                  </a:lnTo>
                  <a:lnTo>
                    <a:pt x="108" y="1076"/>
                  </a:lnTo>
                  <a:lnTo>
                    <a:pt x="54" y="1399"/>
                  </a:lnTo>
                  <a:lnTo>
                    <a:pt x="1" y="1668"/>
                  </a:lnTo>
                  <a:lnTo>
                    <a:pt x="54" y="1991"/>
                  </a:lnTo>
                  <a:lnTo>
                    <a:pt x="162" y="2313"/>
                  </a:lnTo>
                  <a:lnTo>
                    <a:pt x="323" y="2582"/>
                  </a:lnTo>
                  <a:lnTo>
                    <a:pt x="539" y="2797"/>
                  </a:lnTo>
                  <a:lnTo>
                    <a:pt x="807" y="2959"/>
                  </a:lnTo>
                  <a:lnTo>
                    <a:pt x="3013" y="4303"/>
                  </a:lnTo>
                  <a:lnTo>
                    <a:pt x="3443" y="4465"/>
                  </a:lnTo>
                  <a:lnTo>
                    <a:pt x="3873" y="4519"/>
                  </a:lnTo>
                  <a:lnTo>
                    <a:pt x="4250" y="4465"/>
                  </a:lnTo>
                  <a:lnTo>
                    <a:pt x="4626" y="4303"/>
                  </a:lnTo>
                  <a:lnTo>
                    <a:pt x="4949" y="4088"/>
                  </a:lnTo>
                  <a:lnTo>
                    <a:pt x="5218" y="3766"/>
                  </a:lnTo>
                  <a:lnTo>
                    <a:pt x="5379" y="3443"/>
                  </a:lnTo>
                  <a:lnTo>
                    <a:pt x="5433" y="3120"/>
                  </a:lnTo>
                  <a:lnTo>
                    <a:pt x="5487" y="2851"/>
                  </a:lnTo>
                  <a:lnTo>
                    <a:pt x="5433" y="2529"/>
                  </a:lnTo>
                  <a:lnTo>
                    <a:pt x="5325" y="2206"/>
                  </a:lnTo>
                  <a:lnTo>
                    <a:pt x="5164" y="1937"/>
                  </a:lnTo>
                  <a:lnTo>
                    <a:pt x="4949" y="1722"/>
                  </a:lnTo>
                  <a:lnTo>
                    <a:pt x="4680" y="1507"/>
                  </a:lnTo>
                  <a:lnTo>
                    <a:pt x="2475" y="216"/>
                  </a:lnTo>
                  <a:lnTo>
                    <a:pt x="2152" y="55"/>
                  </a:lnTo>
                  <a:lnTo>
                    <a:pt x="1829" y="1"/>
                  </a:lnTo>
                  <a:close/>
                </a:path>
              </a:pathLst>
            </a:custGeom>
            <a:solidFill>
              <a:schemeClr val="lt2"/>
            </a:solidFill>
            <a:ln>
              <a:noFill/>
            </a:ln>
          </p:spPr>
          <p:txBody>
            <a:bodyPr spcFirstLastPara="1" wrap="square" lIns="182977" tIns="182977" rIns="182977" bIns="182977" anchor="ctr" anchorCtr="0">
              <a:noAutofit/>
            </a:bodyPr>
            <a:lstStyle/>
            <a:p>
              <a:endParaRPr sz="3603"/>
            </a:p>
          </p:txBody>
        </p:sp>
        <p:sp>
          <p:nvSpPr>
            <p:cNvPr id="357" name="Google Shape;357;p40"/>
            <p:cNvSpPr/>
            <p:nvPr/>
          </p:nvSpPr>
          <p:spPr>
            <a:xfrm>
              <a:off x="6191900" y="3004700"/>
              <a:ext cx="135825" cy="114325"/>
            </a:xfrm>
            <a:custGeom>
              <a:avLst/>
              <a:gdLst/>
              <a:ahLst/>
              <a:cxnLst/>
              <a:rect l="l" t="t" r="r" b="b"/>
              <a:pathLst>
                <a:path w="5433" h="4573" extrusionOk="0">
                  <a:moveTo>
                    <a:pt x="1507" y="1"/>
                  </a:moveTo>
                  <a:lnTo>
                    <a:pt x="1184" y="55"/>
                  </a:lnTo>
                  <a:lnTo>
                    <a:pt x="915" y="162"/>
                  </a:lnTo>
                  <a:lnTo>
                    <a:pt x="646" y="323"/>
                  </a:lnTo>
                  <a:lnTo>
                    <a:pt x="431" y="539"/>
                  </a:lnTo>
                  <a:lnTo>
                    <a:pt x="216" y="807"/>
                  </a:lnTo>
                  <a:lnTo>
                    <a:pt x="55" y="1076"/>
                  </a:lnTo>
                  <a:lnTo>
                    <a:pt x="1" y="1399"/>
                  </a:lnTo>
                  <a:lnTo>
                    <a:pt x="1" y="1722"/>
                  </a:lnTo>
                  <a:lnTo>
                    <a:pt x="55" y="1991"/>
                  </a:lnTo>
                  <a:lnTo>
                    <a:pt x="162" y="2313"/>
                  </a:lnTo>
                  <a:lnTo>
                    <a:pt x="324" y="2582"/>
                  </a:lnTo>
                  <a:lnTo>
                    <a:pt x="485" y="2797"/>
                  </a:lnTo>
                  <a:lnTo>
                    <a:pt x="754" y="3013"/>
                  </a:lnTo>
                  <a:lnTo>
                    <a:pt x="3013" y="4303"/>
                  </a:lnTo>
                  <a:lnTo>
                    <a:pt x="3389" y="4518"/>
                  </a:lnTo>
                  <a:lnTo>
                    <a:pt x="3820" y="4572"/>
                  </a:lnTo>
                  <a:lnTo>
                    <a:pt x="4196" y="4518"/>
                  </a:lnTo>
                  <a:lnTo>
                    <a:pt x="4626" y="4357"/>
                  </a:lnTo>
                  <a:lnTo>
                    <a:pt x="4949" y="4088"/>
                  </a:lnTo>
                  <a:lnTo>
                    <a:pt x="5218" y="3766"/>
                  </a:lnTo>
                  <a:lnTo>
                    <a:pt x="5325" y="3443"/>
                  </a:lnTo>
                  <a:lnTo>
                    <a:pt x="5433" y="3174"/>
                  </a:lnTo>
                  <a:lnTo>
                    <a:pt x="5433" y="2851"/>
                  </a:lnTo>
                  <a:lnTo>
                    <a:pt x="5379" y="2529"/>
                  </a:lnTo>
                  <a:lnTo>
                    <a:pt x="5272" y="2260"/>
                  </a:lnTo>
                  <a:lnTo>
                    <a:pt x="5110" y="1991"/>
                  </a:lnTo>
                  <a:lnTo>
                    <a:pt x="4895" y="1722"/>
                  </a:lnTo>
                  <a:lnTo>
                    <a:pt x="4626" y="1560"/>
                  </a:lnTo>
                  <a:lnTo>
                    <a:pt x="2421" y="216"/>
                  </a:lnTo>
                  <a:lnTo>
                    <a:pt x="2152" y="108"/>
                  </a:lnTo>
                  <a:lnTo>
                    <a:pt x="1830" y="1"/>
                  </a:lnTo>
                  <a:close/>
                </a:path>
              </a:pathLst>
            </a:custGeom>
            <a:solidFill>
              <a:schemeClr val="lt2"/>
            </a:solidFill>
            <a:ln>
              <a:noFill/>
            </a:ln>
          </p:spPr>
          <p:txBody>
            <a:bodyPr spcFirstLastPara="1" wrap="square" lIns="182977" tIns="182977" rIns="182977" bIns="182977" anchor="ctr" anchorCtr="0">
              <a:noAutofit/>
            </a:bodyPr>
            <a:lstStyle/>
            <a:p>
              <a:endParaRPr sz="3603"/>
            </a:p>
          </p:txBody>
        </p:sp>
        <p:sp>
          <p:nvSpPr>
            <p:cNvPr id="358" name="Google Shape;358;p40"/>
            <p:cNvSpPr/>
            <p:nvPr/>
          </p:nvSpPr>
          <p:spPr>
            <a:xfrm>
              <a:off x="5839625" y="2796300"/>
              <a:ext cx="137175" cy="112975"/>
            </a:xfrm>
            <a:custGeom>
              <a:avLst/>
              <a:gdLst/>
              <a:ahLst/>
              <a:cxnLst/>
              <a:rect l="l" t="t" r="r" b="b"/>
              <a:pathLst>
                <a:path w="5487" h="4519" extrusionOk="0">
                  <a:moveTo>
                    <a:pt x="1560" y="0"/>
                  </a:moveTo>
                  <a:lnTo>
                    <a:pt x="1238" y="54"/>
                  </a:lnTo>
                  <a:lnTo>
                    <a:pt x="969" y="108"/>
                  </a:lnTo>
                  <a:lnTo>
                    <a:pt x="700" y="269"/>
                  </a:lnTo>
                  <a:lnTo>
                    <a:pt x="431" y="484"/>
                  </a:lnTo>
                  <a:lnTo>
                    <a:pt x="270" y="753"/>
                  </a:lnTo>
                  <a:lnTo>
                    <a:pt x="108" y="1076"/>
                  </a:lnTo>
                  <a:lnTo>
                    <a:pt x="54" y="1399"/>
                  </a:lnTo>
                  <a:lnTo>
                    <a:pt x="1" y="1668"/>
                  </a:lnTo>
                  <a:lnTo>
                    <a:pt x="54" y="1990"/>
                  </a:lnTo>
                  <a:lnTo>
                    <a:pt x="162" y="2259"/>
                  </a:lnTo>
                  <a:lnTo>
                    <a:pt x="323" y="2528"/>
                  </a:lnTo>
                  <a:lnTo>
                    <a:pt x="539" y="2797"/>
                  </a:lnTo>
                  <a:lnTo>
                    <a:pt x="807" y="2958"/>
                  </a:lnTo>
                  <a:lnTo>
                    <a:pt x="3013" y="4303"/>
                  </a:lnTo>
                  <a:lnTo>
                    <a:pt x="3443" y="4464"/>
                  </a:lnTo>
                  <a:lnTo>
                    <a:pt x="3873" y="4518"/>
                  </a:lnTo>
                  <a:lnTo>
                    <a:pt x="4250" y="4464"/>
                  </a:lnTo>
                  <a:lnTo>
                    <a:pt x="4626" y="4303"/>
                  </a:lnTo>
                  <a:lnTo>
                    <a:pt x="5003" y="4088"/>
                  </a:lnTo>
                  <a:lnTo>
                    <a:pt x="5218" y="3711"/>
                  </a:lnTo>
                  <a:lnTo>
                    <a:pt x="5379" y="3442"/>
                  </a:lnTo>
                  <a:lnTo>
                    <a:pt x="5433" y="3120"/>
                  </a:lnTo>
                  <a:lnTo>
                    <a:pt x="5487" y="2797"/>
                  </a:lnTo>
                  <a:lnTo>
                    <a:pt x="5433" y="2528"/>
                  </a:lnTo>
                  <a:lnTo>
                    <a:pt x="5325" y="2205"/>
                  </a:lnTo>
                  <a:lnTo>
                    <a:pt x="5164" y="1937"/>
                  </a:lnTo>
                  <a:lnTo>
                    <a:pt x="4949" y="1721"/>
                  </a:lnTo>
                  <a:lnTo>
                    <a:pt x="4680" y="1506"/>
                  </a:lnTo>
                  <a:lnTo>
                    <a:pt x="2475" y="216"/>
                  </a:lnTo>
                  <a:lnTo>
                    <a:pt x="2152" y="54"/>
                  </a:lnTo>
                  <a:lnTo>
                    <a:pt x="1883" y="0"/>
                  </a:lnTo>
                  <a:close/>
                </a:path>
              </a:pathLst>
            </a:custGeom>
            <a:solidFill>
              <a:schemeClr val="lt2"/>
            </a:solidFill>
            <a:ln>
              <a:noFill/>
            </a:ln>
          </p:spPr>
          <p:txBody>
            <a:bodyPr spcFirstLastPara="1" wrap="square" lIns="182977" tIns="182977" rIns="182977" bIns="182977" anchor="ctr" anchorCtr="0">
              <a:noAutofit/>
            </a:bodyPr>
            <a:lstStyle/>
            <a:p>
              <a:endParaRPr sz="3603"/>
            </a:p>
          </p:txBody>
        </p:sp>
        <p:sp>
          <p:nvSpPr>
            <p:cNvPr id="359" name="Google Shape;359;p40"/>
            <p:cNvSpPr/>
            <p:nvPr/>
          </p:nvSpPr>
          <p:spPr>
            <a:xfrm>
              <a:off x="5664825" y="2691425"/>
              <a:ext cx="135825" cy="112975"/>
            </a:xfrm>
            <a:custGeom>
              <a:avLst/>
              <a:gdLst/>
              <a:ahLst/>
              <a:cxnLst/>
              <a:rect l="l" t="t" r="r" b="b"/>
              <a:pathLst>
                <a:path w="5433" h="4519" extrusionOk="0">
                  <a:moveTo>
                    <a:pt x="1507" y="0"/>
                  </a:moveTo>
                  <a:lnTo>
                    <a:pt x="1184" y="54"/>
                  </a:lnTo>
                  <a:lnTo>
                    <a:pt x="915" y="162"/>
                  </a:lnTo>
                  <a:lnTo>
                    <a:pt x="646" y="323"/>
                  </a:lnTo>
                  <a:lnTo>
                    <a:pt x="431" y="538"/>
                  </a:lnTo>
                  <a:lnTo>
                    <a:pt x="216" y="807"/>
                  </a:lnTo>
                  <a:lnTo>
                    <a:pt x="55" y="1076"/>
                  </a:lnTo>
                  <a:lnTo>
                    <a:pt x="1" y="1399"/>
                  </a:lnTo>
                  <a:lnTo>
                    <a:pt x="1" y="1721"/>
                  </a:lnTo>
                  <a:lnTo>
                    <a:pt x="55" y="1990"/>
                  </a:lnTo>
                  <a:lnTo>
                    <a:pt x="162" y="2313"/>
                  </a:lnTo>
                  <a:lnTo>
                    <a:pt x="324" y="2582"/>
                  </a:lnTo>
                  <a:lnTo>
                    <a:pt x="539" y="2797"/>
                  </a:lnTo>
                  <a:lnTo>
                    <a:pt x="754" y="3012"/>
                  </a:lnTo>
                  <a:lnTo>
                    <a:pt x="3013" y="4303"/>
                  </a:lnTo>
                  <a:lnTo>
                    <a:pt x="3389" y="4464"/>
                  </a:lnTo>
                  <a:lnTo>
                    <a:pt x="3820" y="4518"/>
                  </a:lnTo>
                  <a:lnTo>
                    <a:pt x="4250" y="4464"/>
                  </a:lnTo>
                  <a:lnTo>
                    <a:pt x="4626" y="4357"/>
                  </a:lnTo>
                  <a:lnTo>
                    <a:pt x="4949" y="4088"/>
                  </a:lnTo>
                  <a:lnTo>
                    <a:pt x="5218" y="3765"/>
                  </a:lnTo>
                  <a:lnTo>
                    <a:pt x="5325" y="3442"/>
                  </a:lnTo>
                  <a:lnTo>
                    <a:pt x="5433" y="3174"/>
                  </a:lnTo>
                  <a:lnTo>
                    <a:pt x="5433" y="2851"/>
                  </a:lnTo>
                  <a:lnTo>
                    <a:pt x="5379" y="2528"/>
                  </a:lnTo>
                  <a:lnTo>
                    <a:pt x="5272" y="2259"/>
                  </a:lnTo>
                  <a:lnTo>
                    <a:pt x="5110" y="1990"/>
                  </a:lnTo>
                  <a:lnTo>
                    <a:pt x="4895" y="1721"/>
                  </a:lnTo>
                  <a:lnTo>
                    <a:pt x="4626" y="1560"/>
                  </a:lnTo>
                  <a:lnTo>
                    <a:pt x="2421" y="215"/>
                  </a:lnTo>
                  <a:lnTo>
                    <a:pt x="2152" y="108"/>
                  </a:lnTo>
                  <a:lnTo>
                    <a:pt x="1830" y="0"/>
                  </a:lnTo>
                  <a:close/>
                </a:path>
              </a:pathLst>
            </a:custGeom>
            <a:solidFill>
              <a:schemeClr val="lt2"/>
            </a:solidFill>
            <a:ln>
              <a:noFill/>
            </a:ln>
          </p:spPr>
          <p:txBody>
            <a:bodyPr spcFirstLastPara="1" wrap="square" lIns="182977" tIns="182977" rIns="182977" bIns="182977" anchor="ctr" anchorCtr="0">
              <a:noAutofit/>
            </a:bodyPr>
            <a:lstStyle/>
            <a:p>
              <a:endParaRPr sz="3603"/>
            </a:p>
          </p:txBody>
        </p:sp>
        <p:sp>
          <p:nvSpPr>
            <p:cNvPr id="360" name="Google Shape;360;p40"/>
            <p:cNvSpPr/>
            <p:nvPr/>
          </p:nvSpPr>
          <p:spPr>
            <a:xfrm>
              <a:off x="5004650" y="3527750"/>
              <a:ext cx="108925" cy="98175"/>
            </a:xfrm>
            <a:custGeom>
              <a:avLst/>
              <a:gdLst/>
              <a:ahLst/>
              <a:cxnLst/>
              <a:rect l="l" t="t" r="r" b="b"/>
              <a:pathLst>
                <a:path w="4357" h="3927" extrusionOk="0">
                  <a:moveTo>
                    <a:pt x="2528" y="0"/>
                  </a:moveTo>
                  <a:lnTo>
                    <a:pt x="2205" y="54"/>
                  </a:lnTo>
                  <a:lnTo>
                    <a:pt x="1937" y="215"/>
                  </a:lnTo>
                  <a:lnTo>
                    <a:pt x="753" y="915"/>
                  </a:lnTo>
                  <a:lnTo>
                    <a:pt x="484" y="1076"/>
                  </a:lnTo>
                  <a:lnTo>
                    <a:pt x="269" y="1345"/>
                  </a:lnTo>
                  <a:lnTo>
                    <a:pt x="108" y="1614"/>
                  </a:lnTo>
                  <a:lnTo>
                    <a:pt x="0" y="1883"/>
                  </a:lnTo>
                  <a:lnTo>
                    <a:pt x="0" y="2205"/>
                  </a:lnTo>
                  <a:lnTo>
                    <a:pt x="0" y="2528"/>
                  </a:lnTo>
                  <a:lnTo>
                    <a:pt x="54" y="2797"/>
                  </a:lnTo>
                  <a:lnTo>
                    <a:pt x="215" y="3120"/>
                  </a:lnTo>
                  <a:lnTo>
                    <a:pt x="484" y="3442"/>
                  </a:lnTo>
                  <a:lnTo>
                    <a:pt x="807" y="3711"/>
                  </a:lnTo>
                  <a:lnTo>
                    <a:pt x="1184" y="3873"/>
                  </a:lnTo>
                  <a:lnTo>
                    <a:pt x="1614" y="3926"/>
                  </a:lnTo>
                  <a:lnTo>
                    <a:pt x="1990" y="3873"/>
                  </a:lnTo>
                  <a:lnTo>
                    <a:pt x="2421" y="3657"/>
                  </a:lnTo>
                  <a:lnTo>
                    <a:pt x="3550" y="2958"/>
                  </a:lnTo>
                  <a:lnTo>
                    <a:pt x="3819" y="2797"/>
                  </a:lnTo>
                  <a:lnTo>
                    <a:pt x="4034" y="2528"/>
                  </a:lnTo>
                  <a:lnTo>
                    <a:pt x="4195" y="2259"/>
                  </a:lnTo>
                  <a:lnTo>
                    <a:pt x="4303" y="1990"/>
                  </a:lnTo>
                  <a:lnTo>
                    <a:pt x="4357" y="1668"/>
                  </a:lnTo>
                  <a:lnTo>
                    <a:pt x="4357" y="1345"/>
                  </a:lnTo>
                  <a:lnTo>
                    <a:pt x="4249" y="1076"/>
                  </a:lnTo>
                  <a:lnTo>
                    <a:pt x="4142" y="753"/>
                  </a:lnTo>
                  <a:lnTo>
                    <a:pt x="3927" y="484"/>
                  </a:lnTo>
                  <a:lnTo>
                    <a:pt x="3711" y="269"/>
                  </a:lnTo>
                  <a:lnTo>
                    <a:pt x="3442" y="108"/>
                  </a:lnTo>
                  <a:lnTo>
                    <a:pt x="3120" y="0"/>
                  </a:lnTo>
                  <a:close/>
                </a:path>
              </a:pathLst>
            </a:custGeom>
            <a:solidFill>
              <a:schemeClr val="lt2"/>
            </a:solidFill>
            <a:ln>
              <a:noFill/>
            </a:ln>
          </p:spPr>
          <p:txBody>
            <a:bodyPr spcFirstLastPara="1" wrap="square" lIns="182977" tIns="182977" rIns="182977" bIns="182977" anchor="ctr" anchorCtr="0">
              <a:noAutofit/>
            </a:bodyPr>
            <a:lstStyle/>
            <a:p>
              <a:endParaRPr sz="3603"/>
            </a:p>
          </p:txBody>
        </p:sp>
        <p:sp>
          <p:nvSpPr>
            <p:cNvPr id="361" name="Google Shape;361;p40"/>
            <p:cNvSpPr/>
            <p:nvPr/>
          </p:nvSpPr>
          <p:spPr>
            <a:xfrm>
              <a:off x="5328700" y="3318000"/>
              <a:ext cx="135825" cy="114300"/>
            </a:xfrm>
            <a:custGeom>
              <a:avLst/>
              <a:gdLst/>
              <a:ahLst/>
              <a:cxnLst/>
              <a:rect l="l" t="t" r="r" b="b"/>
              <a:pathLst>
                <a:path w="5433" h="4572" extrusionOk="0">
                  <a:moveTo>
                    <a:pt x="3604" y="0"/>
                  </a:moveTo>
                  <a:lnTo>
                    <a:pt x="3281" y="108"/>
                  </a:lnTo>
                  <a:lnTo>
                    <a:pt x="3012" y="215"/>
                  </a:lnTo>
                  <a:lnTo>
                    <a:pt x="807" y="1560"/>
                  </a:lnTo>
                  <a:lnTo>
                    <a:pt x="538" y="1721"/>
                  </a:lnTo>
                  <a:lnTo>
                    <a:pt x="323" y="1990"/>
                  </a:lnTo>
                  <a:lnTo>
                    <a:pt x="161" y="2259"/>
                  </a:lnTo>
                  <a:lnTo>
                    <a:pt x="54" y="2528"/>
                  </a:lnTo>
                  <a:lnTo>
                    <a:pt x="0" y="2851"/>
                  </a:lnTo>
                  <a:lnTo>
                    <a:pt x="0" y="3173"/>
                  </a:lnTo>
                  <a:lnTo>
                    <a:pt x="108" y="3442"/>
                  </a:lnTo>
                  <a:lnTo>
                    <a:pt x="215" y="3765"/>
                  </a:lnTo>
                  <a:lnTo>
                    <a:pt x="484" y="4088"/>
                  </a:lnTo>
                  <a:lnTo>
                    <a:pt x="807" y="4357"/>
                  </a:lnTo>
                  <a:lnTo>
                    <a:pt x="1183" y="4518"/>
                  </a:lnTo>
                  <a:lnTo>
                    <a:pt x="1614" y="4572"/>
                  </a:lnTo>
                  <a:lnTo>
                    <a:pt x="2044" y="4518"/>
                  </a:lnTo>
                  <a:lnTo>
                    <a:pt x="2420" y="4303"/>
                  </a:lnTo>
                  <a:lnTo>
                    <a:pt x="4679" y="3012"/>
                  </a:lnTo>
                  <a:lnTo>
                    <a:pt x="4894" y="2797"/>
                  </a:lnTo>
                  <a:lnTo>
                    <a:pt x="5110" y="2582"/>
                  </a:lnTo>
                  <a:lnTo>
                    <a:pt x="5271" y="2313"/>
                  </a:lnTo>
                  <a:lnTo>
                    <a:pt x="5378" y="1990"/>
                  </a:lnTo>
                  <a:lnTo>
                    <a:pt x="5432" y="1721"/>
                  </a:lnTo>
                  <a:lnTo>
                    <a:pt x="5432" y="1398"/>
                  </a:lnTo>
                  <a:lnTo>
                    <a:pt x="5378" y="1076"/>
                  </a:lnTo>
                  <a:lnTo>
                    <a:pt x="5217" y="807"/>
                  </a:lnTo>
                  <a:lnTo>
                    <a:pt x="5002" y="538"/>
                  </a:lnTo>
                  <a:lnTo>
                    <a:pt x="4787" y="323"/>
                  </a:lnTo>
                  <a:lnTo>
                    <a:pt x="4518" y="161"/>
                  </a:lnTo>
                  <a:lnTo>
                    <a:pt x="4249" y="54"/>
                  </a:lnTo>
                  <a:lnTo>
                    <a:pt x="3926" y="0"/>
                  </a:lnTo>
                  <a:close/>
                </a:path>
              </a:pathLst>
            </a:custGeom>
            <a:solidFill>
              <a:schemeClr val="lt2"/>
            </a:solidFill>
            <a:ln>
              <a:noFill/>
            </a:ln>
          </p:spPr>
          <p:txBody>
            <a:bodyPr spcFirstLastPara="1" wrap="square" lIns="182977" tIns="182977" rIns="182977" bIns="182977" anchor="ctr" anchorCtr="0">
              <a:noAutofit/>
            </a:bodyPr>
            <a:lstStyle/>
            <a:p>
              <a:endParaRPr sz="3603"/>
            </a:p>
          </p:txBody>
        </p:sp>
        <p:sp>
          <p:nvSpPr>
            <p:cNvPr id="362" name="Google Shape;362;p40"/>
            <p:cNvSpPr/>
            <p:nvPr/>
          </p:nvSpPr>
          <p:spPr>
            <a:xfrm>
              <a:off x="5504825" y="3213125"/>
              <a:ext cx="135825" cy="114300"/>
            </a:xfrm>
            <a:custGeom>
              <a:avLst/>
              <a:gdLst/>
              <a:ahLst/>
              <a:cxnLst/>
              <a:rect l="l" t="t" r="r" b="b"/>
              <a:pathLst>
                <a:path w="5433" h="4572" extrusionOk="0">
                  <a:moveTo>
                    <a:pt x="3927" y="0"/>
                  </a:moveTo>
                  <a:lnTo>
                    <a:pt x="3604" y="54"/>
                  </a:lnTo>
                  <a:lnTo>
                    <a:pt x="3281" y="108"/>
                  </a:lnTo>
                  <a:lnTo>
                    <a:pt x="3013" y="269"/>
                  </a:lnTo>
                  <a:lnTo>
                    <a:pt x="754" y="1560"/>
                  </a:lnTo>
                  <a:lnTo>
                    <a:pt x="485" y="1775"/>
                  </a:lnTo>
                  <a:lnTo>
                    <a:pt x="270" y="1990"/>
                  </a:lnTo>
                  <a:lnTo>
                    <a:pt x="162" y="2259"/>
                  </a:lnTo>
                  <a:lnTo>
                    <a:pt x="54" y="2582"/>
                  </a:lnTo>
                  <a:lnTo>
                    <a:pt x="1" y="2851"/>
                  </a:lnTo>
                  <a:lnTo>
                    <a:pt x="1" y="3173"/>
                  </a:lnTo>
                  <a:lnTo>
                    <a:pt x="54" y="3496"/>
                  </a:lnTo>
                  <a:lnTo>
                    <a:pt x="216" y="3765"/>
                  </a:lnTo>
                  <a:lnTo>
                    <a:pt x="485" y="4141"/>
                  </a:lnTo>
                  <a:lnTo>
                    <a:pt x="807" y="4356"/>
                  </a:lnTo>
                  <a:lnTo>
                    <a:pt x="1184" y="4518"/>
                  </a:lnTo>
                  <a:lnTo>
                    <a:pt x="1614" y="4572"/>
                  </a:lnTo>
                  <a:lnTo>
                    <a:pt x="2044" y="4518"/>
                  </a:lnTo>
                  <a:lnTo>
                    <a:pt x="2421" y="4356"/>
                  </a:lnTo>
                  <a:lnTo>
                    <a:pt x="4626" y="3012"/>
                  </a:lnTo>
                  <a:lnTo>
                    <a:pt x="4895" y="2851"/>
                  </a:lnTo>
                  <a:lnTo>
                    <a:pt x="5110" y="2582"/>
                  </a:lnTo>
                  <a:lnTo>
                    <a:pt x="5271" y="2313"/>
                  </a:lnTo>
                  <a:lnTo>
                    <a:pt x="5379" y="2044"/>
                  </a:lnTo>
                  <a:lnTo>
                    <a:pt x="5433" y="1721"/>
                  </a:lnTo>
                  <a:lnTo>
                    <a:pt x="5433" y="1398"/>
                  </a:lnTo>
                  <a:lnTo>
                    <a:pt x="5325" y="1129"/>
                  </a:lnTo>
                  <a:lnTo>
                    <a:pt x="5218" y="807"/>
                  </a:lnTo>
                  <a:lnTo>
                    <a:pt x="5003" y="538"/>
                  </a:lnTo>
                  <a:lnTo>
                    <a:pt x="4787" y="323"/>
                  </a:lnTo>
                  <a:lnTo>
                    <a:pt x="4518" y="161"/>
                  </a:lnTo>
                  <a:lnTo>
                    <a:pt x="4196" y="54"/>
                  </a:lnTo>
                  <a:lnTo>
                    <a:pt x="3927" y="0"/>
                  </a:lnTo>
                  <a:close/>
                </a:path>
              </a:pathLst>
            </a:custGeom>
            <a:solidFill>
              <a:schemeClr val="lt2"/>
            </a:solidFill>
            <a:ln>
              <a:noFill/>
            </a:ln>
          </p:spPr>
          <p:txBody>
            <a:bodyPr spcFirstLastPara="1" wrap="square" lIns="182977" tIns="182977" rIns="182977" bIns="182977" anchor="ctr" anchorCtr="0">
              <a:noAutofit/>
            </a:bodyPr>
            <a:lstStyle/>
            <a:p>
              <a:endParaRPr sz="3603"/>
            </a:p>
          </p:txBody>
        </p:sp>
        <p:sp>
          <p:nvSpPr>
            <p:cNvPr id="363" name="Google Shape;363;p40"/>
            <p:cNvSpPr/>
            <p:nvPr/>
          </p:nvSpPr>
          <p:spPr>
            <a:xfrm>
              <a:off x="5679625" y="3109575"/>
              <a:ext cx="137175" cy="112975"/>
            </a:xfrm>
            <a:custGeom>
              <a:avLst/>
              <a:gdLst/>
              <a:ahLst/>
              <a:cxnLst/>
              <a:rect l="l" t="t" r="r" b="b"/>
              <a:pathLst>
                <a:path w="5487" h="4519" extrusionOk="0">
                  <a:moveTo>
                    <a:pt x="3604" y="1"/>
                  </a:moveTo>
                  <a:lnTo>
                    <a:pt x="3335" y="55"/>
                  </a:lnTo>
                  <a:lnTo>
                    <a:pt x="3012" y="216"/>
                  </a:lnTo>
                  <a:lnTo>
                    <a:pt x="807" y="1507"/>
                  </a:lnTo>
                  <a:lnTo>
                    <a:pt x="538" y="1722"/>
                  </a:lnTo>
                  <a:lnTo>
                    <a:pt x="323" y="1937"/>
                  </a:lnTo>
                  <a:lnTo>
                    <a:pt x="162" y="2206"/>
                  </a:lnTo>
                  <a:lnTo>
                    <a:pt x="54" y="2529"/>
                  </a:lnTo>
                  <a:lnTo>
                    <a:pt x="1" y="2851"/>
                  </a:lnTo>
                  <a:lnTo>
                    <a:pt x="54" y="3120"/>
                  </a:lnTo>
                  <a:lnTo>
                    <a:pt x="108" y="3443"/>
                  </a:lnTo>
                  <a:lnTo>
                    <a:pt x="269" y="3766"/>
                  </a:lnTo>
                  <a:lnTo>
                    <a:pt x="485" y="4088"/>
                  </a:lnTo>
                  <a:lnTo>
                    <a:pt x="861" y="4303"/>
                  </a:lnTo>
                  <a:lnTo>
                    <a:pt x="1238" y="4465"/>
                  </a:lnTo>
                  <a:lnTo>
                    <a:pt x="1614" y="4519"/>
                  </a:lnTo>
                  <a:lnTo>
                    <a:pt x="2044" y="4465"/>
                  </a:lnTo>
                  <a:lnTo>
                    <a:pt x="2475" y="4303"/>
                  </a:lnTo>
                  <a:lnTo>
                    <a:pt x="4680" y="2959"/>
                  </a:lnTo>
                  <a:lnTo>
                    <a:pt x="4949" y="2797"/>
                  </a:lnTo>
                  <a:lnTo>
                    <a:pt x="5164" y="2529"/>
                  </a:lnTo>
                  <a:lnTo>
                    <a:pt x="5325" y="2313"/>
                  </a:lnTo>
                  <a:lnTo>
                    <a:pt x="5433" y="1991"/>
                  </a:lnTo>
                  <a:lnTo>
                    <a:pt x="5486" y="1668"/>
                  </a:lnTo>
                  <a:lnTo>
                    <a:pt x="5433" y="1399"/>
                  </a:lnTo>
                  <a:lnTo>
                    <a:pt x="5379" y="1076"/>
                  </a:lnTo>
                  <a:lnTo>
                    <a:pt x="5217" y="754"/>
                  </a:lnTo>
                  <a:lnTo>
                    <a:pt x="5056" y="485"/>
                  </a:lnTo>
                  <a:lnTo>
                    <a:pt x="4787" y="323"/>
                  </a:lnTo>
                  <a:lnTo>
                    <a:pt x="4518" y="162"/>
                  </a:lnTo>
                  <a:lnTo>
                    <a:pt x="4249" y="55"/>
                  </a:lnTo>
                  <a:lnTo>
                    <a:pt x="3927" y="1"/>
                  </a:lnTo>
                  <a:close/>
                </a:path>
              </a:pathLst>
            </a:custGeom>
            <a:solidFill>
              <a:schemeClr val="lt2"/>
            </a:solidFill>
            <a:ln>
              <a:noFill/>
            </a:ln>
          </p:spPr>
          <p:txBody>
            <a:bodyPr spcFirstLastPara="1" wrap="square" lIns="182977" tIns="182977" rIns="182977" bIns="182977" anchor="ctr" anchorCtr="0">
              <a:noAutofit/>
            </a:bodyPr>
            <a:lstStyle/>
            <a:p>
              <a:endParaRPr sz="3603"/>
            </a:p>
          </p:txBody>
        </p:sp>
        <p:sp>
          <p:nvSpPr>
            <p:cNvPr id="364" name="Google Shape;364;p40"/>
            <p:cNvSpPr/>
            <p:nvPr/>
          </p:nvSpPr>
          <p:spPr>
            <a:xfrm>
              <a:off x="5855775" y="3004700"/>
              <a:ext cx="135825" cy="114325"/>
            </a:xfrm>
            <a:custGeom>
              <a:avLst/>
              <a:gdLst/>
              <a:ahLst/>
              <a:cxnLst/>
              <a:rect l="l" t="t" r="r" b="b"/>
              <a:pathLst>
                <a:path w="5433" h="4573" extrusionOk="0">
                  <a:moveTo>
                    <a:pt x="3604" y="1"/>
                  </a:moveTo>
                  <a:lnTo>
                    <a:pt x="3281" y="108"/>
                  </a:lnTo>
                  <a:lnTo>
                    <a:pt x="3012" y="216"/>
                  </a:lnTo>
                  <a:lnTo>
                    <a:pt x="807" y="1560"/>
                  </a:lnTo>
                  <a:lnTo>
                    <a:pt x="538" y="1722"/>
                  </a:lnTo>
                  <a:lnTo>
                    <a:pt x="323" y="1991"/>
                  </a:lnTo>
                  <a:lnTo>
                    <a:pt x="161" y="2260"/>
                  </a:lnTo>
                  <a:lnTo>
                    <a:pt x="54" y="2529"/>
                  </a:lnTo>
                  <a:lnTo>
                    <a:pt x="0" y="2851"/>
                  </a:lnTo>
                  <a:lnTo>
                    <a:pt x="0" y="3174"/>
                  </a:lnTo>
                  <a:lnTo>
                    <a:pt x="108" y="3443"/>
                  </a:lnTo>
                  <a:lnTo>
                    <a:pt x="215" y="3766"/>
                  </a:lnTo>
                  <a:lnTo>
                    <a:pt x="484" y="4088"/>
                  </a:lnTo>
                  <a:lnTo>
                    <a:pt x="807" y="4357"/>
                  </a:lnTo>
                  <a:lnTo>
                    <a:pt x="1183" y="4518"/>
                  </a:lnTo>
                  <a:lnTo>
                    <a:pt x="1614" y="4572"/>
                  </a:lnTo>
                  <a:lnTo>
                    <a:pt x="2044" y="4518"/>
                  </a:lnTo>
                  <a:lnTo>
                    <a:pt x="2420" y="4303"/>
                  </a:lnTo>
                  <a:lnTo>
                    <a:pt x="4679" y="3013"/>
                  </a:lnTo>
                  <a:lnTo>
                    <a:pt x="4894" y="2797"/>
                  </a:lnTo>
                  <a:lnTo>
                    <a:pt x="5110" y="2582"/>
                  </a:lnTo>
                  <a:lnTo>
                    <a:pt x="5271" y="2313"/>
                  </a:lnTo>
                  <a:lnTo>
                    <a:pt x="5378" y="1991"/>
                  </a:lnTo>
                  <a:lnTo>
                    <a:pt x="5432" y="1722"/>
                  </a:lnTo>
                  <a:lnTo>
                    <a:pt x="5432" y="1399"/>
                  </a:lnTo>
                  <a:lnTo>
                    <a:pt x="5378" y="1076"/>
                  </a:lnTo>
                  <a:lnTo>
                    <a:pt x="5217" y="807"/>
                  </a:lnTo>
                  <a:lnTo>
                    <a:pt x="5002" y="539"/>
                  </a:lnTo>
                  <a:lnTo>
                    <a:pt x="4787" y="323"/>
                  </a:lnTo>
                  <a:lnTo>
                    <a:pt x="4518" y="162"/>
                  </a:lnTo>
                  <a:lnTo>
                    <a:pt x="4249" y="55"/>
                  </a:lnTo>
                  <a:lnTo>
                    <a:pt x="3926" y="1"/>
                  </a:lnTo>
                  <a:close/>
                </a:path>
              </a:pathLst>
            </a:custGeom>
            <a:solidFill>
              <a:schemeClr val="lt2"/>
            </a:solidFill>
            <a:ln>
              <a:noFill/>
            </a:ln>
          </p:spPr>
          <p:txBody>
            <a:bodyPr spcFirstLastPara="1" wrap="square" lIns="182977" tIns="182977" rIns="182977" bIns="182977" anchor="ctr" anchorCtr="0">
              <a:noAutofit/>
            </a:bodyPr>
            <a:lstStyle/>
            <a:p>
              <a:endParaRPr sz="3603"/>
            </a:p>
          </p:txBody>
        </p:sp>
        <p:sp>
          <p:nvSpPr>
            <p:cNvPr id="365" name="Google Shape;365;p40"/>
            <p:cNvSpPr/>
            <p:nvPr/>
          </p:nvSpPr>
          <p:spPr>
            <a:xfrm>
              <a:off x="6206700" y="2796300"/>
              <a:ext cx="135825" cy="112975"/>
            </a:xfrm>
            <a:custGeom>
              <a:avLst/>
              <a:gdLst/>
              <a:ahLst/>
              <a:cxnLst/>
              <a:rect l="l" t="t" r="r" b="b"/>
              <a:pathLst>
                <a:path w="5433" h="4519" extrusionOk="0">
                  <a:moveTo>
                    <a:pt x="3604" y="0"/>
                  </a:moveTo>
                  <a:lnTo>
                    <a:pt x="3335" y="54"/>
                  </a:lnTo>
                  <a:lnTo>
                    <a:pt x="3012" y="216"/>
                  </a:lnTo>
                  <a:lnTo>
                    <a:pt x="807" y="1506"/>
                  </a:lnTo>
                  <a:lnTo>
                    <a:pt x="538" y="1721"/>
                  </a:lnTo>
                  <a:lnTo>
                    <a:pt x="323" y="1937"/>
                  </a:lnTo>
                  <a:lnTo>
                    <a:pt x="162" y="2205"/>
                  </a:lnTo>
                  <a:lnTo>
                    <a:pt x="54" y="2528"/>
                  </a:lnTo>
                  <a:lnTo>
                    <a:pt x="1" y="2797"/>
                  </a:lnTo>
                  <a:lnTo>
                    <a:pt x="1" y="3120"/>
                  </a:lnTo>
                  <a:lnTo>
                    <a:pt x="108" y="3442"/>
                  </a:lnTo>
                  <a:lnTo>
                    <a:pt x="216" y="3711"/>
                  </a:lnTo>
                  <a:lnTo>
                    <a:pt x="485" y="4088"/>
                  </a:lnTo>
                  <a:lnTo>
                    <a:pt x="861" y="4303"/>
                  </a:lnTo>
                  <a:lnTo>
                    <a:pt x="1238" y="4464"/>
                  </a:lnTo>
                  <a:lnTo>
                    <a:pt x="1614" y="4518"/>
                  </a:lnTo>
                  <a:lnTo>
                    <a:pt x="2044" y="4464"/>
                  </a:lnTo>
                  <a:lnTo>
                    <a:pt x="2475" y="4303"/>
                  </a:lnTo>
                  <a:lnTo>
                    <a:pt x="4680" y="2958"/>
                  </a:lnTo>
                  <a:lnTo>
                    <a:pt x="4949" y="2797"/>
                  </a:lnTo>
                  <a:lnTo>
                    <a:pt x="5164" y="2528"/>
                  </a:lnTo>
                  <a:lnTo>
                    <a:pt x="5325" y="2259"/>
                  </a:lnTo>
                  <a:lnTo>
                    <a:pt x="5433" y="1990"/>
                  </a:lnTo>
                  <a:lnTo>
                    <a:pt x="5433" y="1668"/>
                  </a:lnTo>
                  <a:lnTo>
                    <a:pt x="5433" y="1399"/>
                  </a:lnTo>
                  <a:lnTo>
                    <a:pt x="5379" y="1076"/>
                  </a:lnTo>
                  <a:lnTo>
                    <a:pt x="5217" y="753"/>
                  </a:lnTo>
                  <a:lnTo>
                    <a:pt x="5056" y="484"/>
                  </a:lnTo>
                  <a:lnTo>
                    <a:pt x="4787" y="269"/>
                  </a:lnTo>
                  <a:lnTo>
                    <a:pt x="4518" y="108"/>
                  </a:lnTo>
                  <a:lnTo>
                    <a:pt x="4249" y="54"/>
                  </a:lnTo>
                  <a:lnTo>
                    <a:pt x="3927" y="0"/>
                  </a:lnTo>
                  <a:close/>
                </a:path>
              </a:pathLst>
            </a:custGeom>
            <a:solidFill>
              <a:schemeClr val="lt2"/>
            </a:solidFill>
            <a:ln>
              <a:noFill/>
            </a:ln>
          </p:spPr>
          <p:txBody>
            <a:bodyPr spcFirstLastPara="1" wrap="square" lIns="182977" tIns="182977" rIns="182977" bIns="182977" anchor="ctr" anchorCtr="0">
              <a:noAutofit/>
            </a:bodyPr>
            <a:lstStyle/>
            <a:p>
              <a:endParaRPr sz="3603"/>
            </a:p>
          </p:txBody>
        </p:sp>
        <p:sp>
          <p:nvSpPr>
            <p:cNvPr id="366" name="Google Shape;366;p40"/>
            <p:cNvSpPr/>
            <p:nvPr/>
          </p:nvSpPr>
          <p:spPr>
            <a:xfrm>
              <a:off x="6382850" y="2691425"/>
              <a:ext cx="135825" cy="112975"/>
            </a:xfrm>
            <a:custGeom>
              <a:avLst/>
              <a:gdLst/>
              <a:ahLst/>
              <a:cxnLst/>
              <a:rect l="l" t="t" r="r" b="b"/>
              <a:pathLst>
                <a:path w="5433" h="4519" extrusionOk="0">
                  <a:moveTo>
                    <a:pt x="3604" y="0"/>
                  </a:moveTo>
                  <a:lnTo>
                    <a:pt x="3281" y="108"/>
                  </a:lnTo>
                  <a:lnTo>
                    <a:pt x="3012" y="215"/>
                  </a:lnTo>
                  <a:lnTo>
                    <a:pt x="807" y="1560"/>
                  </a:lnTo>
                  <a:lnTo>
                    <a:pt x="538" y="1721"/>
                  </a:lnTo>
                  <a:lnTo>
                    <a:pt x="323" y="1990"/>
                  </a:lnTo>
                  <a:lnTo>
                    <a:pt x="161" y="2259"/>
                  </a:lnTo>
                  <a:lnTo>
                    <a:pt x="54" y="2528"/>
                  </a:lnTo>
                  <a:lnTo>
                    <a:pt x="0" y="2851"/>
                  </a:lnTo>
                  <a:lnTo>
                    <a:pt x="0" y="3174"/>
                  </a:lnTo>
                  <a:lnTo>
                    <a:pt x="108" y="3442"/>
                  </a:lnTo>
                  <a:lnTo>
                    <a:pt x="215" y="3765"/>
                  </a:lnTo>
                  <a:lnTo>
                    <a:pt x="484" y="4088"/>
                  </a:lnTo>
                  <a:lnTo>
                    <a:pt x="807" y="4357"/>
                  </a:lnTo>
                  <a:lnTo>
                    <a:pt x="1183" y="4464"/>
                  </a:lnTo>
                  <a:lnTo>
                    <a:pt x="1614" y="4518"/>
                  </a:lnTo>
                  <a:lnTo>
                    <a:pt x="2044" y="4464"/>
                  </a:lnTo>
                  <a:lnTo>
                    <a:pt x="2420" y="4303"/>
                  </a:lnTo>
                  <a:lnTo>
                    <a:pt x="4625" y="3012"/>
                  </a:lnTo>
                  <a:lnTo>
                    <a:pt x="4894" y="2797"/>
                  </a:lnTo>
                  <a:lnTo>
                    <a:pt x="5110" y="2582"/>
                  </a:lnTo>
                  <a:lnTo>
                    <a:pt x="5271" y="2313"/>
                  </a:lnTo>
                  <a:lnTo>
                    <a:pt x="5378" y="1990"/>
                  </a:lnTo>
                  <a:lnTo>
                    <a:pt x="5432" y="1721"/>
                  </a:lnTo>
                  <a:lnTo>
                    <a:pt x="5432" y="1399"/>
                  </a:lnTo>
                  <a:lnTo>
                    <a:pt x="5325" y="1076"/>
                  </a:lnTo>
                  <a:lnTo>
                    <a:pt x="5217" y="807"/>
                  </a:lnTo>
                  <a:lnTo>
                    <a:pt x="5002" y="538"/>
                  </a:lnTo>
                  <a:lnTo>
                    <a:pt x="4787" y="323"/>
                  </a:lnTo>
                  <a:lnTo>
                    <a:pt x="4518" y="162"/>
                  </a:lnTo>
                  <a:lnTo>
                    <a:pt x="4249" y="54"/>
                  </a:lnTo>
                  <a:lnTo>
                    <a:pt x="3926" y="0"/>
                  </a:lnTo>
                  <a:close/>
                </a:path>
              </a:pathLst>
            </a:custGeom>
            <a:solidFill>
              <a:schemeClr val="lt2"/>
            </a:solidFill>
            <a:ln>
              <a:noFill/>
            </a:ln>
          </p:spPr>
          <p:txBody>
            <a:bodyPr spcFirstLastPara="1" wrap="square" lIns="182977" tIns="182977" rIns="182977" bIns="182977" anchor="ctr" anchorCtr="0">
              <a:noAutofit/>
            </a:bodyPr>
            <a:lstStyle/>
            <a:p>
              <a:endParaRPr sz="3603"/>
            </a:p>
          </p:txBody>
        </p:sp>
      </p:grpSp>
      <p:sp>
        <p:nvSpPr>
          <p:cNvPr id="2" name="Rectangle 1"/>
          <p:cNvSpPr/>
          <p:nvPr/>
        </p:nvSpPr>
        <p:spPr>
          <a:xfrm>
            <a:off x="3816350" y="3625850"/>
            <a:ext cx="1981200" cy="14859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12579350" y="3625850"/>
            <a:ext cx="1524000" cy="14859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8300700" cy="10299700"/>
          </a:xfrm>
          <a:prstGeom prst="rect">
            <a:avLst/>
          </a:prstGeom>
          <a:gradFill flip="none" rotWithShape="1">
            <a:gsLst>
              <a:gs pos="0">
                <a:schemeClr val="accent2">
                  <a:lumMod val="40000"/>
                  <a:lumOff val="60000"/>
                  <a:shade val="30000"/>
                  <a:satMod val="115000"/>
                </a:schemeClr>
              </a:gs>
              <a:gs pos="50000">
                <a:schemeClr val="accent2">
                  <a:lumMod val="40000"/>
                  <a:lumOff val="60000"/>
                  <a:shade val="67500"/>
                  <a:satMod val="115000"/>
                </a:schemeClr>
              </a:gs>
              <a:gs pos="100000">
                <a:schemeClr val="accent2">
                  <a:lumMod val="40000"/>
                  <a:lumOff val="60000"/>
                  <a:shade val="100000"/>
                  <a:satMod val="115000"/>
                </a:schemeClr>
              </a:gs>
            </a:gsLst>
            <a:lin ang="81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tx1"/>
              </a:solidFill>
            </a:endParaRPr>
          </a:p>
        </p:txBody>
      </p:sp>
      <p:sp>
        <p:nvSpPr>
          <p:cNvPr id="4" name="Rectangle 3"/>
          <p:cNvSpPr/>
          <p:nvPr/>
        </p:nvSpPr>
        <p:spPr>
          <a:xfrm>
            <a:off x="3968750" y="730250"/>
            <a:ext cx="99822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600" b="1" i="1" dirty="0" smtClean="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Cauchy’s Integral Formula </a:t>
            </a:r>
            <a:endParaRPr lang="en-US" sz="6600" b="1" i="1"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5" name="Rectangle 4"/>
              <p:cNvSpPr/>
              <p:nvPr/>
            </p:nvSpPr>
            <p:spPr>
              <a:xfrm>
                <a:off x="1835150" y="2711450"/>
                <a:ext cx="14478000" cy="5791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dirty="0" smtClean="0">
                    <a:ln w="0"/>
                    <a:solidFill>
                      <a:schemeClr val="tx1"/>
                    </a:solidFill>
                    <a:effectLst/>
                    <a:latin typeface="Times New Roman" panose="02020603050405020304" pitchFamily="18" charset="0"/>
                    <a:cs typeface="Times New Roman" panose="02020603050405020304" pitchFamily="18" charset="0"/>
                  </a:rPr>
                  <a:t>If f(z) be the analytic function on a closed curve and on its boundary and a be the any points in the closed curve </a:t>
                </a:r>
              </a:p>
              <a:p>
                <a:r>
                  <a:rPr lang="en-US" sz="4400" dirty="0">
                    <a:ln w="0"/>
                    <a:solidFill>
                      <a:schemeClr val="tx1"/>
                    </a:solidFill>
                    <a:effectLst/>
                    <a:latin typeface="Times New Roman" panose="02020603050405020304" pitchFamily="18" charset="0"/>
                    <a:cs typeface="Times New Roman" panose="02020603050405020304" pitchFamily="18" charset="0"/>
                  </a:rPr>
                  <a:t> </a:t>
                </a:r>
                <a:r>
                  <a:rPr lang="en-US" sz="4400" dirty="0" smtClean="0">
                    <a:ln w="0"/>
                    <a:solidFill>
                      <a:schemeClr val="tx1"/>
                    </a:solidFill>
                    <a:effectLst/>
                    <a:latin typeface="Times New Roman" panose="02020603050405020304" pitchFamily="18" charset="0"/>
                    <a:cs typeface="Times New Roman" panose="02020603050405020304" pitchFamily="18" charset="0"/>
                  </a:rPr>
                  <a:t>                            f(a) = </a:t>
                </a:r>
                <a14:m>
                  <m:oMath xmlns:m="http://schemas.openxmlformats.org/officeDocument/2006/math">
                    <m:f>
                      <m:fPr>
                        <m:ctrlPr>
                          <a:rPr lang="en-US" sz="4400" i="1" smtClean="0">
                            <a:ln w="0"/>
                            <a:solidFill>
                              <a:schemeClr val="tx1"/>
                            </a:solidFill>
                            <a:effectLst/>
                            <a:latin typeface="Cambria Math" panose="02040503050406030204" pitchFamily="18" charset="0"/>
                            <a:cs typeface="Times New Roman" panose="02020603050405020304" pitchFamily="18" charset="0"/>
                          </a:rPr>
                        </m:ctrlPr>
                      </m:fPr>
                      <m:num>
                        <m:r>
                          <a:rPr lang="en-US" sz="4400" b="0" i="1" smtClean="0">
                            <a:ln w="0"/>
                            <a:solidFill>
                              <a:schemeClr val="tx1"/>
                            </a:solidFill>
                            <a:effectLst/>
                            <a:latin typeface="Cambria Math" panose="02040503050406030204" pitchFamily="18" charset="0"/>
                            <a:cs typeface="Times New Roman" panose="02020603050405020304" pitchFamily="18" charset="0"/>
                          </a:rPr>
                          <m:t>1</m:t>
                        </m:r>
                      </m:num>
                      <m:den>
                        <m:r>
                          <a:rPr lang="en-US" sz="4400" b="0" i="1" smtClean="0">
                            <a:ln w="0"/>
                            <a:solidFill>
                              <a:schemeClr val="tx1"/>
                            </a:solidFill>
                            <a:effectLst/>
                            <a:latin typeface="Cambria Math" panose="02040503050406030204" pitchFamily="18" charset="0"/>
                            <a:cs typeface="Times New Roman" panose="02020603050405020304" pitchFamily="18" charset="0"/>
                          </a:rPr>
                          <m:t>2</m:t>
                        </m:r>
                        <m:r>
                          <m:rPr>
                            <m:sty m:val="p"/>
                          </m:rPr>
                          <a:rPr lang="el-GR" sz="4400" b="0" i="1" smtClean="0">
                            <a:ln w="0"/>
                            <a:solidFill>
                              <a:schemeClr val="tx1"/>
                            </a:solidFill>
                            <a:effectLst/>
                            <a:latin typeface="Cambria Math" panose="02040503050406030204" pitchFamily="18" charset="0"/>
                            <a:cs typeface="Times New Roman" panose="02020603050405020304" pitchFamily="18" charset="0"/>
                          </a:rPr>
                          <m:t>π</m:t>
                        </m:r>
                        <m:r>
                          <a:rPr lang="en-US" sz="4400" b="0" i="1" smtClean="0">
                            <a:ln w="0"/>
                            <a:solidFill>
                              <a:schemeClr val="tx1"/>
                            </a:solidFill>
                            <a:effectLst/>
                            <a:latin typeface="Cambria Math" panose="02040503050406030204" pitchFamily="18" charset="0"/>
                            <a:cs typeface="Times New Roman" panose="02020603050405020304" pitchFamily="18" charset="0"/>
                          </a:rPr>
                          <m:t>𝑖</m:t>
                        </m:r>
                      </m:den>
                    </m:f>
                    <m:nary>
                      <m:naryPr>
                        <m:chr m:val="∮"/>
                        <m:supHide m:val="on"/>
                        <m:ctrlPr>
                          <a:rPr lang="en-US" sz="4400" i="1">
                            <a:ln w="0"/>
                            <a:solidFill>
                              <a:schemeClr val="tx1"/>
                            </a:solidFill>
                            <a:latin typeface="Cambria Math" panose="02040503050406030204" pitchFamily="18" charset="0"/>
                            <a:cs typeface="Times New Roman" panose="02020603050405020304" pitchFamily="18" charset="0"/>
                          </a:rPr>
                        </m:ctrlPr>
                      </m:naryPr>
                      <m:sub>
                        <m:r>
                          <a:rPr lang="en-US" sz="4400" i="1">
                            <a:ln w="0"/>
                            <a:solidFill>
                              <a:schemeClr val="tx1"/>
                            </a:solidFill>
                            <a:latin typeface="Cambria Math" panose="02040503050406030204" pitchFamily="18" charset="0"/>
                            <a:cs typeface="Times New Roman" panose="02020603050405020304" pitchFamily="18" charset="0"/>
                          </a:rPr>
                          <m:t>𝑐</m:t>
                        </m:r>
                      </m:sub>
                      <m:sup/>
                      <m:e>
                        <m:r>
                          <a:rPr lang="en-US" sz="4400" b="0" i="1" smtClean="0">
                            <a:ln w="0"/>
                            <a:solidFill>
                              <a:schemeClr val="tx1"/>
                            </a:solidFill>
                            <a:latin typeface="Cambria Math" panose="02040503050406030204" pitchFamily="18" charset="0"/>
                            <a:cs typeface="Times New Roman" panose="02020603050405020304" pitchFamily="18" charset="0"/>
                          </a:rPr>
                          <m:t> </m:t>
                        </m:r>
                        <m:f>
                          <m:fPr>
                            <m:ctrlPr>
                              <a:rPr lang="en-US" sz="4400" i="1">
                                <a:ln w="0"/>
                                <a:solidFill>
                                  <a:schemeClr val="tx1"/>
                                </a:solidFill>
                                <a:latin typeface="Cambria Math" panose="02040503050406030204" pitchFamily="18" charset="0"/>
                                <a:cs typeface="Times New Roman" panose="02020603050405020304" pitchFamily="18" charset="0"/>
                              </a:rPr>
                            </m:ctrlPr>
                          </m:fPr>
                          <m:num>
                            <m:r>
                              <a:rPr lang="en-US" sz="4400" i="1">
                                <a:ln w="0"/>
                                <a:solidFill>
                                  <a:schemeClr val="tx1"/>
                                </a:solidFill>
                                <a:latin typeface="Cambria Math" panose="02040503050406030204" pitchFamily="18" charset="0"/>
                                <a:cs typeface="Times New Roman" panose="02020603050405020304" pitchFamily="18" charset="0"/>
                              </a:rPr>
                              <m:t>𝑓</m:t>
                            </m:r>
                            <m:r>
                              <a:rPr lang="en-US" sz="4400" i="1">
                                <a:ln w="0"/>
                                <a:solidFill>
                                  <a:schemeClr val="tx1"/>
                                </a:solidFill>
                                <a:latin typeface="Cambria Math" panose="02040503050406030204" pitchFamily="18" charset="0"/>
                                <a:cs typeface="Times New Roman" panose="02020603050405020304" pitchFamily="18" charset="0"/>
                              </a:rPr>
                              <m:t>(</m:t>
                            </m:r>
                            <m:r>
                              <a:rPr lang="en-US" sz="4400" i="1">
                                <a:ln w="0"/>
                                <a:solidFill>
                                  <a:schemeClr val="tx1"/>
                                </a:solidFill>
                                <a:latin typeface="Cambria Math" panose="02040503050406030204" pitchFamily="18" charset="0"/>
                                <a:cs typeface="Times New Roman" panose="02020603050405020304" pitchFamily="18" charset="0"/>
                              </a:rPr>
                              <m:t>𝑧</m:t>
                            </m:r>
                            <m:r>
                              <a:rPr lang="en-US" sz="4400" i="1">
                                <a:ln w="0"/>
                                <a:solidFill>
                                  <a:schemeClr val="tx1"/>
                                </a:solidFill>
                                <a:latin typeface="Cambria Math" panose="02040503050406030204" pitchFamily="18" charset="0"/>
                                <a:cs typeface="Times New Roman" panose="02020603050405020304" pitchFamily="18" charset="0"/>
                              </a:rPr>
                              <m:t>)</m:t>
                            </m:r>
                          </m:num>
                          <m:den>
                            <m:r>
                              <a:rPr lang="en-US" sz="4400" i="1">
                                <a:ln w="0"/>
                                <a:solidFill>
                                  <a:schemeClr val="tx1"/>
                                </a:solidFill>
                                <a:latin typeface="Cambria Math" panose="02040503050406030204" pitchFamily="18" charset="0"/>
                                <a:cs typeface="Times New Roman" panose="02020603050405020304" pitchFamily="18" charset="0"/>
                              </a:rPr>
                              <m:t>𝑧</m:t>
                            </m:r>
                            <m:r>
                              <a:rPr lang="en-US" sz="4400" i="1">
                                <a:ln w="0"/>
                                <a:solidFill>
                                  <a:schemeClr val="tx1"/>
                                </a:solidFill>
                                <a:latin typeface="Cambria Math" panose="02040503050406030204" pitchFamily="18" charset="0"/>
                                <a:cs typeface="Times New Roman" panose="02020603050405020304" pitchFamily="18" charset="0"/>
                              </a:rPr>
                              <m:t>−</m:t>
                            </m:r>
                            <m:r>
                              <a:rPr lang="en-US" sz="4400" i="1">
                                <a:ln w="0"/>
                                <a:solidFill>
                                  <a:schemeClr val="tx1"/>
                                </a:solidFill>
                                <a:latin typeface="Cambria Math" panose="02040503050406030204" pitchFamily="18" charset="0"/>
                                <a:cs typeface="Times New Roman" panose="02020603050405020304" pitchFamily="18" charset="0"/>
                              </a:rPr>
                              <m:t>𝑎</m:t>
                            </m:r>
                          </m:den>
                        </m:f>
                      </m:e>
                    </m:nary>
                    <m:r>
                      <a:rPr lang="en-US" sz="4400" b="0" i="1" smtClean="0">
                        <a:ln w="0"/>
                        <a:solidFill>
                          <a:schemeClr val="tx1"/>
                        </a:solidFill>
                        <a:latin typeface="Cambria Math" panose="02040503050406030204" pitchFamily="18" charset="0"/>
                        <a:cs typeface="Times New Roman" panose="02020603050405020304" pitchFamily="18" charset="0"/>
                      </a:rPr>
                      <m:t> </m:t>
                    </m:r>
                  </m:oMath>
                </a14:m>
                <a:r>
                  <a:rPr lang="en-US" sz="4400" dirty="0" smtClean="0">
                    <a:ln w="0"/>
                    <a:solidFill>
                      <a:schemeClr val="tx1"/>
                    </a:solidFill>
                    <a:effectLst/>
                    <a:latin typeface="Times New Roman" panose="02020603050405020304" pitchFamily="18" charset="0"/>
                    <a:cs typeface="Times New Roman" panose="02020603050405020304" pitchFamily="18" charset="0"/>
                  </a:rPr>
                  <a:t>dz</a:t>
                </a:r>
              </a:p>
              <a:p>
                <a:endParaRPr lang="en-US" sz="4400" dirty="0" smtClean="0">
                  <a:ln w="0"/>
                  <a:solidFill>
                    <a:schemeClr val="tx1"/>
                  </a:solidFill>
                  <a:effectLst/>
                  <a:latin typeface="Times New Roman" panose="02020603050405020304" pitchFamily="18" charset="0"/>
                  <a:cs typeface="Times New Roman" panose="02020603050405020304" pitchFamily="18" charset="0"/>
                </a:endParaRPr>
              </a:p>
              <a:p>
                <a:r>
                  <a:rPr lang="en-US" sz="4400" dirty="0" smtClean="0">
                    <a:ln w="0"/>
                    <a:solidFill>
                      <a:schemeClr val="tx1"/>
                    </a:solidFill>
                    <a:latin typeface="Times New Roman" panose="02020603050405020304" pitchFamily="18" charset="0"/>
                    <a:cs typeface="Times New Roman" panose="02020603050405020304" pitchFamily="18" charset="0"/>
                  </a:rPr>
                  <a:t>Even derivatives:</a:t>
                </a:r>
              </a:p>
              <a:p>
                <a:r>
                  <a:rPr lang="en-US" sz="4400" dirty="0">
                    <a:ln w="0"/>
                    <a:solidFill>
                      <a:schemeClr val="tx1"/>
                    </a:solidFill>
                    <a:effectLst/>
                    <a:latin typeface="Times New Roman" panose="02020603050405020304" pitchFamily="18" charset="0"/>
                    <a:cs typeface="Times New Roman" panose="02020603050405020304" pitchFamily="18" charset="0"/>
                  </a:rPr>
                  <a:t> </a:t>
                </a:r>
                <a:r>
                  <a:rPr lang="en-US" sz="4400" dirty="0" smtClean="0">
                    <a:ln w="0"/>
                    <a:solidFill>
                      <a:schemeClr val="tx1"/>
                    </a:solidFill>
                    <a:effectLst/>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4400" b="0" i="1" smtClean="0">
                            <a:ln w="0"/>
                            <a:solidFill>
                              <a:schemeClr val="tx1"/>
                            </a:solidFill>
                            <a:effectLst/>
                            <a:latin typeface="Cambria Math" panose="02040503050406030204" pitchFamily="18" charset="0"/>
                            <a:cs typeface="Times New Roman" panose="02020603050405020304" pitchFamily="18" charset="0"/>
                          </a:rPr>
                        </m:ctrlPr>
                      </m:sSupPr>
                      <m:e>
                        <m:r>
                          <a:rPr lang="en-US" sz="4400" b="0" i="1" smtClean="0">
                            <a:ln w="0"/>
                            <a:solidFill>
                              <a:schemeClr val="tx1"/>
                            </a:solidFill>
                            <a:effectLst/>
                            <a:latin typeface="Cambria Math" panose="02040503050406030204" pitchFamily="18" charset="0"/>
                            <a:cs typeface="Times New Roman" panose="02020603050405020304" pitchFamily="18" charset="0"/>
                          </a:rPr>
                          <m:t>𝑓</m:t>
                        </m:r>
                      </m:e>
                      <m:sup>
                        <m:r>
                          <a:rPr lang="en-US" sz="4400" b="0" i="1" smtClean="0">
                            <a:ln w="0"/>
                            <a:solidFill>
                              <a:schemeClr val="tx1"/>
                            </a:solidFill>
                            <a:effectLst/>
                            <a:latin typeface="Cambria Math" panose="02040503050406030204" pitchFamily="18" charset="0"/>
                            <a:cs typeface="Times New Roman" panose="02020603050405020304" pitchFamily="18" charset="0"/>
                          </a:rPr>
                          <m:t>𝑛</m:t>
                        </m:r>
                      </m:sup>
                    </m:sSup>
                    <m:d>
                      <m:dPr>
                        <m:ctrlPr>
                          <a:rPr lang="en-US" sz="4400" b="0" i="1" smtClean="0">
                            <a:ln w="0"/>
                            <a:solidFill>
                              <a:schemeClr val="tx1"/>
                            </a:solidFill>
                            <a:effectLst/>
                            <a:latin typeface="Cambria Math" panose="02040503050406030204" pitchFamily="18" charset="0"/>
                            <a:cs typeface="Times New Roman" panose="02020603050405020304" pitchFamily="18" charset="0"/>
                          </a:rPr>
                        </m:ctrlPr>
                      </m:dPr>
                      <m:e>
                        <m:r>
                          <a:rPr lang="en-US" sz="4400" b="0" i="1" smtClean="0">
                            <a:ln w="0"/>
                            <a:solidFill>
                              <a:schemeClr val="tx1"/>
                            </a:solidFill>
                            <a:effectLst/>
                            <a:latin typeface="Cambria Math" panose="02040503050406030204" pitchFamily="18" charset="0"/>
                            <a:cs typeface="Times New Roman" panose="02020603050405020304" pitchFamily="18" charset="0"/>
                          </a:rPr>
                          <m:t>𝑎</m:t>
                        </m:r>
                      </m:e>
                    </m:d>
                    <m:r>
                      <a:rPr lang="en-US" sz="4400" b="0" i="1" smtClean="0">
                        <a:ln w="0"/>
                        <a:solidFill>
                          <a:schemeClr val="tx1"/>
                        </a:solidFill>
                        <a:effectLst/>
                        <a:latin typeface="Cambria Math" panose="02040503050406030204" pitchFamily="18" charset="0"/>
                        <a:cs typeface="Times New Roman" panose="02020603050405020304" pitchFamily="18" charset="0"/>
                      </a:rPr>
                      <m:t>=</m:t>
                    </m:r>
                    <m:f>
                      <m:fPr>
                        <m:ctrlPr>
                          <a:rPr lang="en-US" sz="4400" b="0" i="1" smtClean="0">
                            <a:ln w="0"/>
                            <a:solidFill>
                              <a:schemeClr val="tx1"/>
                            </a:solidFill>
                            <a:effectLst/>
                            <a:latin typeface="Cambria Math" panose="02040503050406030204" pitchFamily="18" charset="0"/>
                            <a:cs typeface="Times New Roman" panose="02020603050405020304" pitchFamily="18" charset="0"/>
                          </a:rPr>
                        </m:ctrlPr>
                      </m:fPr>
                      <m:num>
                        <m:r>
                          <a:rPr lang="en-US" sz="4400" i="1">
                            <a:ln w="0"/>
                            <a:solidFill>
                              <a:schemeClr val="tx1"/>
                            </a:solidFill>
                            <a:latin typeface="Cambria Math" panose="02040503050406030204" pitchFamily="18" charset="0"/>
                            <a:cs typeface="Times New Roman" panose="02020603050405020304" pitchFamily="18" charset="0"/>
                          </a:rPr>
                          <m:t>𝑛</m:t>
                        </m:r>
                        <m:r>
                          <a:rPr lang="en-US" sz="4400" b="0" i="1" smtClean="0">
                            <a:ln w="0"/>
                            <a:solidFill>
                              <a:schemeClr val="tx1"/>
                            </a:solidFill>
                            <a:latin typeface="Cambria Math" panose="02040503050406030204" pitchFamily="18" charset="0"/>
                            <a:cs typeface="Times New Roman" panose="02020603050405020304" pitchFamily="18" charset="0"/>
                          </a:rPr>
                          <m:t>!</m:t>
                        </m:r>
                      </m:num>
                      <m:den>
                        <m:r>
                          <a:rPr lang="en-US" sz="4400" i="1">
                            <a:ln w="0"/>
                            <a:solidFill>
                              <a:schemeClr val="tx1"/>
                            </a:solidFill>
                            <a:latin typeface="Cambria Math" panose="02040503050406030204" pitchFamily="18" charset="0"/>
                            <a:cs typeface="Times New Roman" panose="02020603050405020304" pitchFamily="18" charset="0"/>
                          </a:rPr>
                          <m:t>2</m:t>
                        </m:r>
                        <m:r>
                          <m:rPr>
                            <m:sty m:val="p"/>
                          </m:rPr>
                          <a:rPr lang="el-GR" sz="4400" i="1">
                            <a:ln w="0"/>
                            <a:solidFill>
                              <a:schemeClr val="tx1"/>
                            </a:solidFill>
                            <a:latin typeface="Cambria Math" panose="02040503050406030204" pitchFamily="18" charset="0"/>
                            <a:cs typeface="Times New Roman" panose="02020603050405020304" pitchFamily="18" charset="0"/>
                          </a:rPr>
                          <m:t>π</m:t>
                        </m:r>
                        <m:r>
                          <a:rPr lang="en-US" sz="4400" i="1">
                            <a:ln w="0"/>
                            <a:solidFill>
                              <a:schemeClr val="tx1"/>
                            </a:solidFill>
                            <a:latin typeface="Cambria Math" panose="02040503050406030204" pitchFamily="18" charset="0"/>
                            <a:cs typeface="Times New Roman" panose="02020603050405020304" pitchFamily="18" charset="0"/>
                          </a:rPr>
                          <m:t>𝑖</m:t>
                        </m:r>
                      </m:den>
                    </m:f>
                    <m:nary>
                      <m:naryPr>
                        <m:chr m:val="∮"/>
                        <m:supHide m:val="on"/>
                        <m:ctrlPr>
                          <a:rPr lang="en-US" sz="4400" b="0" i="1" dirty="0" smtClean="0">
                            <a:ln w="0"/>
                            <a:solidFill>
                              <a:schemeClr val="tx1"/>
                            </a:solidFill>
                            <a:latin typeface="Cambria Math" panose="02040503050406030204" pitchFamily="18" charset="0"/>
                            <a:cs typeface="Times New Roman" panose="02020603050405020304" pitchFamily="18" charset="0"/>
                          </a:rPr>
                        </m:ctrlPr>
                      </m:naryPr>
                      <m:sub>
                        <m:r>
                          <a:rPr lang="en-US" sz="4400" b="0" i="1" dirty="0" smtClean="0">
                            <a:ln w="0"/>
                            <a:solidFill>
                              <a:schemeClr val="tx1"/>
                            </a:solidFill>
                            <a:latin typeface="Cambria Math" panose="02040503050406030204" pitchFamily="18" charset="0"/>
                            <a:cs typeface="Times New Roman" panose="02020603050405020304" pitchFamily="18" charset="0"/>
                          </a:rPr>
                          <m:t>𝑐</m:t>
                        </m:r>
                      </m:sub>
                      <m:sup/>
                      <m:e>
                        <m:f>
                          <m:fPr>
                            <m:ctrlPr>
                              <a:rPr lang="en-US" sz="4400" i="1">
                                <a:ln w="0"/>
                                <a:solidFill>
                                  <a:schemeClr val="tx1"/>
                                </a:solidFill>
                                <a:latin typeface="Cambria Math" panose="02040503050406030204" pitchFamily="18" charset="0"/>
                                <a:cs typeface="Times New Roman" panose="02020603050405020304" pitchFamily="18" charset="0"/>
                              </a:rPr>
                            </m:ctrlPr>
                          </m:fPr>
                          <m:num>
                            <m:r>
                              <a:rPr lang="en-US" sz="4400" i="1">
                                <a:ln w="0"/>
                                <a:solidFill>
                                  <a:schemeClr val="tx1"/>
                                </a:solidFill>
                                <a:latin typeface="Cambria Math" panose="02040503050406030204" pitchFamily="18" charset="0"/>
                                <a:cs typeface="Times New Roman" panose="02020603050405020304" pitchFamily="18" charset="0"/>
                              </a:rPr>
                              <m:t>𝑓</m:t>
                            </m:r>
                            <m:r>
                              <a:rPr lang="en-US" sz="4400" i="1">
                                <a:ln w="0"/>
                                <a:solidFill>
                                  <a:schemeClr val="tx1"/>
                                </a:solidFill>
                                <a:latin typeface="Cambria Math" panose="02040503050406030204" pitchFamily="18" charset="0"/>
                                <a:cs typeface="Times New Roman" panose="02020603050405020304" pitchFamily="18" charset="0"/>
                              </a:rPr>
                              <m:t>(</m:t>
                            </m:r>
                            <m:r>
                              <a:rPr lang="en-US" sz="4400" i="1">
                                <a:ln w="0"/>
                                <a:solidFill>
                                  <a:schemeClr val="tx1"/>
                                </a:solidFill>
                                <a:latin typeface="Cambria Math" panose="02040503050406030204" pitchFamily="18" charset="0"/>
                                <a:cs typeface="Times New Roman" panose="02020603050405020304" pitchFamily="18" charset="0"/>
                              </a:rPr>
                              <m:t>𝑧</m:t>
                            </m:r>
                            <m:r>
                              <a:rPr lang="en-US" sz="4400" i="1">
                                <a:ln w="0"/>
                                <a:solidFill>
                                  <a:schemeClr val="tx1"/>
                                </a:solidFill>
                                <a:latin typeface="Cambria Math" panose="02040503050406030204" pitchFamily="18" charset="0"/>
                                <a:cs typeface="Times New Roman" panose="02020603050405020304" pitchFamily="18" charset="0"/>
                              </a:rPr>
                              <m:t>)</m:t>
                            </m:r>
                          </m:num>
                          <m:den>
                            <m:sSup>
                              <m:sSupPr>
                                <m:ctrlPr>
                                  <a:rPr lang="en-US" sz="4400" i="1">
                                    <a:ln w="0"/>
                                    <a:solidFill>
                                      <a:schemeClr val="tx1"/>
                                    </a:solidFill>
                                    <a:latin typeface="Cambria Math" panose="02040503050406030204" pitchFamily="18" charset="0"/>
                                    <a:cs typeface="Times New Roman" panose="02020603050405020304" pitchFamily="18" charset="0"/>
                                  </a:rPr>
                                </m:ctrlPr>
                              </m:sSupPr>
                              <m:e>
                                <m:d>
                                  <m:dPr>
                                    <m:ctrlPr>
                                      <a:rPr lang="en-US" sz="4400" i="1">
                                        <a:ln w="0"/>
                                        <a:solidFill>
                                          <a:schemeClr val="tx1"/>
                                        </a:solidFill>
                                        <a:latin typeface="Cambria Math" panose="02040503050406030204" pitchFamily="18" charset="0"/>
                                        <a:cs typeface="Times New Roman" panose="02020603050405020304" pitchFamily="18" charset="0"/>
                                      </a:rPr>
                                    </m:ctrlPr>
                                  </m:dPr>
                                  <m:e>
                                    <m:r>
                                      <a:rPr lang="en-US" sz="4400" i="1">
                                        <a:ln w="0"/>
                                        <a:solidFill>
                                          <a:schemeClr val="tx1"/>
                                        </a:solidFill>
                                        <a:latin typeface="Cambria Math" panose="02040503050406030204" pitchFamily="18" charset="0"/>
                                        <a:cs typeface="Times New Roman" panose="02020603050405020304" pitchFamily="18" charset="0"/>
                                      </a:rPr>
                                      <m:t>𝑧</m:t>
                                    </m:r>
                                    <m:r>
                                      <a:rPr lang="en-US" sz="4400" i="1">
                                        <a:ln w="0"/>
                                        <a:solidFill>
                                          <a:schemeClr val="tx1"/>
                                        </a:solidFill>
                                        <a:latin typeface="Cambria Math" panose="02040503050406030204" pitchFamily="18" charset="0"/>
                                        <a:cs typeface="Times New Roman" panose="02020603050405020304" pitchFamily="18" charset="0"/>
                                      </a:rPr>
                                      <m:t>−</m:t>
                                    </m:r>
                                    <m:r>
                                      <a:rPr lang="en-US" sz="4400" i="1">
                                        <a:ln w="0"/>
                                        <a:solidFill>
                                          <a:schemeClr val="tx1"/>
                                        </a:solidFill>
                                        <a:latin typeface="Cambria Math" panose="02040503050406030204" pitchFamily="18" charset="0"/>
                                        <a:cs typeface="Times New Roman" panose="02020603050405020304" pitchFamily="18" charset="0"/>
                                      </a:rPr>
                                      <m:t>𝑎</m:t>
                                    </m:r>
                                  </m:e>
                                </m:d>
                              </m:e>
                              <m:sup>
                                <m:r>
                                  <a:rPr lang="en-US" sz="4400" i="1">
                                    <a:ln w="0"/>
                                    <a:solidFill>
                                      <a:schemeClr val="tx1"/>
                                    </a:solidFill>
                                    <a:latin typeface="Cambria Math" panose="02040503050406030204" pitchFamily="18" charset="0"/>
                                    <a:cs typeface="Times New Roman" panose="02020603050405020304" pitchFamily="18" charset="0"/>
                                  </a:rPr>
                                  <m:t>𝑛</m:t>
                                </m:r>
                                <m:r>
                                  <a:rPr lang="en-US" sz="4400" i="1">
                                    <a:ln w="0"/>
                                    <a:solidFill>
                                      <a:schemeClr val="tx1"/>
                                    </a:solidFill>
                                    <a:latin typeface="Cambria Math" panose="02040503050406030204" pitchFamily="18" charset="0"/>
                                    <a:cs typeface="Times New Roman" panose="02020603050405020304" pitchFamily="18" charset="0"/>
                                  </a:rPr>
                                  <m:t>+1</m:t>
                                </m:r>
                              </m:sup>
                            </m:sSup>
                          </m:den>
                        </m:f>
                      </m:e>
                    </m:nary>
                    <m:r>
                      <a:rPr lang="en-US" sz="4400" b="0" i="1" smtClean="0">
                        <a:ln w="0"/>
                        <a:solidFill>
                          <a:schemeClr val="tx1"/>
                        </a:solidFill>
                        <a:effectLst/>
                        <a:latin typeface="Cambria Math" panose="02040503050406030204" pitchFamily="18" charset="0"/>
                        <a:cs typeface="Times New Roman" panose="02020603050405020304" pitchFamily="18" charset="0"/>
                      </a:rPr>
                      <m:t> </m:t>
                    </m:r>
                  </m:oMath>
                </a14:m>
                <a:r>
                  <a:rPr lang="en-US" sz="4400" dirty="0" smtClean="0">
                    <a:ln w="0"/>
                    <a:solidFill>
                      <a:schemeClr val="tx1"/>
                    </a:solidFill>
                    <a:effectLst/>
                    <a:latin typeface="Times New Roman" panose="02020603050405020304" pitchFamily="18" charset="0"/>
                    <a:cs typeface="Times New Roman" panose="02020603050405020304" pitchFamily="18" charset="0"/>
                  </a:rPr>
                  <a:t>dz</a:t>
                </a:r>
              </a:p>
              <a:p>
                <a:r>
                  <a:rPr lang="en-US" sz="4400" dirty="0" smtClean="0">
                    <a:ln w="0"/>
                    <a:solidFill>
                      <a:schemeClr val="tx1"/>
                    </a:solidFill>
                    <a:latin typeface="Times New Roman" panose="02020603050405020304" pitchFamily="18" charset="0"/>
                    <a:cs typeface="Times New Roman" panose="02020603050405020304" pitchFamily="18" charset="0"/>
                  </a:rPr>
                  <a:t>So analytic functions are infinitely differentiable!</a:t>
                </a:r>
                <a:endParaRPr lang="en-US" sz="4400" dirty="0">
                  <a:ln w="0"/>
                  <a:solidFill>
                    <a:schemeClr val="tx1"/>
                  </a:solidFill>
                  <a:effectLst/>
                  <a:latin typeface="Times New Roman" panose="02020603050405020304" pitchFamily="18" charset="0"/>
                  <a:cs typeface="Times New Roman" panose="02020603050405020304" pitchFamily="18" charset="0"/>
                </a:endParaRPr>
              </a:p>
            </p:txBody>
          </p:sp>
        </mc:Choice>
        <mc:Fallback>
          <p:sp>
            <p:nvSpPr>
              <p:cNvPr id="5" name="Rectangle 4"/>
              <p:cNvSpPr>
                <a:spLocks noRot="1" noChangeAspect="1" noMove="1" noResize="1" noEditPoints="1" noAdjustHandles="1" noChangeArrowheads="1" noChangeShapeType="1" noTextEdit="1"/>
              </p:cNvSpPr>
              <p:nvPr/>
            </p:nvSpPr>
            <p:spPr>
              <a:xfrm>
                <a:off x="1835150" y="2711450"/>
                <a:ext cx="14478000" cy="5791200"/>
              </a:xfrm>
              <a:prstGeom prst="rect">
                <a:avLst/>
              </a:prstGeom>
              <a:blipFill rotWithShape="0">
                <a:blip r:embed="rId2"/>
                <a:stretch>
                  <a:fillRect l="-1684" b="-2421"/>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328153069"/>
      </p:ext>
    </p:extLst>
  </p:cSld>
  <p:clrMapOvr>
    <a:masterClrMapping/>
  </p:clrMapOvr>
  <p:transition>
    <p:wheel spokes="1"/>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300700" cy="102997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5" name="Rectangle 4"/>
          <p:cNvSpPr/>
          <p:nvPr/>
        </p:nvSpPr>
        <p:spPr>
          <a:xfrm>
            <a:off x="4044950" y="577850"/>
            <a:ext cx="10210800" cy="1371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600" b="1" i="1" dirty="0" smtClean="0">
                <a:ln w="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Cauchy’s Residue Theorem</a:t>
            </a:r>
            <a:endParaRPr lang="en-US" sz="6600" b="1" i="1" dirty="0">
              <a:ln w="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Rectangle 5"/>
              <p:cNvSpPr/>
              <p:nvPr/>
            </p:nvSpPr>
            <p:spPr>
              <a:xfrm>
                <a:off x="2520950" y="1720850"/>
                <a:ext cx="13944600" cy="792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Residue theorem is one of the strongest tools in evaluate complex integrals:</a:t>
                </a:r>
              </a:p>
              <a:p>
                <a14:m>
                  <m:oMath xmlns:m="http://schemas.openxmlformats.org/officeDocument/2006/math">
                    <m:nary>
                      <m:naryPr>
                        <m:chr m:val="∮"/>
                        <m:supHide m:val="on"/>
                        <m:ctrlP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naryPr>
                      <m:sub>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𝑐</m:t>
                        </m:r>
                      </m:sub>
                      <m:sup/>
                      <m:e>
                        <m:r>
                          <m:rPr>
                            <m:nor/>
                          </m:rPr>
                          <a:rPr lang="en-US" sz="44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m:t>f</m:t>
                        </m:r>
                        <m:r>
                          <m:rPr>
                            <m:nor/>
                          </m:rPr>
                          <a:rPr lang="en-US" sz="44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m:t>(</m:t>
                        </m:r>
                        <m:r>
                          <m:rPr>
                            <m:nor/>
                          </m:rPr>
                          <a:rPr lang="en-US" sz="44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m:t>z</m:t>
                        </m:r>
                        <m:r>
                          <m:rPr>
                            <m:nor/>
                          </m:rPr>
                          <a:rPr lang="en-US" sz="44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m:t>)</m:t>
                        </m:r>
                        <m:r>
                          <a:rPr lang="en-US" sz="4400" b="0" i="1" dirty="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 </m:t>
                        </m:r>
                      </m:e>
                    </m:nary>
                  </m:oMath>
                </a14:m>
                <a:r>
                  <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2</a:t>
                </a:r>
                <a:r>
                  <a:rPr lang="el-GR" sz="4400" dirty="0" smtClean="0">
                    <a:ln w="0"/>
                    <a:solidFill>
                      <a:schemeClr val="tx1"/>
                    </a:solidFill>
                    <a:latin typeface="CommercialScript BT" panose="03030803040807090C04" pitchFamily="66" charset="0"/>
                    <a:cs typeface="Times New Roman" panose="02020603050405020304" pitchFamily="18" charset="0"/>
                  </a:rPr>
                  <a:t>π</a:t>
                </a:r>
                <a:r>
                  <a:rPr lang="en-US" sz="4400" dirty="0" err="1" smtClean="0">
                    <a:ln w="0"/>
                    <a:solidFill>
                      <a:schemeClr val="tx1"/>
                    </a:solidFill>
                    <a:latin typeface="CommercialScript BT" panose="03030803040807090C04" pitchFamily="66" charset="0"/>
                    <a:cs typeface="Times New Roman" panose="02020603050405020304" pitchFamily="18" charset="0"/>
                  </a:rPr>
                  <a:t>i</a:t>
                </a:r>
                <a:r>
                  <a:rPr lang="en-US" sz="4400" dirty="0" smtClean="0">
                    <a:ln w="0"/>
                    <a:solidFill>
                      <a:schemeClr val="tx1"/>
                    </a:solidFill>
                    <a:latin typeface="CommercialScript BT" panose="03030803040807090C04" pitchFamily="66" charset="0"/>
                    <a:cs typeface="Times New Roman" panose="02020603050405020304" pitchFamily="18" charset="0"/>
                  </a:rPr>
                  <a:t> ∑</a:t>
                </a:r>
                <a:r>
                  <a:rPr lang="en-US" sz="4400" dirty="0" smtClean="0">
                    <a:ln w="0"/>
                    <a:solidFill>
                      <a:schemeClr val="tx1"/>
                    </a:solidFill>
                    <a:latin typeface="Times New Roman" panose="02020603050405020304" pitchFamily="18" charset="0"/>
                    <a:cs typeface="Times New Roman" panose="02020603050405020304" pitchFamily="18" charset="0"/>
                  </a:rPr>
                  <a:t>Residues inside c.</a:t>
                </a:r>
              </a:p>
              <a:p>
                <a:r>
                  <a:rPr lang="en-US" sz="4400" dirty="0" smtClean="0">
                    <a:ln w="0"/>
                    <a:solidFill>
                      <a:schemeClr val="tx1"/>
                    </a:solidFill>
                    <a:latin typeface="Times New Roman" panose="02020603050405020304" pitchFamily="18" charset="0"/>
                    <a:cs typeface="Times New Roman" panose="02020603050405020304" pitchFamily="18" charset="0"/>
                  </a:rPr>
                  <a:t>This theorem transforms difficult real integrals into simple complex calculations.</a:t>
                </a:r>
              </a:p>
              <a:p>
                <a:r>
                  <a:rPr lang="en-US" sz="4400" dirty="0" smtClean="0">
                    <a:ln w="0"/>
                    <a:solidFill>
                      <a:srgbClr val="FF0000"/>
                    </a:solidFill>
                    <a:latin typeface="Times New Roman" panose="02020603050405020304" pitchFamily="18" charset="0"/>
                    <a:cs typeface="Times New Roman" panose="02020603050405020304" pitchFamily="18" charset="0"/>
                  </a:rPr>
                  <a:t>Example</a:t>
                </a:r>
                <a:r>
                  <a:rPr lang="en-US" sz="4400" dirty="0" smtClean="0">
                    <a:ln w="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nary>
                      <m:naryPr>
                        <m:chr m:val="∮"/>
                        <m:supHide m:val="on"/>
                        <m:ctrlPr>
                          <a:rPr lang="en-US" sz="4400" b="0" i="1" dirty="0" smtClean="0">
                            <a:ln w="0"/>
                            <a:solidFill>
                              <a:schemeClr val="tx1"/>
                            </a:solidFill>
                            <a:latin typeface="Cambria Math" panose="02040503050406030204" pitchFamily="18" charset="0"/>
                            <a:cs typeface="Times New Roman" panose="02020603050405020304" pitchFamily="18" charset="0"/>
                          </a:rPr>
                        </m:ctrlPr>
                      </m:naryPr>
                      <m:sub>
                        <m:r>
                          <a:rPr lang="en-US" sz="4400" b="0" i="1" dirty="0" smtClean="0">
                            <a:ln w="0"/>
                            <a:solidFill>
                              <a:schemeClr val="tx1"/>
                            </a:solidFill>
                            <a:latin typeface="Cambria Math" panose="02040503050406030204" pitchFamily="18" charset="0"/>
                            <a:cs typeface="Times New Roman" panose="02020603050405020304" pitchFamily="18" charset="0"/>
                          </a:rPr>
                          <m:t>𝑐</m:t>
                        </m:r>
                      </m:sub>
                      <m:sup/>
                      <m:e>
                        <m:r>
                          <a:rPr lang="en-US" sz="4400" b="0" i="1" dirty="0" smtClean="0">
                            <a:ln w="0"/>
                            <a:solidFill>
                              <a:schemeClr val="tx1"/>
                            </a:solidFill>
                            <a:latin typeface="Cambria Math" panose="02040503050406030204" pitchFamily="18" charset="0"/>
                            <a:cs typeface="Times New Roman" panose="02020603050405020304" pitchFamily="18" charset="0"/>
                          </a:rPr>
                          <m:t> </m:t>
                        </m:r>
                        <m:f>
                          <m:fPr>
                            <m:ctrlPr>
                              <a:rPr lang="en-US" sz="4400" i="1" dirty="0">
                                <a:ln w="0"/>
                                <a:solidFill>
                                  <a:schemeClr val="tx1"/>
                                </a:solidFill>
                                <a:latin typeface="Cambria Math" panose="02040503050406030204" pitchFamily="18" charset="0"/>
                                <a:cs typeface="Times New Roman" panose="02020603050405020304" pitchFamily="18" charset="0"/>
                              </a:rPr>
                            </m:ctrlPr>
                          </m:fPr>
                          <m:num>
                            <m:r>
                              <a:rPr lang="en-US" sz="4400" i="1" dirty="0">
                                <a:ln w="0"/>
                                <a:solidFill>
                                  <a:schemeClr val="tx1"/>
                                </a:solidFill>
                                <a:latin typeface="Cambria Math" panose="02040503050406030204" pitchFamily="18" charset="0"/>
                                <a:cs typeface="Times New Roman" panose="02020603050405020304" pitchFamily="18" charset="0"/>
                              </a:rPr>
                              <m:t>1</m:t>
                            </m:r>
                          </m:num>
                          <m:den>
                            <m:r>
                              <a:rPr lang="en-US" sz="4400" i="1" dirty="0">
                                <a:ln w="0"/>
                                <a:solidFill>
                                  <a:schemeClr val="tx1"/>
                                </a:solidFill>
                                <a:latin typeface="Cambria Math" panose="02040503050406030204" pitchFamily="18" charset="0"/>
                                <a:cs typeface="Times New Roman" panose="02020603050405020304" pitchFamily="18" charset="0"/>
                              </a:rPr>
                              <m:t>𝑧</m:t>
                            </m:r>
                            <m:r>
                              <a:rPr lang="en-US" sz="4400" i="1" dirty="0">
                                <a:ln w="0"/>
                                <a:solidFill>
                                  <a:schemeClr val="tx1"/>
                                </a:solidFill>
                                <a:latin typeface="Cambria Math" panose="02040503050406030204" pitchFamily="18" charset="0"/>
                                <a:cs typeface="Times New Roman" panose="02020603050405020304" pitchFamily="18" charset="0"/>
                              </a:rPr>
                              <m:t>−2</m:t>
                            </m:r>
                          </m:den>
                        </m:f>
                      </m:e>
                    </m:nary>
                  </m:oMath>
                </a14:m>
                <a:r>
                  <a:rPr lang="en-US" sz="4400" dirty="0" smtClean="0">
                    <a:ln w="0"/>
                    <a:solidFill>
                      <a:schemeClr val="tx1"/>
                    </a:solidFill>
                    <a:latin typeface="Times New Roman" panose="02020603050405020304" pitchFamily="18" charset="0"/>
                    <a:cs typeface="Times New Roman" panose="02020603050405020304" pitchFamily="18" charset="0"/>
                  </a:rPr>
                  <a:t> dz</a:t>
                </a:r>
              </a:p>
              <a:p>
                <a:r>
                  <a:rPr lang="en-US" sz="4400" dirty="0" smtClean="0">
                    <a:ln w="0"/>
                    <a:solidFill>
                      <a:schemeClr val="tx1"/>
                    </a:solidFill>
                    <a:latin typeface="Times New Roman" panose="02020603050405020304" pitchFamily="18" charset="0"/>
                    <a:cs typeface="Times New Roman" panose="02020603050405020304" pitchFamily="18" charset="0"/>
                  </a:rPr>
                  <a:t>Solution:  </a:t>
                </a:r>
              </a:p>
              <a:p>
                <a:pPr marL="571500" indent="-571500">
                  <a:buFont typeface="Arial" panose="020B0604020202020204" pitchFamily="34" charset="0"/>
                  <a:buChar char="•"/>
                </a:pPr>
                <a:r>
                  <a:rPr lang="en-US" sz="4400" dirty="0" smtClean="0">
                    <a:ln w="0"/>
                    <a:solidFill>
                      <a:schemeClr val="tx1"/>
                    </a:solidFill>
                    <a:latin typeface="Times New Roman" panose="02020603050405020304" pitchFamily="18" charset="0"/>
                    <a:cs typeface="Times New Roman" panose="02020603050405020304" pitchFamily="18" charset="0"/>
                  </a:rPr>
                  <a:t>Singularity at z = 2</a:t>
                </a:r>
              </a:p>
              <a:p>
                <a:pPr marL="571500" indent="-571500">
                  <a:buFont typeface="Arial" panose="020B0604020202020204" pitchFamily="34" charset="0"/>
                  <a:buChar char="•"/>
                </a:pPr>
                <a:r>
                  <a:rPr lang="en-US" sz="4400" dirty="0">
                    <a:ln w="0"/>
                    <a:solidFill>
                      <a:schemeClr val="tx1"/>
                    </a:solidFill>
                    <a:latin typeface="Times New Roman" panose="02020603050405020304" pitchFamily="18" charset="0"/>
                    <a:cs typeface="Times New Roman" panose="02020603050405020304" pitchFamily="18" charset="0"/>
                  </a:rPr>
                  <a:t>z</a:t>
                </a:r>
                <a:r>
                  <a:rPr lang="en-US" sz="4400" dirty="0" smtClean="0">
                    <a:ln w="0"/>
                    <a:solidFill>
                      <a:schemeClr val="tx1"/>
                    </a:solidFill>
                    <a:latin typeface="Times New Roman" panose="02020603050405020304" pitchFamily="18" charset="0"/>
                    <a:cs typeface="Times New Roman" panose="02020603050405020304" pitchFamily="18" charset="0"/>
                  </a:rPr>
                  <a:t> = 2 lies inside |z| = 3</a:t>
                </a:r>
              </a:p>
              <a:p>
                <a:pPr marL="571500" indent="-571500">
                  <a:buFont typeface="Arial" panose="020B0604020202020204" pitchFamily="34" charset="0"/>
                  <a:buChar char="•"/>
                </a:pPr>
                <a:r>
                  <a:rPr lang="en-US" sz="4400" dirty="0" smtClean="0">
                    <a:ln w="0"/>
                    <a:solidFill>
                      <a:schemeClr val="tx1"/>
                    </a:solidFill>
                    <a:latin typeface="Times New Roman" panose="02020603050405020304" pitchFamily="18" charset="0"/>
                    <a:cs typeface="Times New Roman" panose="02020603050405020304" pitchFamily="18" charset="0"/>
                  </a:rPr>
                  <a:t>It is simple pole</a:t>
                </a:r>
              </a:p>
            </p:txBody>
          </p:sp>
        </mc:Choice>
        <mc:Fallback xmlns="">
          <p:sp>
            <p:nvSpPr>
              <p:cNvPr id="6" name="Rectangle 5"/>
              <p:cNvSpPr>
                <a:spLocks noRot="1" noChangeAspect="1" noMove="1" noResize="1" noEditPoints="1" noAdjustHandles="1" noChangeArrowheads="1" noChangeShapeType="1" noTextEdit="1"/>
              </p:cNvSpPr>
              <p:nvPr/>
            </p:nvSpPr>
            <p:spPr>
              <a:xfrm>
                <a:off x="2520950" y="1720850"/>
                <a:ext cx="13944600" cy="7924800"/>
              </a:xfrm>
              <a:prstGeom prst="rect">
                <a:avLst/>
              </a:prstGeom>
              <a:blipFill rotWithShape="0">
                <a:blip r:embed="rId2"/>
                <a:stretch>
                  <a:fillRect l="-1924"/>
                </a:stretch>
              </a:blipFill>
              <a:ln>
                <a:noFill/>
              </a:ln>
            </p:spPr>
            <p:txBody>
              <a:bodyPr/>
              <a:lstStyle/>
              <a:p>
                <a:r>
                  <a:rPr lang="en-US">
                    <a:noFill/>
                  </a:rPr>
                  <a:t> </a:t>
                </a:r>
              </a:p>
            </p:txBody>
          </p:sp>
        </mc:Fallback>
      </mc:AlternateContent>
      <p:sp>
        <p:nvSpPr>
          <p:cNvPr id="3" name="Rectangle 2"/>
          <p:cNvSpPr/>
          <p:nvPr/>
        </p:nvSpPr>
        <p:spPr>
          <a:xfrm>
            <a:off x="8616950" y="5759450"/>
            <a:ext cx="9144000" cy="419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p:cNvSpPr txBox="1"/>
              <p:nvPr/>
            </p:nvSpPr>
            <p:spPr>
              <a:xfrm>
                <a:off x="9759950" y="6626515"/>
                <a:ext cx="8001000" cy="3635739"/>
              </a:xfrm>
              <a:prstGeom prst="rect">
                <a:avLst/>
              </a:prstGeom>
              <a:noFill/>
            </p:spPr>
            <p:txBody>
              <a:bodyPr wrap="square" rtlCol="0">
                <a:spAutoFit/>
              </a:bodyPr>
              <a:lstStyle/>
              <a:p>
                <a:r>
                  <a:rPr lang="en-US" sz="4400" dirty="0" smtClean="0">
                    <a:ln w="0"/>
                    <a:latin typeface="Times New Roman" panose="02020603050405020304" pitchFamily="18" charset="0"/>
                    <a:cs typeface="Times New Roman" panose="02020603050405020304" pitchFamily="18" charset="0"/>
                  </a:rPr>
                  <a:t>Residue at z = 2:</a:t>
                </a:r>
              </a:p>
              <a:p>
                <a14:m>
                  <m:oMath xmlns:m="http://schemas.openxmlformats.org/officeDocument/2006/math">
                    <m:sSub>
                      <m:sSubPr>
                        <m:ctrlPr>
                          <a:rPr lang="en-US" sz="4400" i="1">
                            <a:ln w="0"/>
                            <a:latin typeface="Cambria Math" panose="02040503050406030204" pitchFamily="18" charset="0"/>
                            <a:cs typeface="Times New Roman" panose="02020603050405020304" pitchFamily="18" charset="0"/>
                          </a:rPr>
                        </m:ctrlPr>
                      </m:sSubPr>
                      <m:e>
                        <m:r>
                          <a:rPr lang="en-US" sz="4400">
                            <a:ln w="0"/>
                            <a:latin typeface="Cambria Math" panose="02040503050406030204" pitchFamily="18" charset="0"/>
                            <a:cs typeface="Times New Roman" panose="02020603050405020304" pitchFamily="18" charset="0"/>
                          </a:rPr>
                          <m:t>𝑅𝑒𝑠</m:t>
                        </m:r>
                      </m:e>
                      <m:sub>
                        <m:r>
                          <a:rPr lang="en-US" sz="4400">
                            <a:ln w="0"/>
                            <a:latin typeface="Cambria Math" panose="02040503050406030204" pitchFamily="18" charset="0"/>
                            <a:cs typeface="Times New Roman" panose="02020603050405020304" pitchFamily="18" charset="0"/>
                          </a:rPr>
                          <m:t>𝑧</m:t>
                        </m:r>
                        <m:r>
                          <a:rPr lang="en-US" sz="4400">
                            <a:ln w="0"/>
                            <a:latin typeface="Cambria Math" panose="02040503050406030204" pitchFamily="18" charset="0"/>
                            <a:cs typeface="Times New Roman" panose="02020603050405020304" pitchFamily="18" charset="0"/>
                          </a:rPr>
                          <m:t>=2</m:t>
                        </m:r>
                      </m:sub>
                    </m:sSub>
                    <m:r>
                      <m:rPr>
                        <m:sty m:val="p"/>
                      </m:rPr>
                      <a:rPr lang="en-US" sz="4400">
                        <a:ln w="0"/>
                        <a:latin typeface="Cambria Math" panose="02040503050406030204" pitchFamily="18" charset="0"/>
                        <a:cs typeface="Times New Roman" panose="02020603050405020304" pitchFamily="18" charset="0"/>
                      </a:rPr>
                      <m:t>f</m:t>
                    </m:r>
                    <m:d>
                      <m:dPr>
                        <m:ctrlPr>
                          <a:rPr lang="en-US" sz="4400" i="1">
                            <a:ln w="0"/>
                            <a:latin typeface="Cambria Math" panose="02040503050406030204" pitchFamily="18" charset="0"/>
                            <a:cs typeface="Times New Roman" panose="02020603050405020304" pitchFamily="18" charset="0"/>
                          </a:rPr>
                        </m:ctrlPr>
                      </m:dPr>
                      <m:e>
                        <m:r>
                          <m:rPr>
                            <m:sty m:val="p"/>
                          </m:rPr>
                          <a:rPr lang="en-US" sz="4400">
                            <a:ln w="0"/>
                            <a:latin typeface="Cambria Math" panose="02040503050406030204" pitchFamily="18" charset="0"/>
                            <a:cs typeface="Times New Roman" panose="02020603050405020304" pitchFamily="18" charset="0"/>
                          </a:rPr>
                          <m:t>z</m:t>
                        </m:r>
                      </m:e>
                    </m:d>
                    <m:r>
                      <a:rPr lang="en-US" sz="4400">
                        <a:ln w="0"/>
                        <a:latin typeface="Cambria Math" panose="02040503050406030204" pitchFamily="18" charset="0"/>
                        <a:cs typeface="Times New Roman" panose="02020603050405020304" pitchFamily="18" charset="0"/>
                      </a:rPr>
                      <m:t>=</m:t>
                    </m:r>
                  </m:oMath>
                </a14:m>
                <a:r>
                  <a:rPr lang="en-US" sz="4400" dirty="0">
                    <a:ln w="0"/>
                    <a:latin typeface="Times New Roman" panose="02020603050405020304" pitchFamily="18" charset="0"/>
                    <a:cs typeface="Times New Roman" panose="02020603050405020304" pitchFamily="18" charset="0"/>
                  </a:rPr>
                  <a:t> </a:t>
                </a:r>
                <a14:m>
                  <m:oMath xmlns:m="http://schemas.openxmlformats.org/officeDocument/2006/math">
                    <m:func>
                      <m:funcPr>
                        <m:ctrlPr>
                          <a:rPr lang="en-US" sz="4400" i="1" dirty="0">
                            <a:ln w="0"/>
                            <a:latin typeface="Cambria Math" panose="02040503050406030204" pitchFamily="18" charset="0"/>
                            <a:cs typeface="Times New Roman" panose="02020603050405020304" pitchFamily="18" charset="0"/>
                          </a:rPr>
                        </m:ctrlPr>
                      </m:funcPr>
                      <m:fName>
                        <m:limLow>
                          <m:limLowPr>
                            <m:ctrlPr>
                              <a:rPr lang="en-US" sz="4400" i="1" dirty="0">
                                <a:ln w="0"/>
                                <a:latin typeface="Cambria Math" panose="02040503050406030204" pitchFamily="18" charset="0"/>
                                <a:cs typeface="Times New Roman" panose="02020603050405020304" pitchFamily="18" charset="0"/>
                              </a:rPr>
                            </m:ctrlPr>
                          </m:limLowPr>
                          <m:e>
                            <m:r>
                              <m:rPr>
                                <m:sty m:val="p"/>
                              </m:rPr>
                              <a:rPr lang="en-US" sz="4400" dirty="0">
                                <a:ln w="0"/>
                                <a:latin typeface="Cambria Math" panose="02040503050406030204" pitchFamily="18" charset="0"/>
                                <a:cs typeface="Times New Roman" panose="02020603050405020304" pitchFamily="18" charset="0"/>
                              </a:rPr>
                              <m:t>lim</m:t>
                            </m:r>
                          </m:e>
                          <m:lim>
                            <m:r>
                              <a:rPr lang="en-US" sz="4400" dirty="0">
                                <a:ln w="0"/>
                                <a:latin typeface="Cambria Math" panose="02040503050406030204" pitchFamily="18" charset="0"/>
                                <a:cs typeface="Times New Roman" panose="02020603050405020304" pitchFamily="18" charset="0"/>
                              </a:rPr>
                              <m:t>𝑧</m:t>
                            </m:r>
                            <m:r>
                              <a:rPr lang="en-US" sz="4400" dirty="0">
                                <a:ln w="0"/>
                                <a:latin typeface="Cambria Math" panose="02040503050406030204" pitchFamily="18" charset="0"/>
                                <a:cs typeface="Times New Roman" panose="02020603050405020304" pitchFamily="18" charset="0"/>
                              </a:rPr>
                              <m:t>→2</m:t>
                            </m:r>
                          </m:lim>
                        </m:limLow>
                      </m:fName>
                      <m:e>
                        <m:r>
                          <a:rPr lang="en-US" sz="4400" dirty="0">
                            <a:ln w="0"/>
                            <a:latin typeface="Cambria Math" panose="02040503050406030204" pitchFamily="18" charset="0"/>
                            <a:cs typeface="Times New Roman" panose="02020603050405020304" pitchFamily="18" charset="0"/>
                          </a:rPr>
                          <m:t>(</m:t>
                        </m:r>
                        <m:r>
                          <a:rPr lang="en-US" sz="4400" dirty="0">
                            <a:ln w="0"/>
                            <a:latin typeface="Cambria Math" panose="02040503050406030204" pitchFamily="18" charset="0"/>
                            <a:cs typeface="Times New Roman" panose="02020603050405020304" pitchFamily="18" charset="0"/>
                          </a:rPr>
                          <m:t>𝑧</m:t>
                        </m:r>
                        <m:r>
                          <a:rPr lang="en-US" sz="4400" dirty="0">
                            <a:ln w="0"/>
                            <a:latin typeface="Cambria Math" panose="02040503050406030204" pitchFamily="18" charset="0"/>
                            <a:cs typeface="Times New Roman" panose="02020603050405020304" pitchFamily="18" charset="0"/>
                          </a:rPr>
                          <m:t>−2)</m:t>
                        </m:r>
                      </m:e>
                    </m:func>
                  </m:oMath>
                </a14:m>
                <a:r>
                  <a:rPr lang="en-US" sz="4400" dirty="0">
                    <a:ln w="0"/>
                    <a:latin typeface="Times New Roman" panose="02020603050405020304" pitchFamily="18" charset="0"/>
                    <a:cs typeface="Times New Roman" panose="02020603050405020304" pitchFamily="18" charset="0"/>
                  </a:rPr>
                  <a:t> </a:t>
                </a:r>
                <a14:m>
                  <m:oMath xmlns:m="http://schemas.openxmlformats.org/officeDocument/2006/math">
                    <m:f>
                      <m:fPr>
                        <m:ctrlPr>
                          <a:rPr lang="en-US" sz="4400" i="1" dirty="0">
                            <a:ln w="0"/>
                            <a:latin typeface="Cambria Math" panose="02040503050406030204" pitchFamily="18" charset="0"/>
                            <a:cs typeface="Times New Roman" panose="02020603050405020304" pitchFamily="18" charset="0"/>
                          </a:rPr>
                        </m:ctrlPr>
                      </m:fPr>
                      <m:num>
                        <m:r>
                          <a:rPr lang="en-US" sz="4400" dirty="0">
                            <a:ln w="0"/>
                            <a:latin typeface="Cambria Math" panose="02040503050406030204" pitchFamily="18" charset="0"/>
                            <a:cs typeface="Times New Roman" panose="02020603050405020304" pitchFamily="18" charset="0"/>
                          </a:rPr>
                          <m:t>1</m:t>
                        </m:r>
                      </m:num>
                      <m:den>
                        <m:r>
                          <a:rPr lang="en-US" sz="4400" dirty="0">
                            <a:ln w="0"/>
                            <a:latin typeface="Cambria Math" panose="02040503050406030204" pitchFamily="18" charset="0"/>
                            <a:cs typeface="Times New Roman" panose="02020603050405020304" pitchFamily="18" charset="0"/>
                          </a:rPr>
                          <m:t>𝑧</m:t>
                        </m:r>
                        <m:r>
                          <a:rPr lang="en-US" sz="4400" dirty="0">
                            <a:ln w="0"/>
                            <a:latin typeface="Cambria Math" panose="02040503050406030204" pitchFamily="18" charset="0"/>
                            <a:cs typeface="Times New Roman" panose="02020603050405020304" pitchFamily="18" charset="0"/>
                          </a:rPr>
                          <m:t>−2</m:t>
                        </m:r>
                      </m:den>
                    </m:f>
                    <m:r>
                      <a:rPr lang="en-US" sz="4400" dirty="0">
                        <a:ln w="0"/>
                        <a:latin typeface="Cambria Math" panose="02040503050406030204" pitchFamily="18" charset="0"/>
                        <a:cs typeface="Times New Roman" panose="02020603050405020304" pitchFamily="18" charset="0"/>
                      </a:rPr>
                      <m:t> </m:t>
                    </m:r>
                  </m:oMath>
                </a14:m>
                <a:r>
                  <a:rPr lang="en-US" sz="4400" dirty="0">
                    <a:ln w="0"/>
                    <a:latin typeface="Times New Roman" panose="02020603050405020304" pitchFamily="18" charset="0"/>
                    <a:cs typeface="Times New Roman" panose="02020603050405020304" pitchFamily="18" charset="0"/>
                  </a:rPr>
                  <a:t>= 1</a:t>
                </a:r>
              </a:p>
              <a:p>
                <a:r>
                  <a:rPr lang="en-US" sz="4400" dirty="0">
                    <a:ln w="0"/>
                    <a:solidFill>
                      <a:srgbClr val="FF0000"/>
                    </a:solidFill>
                    <a:latin typeface="Times New Roman" panose="02020603050405020304" pitchFamily="18" charset="0"/>
                    <a:cs typeface="Times New Roman" panose="02020603050405020304" pitchFamily="18" charset="0"/>
                  </a:rPr>
                  <a:t>Result</a:t>
                </a:r>
              </a:p>
              <a:p>
                <a:r>
                  <a:rPr lang="en-US" sz="4400" b="0" dirty="0" smtClean="0">
                    <a:ln w="0"/>
                    <a:cs typeface="Times New Roman" panose="02020603050405020304" pitchFamily="18" charset="0"/>
                  </a:rPr>
                  <a:t>   </a:t>
                </a:r>
                <a14:m>
                  <m:oMath xmlns:m="http://schemas.openxmlformats.org/officeDocument/2006/math">
                    <m:nary>
                      <m:naryPr>
                        <m:chr m:val="∮"/>
                        <m:supHide m:val="on"/>
                        <m:ctrlPr>
                          <a:rPr lang="en-US" sz="4400" b="0" i="1" smtClean="0">
                            <a:ln w="0"/>
                            <a:latin typeface="Cambria Math" panose="02040503050406030204" pitchFamily="18" charset="0"/>
                            <a:cs typeface="Times New Roman" panose="02020603050405020304" pitchFamily="18" charset="0"/>
                          </a:rPr>
                        </m:ctrlPr>
                      </m:naryPr>
                      <m:sub>
                        <m:r>
                          <a:rPr lang="en-US" sz="4400" b="0" i="1" smtClean="0">
                            <a:ln w="0"/>
                            <a:latin typeface="Cambria Math" panose="02040503050406030204" pitchFamily="18" charset="0"/>
                            <a:cs typeface="Times New Roman" panose="02020603050405020304" pitchFamily="18" charset="0"/>
                          </a:rPr>
                          <m:t>𝑐</m:t>
                        </m:r>
                      </m:sub>
                      <m:sup/>
                      <m:e>
                        <m:r>
                          <a:rPr lang="en-US" sz="4400" b="0" i="1" smtClean="0">
                            <a:ln w="0"/>
                            <a:latin typeface="Cambria Math" panose="02040503050406030204" pitchFamily="18" charset="0"/>
                            <a:cs typeface="Times New Roman" panose="02020603050405020304" pitchFamily="18" charset="0"/>
                          </a:rPr>
                          <m:t> </m:t>
                        </m:r>
                        <m:f>
                          <m:fPr>
                            <m:ctrlPr>
                              <a:rPr lang="en-US" sz="4400" i="1" dirty="0">
                                <a:ln w="0"/>
                                <a:latin typeface="Cambria Math" panose="02040503050406030204" pitchFamily="18" charset="0"/>
                                <a:cs typeface="Times New Roman" panose="02020603050405020304" pitchFamily="18" charset="0"/>
                              </a:rPr>
                            </m:ctrlPr>
                          </m:fPr>
                          <m:num>
                            <m:r>
                              <a:rPr lang="en-US" sz="4400" dirty="0">
                                <a:ln w="0"/>
                                <a:latin typeface="Cambria Math" panose="02040503050406030204" pitchFamily="18" charset="0"/>
                                <a:cs typeface="Times New Roman" panose="02020603050405020304" pitchFamily="18" charset="0"/>
                              </a:rPr>
                              <m:t>1</m:t>
                            </m:r>
                          </m:num>
                          <m:den>
                            <m:r>
                              <a:rPr lang="en-US" sz="4400" dirty="0">
                                <a:ln w="0"/>
                                <a:latin typeface="Cambria Math" panose="02040503050406030204" pitchFamily="18" charset="0"/>
                                <a:cs typeface="Times New Roman" panose="02020603050405020304" pitchFamily="18" charset="0"/>
                              </a:rPr>
                              <m:t>𝑧</m:t>
                            </m:r>
                            <m:r>
                              <a:rPr lang="en-US" sz="4400" dirty="0">
                                <a:ln w="0"/>
                                <a:latin typeface="Cambria Math" panose="02040503050406030204" pitchFamily="18" charset="0"/>
                                <a:cs typeface="Times New Roman" panose="02020603050405020304" pitchFamily="18" charset="0"/>
                              </a:rPr>
                              <m:t>−2</m:t>
                            </m:r>
                          </m:den>
                        </m:f>
                      </m:e>
                    </m:nary>
                  </m:oMath>
                </a14:m>
                <a:r>
                  <a:rPr lang="en-US" sz="4400" dirty="0" smtClean="0">
                    <a:ln w="0"/>
                    <a:latin typeface="Times New Roman" panose="02020603050405020304" pitchFamily="18" charset="0"/>
                    <a:cs typeface="Times New Roman" panose="02020603050405020304" pitchFamily="18" charset="0"/>
                  </a:rPr>
                  <a:t>dz </a:t>
                </a:r>
                <a:r>
                  <a:rPr lang="en-US" sz="4400" dirty="0">
                    <a:ln w="0"/>
                    <a:latin typeface="Times New Roman" panose="02020603050405020304" pitchFamily="18" charset="0"/>
                    <a:cs typeface="Times New Roman" panose="02020603050405020304" pitchFamily="18" charset="0"/>
                  </a:rPr>
                  <a:t>= 2</a:t>
                </a:r>
                <a:r>
                  <a:rPr lang="el-GR" sz="4400" dirty="0">
                    <a:ln w="0"/>
                    <a:latin typeface="Times New Roman" panose="02020603050405020304" pitchFamily="18" charset="0"/>
                    <a:cs typeface="Times New Roman" panose="02020603050405020304" pitchFamily="18" charset="0"/>
                  </a:rPr>
                  <a:t>π</a:t>
                </a:r>
                <a:r>
                  <a:rPr lang="en-US" sz="4400" dirty="0" err="1">
                    <a:ln w="0"/>
                    <a:latin typeface="Times New Roman" panose="02020603050405020304" pitchFamily="18" charset="0"/>
                    <a:cs typeface="Times New Roman" panose="02020603050405020304" pitchFamily="18" charset="0"/>
                  </a:rPr>
                  <a:t>i</a:t>
                </a:r>
                <a:r>
                  <a:rPr lang="en-US" sz="4400" dirty="0">
                    <a:ln w="0"/>
                    <a:latin typeface="Times New Roman" panose="02020603050405020304" pitchFamily="18" charset="0"/>
                    <a:cs typeface="Times New Roman" panose="02020603050405020304" pitchFamily="18" charset="0"/>
                  </a:rPr>
                  <a:t> ×</a:t>
                </a:r>
                <a14:m>
                  <m:oMath xmlns:m="http://schemas.openxmlformats.org/officeDocument/2006/math">
                    <m:r>
                      <a:rPr lang="en-US" sz="4400">
                        <a:ln w="0"/>
                        <a:latin typeface="Cambria Math" panose="02040503050406030204" pitchFamily="18" charset="0"/>
                        <a:cs typeface="Times New Roman" panose="02020603050405020304" pitchFamily="18" charset="0"/>
                      </a:rPr>
                      <m:t>1=</m:t>
                    </m:r>
                    <m:r>
                      <m:rPr>
                        <m:nor/>
                      </m:rPr>
                      <a:rPr lang="en-US" sz="4400" dirty="0">
                        <a:ln w="0"/>
                        <a:latin typeface="Times New Roman" panose="02020603050405020304" pitchFamily="18" charset="0"/>
                        <a:cs typeface="Times New Roman" panose="02020603050405020304" pitchFamily="18" charset="0"/>
                      </a:rPr>
                      <m:t>2</m:t>
                    </m:r>
                    <m:r>
                      <m:rPr>
                        <m:nor/>
                      </m:rPr>
                      <a:rPr lang="el-GR" sz="4400" dirty="0">
                        <a:ln w="0"/>
                        <a:latin typeface="Times New Roman" panose="02020603050405020304" pitchFamily="18" charset="0"/>
                        <a:cs typeface="Times New Roman" panose="02020603050405020304" pitchFamily="18" charset="0"/>
                      </a:rPr>
                      <m:t>π</m:t>
                    </m:r>
                    <m:r>
                      <m:rPr>
                        <m:nor/>
                      </m:rPr>
                      <a:rPr lang="en-US" sz="4400" dirty="0">
                        <a:ln w="0"/>
                        <a:latin typeface="Times New Roman" panose="02020603050405020304" pitchFamily="18" charset="0"/>
                        <a:cs typeface="Times New Roman" panose="02020603050405020304" pitchFamily="18" charset="0"/>
                      </a:rPr>
                      <m:t>i</m:t>
                    </m:r>
                  </m:oMath>
                </a14:m>
                <a:endParaRPr lang="en-US" sz="4400" dirty="0">
                  <a:ln w="0"/>
                  <a:latin typeface="Times New Roman" panose="02020603050405020304" pitchFamily="18" charset="0"/>
                  <a:cs typeface="Times New Roman" panose="02020603050405020304" pitchFamily="18" charset="0"/>
                </a:endParaRPr>
              </a:p>
              <a:p>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9759950" y="6626515"/>
                <a:ext cx="8001000" cy="3635739"/>
              </a:xfrm>
              <a:prstGeom prst="rect">
                <a:avLst/>
              </a:prstGeom>
              <a:blipFill rotWithShape="0">
                <a:blip r:embed="rId3"/>
                <a:stretch>
                  <a:fillRect l="-3046" t="-3188"/>
                </a:stretch>
              </a:blipFill>
            </p:spPr>
            <p:txBody>
              <a:bodyPr/>
              <a:lstStyle/>
              <a:p>
                <a:r>
                  <a:rPr lang="en-US">
                    <a:noFill/>
                  </a:rPr>
                  <a:t> </a:t>
                </a:r>
              </a:p>
            </p:txBody>
          </p:sp>
        </mc:Fallback>
      </mc:AlternateContent>
      <p:sp>
        <p:nvSpPr>
          <p:cNvPr id="8" name="Rectangle 7"/>
          <p:cNvSpPr/>
          <p:nvPr/>
        </p:nvSpPr>
        <p:spPr>
          <a:xfrm>
            <a:off x="14865350" y="9134475"/>
            <a:ext cx="914400" cy="685800"/>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90086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p14:dur="250">
        <p15:prstTrans prst="pageCurlDouble"/>
      </p:transition>
    </mc:Choice>
    <mc:Fallback xmlns="">
      <p:transition>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130550" y="2101850"/>
            <a:ext cx="13106400" cy="7772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500" indent="-571500">
              <a:buFont typeface="Arial" panose="020B0604020202020204" pitchFamily="34" charset="0"/>
              <a:buChar char="•"/>
            </a:pPr>
            <a:r>
              <a:rPr lang="en-US" sz="3600" dirty="0" smtClean="0">
                <a:solidFill>
                  <a:schemeClr val="tx1"/>
                </a:solidFill>
              </a:rPr>
              <a:t>When </a:t>
            </a:r>
            <a:r>
              <a:rPr lang="en-US" sz="3600" dirty="0">
                <a:solidFill>
                  <a:schemeClr val="tx1"/>
                </a:solidFill>
              </a:rPr>
              <a:t>we have a simple pole and the numerator is analytic → Cauchy’s Integral </a:t>
            </a:r>
            <a:r>
              <a:rPr lang="en-US" sz="3600" dirty="0" smtClean="0">
                <a:solidFill>
                  <a:schemeClr val="tx1"/>
                </a:solidFill>
              </a:rPr>
              <a:t>Formula. </a:t>
            </a:r>
          </a:p>
          <a:p>
            <a:pPr marL="571500" indent="-571500">
              <a:buFont typeface="Arial" panose="020B0604020202020204" pitchFamily="34" charset="0"/>
              <a:buChar char="•"/>
            </a:pPr>
            <a:endParaRPr lang="en-US" sz="3600" dirty="0" smtClean="0">
              <a:solidFill>
                <a:schemeClr val="tx1"/>
              </a:solidFill>
            </a:endParaRPr>
          </a:p>
          <a:p>
            <a:pPr marL="571500" indent="-571500">
              <a:buFont typeface="Arial" panose="020B0604020202020204" pitchFamily="34" charset="0"/>
              <a:buChar char="•"/>
            </a:pPr>
            <a:r>
              <a:rPr lang="en-US" sz="3600" dirty="0" smtClean="0">
                <a:solidFill>
                  <a:schemeClr val="tx1"/>
                </a:solidFill>
              </a:rPr>
              <a:t>But </a:t>
            </a:r>
            <a:r>
              <a:rPr lang="en-US" sz="3600" dirty="0">
                <a:solidFill>
                  <a:schemeClr val="tx1"/>
                </a:solidFill>
              </a:rPr>
              <a:t>for higher-order poles</a:t>
            </a:r>
            <a:r>
              <a:rPr lang="en-US" sz="3600" dirty="0" smtClean="0">
                <a:solidFill>
                  <a:schemeClr val="tx1"/>
                </a:solidFill>
              </a:rPr>
              <a:t>, </a:t>
            </a:r>
            <a:r>
              <a:rPr lang="en-US" sz="3600" dirty="0">
                <a:solidFill>
                  <a:schemeClr val="tx1"/>
                </a:solidFill>
              </a:rPr>
              <a:t>or complicated numerators → Integral Formula becomes messy (derivatives everywhere). Residue Theorem handles everything in one </a:t>
            </a:r>
            <a:r>
              <a:rPr lang="en-US" sz="3600" dirty="0" smtClean="0">
                <a:solidFill>
                  <a:schemeClr val="tx1"/>
                </a:solidFill>
              </a:rPr>
              <a:t>line.</a:t>
            </a:r>
          </a:p>
          <a:p>
            <a:pPr marL="571500" indent="-571500">
              <a:buFont typeface="Arial" panose="020B0604020202020204" pitchFamily="34" charset="0"/>
              <a:buChar char="•"/>
            </a:pPr>
            <a:endParaRPr lang="en-US" sz="3600" dirty="0" smtClean="0">
              <a:solidFill>
                <a:schemeClr val="tx1"/>
              </a:solidFill>
            </a:endParaRPr>
          </a:p>
          <a:p>
            <a:pPr marL="571500" indent="-571500">
              <a:buFont typeface="Arial" panose="020B0604020202020204" pitchFamily="34" charset="0"/>
              <a:buChar char="•"/>
            </a:pPr>
            <a:r>
              <a:rPr lang="en-US" sz="3600" dirty="0" smtClean="0">
                <a:solidFill>
                  <a:schemeClr val="tx1"/>
                </a:solidFill>
              </a:rPr>
              <a:t>So </a:t>
            </a:r>
            <a:r>
              <a:rPr lang="en-US" sz="3600" dirty="0">
                <a:solidFill>
                  <a:schemeClr val="tx1"/>
                </a:solidFill>
              </a:rPr>
              <a:t>Integral Formula = beautiful shortcut for the easy </a:t>
            </a:r>
            <a:r>
              <a:rPr lang="en-US" sz="3600" dirty="0" smtClean="0">
                <a:solidFill>
                  <a:schemeClr val="tx1"/>
                </a:solidFill>
              </a:rPr>
              <a:t>case. </a:t>
            </a:r>
            <a:r>
              <a:rPr lang="en-US" sz="3600" dirty="0">
                <a:solidFill>
                  <a:schemeClr val="tx1"/>
                </a:solidFill>
              </a:rPr>
              <a:t>Residue Theorem = the master weapon for all </a:t>
            </a:r>
            <a:r>
              <a:rPr lang="en-US" sz="3600" dirty="0" smtClean="0">
                <a:solidFill>
                  <a:schemeClr val="tx1"/>
                </a:solidFill>
              </a:rPr>
              <a:t>cases</a:t>
            </a:r>
            <a:r>
              <a:rPr lang="en-US" sz="3600" dirty="0">
                <a:solidFill>
                  <a:schemeClr val="tx1"/>
                </a:solidFill>
              </a:rPr>
              <a:t>.</a:t>
            </a:r>
            <a:r>
              <a:rPr lang="en-US" sz="3600" dirty="0" smtClean="0">
                <a:solidFill>
                  <a:schemeClr val="tx1"/>
                </a:solidFill>
              </a:rPr>
              <a:t> </a:t>
            </a:r>
          </a:p>
          <a:p>
            <a:pPr marL="571500" indent="-571500">
              <a:buFont typeface="Arial" panose="020B0604020202020204" pitchFamily="34" charset="0"/>
              <a:buChar char="•"/>
            </a:pPr>
            <a:endParaRPr lang="en-US" sz="3600" dirty="0" smtClean="0">
              <a:solidFill>
                <a:schemeClr val="tx1"/>
              </a:solidFill>
            </a:endParaRPr>
          </a:p>
          <a:p>
            <a:pPr marL="571500" indent="-571500">
              <a:buFont typeface="Arial" panose="020B0604020202020204" pitchFamily="34" charset="0"/>
              <a:buChar char="•"/>
            </a:pPr>
            <a:r>
              <a:rPr lang="en-US" sz="3600" dirty="0" smtClean="0">
                <a:solidFill>
                  <a:schemeClr val="tx1"/>
                </a:solidFill>
              </a:rPr>
              <a:t>Basically</a:t>
            </a:r>
            <a:r>
              <a:rPr lang="en-US" sz="3600" dirty="0">
                <a:solidFill>
                  <a:schemeClr val="tx1"/>
                </a:solidFill>
              </a:rPr>
              <a:t>, one theorem could do everything… but mathematicians love style, so we got two</a:t>
            </a:r>
            <a:r>
              <a:rPr lang="en-US" sz="3600" dirty="0" smtClean="0">
                <a:solidFill>
                  <a:schemeClr val="tx1"/>
                </a:solidFill>
              </a:rPr>
              <a:t>! </a:t>
            </a:r>
            <a:endParaRPr lang="en-US" sz="3600" dirty="0">
              <a:ln w="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4502150" y="501650"/>
            <a:ext cx="8915400" cy="1600200"/>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6000" b="1" dirty="0" smtClean="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Why two theorems? </a:t>
            </a:r>
          </a:p>
          <a:p>
            <a:r>
              <a:rPr lang="en-US" sz="32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(Cauchy’s Integral formula VS Residue theorem)</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560190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8300700" cy="10299700"/>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3663950" y="615950"/>
            <a:ext cx="10744200" cy="15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7200" b="1" spc="50" dirty="0" smtClean="0">
                <a:ln w="0"/>
                <a:solidFill>
                  <a:schemeClr val="accent6">
                    <a:lumMod val="50000"/>
                  </a:schemeClr>
                </a:solidFill>
                <a:effectLst>
                  <a:innerShdw blurRad="63500" dist="50800" dir="13500000">
                    <a:srgbClr val="000000">
                      <a:alpha val="50000"/>
                    </a:srgbClr>
                  </a:innerShdw>
                </a:effectLst>
                <a:latin typeface="Times New Roman" panose="02020603050405020304" pitchFamily="18" charset="0"/>
                <a:cs typeface="Times New Roman" panose="02020603050405020304" pitchFamily="18" charset="0"/>
              </a:rPr>
              <a:t>Taylor and Laurent series</a:t>
            </a:r>
            <a:endParaRPr lang="en-US" sz="7200" b="1" spc="50" dirty="0">
              <a:ln w="0"/>
              <a:solidFill>
                <a:schemeClr val="accent6">
                  <a:lumMod val="50000"/>
                </a:schemeClr>
              </a:solidFill>
              <a:effectLst>
                <a:innerShdw blurRad="63500" dist="50800" dir="13500000">
                  <a:srgbClr val="000000">
                    <a:alpha val="50000"/>
                  </a:srgbClr>
                </a:innerShdw>
              </a:effectLst>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Rectangle 4"/>
              <p:cNvSpPr/>
              <p:nvPr/>
            </p:nvSpPr>
            <p:spPr>
              <a:xfrm>
                <a:off x="1835150" y="2755900"/>
                <a:ext cx="14859000" cy="2057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smtClean="0">
                    <a:ln w="0"/>
                    <a:solidFill>
                      <a:srgbClr val="FF0000"/>
                    </a:solidFill>
                    <a:latin typeface="Times New Roman" panose="02020603050405020304" pitchFamily="18" charset="0"/>
                    <a:cs typeface="Times New Roman" panose="02020603050405020304" pitchFamily="18" charset="0"/>
                  </a:rPr>
                  <a:t>Analytic function can be expressed as power series:</a:t>
                </a:r>
              </a:p>
              <a:p>
                <a:r>
                  <a:rPr lang="en-US" sz="4400" b="1" u="sng" dirty="0" smtClean="0">
                    <a:ln w="0"/>
                    <a:solidFill>
                      <a:srgbClr val="FF0000"/>
                    </a:solidFill>
                    <a:latin typeface="Times New Roman" panose="02020603050405020304" pitchFamily="18" charset="0"/>
                    <a:cs typeface="Times New Roman" panose="02020603050405020304" pitchFamily="18" charset="0"/>
                  </a:rPr>
                  <a:t>Taylor series</a:t>
                </a:r>
                <a:r>
                  <a:rPr lang="en-US" sz="4400" b="1" dirty="0" smtClean="0">
                    <a:ln w="0"/>
                    <a:solidFill>
                      <a:srgbClr val="FF0000"/>
                    </a:solidFill>
                    <a:latin typeface="Times New Roman" panose="02020603050405020304" pitchFamily="18" charset="0"/>
                    <a:cs typeface="Times New Roman" panose="02020603050405020304" pitchFamily="18" charset="0"/>
                  </a:rPr>
                  <a:t>: Valid in regions where the function is analytic.  f(z) =</a:t>
                </a:r>
                <a14:m>
                  <m:oMath xmlns:m="http://schemas.openxmlformats.org/officeDocument/2006/math">
                    <m:nary>
                      <m:naryPr>
                        <m:chr m:val="∑"/>
                        <m:ctrlPr>
                          <a:rPr lang="en-US" sz="4400" b="1" i="1" smtClean="0">
                            <a:ln w="0"/>
                            <a:solidFill>
                              <a:srgbClr val="FF0000"/>
                            </a:solidFill>
                            <a:latin typeface="Cambria Math" panose="02040503050406030204" pitchFamily="18" charset="0"/>
                            <a:cs typeface="Times New Roman" panose="02020603050405020304" pitchFamily="18" charset="0"/>
                          </a:rPr>
                        </m:ctrlPr>
                      </m:naryPr>
                      <m:sub>
                        <m:r>
                          <m:rPr>
                            <m:brk m:alnAt="23"/>
                          </m:rPr>
                          <a:rPr lang="en-US" sz="4400" b="1" i="1" smtClean="0">
                            <a:ln w="0"/>
                            <a:solidFill>
                              <a:srgbClr val="FF0000"/>
                            </a:solidFill>
                            <a:latin typeface="Cambria Math" panose="02040503050406030204" pitchFamily="18" charset="0"/>
                            <a:cs typeface="Times New Roman" panose="02020603050405020304" pitchFamily="18" charset="0"/>
                          </a:rPr>
                          <m:t>𝒏</m:t>
                        </m:r>
                        <m:r>
                          <a:rPr lang="en-US" sz="4400" b="1" i="1" smtClean="0">
                            <a:ln w="0"/>
                            <a:solidFill>
                              <a:srgbClr val="FF0000"/>
                            </a:solidFill>
                            <a:latin typeface="Cambria Math" panose="02040503050406030204" pitchFamily="18" charset="0"/>
                            <a:cs typeface="Times New Roman" panose="02020603050405020304" pitchFamily="18" charset="0"/>
                          </a:rPr>
                          <m:t>=</m:t>
                        </m:r>
                        <m:r>
                          <a:rPr lang="en-US" sz="4400" b="1" i="1" smtClean="0">
                            <a:ln w="0"/>
                            <a:solidFill>
                              <a:srgbClr val="FF0000"/>
                            </a:solidFill>
                            <a:latin typeface="Cambria Math" panose="02040503050406030204" pitchFamily="18" charset="0"/>
                            <a:cs typeface="Times New Roman" panose="02020603050405020304" pitchFamily="18" charset="0"/>
                          </a:rPr>
                          <m:t>𝟎</m:t>
                        </m:r>
                      </m:sub>
                      <m:sup>
                        <m:r>
                          <a:rPr lang="en-US" sz="4400" b="1" i="1" smtClean="0">
                            <a:ln w="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sup>
                      <m:e>
                        <m:func>
                          <m:funcPr>
                            <m:ctrlPr>
                              <a:rPr lang="en-US" sz="4400" b="1" i="1" smtClean="0">
                                <a:ln w="0"/>
                                <a:solidFill>
                                  <a:srgbClr val="FF0000"/>
                                </a:solidFill>
                                <a:latin typeface="Cambria Math" panose="02040503050406030204" pitchFamily="18" charset="0"/>
                                <a:cs typeface="Times New Roman" panose="02020603050405020304" pitchFamily="18" charset="0"/>
                              </a:rPr>
                            </m:ctrlPr>
                          </m:funcPr>
                          <m:fName>
                            <m:sSub>
                              <m:sSubPr>
                                <m:ctrlPr>
                                  <a:rPr lang="en-US" sz="4400" b="1" i="1" smtClean="0">
                                    <a:ln w="0"/>
                                    <a:solidFill>
                                      <a:srgbClr val="FF0000"/>
                                    </a:solidFill>
                                    <a:latin typeface="Cambria Math" panose="02040503050406030204" pitchFamily="18" charset="0"/>
                                    <a:cs typeface="Times New Roman" panose="02020603050405020304" pitchFamily="18" charset="0"/>
                                  </a:rPr>
                                </m:ctrlPr>
                              </m:sSubPr>
                              <m:e>
                                <m:r>
                                  <a:rPr lang="en-US" sz="4400" b="0" i="1" smtClean="0">
                                    <a:ln w="0"/>
                                    <a:solidFill>
                                      <a:srgbClr val="FF0000"/>
                                    </a:solidFill>
                                    <a:latin typeface="Cambria Math" panose="02040503050406030204" pitchFamily="18" charset="0"/>
                                    <a:cs typeface="Times New Roman" panose="02020603050405020304" pitchFamily="18" charset="0"/>
                                  </a:rPr>
                                  <m:t> </m:t>
                                </m:r>
                                <m:r>
                                  <a:rPr lang="en-US" sz="4400" b="0" i="1" smtClean="0">
                                    <a:ln w="0"/>
                                    <a:solidFill>
                                      <a:srgbClr val="FF0000"/>
                                    </a:solidFill>
                                    <a:latin typeface="Cambria Math" panose="02040503050406030204" pitchFamily="18" charset="0"/>
                                    <a:cs typeface="Times New Roman" panose="02020603050405020304" pitchFamily="18" charset="0"/>
                                  </a:rPr>
                                  <m:t>𝑎</m:t>
                                </m:r>
                              </m:e>
                              <m:sub>
                                <m:r>
                                  <a:rPr lang="en-US" sz="4400" b="1" i="1" smtClean="0">
                                    <a:ln w="0"/>
                                    <a:solidFill>
                                      <a:srgbClr val="FF0000"/>
                                    </a:solidFill>
                                    <a:latin typeface="Cambria Math" panose="02040503050406030204" pitchFamily="18" charset="0"/>
                                    <a:cs typeface="Times New Roman" panose="02020603050405020304" pitchFamily="18" charset="0"/>
                                  </a:rPr>
                                  <m:t>𝒏</m:t>
                                </m:r>
                              </m:sub>
                            </m:sSub>
                          </m:fName>
                          <m:e>
                            <m:sSup>
                              <m:sSupPr>
                                <m:ctrlPr>
                                  <a:rPr lang="en-US" sz="4400" b="1" i="1" smtClean="0">
                                    <a:ln w="0"/>
                                    <a:solidFill>
                                      <a:srgbClr val="FF0000"/>
                                    </a:solidFill>
                                    <a:latin typeface="Cambria Math" panose="02040503050406030204" pitchFamily="18" charset="0"/>
                                    <a:cs typeface="Times New Roman" panose="02020603050405020304" pitchFamily="18" charset="0"/>
                                  </a:rPr>
                                </m:ctrlPr>
                              </m:sSupPr>
                              <m:e>
                                <m:d>
                                  <m:dPr>
                                    <m:ctrlPr>
                                      <a:rPr lang="en-US" sz="4400" b="1" i="1" smtClean="0">
                                        <a:ln w="0"/>
                                        <a:solidFill>
                                          <a:srgbClr val="FF0000"/>
                                        </a:solidFill>
                                        <a:latin typeface="Cambria Math" panose="02040503050406030204" pitchFamily="18" charset="0"/>
                                        <a:cs typeface="Times New Roman" panose="02020603050405020304" pitchFamily="18" charset="0"/>
                                      </a:rPr>
                                    </m:ctrlPr>
                                  </m:dPr>
                                  <m:e>
                                    <m:r>
                                      <a:rPr lang="en-US" sz="4400" b="1" i="1" smtClean="0">
                                        <a:ln w="0"/>
                                        <a:solidFill>
                                          <a:srgbClr val="FF0000"/>
                                        </a:solidFill>
                                        <a:latin typeface="Cambria Math" panose="02040503050406030204" pitchFamily="18" charset="0"/>
                                        <a:cs typeface="Times New Roman" panose="02020603050405020304" pitchFamily="18" charset="0"/>
                                      </a:rPr>
                                      <m:t>𝒛</m:t>
                                    </m:r>
                                    <m:r>
                                      <a:rPr lang="en-US" sz="4400" b="1" i="1" smtClean="0">
                                        <a:ln w="0"/>
                                        <a:solidFill>
                                          <a:srgbClr val="FF0000"/>
                                        </a:solidFill>
                                        <a:latin typeface="Cambria Math" panose="02040503050406030204" pitchFamily="18" charset="0"/>
                                        <a:cs typeface="Times New Roman" panose="02020603050405020304" pitchFamily="18" charset="0"/>
                                      </a:rPr>
                                      <m:t>−</m:t>
                                    </m:r>
                                    <m:r>
                                      <a:rPr lang="en-US" sz="4400" b="1" i="1" smtClean="0">
                                        <a:ln w="0"/>
                                        <a:solidFill>
                                          <a:srgbClr val="FF0000"/>
                                        </a:solidFill>
                                        <a:latin typeface="Cambria Math" panose="02040503050406030204" pitchFamily="18" charset="0"/>
                                        <a:cs typeface="Times New Roman" panose="02020603050405020304" pitchFamily="18" charset="0"/>
                                      </a:rPr>
                                      <m:t>𝒂</m:t>
                                    </m:r>
                                  </m:e>
                                </m:d>
                              </m:e>
                              <m:sup>
                                <m:r>
                                  <a:rPr lang="en-US" sz="4400" b="1" i="1" smtClean="0">
                                    <a:ln w="0"/>
                                    <a:solidFill>
                                      <a:srgbClr val="FF0000"/>
                                    </a:solidFill>
                                    <a:latin typeface="Cambria Math" panose="02040503050406030204" pitchFamily="18" charset="0"/>
                                    <a:cs typeface="Times New Roman" panose="02020603050405020304" pitchFamily="18" charset="0"/>
                                  </a:rPr>
                                  <m:t>𝒏</m:t>
                                </m:r>
                              </m:sup>
                            </m:sSup>
                          </m:e>
                        </m:func>
                      </m:e>
                    </m:nary>
                  </m:oMath>
                </a14:m>
                <a:endParaRPr lang="en-US" sz="4400" b="1" dirty="0">
                  <a:ln w="0"/>
                  <a:solidFill>
                    <a:schemeClr val="tx1"/>
                  </a:solidFill>
                  <a:latin typeface="Times New Roman" panose="02020603050405020304" pitchFamily="18" charset="0"/>
                  <a:cs typeface="Times New Roman" panose="020206030504050203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835150" y="2755900"/>
                <a:ext cx="14859000" cy="2057400"/>
              </a:xfrm>
              <a:prstGeom prst="rect">
                <a:avLst/>
              </a:prstGeom>
              <a:blipFill rotWithShape="0">
                <a:blip r:embed="rId3"/>
                <a:stretch>
                  <a:fillRect l="-1641" t="-6805" r="-1395" b="-1508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803400" y="5429250"/>
                <a:ext cx="15087600" cy="45402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u="sng" dirty="0" smtClean="0">
                    <a:ln w="0"/>
                    <a:solidFill>
                      <a:srgbClr val="FF0000"/>
                    </a:solidFill>
                    <a:latin typeface="Times New Roman" panose="02020603050405020304" pitchFamily="18" charset="0"/>
                    <a:cs typeface="Times New Roman" panose="02020603050405020304" pitchFamily="18" charset="0"/>
                  </a:rPr>
                  <a:t>Laurent Series</a:t>
                </a:r>
                <a:r>
                  <a:rPr lang="en-US" sz="4400" b="1" dirty="0" smtClean="0">
                    <a:ln w="0"/>
                    <a:solidFill>
                      <a:srgbClr val="FF0000"/>
                    </a:solidFill>
                    <a:latin typeface="Times New Roman" panose="02020603050405020304" pitchFamily="18" charset="0"/>
                    <a:cs typeface="Times New Roman" panose="02020603050405020304" pitchFamily="18" charset="0"/>
                  </a:rPr>
                  <a:t>: </a:t>
                </a:r>
                <a:r>
                  <a:rPr lang="en-US" sz="4400" dirty="0" smtClean="0">
                    <a:ln w="0"/>
                    <a:solidFill>
                      <a:srgbClr val="FF0000"/>
                    </a:solidFill>
                    <a:latin typeface="Times New Roman" panose="02020603050405020304" pitchFamily="18" charset="0"/>
                    <a:cs typeface="Times New Roman" panose="02020603050405020304" pitchFamily="18" charset="0"/>
                  </a:rPr>
                  <a:t>Used around singularities (points where f is not analytic).</a:t>
                </a:r>
              </a:p>
              <a:p>
                <a:r>
                  <a:rPr lang="en-US" sz="4400" dirty="0" smtClean="0">
                    <a:ln w="0"/>
                    <a:solidFill>
                      <a:srgbClr val="FF0000"/>
                    </a:solidFill>
                    <a:latin typeface="Times New Roman" panose="02020603050405020304" pitchFamily="18" charset="0"/>
                    <a:cs typeface="Times New Roman" panose="02020603050405020304" pitchFamily="18" charset="0"/>
                  </a:rPr>
                  <a:t>f(z)= </a:t>
                </a:r>
                <a14:m>
                  <m:oMath xmlns:m="http://schemas.openxmlformats.org/officeDocument/2006/math">
                    <m:nary>
                      <m:naryPr>
                        <m:chr m:val="∑"/>
                        <m:ctrlPr>
                          <a:rPr lang="en-US" sz="4400" b="1" i="1">
                            <a:ln w="0"/>
                            <a:solidFill>
                              <a:srgbClr val="FF0000"/>
                            </a:solidFill>
                            <a:latin typeface="Cambria Math" panose="02040503050406030204" pitchFamily="18" charset="0"/>
                            <a:cs typeface="Times New Roman" panose="02020603050405020304" pitchFamily="18" charset="0"/>
                          </a:rPr>
                        </m:ctrlPr>
                      </m:naryPr>
                      <m:sub>
                        <m:r>
                          <m:rPr>
                            <m:brk m:alnAt="23"/>
                          </m:rPr>
                          <a:rPr lang="en-US" sz="4400" b="1" i="1">
                            <a:ln w="0"/>
                            <a:solidFill>
                              <a:srgbClr val="FF0000"/>
                            </a:solidFill>
                            <a:latin typeface="Cambria Math" panose="02040503050406030204" pitchFamily="18" charset="0"/>
                            <a:cs typeface="Times New Roman" panose="02020603050405020304" pitchFamily="18" charset="0"/>
                          </a:rPr>
                          <m:t>𝒏</m:t>
                        </m:r>
                        <m:r>
                          <a:rPr lang="en-US" sz="4400" b="1" i="1">
                            <a:ln w="0"/>
                            <a:solidFill>
                              <a:srgbClr val="FF0000"/>
                            </a:solidFill>
                            <a:latin typeface="Cambria Math" panose="02040503050406030204" pitchFamily="18" charset="0"/>
                            <a:cs typeface="Times New Roman" panose="02020603050405020304" pitchFamily="18" charset="0"/>
                          </a:rPr>
                          <m:t>=</m:t>
                        </m:r>
                        <m:r>
                          <a:rPr lang="en-US" sz="4400" b="1" i="1">
                            <a:ln w="0"/>
                            <a:solidFill>
                              <a:srgbClr val="FF0000"/>
                            </a:solidFill>
                            <a:latin typeface="Cambria Math" panose="02040503050406030204" pitchFamily="18" charset="0"/>
                            <a:cs typeface="Times New Roman" panose="02020603050405020304" pitchFamily="18" charset="0"/>
                          </a:rPr>
                          <m:t>𝟎</m:t>
                        </m:r>
                        <m:r>
                          <a:rPr lang="en-US" sz="4400" b="1" i="1" smtClean="0">
                            <a:ln w="0"/>
                            <a:solidFill>
                              <a:srgbClr val="FF0000"/>
                            </a:solidFill>
                            <a:latin typeface="Cambria Math" panose="02040503050406030204" pitchFamily="18" charset="0"/>
                            <a:cs typeface="Times New Roman" panose="02020603050405020304" pitchFamily="18" charset="0"/>
                          </a:rPr>
                          <m:t> </m:t>
                        </m:r>
                      </m:sub>
                      <m:sup>
                        <m:r>
                          <a:rPr lang="en-US" sz="4400" b="1" i="1">
                            <a:ln w="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sup>
                      <m:e>
                        <m:func>
                          <m:funcPr>
                            <m:ctrlPr>
                              <a:rPr lang="en-US" sz="4400" b="1" i="1">
                                <a:ln w="0"/>
                                <a:solidFill>
                                  <a:srgbClr val="FF0000"/>
                                </a:solidFill>
                                <a:latin typeface="Cambria Math" panose="02040503050406030204" pitchFamily="18" charset="0"/>
                                <a:cs typeface="Times New Roman" panose="02020603050405020304" pitchFamily="18" charset="0"/>
                              </a:rPr>
                            </m:ctrlPr>
                          </m:funcPr>
                          <m:fName>
                            <m:sSub>
                              <m:sSubPr>
                                <m:ctrlPr>
                                  <a:rPr lang="en-US" sz="4400" b="1" i="1">
                                    <a:ln w="0"/>
                                    <a:solidFill>
                                      <a:srgbClr val="FF0000"/>
                                    </a:solidFill>
                                    <a:latin typeface="Cambria Math" panose="02040503050406030204" pitchFamily="18" charset="0"/>
                                    <a:cs typeface="Times New Roman" panose="02020603050405020304" pitchFamily="18" charset="0"/>
                                  </a:rPr>
                                </m:ctrlPr>
                              </m:sSubPr>
                              <m:e>
                                <m:r>
                                  <a:rPr lang="en-US" sz="4400" i="1">
                                    <a:ln w="0"/>
                                    <a:solidFill>
                                      <a:srgbClr val="FF0000"/>
                                    </a:solidFill>
                                    <a:latin typeface="Cambria Math" panose="02040503050406030204" pitchFamily="18" charset="0"/>
                                    <a:cs typeface="Times New Roman" panose="02020603050405020304" pitchFamily="18" charset="0"/>
                                  </a:rPr>
                                  <m:t>𝑎</m:t>
                                </m:r>
                              </m:e>
                              <m:sub>
                                <m:r>
                                  <a:rPr lang="en-US" sz="4400" b="1" i="1">
                                    <a:ln w="0"/>
                                    <a:solidFill>
                                      <a:srgbClr val="FF0000"/>
                                    </a:solidFill>
                                    <a:latin typeface="Cambria Math" panose="02040503050406030204" pitchFamily="18" charset="0"/>
                                    <a:cs typeface="Times New Roman" panose="02020603050405020304" pitchFamily="18" charset="0"/>
                                  </a:rPr>
                                  <m:t>𝒏</m:t>
                                </m:r>
                              </m:sub>
                            </m:sSub>
                          </m:fName>
                          <m:e>
                            <m:sSup>
                              <m:sSupPr>
                                <m:ctrlPr>
                                  <a:rPr lang="en-US" sz="4400" b="1" i="1">
                                    <a:ln w="0"/>
                                    <a:solidFill>
                                      <a:srgbClr val="FF0000"/>
                                    </a:solidFill>
                                    <a:latin typeface="Cambria Math" panose="02040503050406030204" pitchFamily="18" charset="0"/>
                                    <a:cs typeface="Times New Roman" panose="02020603050405020304" pitchFamily="18" charset="0"/>
                                  </a:rPr>
                                </m:ctrlPr>
                              </m:sSupPr>
                              <m:e>
                                <m:d>
                                  <m:dPr>
                                    <m:ctrlPr>
                                      <a:rPr lang="en-US" sz="4400" b="1" i="1">
                                        <a:ln w="0"/>
                                        <a:solidFill>
                                          <a:srgbClr val="FF0000"/>
                                        </a:solidFill>
                                        <a:latin typeface="Cambria Math" panose="02040503050406030204" pitchFamily="18" charset="0"/>
                                        <a:cs typeface="Times New Roman" panose="02020603050405020304" pitchFamily="18" charset="0"/>
                                      </a:rPr>
                                    </m:ctrlPr>
                                  </m:dPr>
                                  <m:e>
                                    <m:r>
                                      <a:rPr lang="en-US" sz="4400" b="1" i="1">
                                        <a:ln w="0"/>
                                        <a:solidFill>
                                          <a:srgbClr val="FF0000"/>
                                        </a:solidFill>
                                        <a:latin typeface="Cambria Math" panose="02040503050406030204" pitchFamily="18" charset="0"/>
                                        <a:cs typeface="Times New Roman" panose="02020603050405020304" pitchFamily="18" charset="0"/>
                                      </a:rPr>
                                      <m:t>𝒛</m:t>
                                    </m:r>
                                    <m:r>
                                      <a:rPr lang="en-US" sz="4400" b="1" i="1">
                                        <a:ln w="0"/>
                                        <a:solidFill>
                                          <a:srgbClr val="FF0000"/>
                                        </a:solidFill>
                                        <a:latin typeface="Cambria Math" panose="02040503050406030204" pitchFamily="18" charset="0"/>
                                        <a:cs typeface="Times New Roman" panose="02020603050405020304" pitchFamily="18" charset="0"/>
                                      </a:rPr>
                                      <m:t>−</m:t>
                                    </m:r>
                                    <m:r>
                                      <a:rPr lang="en-US" sz="4400" b="1" i="1">
                                        <a:ln w="0"/>
                                        <a:solidFill>
                                          <a:srgbClr val="FF0000"/>
                                        </a:solidFill>
                                        <a:latin typeface="Cambria Math" panose="02040503050406030204" pitchFamily="18" charset="0"/>
                                        <a:cs typeface="Times New Roman" panose="02020603050405020304" pitchFamily="18" charset="0"/>
                                      </a:rPr>
                                      <m:t>𝒂</m:t>
                                    </m:r>
                                  </m:e>
                                </m:d>
                              </m:e>
                              <m:sup>
                                <m:r>
                                  <a:rPr lang="en-US" sz="4400" b="1" i="1">
                                    <a:ln w="0"/>
                                    <a:solidFill>
                                      <a:srgbClr val="FF0000"/>
                                    </a:solidFill>
                                    <a:latin typeface="Cambria Math" panose="02040503050406030204" pitchFamily="18" charset="0"/>
                                    <a:cs typeface="Times New Roman" panose="02020603050405020304" pitchFamily="18" charset="0"/>
                                  </a:rPr>
                                  <m:t>𝒏</m:t>
                                </m:r>
                              </m:sup>
                            </m:sSup>
                          </m:e>
                        </m:func>
                      </m:e>
                    </m:nary>
                  </m:oMath>
                </a14:m>
                <a:endParaRPr lang="en-US" sz="4400" dirty="0" smtClean="0">
                  <a:ln w="0"/>
                  <a:solidFill>
                    <a:schemeClr val="tx1"/>
                  </a:solidFill>
                  <a:latin typeface="Times New Roman" panose="02020603050405020304" pitchFamily="18" charset="0"/>
                  <a:cs typeface="Times New Roman" panose="02020603050405020304" pitchFamily="18" charset="0"/>
                </a:endParaRPr>
              </a:p>
              <a:p>
                <a:r>
                  <a:rPr lang="en-US" sz="4400" dirty="0" smtClean="0">
                    <a:ln w="0"/>
                    <a:solidFill>
                      <a:srgbClr val="FF0000"/>
                    </a:solidFill>
                    <a:latin typeface="Times New Roman" panose="02020603050405020304" pitchFamily="18" charset="0"/>
                    <a:cs typeface="Times New Roman" panose="02020603050405020304" pitchFamily="18" charset="0"/>
                  </a:rPr>
                  <a:t>Laurent series helps classify singularities:</a:t>
                </a:r>
              </a:p>
              <a:p>
                <a:pPr marL="3314700" lvl="6" indent="-571500">
                  <a:buFont typeface="Arial" panose="020B0604020202020204" pitchFamily="34" charset="0"/>
                  <a:buChar char="•"/>
                </a:pPr>
                <a:r>
                  <a:rPr lang="en-US" sz="4400" dirty="0" smtClean="0">
                    <a:ln w="0"/>
                    <a:solidFill>
                      <a:srgbClr val="FF0000"/>
                    </a:solidFill>
                    <a:latin typeface="Times New Roman" panose="02020603050405020304" pitchFamily="18" charset="0"/>
                    <a:cs typeface="Times New Roman" panose="02020603050405020304" pitchFamily="18" charset="0"/>
                  </a:rPr>
                  <a:t>Removable</a:t>
                </a:r>
              </a:p>
              <a:p>
                <a:pPr marL="3314700" lvl="6" indent="-571500">
                  <a:buFont typeface="Arial" panose="020B0604020202020204" pitchFamily="34" charset="0"/>
                  <a:buChar char="•"/>
                </a:pPr>
                <a:r>
                  <a:rPr lang="en-US" sz="4400" dirty="0" smtClean="0">
                    <a:ln w="0"/>
                    <a:solidFill>
                      <a:srgbClr val="FF0000"/>
                    </a:solidFill>
                    <a:latin typeface="Times New Roman" panose="02020603050405020304" pitchFamily="18" charset="0"/>
                    <a:cs typeface="Times New Roman" panose="02020603050405020304" pitchFamily="18" charset="0"/>
                  </a:rPr>
                  <a:t>Pole</a:t>
                </a:r>
              </a:p>
              <a:p>
                <a:pPr marL="3314700" lvl="6" indent="-571500">
                  <a:buFont typeface="Arial" panose="020B0604020202020204" pitchFamily="34" charset="0"/>
                  <a:buChar char="•"/>
                </a:pPr>
                <a:r>
                  <a:rPr lang="en-US" sz="4400" dirty="0" smtClean="0">
                    <a:ln w="0"/>
                    <a:solidFill>
                      <a:srgbClr val="FF0000"/>
                    </a:solidFill>
                    <a:latin typeface="Times New Roman" panose="02020603050405020304" pitchFamily="18" charset="0"/>
                    <a:cs typeface="Times New Roman" panose="02020603050405020304" pitchFamily="18" charset="0"/>
                  </a:rPr>
                  <a:t>Essential</a:t>
                </a:r>
                <a:endParaRPr lang="en-US" sz="4400" dirty="0">
                  <a:ln w="0"/>
                  <a:solidFill>
                    <a:srgbClr val="FF0000"/>
                  </a:solidFill>
                  <a:latin typeface="Times New Roman" panose="02020603050405020304" pitchFamily="18" charset="0"/>
                  <a:cs typeface="Times New Roman" panose="020206030504050203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1803400" y="5429250"/>
                <a:ext cx="15087600" cy="4540250"/>
              </a:xfrm>
              <a:prstGeom prst="rect">
                <a:avLst/>
              </a:prstGeom>
              <a:blipFill rotWithShape="0">
                <a:blip r:embed="rId4"/>
                <a:stretch>
                  <a:fillRect l="-1657" t="-5376" b="-9409"/>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678087552"/>
      </p:ext>
    </p:extLst>
  </p:cSld>
  <p:clrMapOvr>
    <a:masterClrMapping/>
  </p:clrMapOvr>
  <mc:AlternateContent xmlns:mc="http://schemas.openxmlformats.org/markup-compatibility/2006" xmlns:p14="http://schemas.microsoft.com/office/powerpoint/2010/main">
    <mc:Choice Requires="p14">
      <p:transition spd="slow" p14:dur="1500">
        <p14:prism isContent="1"/>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p:cNvSpPr txBox="1"/>
              <p:nvPr/>
            </p:nvSpPr>
            <p:spPr>
              <a:xfrm>
                <a:off x="2597150" y="2711450"/>
                <a:ext cx="14782800" cy="6101094"/>
              </a:xfrm>
              <a:prstGeom prst="rect">
                <a:avLst/>
              </a:prstGeom>
              <a:noFill/>
            </p:spPr>
            <p:txBody>
              <a:bodyPr wrap="square" rtlCol="0">
                <a:spAutoFit/>
              </a:bodyPr>
              <a:lstStyle/>
              <a:p>
                <a:r>
                  <a:rPr lang="en-US" sz="4400" dirty="0" smtClean="0">
                    <a:latin typeface="Times New Roman" panose="02020603050405020304" pitchFamily="18" charset="0"/>
                    <a:cs typeface="Times New Roman" panose="02020603050405020304" pitchFamily="18" charset="0"/>
                  </a:rPr>
                  <a:t>The idea of limit must be the same regardless of the direction from which z approaches a point.</a:t>
                </a:r>
              </a:p>
              <a:p>
                <a:r>
                  <a:rPr lang="en-US" sz="4400" dirty="0" smtClean="0">
                    <a:latin typeface="Times New Roman" panose="02020603050405020304" pitchFamily="18" charset="0"/>
                    <a:cs typeface="Times New Roman" panose="02020603050405020304" pitchFamily="18" charset="0"/>
                  </a:rPr>
                  <a:t>Example of a limit that does not </a:t>
                </a:r>
                <a:r>
                  <a:rPr lang="en-US" sz="4400" dirty="0" err="1" smtClean="0">
                    <a:latin typeface="Times New Roman" panose="02020603050405020304" pitchFamily="18" charset="0"/>
                    <a:cs typeface="Times New Roman" panose="02020603050405020304" pitchFamily="18" charset="0"/>
                  </a:rPr>
                  <a:t>esist</a:t>
                </a:r>
                <a:r>
                  <a:rPr lang="en-US" sz="4400" dirty="0" smtClean="0">
                    <a:latin typeface="Times New Roman" panose="02020603050405020304" pitchFamily="18" charset="0"/>
                    <a:cs typeface="Times New Roman" panose="02020603050405020304" pitchFamily="18" charset="0"/>
                  </a:rPr>
                  <a:t>:</a:t>
                </a:r>
              </a:p>
              <a:p>
                <a:pPr/>
                <a14:m>
                  <m:oMathPara xmlns:m="http://schemas.openxmlformats.org/officeDocument/2006/math">
                    <m:oMathParaPr>
                      <m:jc m:val="centerGroup"/>
                    </m:oMathParaPr>
                    <m:oMath xmlns:m="http://schemas.openxmlformats.org/officeDocument/2006/math">
                      <m:func>
                        <m:funcPr>
                          <m:ctrlPr>
                            <a:rPr lang="en-US" sz="4400" i="1" smtClean="0">
                              <a:latin typeface="Cambria Math" panose="02040503050406030204" pitchFamily="18" charset="0"/>
                              <a:cs typeface="Times New Roman" panose="02020603050405020304" pitchFamily="18" charset="0"/>
                            </a:rPr>
                          </m:ctrlPr>
                        </m:funcPr>
                        <m:fName>
                          <m:limLow>
                            <m:limLowPr>
                              <m:ctrlPr>
                                <a:rPr lang="en-US" sz="4400" i="1" smtClean="0">
                                  <a:latin typeface="Cambria Math" panose="02040503050406030204" pitchFamily="18" charset="0"/>
                                  <a:cs typeface="Times New Roman" panose="02020603050405020304" pitchFamily="18" charset="0"/>
                                </a:rPr>
                              </m:ctrlPr>
                            </m:limLowPr>
                            <m:e>
                              <m:r>
                                <m:rPr>
                                  <m:sty m:val="p"/>
                                </m:rPr>
                                <a:rPr lang="en-US" sz="4400" i="0" smtClean="0">
                                  <a:latin typeface="Cambria Math" panose="02040503050406030204" pitchFamily="18" charset="0"/>
                                  <a:cs typeface="Times New Roman" panose="02020603050405020304" pitchFamily="18" charset="0"/>
                                </a:rPr>
                                <m:t>lim</m:t>
                              </m:r>
                            </m:e>
                            <m:lim>
                              <m:r>
                                <a:rPr lang="en-US" sz="4400" b="0" i="1" smtClean="0">
                                  <a:latin typeface="Cambria Math" panose="02040503050406030204" pitchFamily="18" charset="0"/>
                                  <a:cs typeface="Times New Roman" panose="02020603050405020304" pitchFamily="18" charset="0"/>
                                </a:rPr>
                                <m:t>𝑧</m:t>
                              </m:r>
                              <m:r>
                                <a:rPr lang="en-US" sz="4400" i="1" smtClean="0">
                                  <a:latin typeface="Cambria Math" panose="02040503050406030204" pitchFamily="18" charset="0"/>
                                  <a:cs typeface="Times New Roman" panose="02020603050405020304" pitchFamily="18" charset="0"/>
                                </a:rPr>
                                <m:t>→</m:t>
                              </m:r>
                              <m:r>
                                <a:rPr lang="en-US" sz="4400" b="0" i="1" smtClean="0">
                                  <a:latin typeface="Cambria Math" panose="02040503050406030204" pitchFamily="18" charset="0"/>
                                  <a:cs typeface="Times New Roman" panose="02020603050405020304" pitchFamily="18" charset="0"/>
                                </a:rPr>
                                <m:t>0</m:t>
                              </m:r>
                            </m:lim>
                          </m:limLow>
                        </m:fName>
                        <m:e>
                          <m:f>
                            <m:fPr>
                              <m:ctrlPr>
                                <a:rPr lang="en-US" sz="4400" i="1" smtClean="0">
                                  <a:latin typeface="Cambria Math" panose="02040503050406030204" pitchFamily="18" charset="0"/>
                                  <a:cs typeface="Times New Roman" panose="02020603050405020304" pitchFamily="18" charset="0"/>
                                </a:rPr>
                              </m:ctrlPr>
                            </m:fPr>
                            <m:num>
                              <m:r>
                                <a:rPr lang="en-US" sz="4400" b="0" i="1" smtClean="0">
                                  <a:latin typeface="Cambria Math" panose="02040503050406030204" pitchFamily="18" charset="0"/>
                                  <a:cs typeface="Times New Roman" panose="02020603050405020304" pitchFamily="18" charset="0"/>
                                </a:rPr>
                                <m:t>𝑧</m:t>
                              </m:r>
                            </m:num>
                            <m:den>
                              <m:r>
                                <a:rPr lang="en-US" sz="4400" b="0" i="1" smtClean="0">
                                  <a:latin typeface="Cambria Math" panose="02040503050406030204" pitchFamily="18" charset="0"/>
                                  <a:cs typeface="Times New Roman" panose="02020603050405020304" pitchFamily="18" charset="0"/>
                                </a:rPr>
                                <m:t>|</m:t>
                              </m:r>
                              <m:r>
                                <a:rPr lang="en-US" sz="4400" b="0" i="1" smtClean="0">
                                  <a:latin typeface="Cambria Math" panose="02040503050406030204" pitchFamily="18" charset="0"/>
                                  <a:cs typeface="Times New Roman" panose="02020603050405020304" pitchFamily="18" charset="0"/>
                                </a:rPr>
                                <m:t>𝑧</m:t>
                              </m:r>
                              <m:r>
                                <a:rPr lang="en-US" sz="4400" b="0" i="1" smtClean="0">
                                  <a:latin typeface="Cambria Math" panose="02040503050406030204" pitchFamily="18" charset="0"/>
                                  <a:cs typeface="Times New Roman" panose="02020603050405020304" pitchFamily="18" charset="0"/>
                                </a:rPr>
                                <m:t>|</m:t>
                              </m:r>
                            </m:den>
                          </m:f>
                        </m:e>
                      </m:func>
                    </m:oMath>
                  </m:oMathPara>
                </a14:m>
                <a:endParaRPr lang="en-US" sz="4400" dirty="0" smtClean="0">
                  <a:latin typeface="Times New Roman" panose="02020603050405020304" pitchFamily="18" charset="0"/>
                  <a:cs typeface="Times New Roman" panose="02020603050405020304" pitchFamily="18" charset="0"/>
                </a:endParaRPr>
              </a:p>
              <a:p>
                <a:r>
                  <a:rPr lang="en-US" sz="4400" dirty="0" smtClean="0">
                    <a:latin typeface="Times New Roman" panose="02020603050405020304" pitchFamily="18" charset="0"/>
                    <a:cs typeface="Times New Roman" panose="02020603050405020304" pitchFamily="18" charset="0"/>
                  </a:rPr>
                  <a:t>Since different directions gives different values, the limit fails to exist.</a:t>
                </a:r>
              </a:p>
              <a:p>
                <a:r>
                  <a:rPr lang="en-US" sz="4400" dirty="0">
                    <a:latin typeface="Times New Roman" panose="02020603050405020304" pitchFamily="18" charset="0"/>
                    <a:cs typeface="Times New Roman" panose="02020603050405020304" pitchFamily="18" charset="0"/>
                  </a:rPr>
                  <a:t>A function is continuous if the limit as </a:t>
                </a:r>
                <a:r>
                  <a:rPr lang="en-US" sz="4400" dirty="0" smtClean="0">
                    <a:latin typeface="Times New Roman" panose="02020603050405020304" pitchFamily="18" charset="0"/>
                    <a:cs typeface="Times New Roman" panose="02020603050405020304" pitchFamily="18" charset="0"/>
                  </a:rPr>
                  <a:t> </a:t>
                </a:r>
                <a:r>
                  <a:rPr lang="en-US" sz="4400" dirty="0">
                    <a:latin typeface="Times New Roman" panose="02020603050405020304" pitchFamily="18" charset="0"/>
                    <a:cs typeface="Times New Roman" panose="02020603050405020304" pitchFamily="18" charset="0"/>
                  </a:rPr>
                  <a:t>z approaches any point equals the function value at that point.</a:t>
                </a:r>
              </a:p>
            </p:txBody>
          </p:sp>
        </mc:Choice>
        <mc:Fallback xmlns="">
          <p:sp>
            <p:nvSpPr>
              <p:cNvPr id="3" name="TextBox 2"/>
              <p:cNvSpPr txBox="1">
                <a:spLocks noRot="1" noChangeAspect="1" noMove="1" noResize="1" noEditPoints="1" noAdjustHandles="1" noChangeArrowheads="1" noChangeShapeType="1" noTextEdit="1"/>
              </p:cNvSpPr>
              <p:nvPr/>
            </p:nvSpPr>
            <p:spPr>
              <a:xfrm>
                <a:off x="2597150" y="2711450"/>
                <a:ext cx="14782800" cy="6101094"/>
              </a:xfrm>
              <a:prstGeom prst="rect">
                <a:avLst/>
              </a:prstGeom>
              <a:blipFill rotWithShape="0">
                <a:blip r:embed="rId3"/>
                <a:stretch>
                  <a:fillRect l="-1649" t="-1998" r="-1361" b="-3896"/>
                </a:stretch>
              </a:blipFill>
            </p:spPr>
            <p:txBody>
              <a:bodyPr/>
              <a:lstStyle/>
              <a:p>
                <a:r>
                  <a:rPr lang="en-US">
                    <a:noFill/>
                  </a:rPr>
                  <a:t> </a:t>
                </a:r>
              </a:p>
            </p:txBody>
          </p:sp>
        </mc:Fallback>
      </mc:AlternateContent>
      <p:sp>
        <p:nvSpPr>
          <p:cNvPr id="4" name="TextBox 3"/>
          <p:cNvSpPr txBox="1"/>
          <p:nvPr/>
        </p:nvSpPr>
        <p:spPr>
          <a:xfrm>
            <a:off x="5721350" y="958850"/>
            <a:ext cx="8077200" cy="1107996"/>
          </a:xfrm>
          <a:prstGeom prst="rect">
            <a:avLst/>
          </a:prstGeom>
          <a:noFill/>
        </p:spPr>
        <p:txBody>
          <a:bodyPr wrap="square" rtlCol="0">
            <a:spAutoFit/>
          </a:bodyPr>
          <a:lstStyle/>
          <a:p>
            <a:r>
              <a:rPr lang="en-US" sz="6600" dirty="0">
                <a:solidFill>
                  <a:srgbClr val="FF0000"/>
                </a:solidFill>
                <a:latin typeface="Aramis" panose="020B0600050302020204" pitchFamily="34" charset="0"/>
              </a:rPr>
              <a:t>Limits and Continuity </a:t>
            </a:r>
          </a:p>
        </p:txBody>
      </p:sp>
    </p:spTree>
    <p:extLst>
      <p:ext uri="{BB962C8B-B14F-4D97-AF65-F5344CB8AC3E}">
        <p14:creationId xmlns:p14="http://schemas.microsoft.com/office/powerpoint/2010/main" val="3050004736"/>
      </p:ext>
    </p:extLst>
  </p:cSld>
  <p:clrMapOvr>
    <a:masterClrMapping/>
  </p:clrMapOvr>
  <mc:AlternateContent xmlns:mc="http://schemas.openxmlformats.org/markup-compatibility/2006" xmlns:p14="http://schemas.microsoft.com/office/powerpoint/2010/main">
    <mc:Choice Requires="p14">
      <p:transition spd="slow" p14:dur="1500">
        <p14:ferris dir="l"/>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8300700" cy="10299700"/>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844550" y="3872577"/>
            <a:ext cx="2514600" cy="6676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 </a:t>
            </a:r>
            <a:endParaRPr lang="en-US" dirty="0"/>
          </a:p>
        </p:txBody>
      </p:sp>
      <p:sp>
        <p:nvSpPr>
          <p:cNvPr id="14" name="Oval 13"/>
          <p:cNvSpPr/>
          <p:nvPr/>
        </p:nvSpPr>
        <p:spPr>
          <a:xfrm>
            <a:off x="9983787" y="3872577"/>
            <a:ext cx="3400425" cy="7479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869950" y="6812627"/>
            <a:ext cx="3222625" cy="76944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9983787" y="7324582"/>
            <a:ext cx="3205163" cy="8218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2749550" y="2775254"/>
            <a:ext cx="9296400" cy="93252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978150" y="958850"/>
            <a:ext cx="12954000" cy="1200329"/>
          </a:xfrm>
          <a:prstGeom prst="rect">
            <a:avLst/>
          </a:prstGeom>
          <a:noFill/>
        </p:spPr>
        <p:txBody>
          <a:bodyPr wrap="square" rtlCol="0">
            <a:spAutoFit/>
          </a:bodyPr>
          <a:lstStyle/>
          <a:p>
            <a:r>
              <a:rPr lang="en-US" sz="7200" dirty="0">
                <a:solidFill>
                  <a:srgbClr val="FF0000"/>
                </a:solidFill>
                <a:latin typeface="Times New Roman" panose="02020603050405020304" pitchFamily="18" charset="0"/>
                <a:cs typeface="Times New Roman" panose="02020603050405020304" pitchFamily="18" charset="0"/>
              </a:rPr>
              <a:t>Applications of Complex Analysis</a:t>
            </a:r>
          </a:p>
        </p:txBody>
      </p:sp>
      <p:sp>
        <p:nvSpPr>
          <p:cNvPr id="5" name="TextBox 4"/>
          <p:cNvSpPr txBox="1"/>
          <p:nvPr/>
        </p:nvSpPr>
        <p:spPr>
          <a:xfrm>
            <a:off x="2749550" y="2775254"/>
            <a:ext cx="10972800" cy="769441"/>
          </a:xfrm>
          <a:prstGeom prst="rect">
            <a:avLst/>
          </a:prstGeom>
          <a:noFill/>
        </p:spPr>
        <p:txBody>
          <a:bodyPr wrap="square" rtlCol="0">
            <a:spAutoFit/>
          </a:bodyPr>
          <a:lstStyle/>
          <a:p>
            <a:r>
              <a:rPr lang="en-US" sz="4400" dirty="0">
                <a:solidFill>
                  <a:schemeClr val="bg1"/>
                </a:solidFill>
              </a:rPr>
              <a:t>Complex analysis is used in many fields:</a:t>
            </a:r>
            <a:endParaRPr lang="en-US" sz="4400" dirty="0">
              <a:solidFill>
                <a:schemeClr val="bg1"/>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1073150" y="3821956"/>
            <a:ext cx="8229600" cy="2554545"/>
          </a:xfrm>
          <a:prstGeom prst="rect">
            <a:avLst/>
          </a:prstGeom>
          <a:noFill/>
        </p:spPr>
        <p:txBody>
          <a:bodyPr wrap="square" rtlCol="0">
            <a:spAutoFit/>
          </a:bodyPr>
          <a:lstStyle/>
          <a:p>
            <a:r>
              <a:rPr lang="en-US" sz="4000" dirty="0" smtClean="0">
                <a:solidFill>
                  <a:schemeClr val="bg1"/>
                </a:solidFill>
                <a:latin typeface="Times New Roman" panose="02020603050405020304" pitchFamily="18" charset="0"/>
                <a:cs typeface="Times New Roman" panose="02020603050405020304" pitchFamily="18" charset="0"/>
              </a:rPr>
              <a:t> </a:t>
            </a:r>
            <a:r>
              <a:rPr lang="en-US" sz="4000" dirty="0">
                <a:solidFill>
                  <a:schemeClr val="bg1"/>
                </a:solidFill>
                <a:latin typeface="Times New Roman" panose="02020603050405020304" pitchFamily="18" charset="0"/>
                <a:cs typeface="Times New Roman" panose="02020603050405020304" pitchFamily="18" charset="0"/>
              </a:rPr>
              <a:t>Physics: </a:t>
            </a:r>
            <a:endParaRPr lang="en-US" sz="4000" dirty="0" smtClean="0">
              <a:solidFill>
                <a:schemeClr val="bg1"/>
              </a:solidFill>
              <a:latin typeface="Times New Roman" panose="02020603050405020304" pitchFamily="18" charset="0"/>
              <a:cs typeface="Times New Roman" panose="02020603050405020304" pitchFamily="18" charset="0"/>
            </a:endParaRPr>
          </a:p>
          <a:p>
            <a:pPr marL="1485900" lvl="2" indent="-571500">
              <a:buFont typeface="Arial" panose="020B0604020202020204" pitchFamily="34" charset="0"/>
              <a:buChar char="•"/>
            </a:pPr>
            <a:r>
              <a:rPr lang="en-US" sz="4000" dirty="0" smtClean="0">
                <a:solidFill>
                  <a:schemeClr val="bg1"/>
                </a:solidFill>
                <a:latin typeface="Times New Roman" panose="02020603050405020304" pitchFamily="18" charset="0"/>
                <a:cs typeface="Times New Roman" panose="02020603050405020304" pitchFamily="18" charset="0"/>
              </a:rPr>
              <a:t>Electromagnetic </a:t>
            </a:r>
            <a:r>
              <a:rPr lang="en-US" sz="4000" dirty="0">
                <a:solidFill>
                  <a:schemeClr val="bg1"/>
                </a:solidFill>
                <a:latin typeface="Times New Roman" panose="02020603050405020304" pitchFamily="18" charset="0"/>
                <a:cs typeface="Times New Roman" panose="02020603050405020304" pitchFamily="18" charset="0"/>
              </a:rPr>
              <a:t>fields </a:t>
            </a:r>
            <a:endParaRPr lang="en-US" sz="4000" dirty="0" smtClean="0">
              <a:solidFill>
                <a:schemeClr val="bg1"/>
              </a:solidFill>
              <a:latin typeface="Times New Roman" panose="02020603050405020304" pitchFamily="18" charset="0"/>
              <a:cs typeface="Times New Roman" panose="02020603050405020304" pitchFamily="18" charset="0"/>
            </a:endParaRPr>
          </a:p>
          <a:p>
            <a:pPr marL="1485900" lvl="2" indent="-571500">
              <a:buFont typeface="Arial" panose="020B0604020202020204" pitchFamily="34" charset="0"/>
              <a:buChar char="•"/>
            </a:pPr>
            <a:r>
              <a:rPr lang="en-US" sz="4000" dirty="0" smtClean="0">
                <a:solidFill>
                  <a:schemeClr val="bg1"/>
                </a:solidFill>
                <a:latin typeface="Times New Roman" panose="02020603050405020304" pitchFamily="18" charset="0"/>
                <a:cs typeface="Times New Roman" panose="02020603050405020304" pitchFamily="18" charset="0"/>
              </a:rPr>
              <a:t>Quantum </a:t>
            </a:r>
            <a:r>
              <a:rPr lang="en-US" sz="4000" dirty="0">
                <a:solidFill>
                  <a:schemeClr val="bg1"/>
                </a:solidFill>
                <a:latin typeface="Times New Roman" panose="02020603050405020304" pitchFamily="18" charset="0"/>
                <a:cs typeface="Times New Roman" panose="02020603050405020304" pitchFamily="18" charset="0"/>
              </a:rPr>
              <a:t>mechanics </a:t>
            </a:r>
            <a:endParaRPr lang="en-US" sz="4000" dirty="0" smtClean="0">
              <a:solidFill>
                <a:schemeClr val="bg1"/>
              </a:solidFill>
              <a:latin typeface="Times New Roman" panose="02020603050405020304" pitchFamily="18" charset="0"/>
              <a:cs typeface="Times New Roman" panose="02020603050405020304" pitchFamily="18" charset="0"/>
            </a:endParaRPr>
          </a:p>
          <a:p>
            <a:pPr marL="1485900" lvl="2" indent="-571500">
              <a:buFont typeface="Arial" panose="020B0604020202020204" pitchFamily="34" charset="0"/>
              <a:buChar char="•"/>
            </a:pPr>
            <a:r>
              <a:rPr lang="en-US" sz="4000" dirty="0" smtClean="0">
                <a:solidFill>
                  <a:schemeClr val="bg1"/>
                </a:solidFill>
                <a:latin typeface="Times New Roman" panose="02020603050405020304" pitchFamily="18" charset="0"/>
                <a:cs typeface="Times New Roman" panose="02020603050405020304" pitchFamily="18" charset="0"/>
              </a:rPr>
              <a:t>Fluid </a:t>
            </a:r>
            <a:r>
              <a:rPr lang="en-US" sz="4000" dirty="0">
                <a:solidFill>
                  <a:schemeClr val="bg1"/>
                </a:solidFill>
                <a:latin typeface="Times New Roman" panose="02020603050405020304" pitchFamily="18" charset="0"/>
                <a:cs typeface="Times New Roman" panose="02020603050405020304" pitchFamily="18" charset="0"/>
              </a:rPr>
              <a:t>flow and potential theory</a:t>
            </a:r>
          </a:p>
        </p:txBody>
      </p:sp>
      <p:sp>
        <p:nvSpPr>
          <p:cNvPr id="9" name="TextBox 8"/>
          <p:cNvSpPr txBox="1"/>
          <p:nvPr/>
        </p:nvSpPr>
        <p:spPr>
          <a:xfrm>
            <a:off x="10245725" y="3872577"/>
            <a:ext cx="6553200" cy="2554545"/>
          </a:xfrm>
          <a:prstGeom prst="rect">
            <a:avLst/>
          </a:prstGeom>
          <a:noFill/>
        </p:spPr>
        <p:txBody>
          <a:bodyPr wrap="square" rtlCol="0">
            <a:spAutoFit/>
          </a:bodyPr>
          <a:lstStyle/>
          <a:p>
            <a:r>
              <a:rPr lang="en-US" sz="4000" dirty="0" smtClean="0">
                <a:solidFill>
                  <a:schemeClr val="bg1"/>
                </a:solidFill>
                <a:latin typeface="Times New Roman" panose="02020603050405020304" pitchFamily="18" charset="0"/>
                <a:cs typeface="Times New Roman" panose="02020603050405020304" pitchFamily="18" charset="0"/>
              </a:rPr>
              <a:t> </a:t>
            </a:r>
            <a:r>
              <a:rPr lang="en-US" sz="4000" dirty="0">
                <a:solidFill>
                  <a:schemeClr val="bg1"/>
                </a:solidFill>
                <a:latin typeface="Times New Roman" panose="02020603050405020304" pitchFamily="18" charset="0"/>
                <a:cs typeface="Times New Roman" panose="02020603050405020304" pitchFamily="18" charset="0"/>
              </a:rPr>
              <a:t>Engineering: </a:t>
            </a:r>
            <a:endParaRPr lang="en-US" sz="4000" dirty="0" smtClean="0">
              <a:solidFill>
                <a:schemeClr val="bg1"/>
              </a:solidFill>
              <a:latin typeface="Times New Roman" panose="02020603050405020304" pitchFamily="18" charset="0"/>
              <a:cs typeface="Times New Roman" panose="02020603050405020304" pitchFamily="18" charset="0"/>
            </a:endParaRPr>
          </a:p>
          <a:p>
            <a:pPr marL="1943100" lvl="3" indent="-571500">
              <a:buFont typeface="Arial" panose="020B0604020202020204" pitchFamily="34" charset="0"/>
              <a:buChar char="•"/>
            </a:pPr>
            <a:r>
              <a:rPr lang="en-US" sz="4000" dirty="0" smtClean="0">
                <a:solidFill>
                  <a:schemeClr val="bg1"/>
                </a:solidFill>
                <a:latin typeface="Times New Roman" panose="02020603050405020304" pitchFamily="18" charset="0"/>
                <a:cs typeface="Times New Roman" panose="02020603050405020304" pitchFamily="18" charset="0"/>
              </a:rPr>
              <a:t>Signal </a:t>
            </a:r>
            <a:r>
              <a:rPr lang="en-US" sz="4000" dirty="0">
                <a:solidFill>
                  <a:schemeClr val="bg1"/>
                </a:solidFill>
                <a:latin typeface="Times New Roman" panose="02020603050405020304" pitchFamily="18" charset="0"/>
                <a:cs typeface="Times New Roman" panose="02020603050405020304" pitchFamily="18" charset="0"/>
              </a:rPr>
              <a:t>processing </a:t>
            </a:r>
            <a:endParaRPr lang="en-US" sz="4000" dirty="0" smtClean="0">
              <a:solidFill>
                <a:schemeClr val="bg1"/>
              </a:solidFill>
              <a:latin typeface="Times New Roman" panose="02020603050405020304" pitchFamily="18" charset="0"/>
              <a:cs typeface="Times New Roman" panose="02020603050405020304" pitchFamily="18" charset="0"/>
            </a:endParaRPr>
          </a:p>
          <a:p>
            <a:pPr marL="1943100" lvl="3" indent="-571500">
              <a:buFont typeface="Arial" panose="020B0604020202020204" pitchFamily="34" charset="0"/>
              <a:buChar char="•"/>
            </a:pPr>
            <a:r>
              <a:rPr lang="en-US" sz="4000" dirty="0" smtClean="0">
                <a:solidFill>
                  <a:schemeClr val="bg1"/>
                </a:solidFill>
                <a:latin typeface="Times New Roman" panose="02020603050405020304" pitchFamily="18" charset="0"/>
                <a:cs typeface="Times New Roman" panose="02020603050405020304" pitchFamily="18" charset="0"/>
              </a:rPr>
              <a:t>Control </a:t>
            </a:r>
            <a:r>
              <a:rPr lang="en-US" sz="4000" dirty="0">
                <a:solidFill>
                  <a:schemeClr val="bg1"/>
                </a:solidFill>
                <a:latin typeface="Times New Roman" panose="02020603050405020304" pitchFamily="18" charset="0"/>
                <a:cs typeface="Times New Roman" panose="02020603050405020304" pitchFamily="18" charset="0"/>
              </a:rPr>
              <a:t>theory </a:t>
            </a:r>
            <a:endParaRPr lang="en-US" sz="4000" dirty="0" smtClean="0">
              <a:solidFill>
                <a:schemeClr val="bg1"/>
              </a:solidFill>
              <a:latin typeface="Times New Roman" panose="02020603050405020304" pitchFamily="18" charset="0"/>
              <a:cs typeface="Times New Roman" panose="02020603050405020304" pitchFamily="18" charset="0"/>
            </a:endParaRPr>
          </a:p>
          <a:p>
            <a:pPr marL="1943100" lvl="3" indent="-571500">
              <a:buFont typeface="Arial" panose="020B0604020202020204" pitchFamily="34" charset="0"/>
              <a:buChar char="•"/>
            </a:pPr>
            <a:r>
              <a:rPr lang="en-US" sz="4000" dirty="0" smtClean="0">
                <a:solidFill>
                  <a:schemeClr val="bg1"/>
                </a:solidFill>
                <a:latin typeface="Times New Roman" panose="02020603050405020304" pitchFamily="18" charset="0"/>
                <a:cs typeface="Times New Roman" panose="02020603050405020304" pitchFamily="18" charset="0"/>
              </a:rPr>
              <a:t>Electrical </a:t>
            </a:r>
            <a:r>
              <a:rPr lang="en-US" sz="4000" dirty="0">
                <a:solidFill>
                  <a:schemeClr val="bg1"/>
                </a:solidFill>
                <a:latin typeface="Times New Roman" panose="02020603050405020304" pitchFamily="18" charset="0"/>
                <a:cs typeface="Times New Roman" panose="02020603050405020304" pitchFamily="18" charset="0"/>
              </a:rPr>
              <a:t>circuits </a:t>
            </a:r>
          </a:p>
        </p:txBody>
      </p:sp>
      <p:sp>
        <p:nvSpPr>
          <p:cNvPr id="10" name="TextBox 9"/>
          <p:cNvSpPr txBox="1"/>
          <p:nvPr/>
        </p:nvSpPr>
        <p:spPr>
          <a:xfrm>
            <a:off x="1079500" y="6869178"/>
            <a:ext cx="7391400" cy="2554545"/>
          </a:xfrm>
          <a:prstGeom prst="rect">
            <a:avLst/>
          </a:prstGeom>
          <a:noFill/>
        </p:spPr>
        <p:txBody>
          <a:bodyPr wrap="square" rtlCol="0">
            <a:spAutoFit/>
          </a:bodyPr>
          <a:lstStyle/>
          <a:p>
            <a:r>
              <a:rPr lang="en-US" sz="4000" dirty="0">
                <a:solidFill>
                  <a:schemeClr val="bg1"/>
                </a:solidFill>
                <a:latin typeface="Times New Roman" panose="02020603050405020304" pitchFamily="18" charset="0"/>
                <a:cs typeface="Times New Roman" panose="02020603050405020304" pitchFamily="18" charset="0"/>
              </a:rPr>
              <a:t>Mathematics: </a:t>
            </a:r>
            <a:endParaRPr lang="en-US" sz="4000" dirty="0" smtClean="0">
              <a:solidFill>
                <a:schemeClr val="bg1"/>
              </a:solidFill>
              <a:latin typeface="Times New Roman" panose="02020603050405020304" pitchFamily="18" charset="0"/>
              <a:cs typeface="Times New Roman" panose="02020603050405020304" pitchFamily="18" charset="0"/>
            </a:endParaRPr>
          </a:p>
          <a:p>
            <a:pPr marL="1485900" lvl="2" indent="-571500">
              <a:buFont typeface="Arial" panose="020B0604020202020204" pitchFamily="34" charset="0"/>
              <a:buChar char="•"/>
            </a:pPr>
            <a:r>
              <a:rPr lang="en-US" sz="4000" dirty="0" smtClean="0">
                <a:solidFill>
                  <a:schemeClr val="bg1"/>
                </a:solidFill>
                <a:latin typeface="Times New Roman" panose="02020603050405020304" pitchFamily="18" charset="0"/>
                <a:cs typeface="Times New Roman" panose="02020603050405020304" pitchFamily="18" charset="0"/>
              </a:rPr>
              <a:t>Evaluate </a:t>
            </a:r>
            <a:r>
              <a:rPr lang="en-US" sz="4000" dirty="0">
                <a:solidFill>
                  <a:schemeClr val="bg1"/>
                </a:solidFill>
                <a:latin typeface="Times New Roman" panose="02020603050405020304" pitchFamily="18" charset="0"/>
                <a:cs typeface="Times New Roman" panose="02020603050405020304" pitchFamily="18" charset="0"/>
              </a:rPr>
              <a:t>real integrals </a:t>
            </a:r>
            <a:endParaRPr lang="en-US" sz="4000" dirty="0" smtClean="0">
              <a:solidFill>
                <a:schemeClr val="bg1"/>
              </a:solidFill>
              <a:latin typeface="Times New Roman" panose="02020603050405020304" pitchFamily="18" charset="0"/>
              <a:cs typeface="Times New Roman" panose="02020603050405020304" pitchFamily="18" charset="0"/>
            </a:endParaRPr>
          </a:p>
          <a:p>
            <a:pPr marL="1485900" lvl="2" indent="-571500">
              <a:buFont typeface="Arial" panose="020B0604020202020204" pitchFamily="34" charset="0"/>
              <a:buChar char="•"/>
            </a:pPr>
            <a:r>
              <a:rPr lang="en-US" sz="4000" dirty="0" smtClean="0">
                <a:solidFill>
                  <a:schemeClr val="bg1"/>
                </a:solidFill>
                <a:latin typeface="Times New Roman" panose="02020603050405020304" pitchFamily="18" charset="0"/>
                <a:cs typeface="Times New Roman" panose="02020603050405020304" pitchFamily="18" charset="0"/>
              </a:rPr>
              <a:t>Solve </a:t>
            </a:r>
            <a:r>
              <a:rPr lang="en-US" sz="4000" dirty="0">
                <a:solidFill>
                  <a:schemeClr val="bg1"/>
                </a:solidFill>
                <a:latin typeface="Times New Roman" panose="02020603050405020304" pitchFamily="18" charset="0"/>
                <a:cs typeface="Times New Roman" panose="02020603050405020304" pitchFamily="18" charset="0"/>
              </a:rPr>
              <a:t>differential equations </a:t>
            </a:r>
            <a:endParaRPr lang="en-US" sz="4000" dirty="0" smtClean="0">
              <a:solidFill>
                <a:schemeClr val="bg1"/>
              </a:solidFill>
              <a:latin typeface="Times New Roman" panose="02020603050405020304" pitchFamily="18" charset="0"/>
              <a:cs typeface="Times New Roman" panose="02020603050405020304" pitchFamily="18" charset="0"/>
            </a:endParaRPr>
          </a:p>
          <a:p>
            <a:pPr marL="1485900" lvl="2" indent="-571500">
              <a:buFont typeface="Arial" panose="020B0604020202020204" pitchFamily="34" charset="0"/>
              <a:buChar char="•"/>
            </a:pPr>
            <a:r>
              <a:rPr lang="en-US" sz="4000" dirty="0" smtClean="0">
                <a:solidFill>
                  <a:schemeClr val="bg1"/>
                </a:solidFill>
                <a:latin typeface="Times New Roman" panose="02020603050405020304" pitchFamily="18" charset="0"/>
                <a:cs typeface="Times New Roman" panose="02020603050405020304" pitchFamily="18" charset="0"/>
              </a:rPr>
              <a:t>Conformal </a:t>
            </a:r>
            <a:r>
              <a:rPr lang="en-US" sz="4000" dirty="0">
                <a:solidFill>
                  <a:schemeClr val="bg1"/>
                </a:solidFill>
                <a:latin typeface="Times New Roman" panose="02020603050405020304" pitchFamily="18" charset="0"/>
                <a:cs typeface="Times New Roman" panose="02020603050405020304" pitchFamily="18" charset="0"/>
              </a:rPr>
              <a:t>mapping </a:t>
            </a:r>
          </a:p>
        </p:txBody>
      </p:sp>
      <p:sp>
        <p:nvSpPr>
          <p:cNvPr id="11" name="TextBox 10"/>
          <p:cNvSpPr txBox="1"/>
          <p:nvPr/>
        </p:nvSpPr>
        <p:spPr>
          <a:xfrm>
            <a:off x="10271125" y="7324582"/>
            <a:ext cx="6981825" cy="2554545"/>
          </a:xfrm>
          <a:prstGeom prst="rect">
            <a:avLst/>
          </a:prstGeom>
          <a:noFill/>
        </p:spPr>
        <p:txBody>
          <a:bodyPr wrap="square" rtlCol="0">
            <a:spAutoFit/>
          </a:bodyPr>
          <a:lstStyle/>
          <a:p>
            <a:r>
              <a:rPr lang="en-US" sz="4000" dirty="0" smtClean="0">
                <a:solidFill>
                  <a:schemeClr val="bg1"/>
                </a:solidFill>
                <a:latin typeface="Times New Roman" panose="02020603050405020304" pitchFamily="18" charset="0"/>
                <a:cs typeface="Times New Roman" panose="02020603050405020304" pitchFamily="18" charset="0"/>
              </a:rPr>
              <a:t>Technology: </a:t>
            </a:r>
          </a:p>
          <a:p>
            <a:pPr marL="2400300" lvl="4" indent="-571500">
              <a:buFont typeface="Arial" panose="020B0604020202020204" pitchFamily="34" charset="0"/>
              <a:buChar char="•"/>
            </a:pPr>
            <a:r>
              <a:rPr lang="en-US" sz="4000" dirty="0" smtClean="0">
                <a:solidFill>
                  <a:schemeClr val="bg1"/>
                </a:solidFill>
                <a:latin typeface="Times New Roman" panose="02020603050405020304" pitchFamily="18" charset="0"/>
                <a:cs typeface="Times New Roman" panose="02020603050405020304" pitchFamily="18" charset="0"/>
              </a:rPr>
              <a:t>Image </a:t>
            </a:r>
            <a:r>
              <a:rPr lang="en-US" sz="4000" dirty="0">
                <a:solidFill>
                  <a:schemeClr val="bg1"/>
                </a:solidFill>
                <a:latin typeface="Times New Roman" panose="02020603050405020304" pitchFamily="18" charset="0"/>
                <a:cs typeface="Times New Roman" panose="02020603050405020304" pitchFamily="18" charset="0"/>
              </a:rPr>
              <a:t>processing </a:t>
            </a:r>
            <a:endParaRPr lang="en-US" sz="4000" dirty="0" smtClean="0">
              <a:solidFill>
                <a:schemeClr val="bg1"/>
              </a:solidFill>
              <a:latin typeface="Times New Roman" panose="02020603050405020304" pitchFamily="18" charset="0"/>
              <a:cs typeface="Times New Roman" panose="02020603050405020304" pitchFamily="18" charset="0"/>
            </a:endParaRPr>
          </a:p>
          <a:p>
            <a:pPr marL="2400300" lvl="4" indent="-571500">
              <a:buFont typeface="Arial" panose="020B0604020202020204" pitchFamily="34" charset="0"/>
              <a:buChar char="•"/>
            </a:pPr>
            <a:r>
              <a:rPr lang="en-US" sz="4000" dirty="0" smtClean="0">
                <a:solidFill>
                  <a:schemeClr val="bg1"/>
                </a:solidFill>
                <a:latin typeface="Times New Roman" panose="02020603050405020304" pitchFamily="18" charset="0"/>
                <a:cs typeface="Times New Roman" panose="02020603050405020304" pitchFamily="18" charset="0"/>
              </a:rPr>
              <a:t>Computer </a:t>
            </a:r>
            <a:r>
              <a:rPr lang="en-US" sz="4000" dirty="0">
                <a:solidFill>
                  <a:schemeClr val="bg1"/>
                </a:solidFill>
                <a:latin typeface="Times New Roman" panose="02020603050405020304" pitchFamily="18" charset="0"/>
                <a:cs typeface="Times New Roman" panose="02020603050405020304" pitchFamily="18" charset="0"/>
              </a:rPr>
              <a:t>graphics </a:t>
            </a:r>
            <a:endParaRPr lang="en-US" sz="4000" dirty="0" smtClean="0">
              <a:solidFill>
                <a:schemeClr val="bg1"/>
              </a:solidFill>
              <a:latin typeface="Times New Roman" panose="02020603050405020304" pitchFamily="18" charset="0"/>
              <a:cs typeface="Times New Roman" panose="02020603050405020304" pitchFamily="18" charset="0"/>
            </a:endParaRPr>
          </a:p>
          <a:p>
            <a:pPr marL="2400300" lvl="4" indent="-571500">
              <a:buFont typeface="Arial" panose="020B0604020202020204" pitchFamily="34" charset="0"/>
              <a:buChar char="•"/>
            </a:pPr>
            <a:r>
              <a:rPr lang="en-US" sz="4000" dirty="0" smtClean="0">
                <a:solidFill>
                  <a:schemeClr val="bg1"/>
                </a:solidFill>
                <a:latin typeface="Times New Roman" panose="02020603050405020304" pitchFamily="18" charset="0"/>
                <a:cs typeface="Times New Roman" panose="02020603050405020304" pitchFamily="18" charset="0"/>
              </a:rPr>
              <a:t>Data </a:t>
            </a:r>
            <a:r>
              <a:rPr lang="en-US" sz="4000" dirty="0">
                <a:solidFill>
                  <a:schemeClr val="bg1"/>
                </a:solidFill>
                <a:latin typeface="Times New Roman" panose="02020603050405020304" pitchFamily="18" charset="0"/>
                <a:cs typeface="Times New Roman" panose="02020603050405020304" pitchFamily="18" charset="0"/>
              </a:rPr>
              <a:t>compression</a:t>
            </a:r>
          </a:p>
        </p:txBody>
      </p:sp>
    </p:spTree>
    <p:extLst>
      <p:ext uri="{BB962C8B-B14F-4D97-AF65-F5344CB8AC3E}">
        <p14:creationId xmlns:p14="http://schemas.microsoft.com/office/powerpoint/2010/main" val="3159429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barn(inVertical)">
                                      <p:cBhvr>
                                        <p:cTn id="25" dur="500"/>
                                        <p:tgtEl>
                                          <p:spTgt spid="15"/>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arn(inVertical)">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down)">
                                      <p:cBhvr>
                                        <p:cTn id="33" dur="500"/>
                                        <p:tgtEl>
                                          <p:spTgt spid="16"/>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down)">
                                      <p:cBhvr>
                                        <p:cTn id="3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8" grpId="0"/>
      <p:bldP spid="9" grpId="0"/>
      <p:bldP spid="10" grpId="0"/>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3" name="TextBox 2"/>
          <p:cNvSpPr txBox="1"/>
          <p:nvPr/>
        </p:nvSpPr>
        <p:spPr>
          <a:xfrm>
            <a:off x="5111750" y="882650"/>
            <a:ext cx="6705600" cy="1569660"/>
          </a:xfrm>
          <a:prstGeom prst="rect">
            <a:avLst/>
          </a:prstGeom>
          <a:noFill/>
        </p:spPr>
        <p:txBody>
          <a:bodyPr wrap="square" rtlCol="0">
            <a:spAutoFit/>
          </a:bodyPr>
          <a:lstStyle/>
          <a:p>
            <a:r>
              <a:rPr lang="en-US" sz="9600" dirty="0">
                <a:solidFill>
                  <a:srgbClr val="FF0000"/>
                </a:solidFill>
                <a:latin typeface="Arial Black" panose="020B0A04020102020204" pitchFamily="34" charset="0"/>
              </a:rPr>
              <a:t>Summary</a:t>
            </a:r>
            <a:r>
              <a:rPr lang="en-US" sz="9600" dirty="0">
                <a:latin typeface="Arial Black" panose="020B0A04020102020204" pitchFamily="34" charset="0"/>
              </a:rPr>
              <a:t> </a:t>
            </a:r>
          </a:p>
        </p:txBody>
      </p:sp>
      <p:sp>
        <p:nvSpPr>
          <p:cNvPr id="4" name="TextBox 3"/>
          <p:cNvSpPr txBox="1"/>
          <p:nvPr/>
        </p:nvSpPr>
        <p:spPr>
          <a:xfrm>
            <a:off x="3740150" y="2863850"/>
            <a:ext cx="12725400" cy="4832092"/>
          </a:xfrm>
          <a:prstGeom prst="rect">
            <a:avLst/>
          </a:prstGeom>
          <a:noFill/>
        </p:spPr>
        <p:txBody>
          <a:bodyPr wrap="square" rtlCol="0">
            <a:spAutoFit/>
          </a:bodyPr>
          <a:lstStyle/>
          <a:p>
            <a:pPr algn="just"/>
            <a:r>
              <a:rPr lang="en-US" sz="4400" dirty="0">
                <a:solidFill>
                  <a:srgbClr val="002060"/>
                </a:solidFill>
                <a:latin typeface="Times New Roman" panose="02020603050405020304" pitchFamily="18" charset="0"/>
                <a:cs typeface="Times New Roman" panose="02020603050405020304" pitchFamily="18" charset="0"/>
              </a:rPr>
              <a:t>Complex numbers extend real numbers and are represented in the complex plane Complex functions behave more smoothly than real functions Cauchy–Riemann equations determine differentiability Analytic functions are infinitely differentiable Cauchy’s theorems form the foundation of complex integration Complex analysis has huge real-world applications </a:t>
            </a:r>
          </a:p>
        </p:txBody>
      </p:sp>
    </p:spTree>
    <p:extLst>
      <p:ext uri="{BB962C8B-B14F-4D97-AF65-F5344CB8AC3E}">
        <p14:creationId xmlns:p14="http://schemas.microsoft.com/office/powerpoint/2010/main" val="2571892237"/>
      </p:ext>
    </p:extLst>
  </p:cSld>
  <p:clrMapOvr>
    <a:masterClrMapping/>
  </p:clrMapOvr>
  <mc:AlternateContent xmlns:mc="http://schemas.openxmlformats.org/markup-compatibility/2006" xmlns:p14="http://schemas.microsoft.com/office/powerpoint/2010/main">
    <mc:Choice Requires="p14">
      <p:transition spd="med">
        <p14:shred/>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4000" b="-24000"/>
          </a:stretch>
        </a:blipFill>
        <a:effectLst/>
      </p:bgPr>
    </p:bg>
    <p:spTree>
      <p:nvGrpSpPr>
        <p:cNvPr id="1" name=""/>
        <p:cNvGrpSpPr/>
        <p:nvPr/>
      </p:nvGrpSpPr>
      <p:grpSpPr>
        <a:xfrm>
          <a:off x="0" y="0"/>
          <a:ext cx="0" cy="0"/>
          <a:chOff x="0" y="0"/>
          <a:chExt cx="0" cy="0"/>
        </a:xfrm>
      </p:grpSpPr>
      <p:sp>
        <p:nvSpPr>
          <p:cNvPr id="3" name="TextBox 2"/>
          <p:cNvSpPr txBox="1"/>
          <p:nvPr/>
        </p:nvSpPr>
        <p:spPr>
          <a:xfrm>
            <a:off x="5340350" y="806450"/>
            <a:ext cx="6172200" cy="1569660"/>
          </a:xfrm>
          <a:prstGeom prst="rect">
            <a:avLst/>
          </a:prstGeom>
          <a:noFill/>
        </p:spPr>
        <p:txBody>
          <a:bodyPr wrap="square" rtlCol="0">
            <a:spAutoFit/>
          </a:bodyPr>
          <a:lstStyle/>
          <a:p>
            <a:r>
              <a:rPr lang="en-US" sz="9600" dirty="0">
                <a:solidFill>
                  <a:srgbClr val="FF0000"/>
                </a:solidFill>
                <a:latin typeface="Aramis" panose="020B0600050302020204" pitchFamily="34" charset="0"/>
              </a:rPr>
              <a:t>Conclusion </a:t>
            </a:r>
          </a:p>
        </p:txBody>
      </p:sp>
      <p:sp>
        <p:nvSpPr>
          <p:cNvPr id="4" name="TextBox 3"/>
          <p:cNvSpPr txBox="1"/>
          <p:nvPr/>
        </p:nvSpPr>
        <p:spPr>
          <a:xfrm>
            <a:off x="3663950" y="3473450"/>
            <a:ext cx="11734800" cy="4524315"/>
          </a:xfrm>
          <a:prstGeom prst="rect">
            <a:avLst/>
          </a:prstGeom>
          <a:noFill/>
        </p:spPr>
        <p:txBody>
          <a:bodyPr wrap="square" rtlCol="0">
            <a:spAutoFit/>
          </a:bodyPr>
          <a:lstStyle/>
          <a:p>
            <a:pPr algn="just"/>
            <a:r>
              <a:rPr lang="en-US" sz="4800" dirty="0">
                <a:solidFill>
                  <a:srgbClr val="FFFF00"/>
                </a:solidFill>
                <a:latin typeface="Times New Roman" panose="02020603050405020304" pitchFamily="18" charset="0"/>
                <a:cs typeface="Times New Roman" panose="02020603050405020304" pitchFamily="18" charset="0"/>
              </a:rPr>
              <a:t>Complex Analysis is one of the most elegant branches of mathematics. It beautifully connects geometry, calculus, and algebra. The power of analytic functions and the simplicity of complex integrals make this subject both useful and fascinating.</a:t>
            </a:r>
          </a:p>
        </p:txBody>
      </p:sp>
    </p:spTree>
    <p:extLst>
      <p:ext uri="{BB962C8B-B14F-4D97-AF65-F5344CB8AC3E}">
        <p14:creationId xmlns:p14="http://schemas.microsoft.com/office/powerpoint/2010/main" val="2821243222"/>
      </p:ext>
    </p:extLst>
  </p:cSld>
  <p:clrMapOvr>
    <a:masterClrMapping/>
  </p:clrMapOvr>
  <mc:AlternateContent xmlns:mc="http://schemas.openxmlformats.org/markup-compatibility/2006" xmlns:p14="http://schemas.microsoft.com/office/powerpoint/2010/main">
    <mc:Choice Requires="p14">
      <p:transition spd="med">
        <p14:rippl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2,232 Brown Bg Stock Vectors and Vector Art | Shutterstock">
            <a:extLst>
              <a:ext uri="{FF2B5EF4-FFF2-40B4-BE49-F238E27FC236}">
                <a16:creationId xmlns="" xmlns:a16="http://schemas.microsoft.com/office/drawing/2014/main" id="{E52C4F7B-96BE-40D1-AC5A-A736D232E4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 y="-26307"/>
            <a:ext cx="18294351" cy="1035775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 xmlns:a16="http://schemas.microsoft.com/office/drawing/2014/main" id="{E9143F76-A671-4651-9C25-BA29C844F8E0}"/>
              </a:ext>
            </a:extLst>
          </p:cNvPr>
          <p:cNvSpPr txBox="1"/>
          <p:nvPr/>
        </p:nvSpPr>
        <p:spPr>
          <a:xfrm>
            <a:off x="3187700" y="806450"/>
            <a:ext cx="11925300" cy="1138773"/>
          </a:xfrm>
          <a:prstGeom prst="rect">
            <a:avLst/>
          </a:prstGeom>
          <a:noFill/>
        </p:spPr>
        <p:txBody>
          <a:bodyPr wrap="square" rtlCol="0">
            <a:spAutoFit/>
          </a:bodyPr>
          <a:lstStyle/>
          <a:p>
            <a:pPr algn="ctr"/>
            <a:r>
              <a:rPr lang="en-US" sz="5400" kern="0" dirty="0" smtClean="0">
                <a:solidFill>
                  <a:srgbClr val="FF0000"/>
                </a:solidFill>
                <a:latin typeface="Algerian" panose="04020705040A02060702" pitchFamily="82" charset="0"/>
              </a:rPr>
              <a:t>Reference</a:t>
            </a:r>
            <a:endParaRPr lang="en-US" sz="5400" dirty="0">
              <a:solidFill>
                <a:srgbClr val="FF0000"/>
              </a:solidFill>
              <a:latin typeface="Algerian" panose="04020705040A02060702" pitchFamily="82" charset="0"/>
            </a:endParaRPr>
          </a:p>
          <a:p>
            <a:endParaRPr lang="en-US" sz="1400" dirty="0"/>
          </a:p>
        </p:txBody>
      </p:sp>
      <p:sp>
        <p:nvSpPr>
          <p:cNvPr id="4" name="TextBox 3"/>
          <p:cNvSpPr txBox="1"/>
          <p:nvPr/>
        </p:nvSpPr>
        <p:spPr>
          <a:xfrm>
            <a:off x="2444750" y="2254250"/>
            <a:ext cx="14401800" cy="7294305"/>
          </a:xfrm>
          <a:prstGeom prst="rect">
            <a:avLst/>
          </a:prstGeom>
          <a:noFill/>
        </p:spPr>
        <p:txBody>
          <a:bodyPr wrap="square" rtlCol="0">
            <a:spAutoFit/>
          </a:bodyPr>
          <a:lstStyle/>
          <a:p>
            <a:pPr marL="571500" indent="-571500">
              <a:buFont typeface="Wingdings" panose="05000000000000000000" pitchFamily="2" charset="2"/>
              <a:buChar char="v"/>
            </a:pPr>
            <a:r>
              <a:rPr lang="en-US" sz="3600" dirty="0">
                <a:latin typeface="Times New Roman" panose="02020603050405020304" pitchFamily="18" charset="0"/>
                <a:cs typeface="Times New Roman" panose="02020603050405020304" pitchFamily="18" charset="0"/>
              </a:rPr>
              <a:t>Brown, J.W., &amp; Churchill, R.V. Complex Variables and Applications. McGraw-Hill. </a:t>
            </a:r>
          </a:p>
          <a:p>
            <a:pPr marL="571500" indent="-571500">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Zill</a:t>
            </a:r>
            <a:r>
              <a:rPr lang="en-US" sz="3600" dirty="0">
                <a:latin typeface="Times New Roman" panose="02020603050405020304" pitchFamily="18" charset="0"/>
                <a:cs typeface="Times New Roman" panose="02020603050405020304" pitchFamily="18" charset="0"/>
              </a:rPr>
              <a:t>, D.G., &amp; Shanahan, P.D. A First Course in Complex Analysis with Applications. Jones &amp; Bartlett. </a:t>
            </a:r>
          </a:p>
          <a:p>
            <a:pPr marL="571500" indent="-571500">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Stein, E.M., &amp; </a:t>
            </a:r>
            <a:r>
              <a:rPr lang="en-US" sz="3600" dirty="0" err="1">
                <a:latin typeface="Times New Roman" panose="02020603050405020304" pitchFamily="18" charset="0"/>
                <a:cs typeface="Times New Roman" panose="02020603050405020304" pitchFamily="18" charset="0"/>
              </a:rPr>
              <a:t>Shakarchi</a:t>
            </a:r>
            <a:r>
              <a:rPr lang="en-US" sz="3600" dirty="0">
                <a:latin typeface="Times New Roman" panose="02020603050405020304" pitchFamily="18" charset="0"/>
                <a:cs typeface="Times New Roman" panose="02020603050405020304" pitchFamily="18" charset="0"/>
              </a:rPr>
              <a:t>, R. Complex Analysis. Princeton University Press. </a:t>
            </a:r>
          </a:p>
          <a:p>
            <a:pPr marL="571500" indent="-571500">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Schaum's</a:t>
            </a:r>
            <a:r>
              <a:rPr lang="en-US" sz="3600" dirty="0">
                <a:latin typeface="Times New Roman" panose="02020603050405020304" pitchFamily="18" charset="0"/>
                <a:cs typeface="Times New Roman" panose="02020603050405020304" pitchFamily="18" charset="0"/>
              </a:rPr>
              <a:t> Outline Series, Complex Variables (</a:t>
            </a:r>
            <a:r>
              <a:rPr lang="en-US" sz="3600" dirty="0" err="1">
                <a:latin typeface="Times New Roman" panose="02020603050405020304" pitchFamily="18" charset="0"/>
                <a:cs typeface="Times New Roman" panose="02020603050405020304" pitchFamily="18" charset="0"/>
              </a:rPr>
              <a:t>Schaum’s</a:t>
            </a:r>
            <a:r>
              <a:rPr lang="en-US" sz="3600" dirty="0">
                <a:latin typeface="Times New Roman" panose="02020603050405020304" pitchFamily="18" charset="0"/>
                <a:cs typeface="Times New Roman" panose="02020603050405020304" pitchFamily="18" charset="0"/>
              </a:rPr>
              <a:t> Outline). </a:t>
            </a:r>
          </a:p>
          <a:p>
            <a:pPr marL="571500" indent="-571500">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 Professor’s </a:t>
            </a:r>
            <a:r>
              <a:rPr lang="en-US" sz="3600" dirty="0">
                <a:latin typeface="Times New Roman" panose="02020603050405020304" pitchFamily="18" charset="0"/>
                <a:cs typeface="Times New Roman" panose="02020603050405020304" pitchFamily="18" charset="0"/>
              </a:rPr>
              <a:t>Lecture Notes (Class Handouts &amp; PDF Materials). </a:t>
            </a:r>
          </a:p>
          <a:p>
            <a:pPr marL="571500" indent="-571500">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MIT </a:t>
            </a:r>
            <a:r>
              <a:rPr lang="en-US" sz="3600" dirty="0" err="1">
                <a:latin typeface="Times New Roman" panose="02020603050405020304" pitchFamily="18" charset="0"/>
                <a:cs typeface="Times New Roman" panose="02020603050405020304" pitchFamily="18" charset="0"/>
              </a:rPr>
              <a:t>OpenCourseWare</a:t>
            </a:r>
            <a:r>
              <a:rPr lang="en-US" sz="3600" dirty="0">
                <a:latin typeface="Times New Roman" panose="02020603050405020304" pitchFamily="18" charset="0"/>
                <a:cs typeface="Times New Roman" panose="02020603050405020304" pitchFamily="18" charset="0"/>
              </a:rPr>
              <a:t> – Complex Variables Lecture Notes. </a:t>
            </a:r>
          </a:p>
          <a:p>
            <a:pPr marL="571500" indent="-571500">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Wolfram </a:t>
            </a:r>
            <a:r>
              <a:rPr lang="en-US" sz="3600" dirty="0" err="1">
                <a:latin typeface="Times New Roman" panose="02020603050405020304" pitchFamily="18" charset="0"/>
                <a:cs typeface="Times New Roman" panose="02020603050405020304" pitchFamily="18" charset="0"/>
              </a:rPr>
              <a:t>MathWorld</a:t>
            </a:r>
            <a:r>
              <a:rPr lang="en-US" sz="3600" dirty="0">
                <a:latin typeface="Times New Roman" panose="02020603050405020304" pitchFamily="18" charset="0"/>
                <a:cs typeface="Times New Roman" panose="02020603050405020304" pitchFamily="18" charset="0"/>
              </a:rPr>
              <a:t> – Complex Analysis Topics. </a:t>
            </a:r>
          </a:p>
          <a:p>
            <a:pPr marL="571500" indent="-571500">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ChatGPT</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OpenAI</a:t>
            </a:r>
            <a:r>
              <a:rPr lang="en-US" sz="3600" dirty="0">
                <a:latin typeface="Times New Roman" panose="02020603050405020304" pitchFamily="18" charset="0"/>
                <a:cs typeface="Times New Roman" panose="02020603050405020304" pitchFamily="18" charset="0"/>
              </a:rPr>
              <a:t>) – Concept Explanation &amp; Draft Assistance. </a:t>
            </a:r>
          </a:p>
          <a:p>
            <a:pPr marL="571500" indent="-571500">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Google Gemini – Additional Explanation Support. </a:t>
            </a:r>
          </a:p>
          <a:p>
            <a:pPr marL="571500" indent="-571500">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xAI</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Grok</a:t>
            </a:r>
            <a:r>
              <a:rPr lang="en-US" sz="3600" dirty="0">
                <a:latin typeface="Times New Roman" panose="02020603050405020304" pitchFamily="18" charset="0"/>
                <a:cs typeface="Times New Roman" panose="02020603050405020304" pitchFamily="18" charset="0"/>
              </a:rPr>
              <a:t> – Cross-Checking &amp; Supplementary Insights. </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0882049"/>
      </p:ext>
    </p:extLst>
  </p:cSld>
  <p:clrMapOvr>
    <a:masterClrMapping/>
  </p:clrMapOvr>
  <mc:AlternateContent xmlns:mc="http://schemas.openxmlformats.org/markup-compatibility/2006" xmlns:p14="http://schemas.microsoft.com/office/powerpoint/2010/main">
    <mc:Choice Requires="p14">
      <p:transition spd="med" p14:dur="700" advTm="61923">
        <p:fade/>
      </p:transition>
    </mc:Choice>
    <mc:Fallback xmlns="">
      <p:transition spd="med" advTm="61923">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567339FA-7E42-C2FC-CC7F-9B900EBC4D5E}"/>
              </a:ext>
            </a:extLst>
          </p:cNvPr>
          <p:cNvPicPr>
            <a:picLocks noChangeAspect="1"/>
          </p:cNvPicPr>
          <p:nvPr/>
        </p:nvPicPr>
        <p:blipFill>
          <a:blip r:embed="rId2"/>
          <a:stretch>
            <a:fillRect/>
          </a:stretch>
        </p:blipFill>
        <p:spPr>
          <a:xfrm>
            <a:off x="0" y="2778"/>
            <a:ext cx="18300700" cy="10294143"/>
          </a:xfrm>
          <a:prstGeom prst="rect">
            <a:avLst/>
          </a:prstGeom>
        </p:spPr>
      </p:pic>
    </p:spTree>
    <p:extLst>
      <p:ext uri="{BB962C8B-B14F-4D97-AF65-F5344CB8AC3E}">
        <p14:creationId xmlns:p14="http://schemas.microsoft.com/office/powerpoint/2010/main" val="107470085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AD9D3C4F-0397-4469-062F-AA24A2C47AD7}"/>
              </a:ext>
            </a:extLst>
          </p:cNvPr>
          <p:cNvPicPr>
            <a:picLocks noChangeAspect="1"/>
          </p:cNvPicPr>
          <p:nvPr/>
        </p:nvPicPr>
        <p:blipFill>
          <a:blip r:embed="rId2"/>
          <a:stretch>
            <a:fillRect/>
          </a:stretch>
        </p:blipFill>
        <p:spPr>
          <a:xfrm>
            <a:off x="6350" y="-31750"/>
            <a:ext cx="18305638" cy="1029692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fracture"/>
      </p:transition>
    </mc:Choice>
    <mc:Fallback xmlns="">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Alomgir-219</Template>
  <TotalTime>1314</TotalTime>
  <Words>1338</Words>
  <Application>Microsoft Office PowerPoint</Application>
  <PresentationFormat>Custom</PresentationFormat>
  <Paragraphs>290</Paragraphs>
  <Slides>33</Slides>
  <Notes>4</Notes>
  <HiddenSlides>0</HiddenSlides>
  <MMClips>0</MMClips>
  <ScaleCrop>false</ScaleCrop>
  <HeadingPairs>
    <vt:vector size="6" baseType="variant">
      <vt:variant>
        <vt:lpstr>Fonts Used</vt:lpstr>
      </vt:variant>
      <vt:variant>
        <vt:i4>21</vt:i4>
      </vt:variant>
      <vt:variant>
        <vt:lpstr>Theme</vt:lpstr>
      </vt:variant>
      <vt:variant>
        <vt:i4>1</vt:i4>
      </vt:variant>
      <vt:variant>
        <vt:lpstr>Slide Titles</vt:lpstr>
      </vt:variant>
      <vt:variant>
        <vt:i4>33</vt:i4>
      </vt:variant>
    </vt:vector>
  </HeadingPairs>
  <TitlesOfParts>
    <vt:vector size="55" baseType="lpstr">
      <vt:lpstr>NSimSun</vt:lpstr>
      <vt:lpstr>Algerian</vt:lpstr>
      <vt:lpstr>Aramis</vt:lpstr>
      <vt:lpstr>Arial</vt:lpstr>
      <vt:lpstr>Arial Black</vt:lpstr>
      <vt:lpstr>Arial Rounded MT Bold</vt:lpstr>
      <vt:lpstr>Calibri</vt:lpstr>
      <vt:lpstr>Cambria</vt:lpstr>
      <vt:lpstr>Cambria Math</vt:lpstr>
      <vt:lpstr>CommercialScript BT</vt:lpstr>
      <vt:lpstr>Corbel</vt:lpstr>
      <vt:lpstr>Freestyle Script</vt:lpstr>
      <vt:lpstr>Italic</vt:lpstr>
      <vt:lpstr>RQND Pro</vt:lpstr>
      <vt:lpstr>Söhne</vt:lpstr>
      <vt:lpstr>Tahoma</vt:lpstr>
      <vt:lpstr>Times New Roman</vt:lpstr>
      <vt:lpstr>Times New Roman Bold</vt:lpstr>
      <vt:lpstr>TT Commons Pro</vt:lpstr>
      <vt:lpstr>Vrinda</vt:lpstr>
      <vt:lpstr>Wingdings</vt:lpstr>
      <vt:lpstr>Parallax</vt:lpstr>
      <vt:lpstr>PowerPoint Presentation</vt:lpstr>
      <vt:lpstr> “Complex Analysis”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Pole of Complex Function</vt:lpstr>
      <vt:lpstr>PowerPoint Presentation</vt:lpstr>
      <vt:lpstr>PowerPoint Presentation</vt:lpstr>
      <vt:lpstr>Zeros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007</dc:creator>
  <cp:lastModifiedBy>SOBUJ</cp:lastModifiedBy>
  <cp:revision>143</cp:revision>
  <dcterms:created xsi:type="dcterms:W3CDTF">2025-08-02T17:17:22Z</dcterms:created>
  <dcterms:modified xsi:type="dcterms:W3CDTF">2026-01-01T16:14:12Z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2024-05-14T00:00:00Z</vt:filetime>
  </property>
  <property fmtid="{D5CDD505-2E9C-101B-9397-08002B2CF9AE}" pid="3" name="Creator">
    <vt:lpwstr>Chromium</vt:lpwstr>
  </property>
  <property fmtid="{D5CDD505-2E9C-101B-9397-08002B2CF9AE}" pid="4" name="LastSaved">
    <vt:filetime>2024-05-14T00:00:00Z</vt:filetime>
  </property>
  <property fmtid="{D5CDD505-2E9C-101B-9397-08002B2CF9AE}" pid="5" name="Producer">
    <vt:lpwstr>3-Heights(TM) PDF Security Shell 4.8.25.2 (http://www.pdf-tools.com)</vt:lpwstr>
  </property>
</Properties>
</file>