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6" r:id="rId1"/>
  </p:sldMasterIdLst>
  <p:notesMasterIdLst>
    <p:notesMasterId r:id="rId24"/>
  </p:notesMasterIdLst>
  <p:handoutMasterIdLst>
    <p:handoutMasterId r:id="rId25"/>
  </p:handoutMasterIdLst>
  <p:sldIdLst>
    <p:sldId id="270" r:id="rId2"/>
    <p:sldId id="256" r:id="rId3"/>
    <p:sldId id="269" r:id="rId4"/>
    <p:sldId id="273" r:id="rId5"/>
    <p:sldId id="257" r:id="rId6"/>
    <p:sldId id="279" r:id="rId7"/>
    <p:sldId id="281" r:id="rId8"/>
    <p:sldId id="258" r:id="rId9"/>
    <p:sldId id="284" r:id="rId10"/>
    <p:sldId id="282" r:id="rId11"/>
    <p:sldId id="285" r:id="rId12"/>
    <p:sldId id="283" r:id="rId13"/>
    <p:sldId id="277" r:id="rId14"/>
    <p:sldId id="286" r:id="rId15"/>
    <p:sldId id="287" r:id="rId16"/>
    <p:sldId id="306" r:id="rId17"/>
    <p:sldId id="289" r:id="rId18"/>
    <p:sldId id="294" r:id="rId19"/>
    <p:sldId id="295" r:id="rId20"/>
    <p:sldId id="296" r:id="rId21"/>
    <p:sldId id="297" r:id="rId22"/>
    <p:sldId id="268" r:id="rId23"/>
  </p:sldIdLst>
  <p:sldSz cx="18300700" cy="10299700"/>
  <p:notesSz cx="18300700" cy="102997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218" autoAdjust="0"/>
  </p:normalViewPr>
  <p:slideViewPr>
    <p:cSldViewPr>
      <p:cViewPr varScale="1">
        <p:scale>
          <a:sx n="58" d="100"/>
          <a:sy n="58" d="100"/>
        </p:scale>
        <p:origin x="186" y="7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9563"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10366375" y="0"/>
            <a:ext cx="7929563" cy="515938"/>
          </a:xfrm>
          <a:prstGeom prst="rect">
            <a:avLst/>
          </a:prstGeom>
        </p:spPr>
        <p:txBody>
          <a:bodyPr vert="horz" lIns="91440" tIns="45720" rIns="91440" bIns="45720" rtlCol="0"/>
          <a:lstStyle>
            <a:lvl1pPr algn="r">
              <a:defRPr sz="1200"/>
            </a:lvl1pPr>
          </a:lstStyle>
          <a:p>
            <a:fld id="{AB279206-D043-4CEC-B7AF-75DFF82F7C2A}" type="datetimeFigureOut">
              <a:rPr lang="en-US" smtClean="0"/>
              <a:t>5/10/2026</a:t>
            </a:fld>
            <a:endParaRPr lang="en-US"/>
          </a:p>
        </p:txBody>
      </p:sp>
      <p:sp>
        <p:nvSpPr>
          <p:cNvPr id="4" name="Footer Placeholder 3"/>
          <p:cNvSpPr>
            <a:spLocks noGrp="1"/>
          </p:cNvSpPr>
          <p:nvPr>
            <p:ph type="ftr" sz="quarter" idx="2"/>
          </p:nvPr>
        </p:nvSpPr>
        <p:spPr>
          <a:xfrm>
            <a:off x="0" y="9783763"/>
            <a:ext cx="7929563" cy="5159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10366375" y="9783763"/>
            <a:ext cx="7929563" cy="515937"/>
          </a:xfrm>
          <a:prstGeom prst="rect">
            <a:avLst/>
          </a:prstGeom>
        </p:spPr>
        <p:txBody>
          <a:bodyPr vert="horz" lIns="91440" tIns="45720" rIns="91440" bIns="45720" rtlCol="0" anchor="b"/>
          <a:lstStyle>
            <a:lvl1pPr algn="r">
              <a:defRPr sz="1200"/>
            </a:lvl1pPr>
          </a:lstStyle>
          <a:p>
            <a:fld id="{EDCE3B1B-FB67-42EF-8CEF-60F0AB1DD78D}" type="slidenum">
              <a:rPr lang="en-US" smtClean="0"/>
              <a:t>‹#›</a:t>
            </a:fld>
            <a:endParaRPr lang="en-US"/>
          </a:p>
        </p:txBody>
      </p:sp>
    </p:spTree>
    <p:extLst>
      <p:ext uri="{BB962C8B-B14F-4D97-AF65-F5344CB8AC3E}">
        <p14:creationId xmlns:p14="http://schemas.microsoft.com/office/powerpoint/2010/main" val="18880317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9563"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66375" y="0"/>
            <a:ext cx="7929563" cy="515938"/>
          </a:xfrm>
          <a:prstGeom prst="rect">
            <a:avLst/>
          </a:prstGeom>
        </p:spPr>
        <p:txBody>
          <a:bodyPr vert="horz" lIns="91440" tIns="45720" rIns="91440" bIns="45720" rtlCol="0"/>
          <a:lstStyle>
            <a:lvl1pPr algn="r">
              <a:defRPr sz="1200"/>
            </a:lvl1pPr>
          </a:lstStyle>
          <a:p>
            <a:fld id="{821348C2-FF9B-4B65-9CE1-AE2A9E0241DB}" type="datetimeFigureOut">
              <a:rPr lang="en-US" smtClean="0"/>
              <a:t>5/10/2026</a:t>
            </a:fld>
            <a:endParaRPr lang="en-US"/>
          </a:p>
        </p:txBody>
      </p:sp>
      <p:sp>
        <p:nvSpPr>
          <p:cNvPr id="4" name="Slide Image Placeholder 3"/>
          <p:cNvSpPr>
            <a:spLocks noGrp="1" noRot="1" noChangeAspect="1"/>
          </p:cNvSpPr>
          <p:nvPr>
            <p:ph type="sldImg" idx="2"/>
          </p:nvPr>
        </p:nvSpPr>
        <p:spPr>
          <a:xfrm>
            <a:off x="6061075" y="1287463"/>
            <a:ext cx="6178550" cy="3476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30388" y="4956175"/>
            <a:ext cx="14639925" cy="40560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783763"/>
            <a:ext cx="7929563"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66375" y="9783763"/>
            <a:ext cx="7929563" cy="515937"/>
          </a:xfrm>
          <a:prstGeom prst="rect">
            <a:avLst/>
          </a:prstGeom>
        </p:spPr>
        <p:txBody>
          <a:bodyPr vert="horz" lIns="91440" tIns="45720" rIns="91440" bIns="45720" rtlCol="0" anchor="b"/>
          <a:lstStyle>
            <a:lvl1pPr algn="r">
              <a:defRPr sz="1200"/>
            </a:lvl1pPr>
          </a:lstStyle>
          <a:p>
            <a:fld id="{A87A255F-CA1E-4313-AC9E-4BD3FA8209D0}" type="slidenum">
              <a:rPr lang="en-US" smtClean="0"/>
              <a:t>‹#›</a:t>
            </a:fld>
            <a:endParaRPr lang="en-US"/>
          </a:p>
        </p:txBody>
      </p:sp>
    </p:spTree>
    <p:extLst>
      <p:ext uri="{BB962C8B-B14F-4D97-AF65-F5344CB8AC3E}">
        <p14:creationId xmlns:p14="http://schemas.microsoft.com/office/powerpoint/2010/main" val="401808868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83984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2848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819719" y="-7152"/>
            <a:ext cx="7527592" cy="1030685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4395652" y="2072659"/>
            <a:ext cx="12870865" cy="3929143"/>
          </a:xfrm>
        </p:spPr>
        <p:txBody>
          <a:bodyPr anchor="b">
            <a:normAutofit/>
          </a:bodyPr>
          <a:lstStyle>
            <a:lvl1pPr algn="r">
              <a:defRPr sz="9006">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777770" y="6001801"/>
            <a:ext cx="10488746" cy="2085372"/>
          </a:xfrm>
        </p:spPr>
        <p:txBody>
          <a:bodyPr anchor="t">
            <a:normAutofit/>
          </a:bodyPr>
          <a:lstStyle>
            <a:lvl1pPr marL="0" indent="0" algn="r">
              <a:buNone/>
              <a:defRPr sz="3152">
                <a:solidFill>
                  <a:schemeClr val="tx1"/>
                </a:solidFill>
              </a:defRPr>
            </a:lvl1pPr>
            <a:lvl2pPr marL="686257" indent="0" algn="ctr">
              <a:buNone/>
              <a:defRPr>
                <a:solidFill>
                  <a:schemeClr val="tx1">
                    <a:tint val="75000"/>
                  </a:schemeClr>
                </a:solidFill>
              </a:defRPr>
            </a:lvl2pPr>
            <a:lvl3pPr marL="1372514" indent="0" algn="ctr">
              <a:buNone/>
              <a:defRPr>
                <a:solidFill>
                  <a:schemeClr val="tx1">
                    <a:tint val="75000"/>
                  </a:schemeClr>
                </a:solidFill>
              </a:defRPr>
            </a:lvl3pPr>
            <a:lvl4pPr marL="2058772" indent="0" algn="ctr">
              <a:buNone/>
              <a:defRPr>
                <a:solidFill>
                  <a:schemeClr val="tx1">
                    <a:tint val="75000"/>
                  </a:schemeClr>
                </a:solidFill>
              </a:defRPr>
            </a:lvl4pPr>
            <a:lvl5pPr marL="2745029" indent="0" algn="ctr">
              <a:buNone/>
              <a:defRPr>
                <a:solidFill>
                  <a:schemeClr val="tx1">
                    <a:tint val="75000"/>
                  </a:schemeClr>
                </a:solidFill>
              </a:defRPr>
            </a:lvl5pPr>
            <a:lvl6pPr marL="3431286" indent="0" algn="ctr">
              <a:buNone/>
              <a:defRPr>
                <a:solidFill>
                  <a:schemeClr val="tx1">
                    <a:tint val="75000"/>
                  </a:schemeClr>
                </a:solidFill>
              </a:defRPr>
            </a:lvl6pPr>
            <a:lvl7pPr marL="4117543" indent="0" algn="ctr">
              <a:buNone/>
              <a:defRPr>
                <a:solidFill>
                  <a:schemeClr val="tx1">
                    <a:tint val="75000"/>
                  </a:schemeClr>
                </a:solidFill>
              </a:defRPr>
            </a:lvl7pPr>
            <a:lvl8pPr marL="4803800" indent="0" algn="ctr">
              <a:buNone/>
              <a:defRPr>
                <a:solidFill>
                  <a:schemeClr val="tx1">
                    <a:tint val="75000"/>
                  </a:schemeClr>
                </a:solidFill>
              </a:defRPr>
            </a:lvl8pPr>
            <a:lvl9pPr marL="5490058"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15ED45E-FF52-4132-89B2-39DA78991521}" type="datetime1">
              <a:rPr lang="en-US" smtClean="0"/>
              <a:t>5/10/2026</a:t>
            </a:fld>
            <a:endParaRPr lang="en-US"/>
          </a:p>
        </p:txBody>
      </p:sp>
      <p:sp>
        <p:nvSpPr>
          <p:cNvPr id="5" name="Footer Placeholder 4"/>
          <p:cNvSpPr>
            <a:spLocks noGrp="1"/>
          </p:cNvSpPr>
          <p:nvPr>
            <p:ph type="ftr" sz="quarter" idx="11"/>
          </p:nvPr>
        </p:nvSpPr>
        <p:spPr>
          <a:xfrm>
            <a:off x="8004173" y="8835808"/>
            <a:ext cx="6490570" cy="548364"/>
          </a:xfrm>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26828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397D842-EBEC-4F88-B66F-A0660DDDCF2B}" type="datetime1">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11562"/>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8906206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1099" y="4005437"/>
            <a:ext cx="13405423" cy="3169481"/>
          </a:xfrm>
        </p:spPr>
        <p:txBody>
          <a:bodyPr anchor="b"/>
          <a:lstStyle>
            <a:lvl1pPr algn="r">
              <a:defRPr sz="6004"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3861096" y="7174919"/>
            <a:ext cx="13405425" cy="1292193"/>
          </a:xfrm>
        </p:spPr>
        <p:txBody>
          <a:bodyPr anchor="t">
            <a:normAutofit/>
          </a:bodyPr>
          <a:lstStyle>
            <a:lvl1pPr marL="0" indent="0" algn="r">
              <a:buNone/>
              <a:defRPr sz="30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D0A3E52-DC31-4730-AFB7-39E323326B56}" type="datetime1">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66545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28013" y="1029971"/>
            <a:ext cx="15038506" cy="2632144"/>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228015" y="4005438"/>
            <a:ext cx="7347682" cy="4692087"/>
          </a:xfrm>
        </p:spPr>
        <p:txBody>
          <a:bodyPr>
            <a:normAutofit/>
          </a:bodyPr>
          <a:lstStyle>
            <a:lvl1pPr>
              <a:defRPr sz="2702"/>
            </a:lvl1pPr>
            <a:lvl2pPr>
              <a:defRPr sz="2402"/>
            </a:lvl2pPr>
            <a:lvl3pPr>
              <a:defRPr sz="2101"/>
            </a:lvl3pPr>
            <a:lvl4pPr>
              <a:defRPr sz="1801"/>
            </a:lvl4pPr>
            <a:lvl5pPr>
              <a:defRPr sz="1801"/>
            </a:lvl5pPr>
            <a:lvl6pPr>
              <a:defRPr sz="1801"/>
            </a:lvl6pPr>
            <a:lvl7pPr>
              <a:defRPr sz="1801"/>
            </a:lvl7pPr>
            <a:lvl8pPr>
              <a:defRPr sz="1801"/>
            </a:lvl8pPr>
            <a:lvl9pPr>
              <a:defRPr sz="1801"/>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9918834" y="4005439"/>
            <a:ext cx="7347683" cy="4692086"/>
          </a:xfrm>
        </p:spPr>
        <p:txBody>
          <a:bodyPr>
            <a:normAutofit/>
          </a:bodyPr>
          <a:lstStyle>
            <a:lvl1pPr>
              <a:defRPr sz="2702"/>
            </a:lvl1pPr>
            <a:lvl2pPr>
              <a:defRPr sz="2402"/>
            </a:lvl2pPr>
            <a:lvl3pPr>
              <a:defRPr sz="2101"/>
            </a:lvl3pPr>
            <a:lvl4pPr>
              <a:defRPr sz="1801"/>
            </a:lvl4pPr>
            <a:lvl5pPr>
              <a:defRPr sz="1801"/>
            </a:lvl5pPr>
            <a:lvl6pPr>
              <a:defRPr sz="1801"/>
            </a:lvl6pPr>
            <a:lvl7pPr>
              <a:defRPr sz="1801"/>
            </a:lvl7pPr>
            <a:lvl8pPr>
              <a:defRPr sz="1801"/>
            </a:lvl8pPr>
            <a:lvl9pPr>
              <a:defRPr sz="1801"/>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18577D0-D844-4653-88F0-AD3836A7EB19}" type="datetime1">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2917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2660115" y="3992723"/>
            <a:ext cx="6915581" cy="865460"/>
          </a:xfrm>
        </p:spPr>
        <p:txBody>
          <a:bodyPr anchor="b">
            <a:noAutofit/>
          </a:bodyPr>
          <a:lstStyle>
            <a:lvl1pPr marL="0" indent="0">
              <a:buNone/>
              <a:defRPr sz="4203" b="0">
                <a:solidFill>
                  <a:schemeClr val="accent1">
                    <a:lumMod val="75000"/>
                  </a:schemeClr>
                </a:solidFill>
              </a:defRPr>
            </a:lvl1pPr>
            <a:lvl2pPr marL="686257" indent="0">
              <a:buNone/>
              <a:defRPr sz="3002" b="1"/>
            </a:lvl2pPr>
            <a:lvl3pPr marL="1372514" indent="0">
              <a:buNone/>
              <a:defRPr sz="2702" b="1"/>
            </a:lvl3pPr>
            <a:lvl4pPr marL="2058772" indent="0">
              <a:buNone/>
              <a:defRPr sz="2402" b="1"/>
            </a:lvl4pPr>
            <a:lvl5pPr marL="2745029" indent="0">
              <a:buNone/>
              <a:defRPr sz="2402" b="1"/>
            </a:lvl5pPr>
            <a:lvl6pPr marL="3431286" indent="0">
              <a:buNone/>
              <a:defRPr sz="2402" b="1"/>
            </a:lvl6pPr>
            <a:lvl7pPr marL="4117543" indent="0">
              <a:buNone/>
              <a:defRPr sz="2402" b="1"/>
            </a:lvl7pPr>
            <a:lvl8pPr marL="4803800" indent="0">
              <a:buNone/>
              <a:defRPr sz="2402" b="1"/>
            </a:lvl8pPr>
            <a:lvl9pPr marL="5490058" indent="0">
              <a:buNone/>
              <a:defRPr sz="2402" b="1"/>
            </a:lvl9pPr>
          </a:lstStyle>
          <a:p>
            <a:pPr lvl="0"/>
            <a:r>
              <a:rPr lang="en-US" smtClean="0"/>
              <a:t>Edit Master text styles</a:t>
            </a:r>
          </a:p>
        </p:txBody>
      </p:sp>
      <p:sp>
        <p:nvSpPr>
          <p:cNvPr id="4" name="Content Placeholder 3"/>
          <p:cNvSpPr>
            <a:spLocks noGrp="1"/>
          </p:cNvSpPr>
          <p:nvPr>
            <p:ph sz="half" idx="2"/>
          </p:nvPr>
        </p:nvSpPr>
        <p:spPr>
          <a:xfrm>
            <a:off x="2228013" y="5009182"/>
            <a:ext cx="7347683" cy="3688341"/>
          </a:xfrm>
        </p:spPr>
        <p:txBody>
          <a:bodyPr anchor="t">
            <a:normAutofit/>
          </a:bodyPr>
          <a:lstStyle>
            <a:lvl1pPr>
              <a:defRPr sz="2702"/>
            </a:lvl1pPr>
            <a:lvl2pPr>
              <a:defRPr sz="2402"/>
            </a:lvl2pPr>
            <a:lvl3pPr>
              <a:defRPr sz="2101"/>
            </a:lvl3pPr>
            <a:lvl4pPr>
              <a:defRPr sz="1801"/>
            </a:lvl4pPr>
            <a:lvl5pPr>
              <a:defRPr sz="1801"/>
            </a:lvl5pPr>
            <a:lvl6pPr>
              <a:defRPr sz="1801"/>
            </a:lvl6pPr>
            <a:lvl7pPr>
              <a:defRPr sz="1801"/>
            </a:lvl7pPr>
            <a:lvl8pPr>
              <a:defRPr sz="1801"/>
            </a:lvl8pPr>
            <a:lvl9pPr>
              <a:defRPr sz="1801"/>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0327898" y="4005439"/>
            <a:ext cx="6938621" cy="865460"/>
          </a:xfrm>
        </p:spPr>
        <p:txBody>
          <a:bodyPr anchor="b">
            <a:noAutofit/>
          </a:bodyPr>
          <a:lstStyle>
            <a:lvl1pPr marL="0" indent="0">
              <a:buNone/>
              <a:defRPr sz="4203" b="0">
                <a:solidFill>
                  <a:schemeClr val="accent1">
                    <a:lumMod val="75000"/>
                  </a:schemeClr>
                </a:solidFill>
              </a:defRPr>
            </a:lvl1pPr>
            <a:lvl2pPr marL="686257" indent="0">
              <a:buNone/>
              <a:defRPr sz="3002" b="1"/>
            </a:lvl2pPr>
            <a:lvl3pPr marL="1372514" indent="0">
              <a:buNone/>
              <a:defRPr sz="2702" b="1"/>
            </a:lvl3pPr>
            <a:lvl4pPr marL="2058772" indent="0">
              <a:buNone/>
              <a:defRPr sz="2402" b="1"/>
            </a:lvl4pPr>
            <a:lvl5pPr marL="2745029" indent="0">
              <a:buNone/>
              <a:defRPr sz="2402" b="1"/>
            </a:lvl5pPr>
            <a:lvl6pPr marL="3431286" indent="0">
              <a:buNone/>
              <a:defRPr sz="2402" b="1"/>
            </a:lvl6pPr>
            <a:lvl7pPr marL="4117543" indent="0">
              <a:buNone/>
              <a:defRPr sz="2402" b="1"/>
            </a:lvl7pPr>
            <a:lvl8pPr marL="4803800" indent="0">
              <a:buNone/>
              <a:defRPr sz="2402" b="1"/>
            </a:lvl8pPr>
            <a:lvl9pPr marL="5490058" indent="0">
              <a:buNone/>
              <a:defRPr sz="2402" b="1"/>
            </a:lvl9pPr>
          </a:lstStyle>
          <a:p>
            <a:pPr lvl="0"/>
            <a:r>
              <a:rPr lang="en-US" smtClean="0"/>
              <a:t>Edit Master text styles</a:t>
            </a:r>
          </a:p>
        </p:txBody>
      </p:sp>
      <p:sp>
        <p:nvSpPr>
          <p:cNvPr id="6" name="Content Placeholder 5"/>
          <p:cNvSpPr>
            <a:spLocks noGrp="1"/>
          </p:cNvSpPr>
          <p:nvPr>
            <p:ph sz="quarter" idx="4"/>
          </p:nvPr>
        </p:nvSpPr>
        <p:spPr>
          <a:xfrm>
            <a:off x="9918834" y="5009182"/>
            <a:ext cx="7347683" cy="3688341"/>
          </a:xfrm>
        </p:spPr>
        <p:txBody>
          <a:bodyPr anchor="t">
            <a:normAutofit/>
          </a:bodyPr>
          <a:lstStyle>
            <a:lvl1pPr>
              <a:defRPr sz="2702"/>
            </a:lvl1pPr>
            <a:lvl2pPr>
              <a:defRPr sz="2402"/>
            </a:lvl2pPr>
            <a:lvl3pPr>
              <a:defRPr sz="2101"/>
            </a:lvl3pPr>
            <a:lvl4pPr>
              <a:defRPr sz="1801"/>
            </a:lvl4pPr>
            <a:lvl5pPr>
              <a:defRPr sz="1801"/>
            </a:lvl5pPr>
            <a:lvl6pPr>
              <a:defRPr sz="1801"/>
            </a:lvl6pPr>
            <a:lvl7pPr>
              <a:defRPr sz="1801"/>
            </a:lvl7pPr>
            <a:lvl8pPr>
              <a:defRPr sz="1801"/>
            </a:lvl8pPr>
            <a:lvl9pPr>
              <a:defRPr sz="1801"/>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6F5DCD6-C4FA-42ED-B921-01F53D29A43D}" type="datetime1">
              <a:rPr lang="en-US" smtClean="0"/>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20275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A4D7499-D8DD-4E43-B53D-A8B1FBC4502A}" type="datetime1">
              <a:rPr lang="en-US" smtClean="0"/>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00997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08D837-8598-47BF-AB99-2C9FB704B4A4}" type="datetime1">
              <a:rPr lang="en-US" smtClean="0"/>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83560172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8015" y="2403263"/>
            <a:ext cx="5327379" cy="2059940"/>
          </a:xfrm>
        </p:spPr>
        <p:txBody>
          <a:bodyPr anchor="b">
            <a:normAutofit/>
          </a:bodyPr>
          <a:lstStyle>
            <a:lvl1pPr algn="ctr">
              <a:defRPr sz="3602" b="0"/>
            </a:lvl1pPr>
          </a:lstStyle>
          <a:p>
            <a:r>
              <a:rPr lang="en-US" smtClean="0"/>
              <a:t>Click to edit Master title style</a:t>
            </a:r>
            <a:endParaRPr lang="en-US" dirty="0"/>
          </a:p>
        </p:txBody>
      </p:sp>
      <p:sp>
        <p:nvSpPr>
          <p:cNvPr id="3" name="Content Placeholder 2"/>
          <p:cNvSpPr>
            <a:spLocks noGrp="1"/>
          </p:cNvSpPr>
          <p:nvPr>
            <p:ph idx="1"/>
          </p:nvPr>
        </p:nvSpPr>
        <p:spPr>
          <a:xfrm>
            <a:off x="7898531" y="1029969"/>
            <a:ext cx="9367986" cy="7667556"/>
          </a:xfrm>
        </p:spPr>
        <p:txBody>
          <a:bodyPr anchor="ctr">
            <a:normAutofit/>
          </a:bodyPr>
          <a:lstStyle>
            <a:lvl1pPr>
              <a:defRPr sz="3002"/>
            </a:lvl1pPr>
            <a:lvl2pPr>
              <a:defRPr sz="2702"/>
            </a:lvl2pPr>
            <a:lvl3pPr>
              <a:defRPr sz="2402"/>
            </a:lvl3pPr>
            <a:lvl4pPr>
              <a:defRPr sz="2101"/>
            </a:lvl4pPr>
            <a:lvl5pPr>
              <a:defRPr sz="2101"/>
            </a:lvl5pPr>
            <a:lvl6pPr>
              <a:defRPr sz="2101"/>
            </a:lvl6pPr>
            <a:lvl7pPr>
              <a:defRPr sz="2101"/>
            </a:lvl7pPr>
            <a:lvl8pPr>
              <a:defRPr sz="2101"/>
            </a:lvl8pPr>
            <a:lvl9pPr>
              <a:defRPr sz="2101"/>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228015" y="4463203"/>
            <a:ext cx="5327379" cy="2746587"/>
          </a:xfrm>
        </p:spPr>
        <p:txBody>
          <a:bodyPr>
            <a:normAutofit/>
          </a:bodyPr>
          <a:lstStyle>
            <a:lvl1pPr marL="0" indent="0" algn="ctr">
              <a:buNone/>
              <a:defRPr sz="2402"/>
            </a:lvl1pPr>
            <a:lvl2pPr marL="686257" indent="0">
              <a:buNone/>
              <a:defRPr sz="1801"/>
            </a:lvl2pPr>
            <a:lvl3pPr marL="1372514" indent="0">
              <a:buNone/>
              <a:defRPr sz="1501"/>
            </a:lvl3pPr>
            <a:lvl4pPr marL="2058772" indent="0">
              <a:buNone/>
              <a:defRPr sz="1351"/>
            </a:lvl4pPr>
            <a:lvl5pPr marL="2745029" indent="0">
              <a:buNone/>
              <a:defRPr sz="1351"/>
            </a:lvl5pPr>
            <a:lvl6pPr marL="3431286" indent="0">
              <a:buNone/>
              <a:defRPr sz="1351"/>
            </a:lvl6pPr>
            <a:lvl7pPr marL="4117543" indent="0">
              <a:buNone/>
              <a:defRPr sz="1351"/>
            </a:lvl7pPr>
            <a:lvl8pPr marL="4803800" indent="0">
              <a:buNone/>
              <a:defRPr sz="1351"/>
            </a:lvl8pPr>
            <a:lvl9pPr marL="5490058" indent="0">
              <a:buNone/>
              <a:defRPr sz="1351"/>
            </a:lvl9pPr>
          </a:lstStyle>
          <a:p>
            <a:pPr lvl="0"/>
            <a:r>
              <a:rPr lang="en-US" smtClean="0"/>
              <a:t>Edit Master text styles</a:t>
            </a:r>
          </a:p>
        </p:txBody>
      </p:sp>
      <p:sp>
        <p:nvSpPr>
          <p:cNvPr id="5" name="Date Placeholder 4"/>
          <p:cNvSpPr>
            <a:spLocks noGrp="1"/>
          </p:cNvSpPr>
          <p:nvPr>
            <p:ph type="dt" sz="half" idx="10"/>
          </p:nvPr>
        </p:nvSpPr>
        <p:spPr/>
        <p:txBody>
          <a:bodyPr/>
          <a:lstStyle/>
          <a:p>
            <a:fld id="{28F3E1D7-A2A3-461F-A9C7-9923DA22B8BC}" type="datetime1">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841173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5631" y="2632144"/>
            <a:ext cx="8144889" cy="2059940"/>
          </a:xfrm>
        </p:spPr>
        <p:txBody>
          <a:bodyPr anchor="b">
            <a:normAutofit/>
          </a:bodyPr>
          <a:lstStyle>
            <a:lvl1pPr algn="ctr">
              <a:defRPr sz="4203"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11399934" y="1373293"/>
            <a:ext cx="4924879" cy="6866467"/>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2"/>
            </a:lvl1pPr>
            <a:lvl2pPr marL="686257" indent="0">
              <a:buNone/>
              <a:defRPr sz="2402"/>
            </a:lvl2pPr>
            <a:lvl3pPr marL="1372514" indent="0">
              <a:buNone/>
              <a:defRPr sz="2402"/>
            </a:lvl3pPr>
            <a:lvl4pPr marL="2058772" indent="0">
              <a:buNone/>
              <a:defRPr sz="2402"/>
            </a:lvl4pPr>
            <a:lvl5pPr marL="2745029" indent="0">
              <a:buNone/>
              <a:defRPr sz="2402"/>
            </a:lvl5pPr>
            <a:lvl6pPr marL="3431286" indent="0">
              <a:buNone/>
              <a:defRPr sz="2402"/>
            </a:lvl6pPr>
            <a:lvl7pPr marL="4117543" indent="0">
              <a:buNone/>
              <a:defRPr sz="2402"/>
            </a:lvl7pPr>
            <a:lvl8pPr marL="4803800" indent="0">
              <a:buNone/>
              <a:defRPr sz="2402"/>
            </a:lvl8pPr>
            <a:lvl9pPr marL="5490058" indent="0">
              <a:buNone/>
              <a:defRPr sz="2402"/>
            </a:lvl9pPr>
          </a:lstStyle>
          <a:p>
            <a:r>
              <a:rPr lang="en-US" smtClean="0"/>
              <a:t>Click icon to add picture</a:t>
            </a:r>
            <a:endParaRPr lang="en-US" dirty="0"/>
          </a:p>
        </p:txBody>
      </p:sp>
      <p:sp>
        <p:nvSpPr>
          <p:cNvPr id="4" name="Text Placeholder 3"/>
          <p:cNvSpPr>
            <a:spLocks noGrp="1"/>
          </p:cNvSpPr>
          <p:nvPr>
            <p:ph type="body" sz="half" idx="2"/>
          </p:nvPr>
        </p:nvSpPr>
        <p:spPr>
          <a:xfrm>
            <a:off x="2225631" y="4692084"/>
            <a:ext cx="8144889" cy="2746587"/>
          </a:xfrm>
        </p:spPr>
        <p:txBody>
          <a:bodyPr>
            <a:normAutofit/>
          </a:bodyPr>
          <a:lstStyle>
            <a:lvl1pPr marL="0" indent="0" algn="ctr">
              <a:buNone/>
              <a:defRPr sz="2702"/>
            </a:lvl1pPr>
            <a:lvl2pPr marL="686257" indent="0">
              <a:buNone/>
              <a:defRPr sz="1801"/>
            </a:lvl2pPr>
            <a:lvl3pPr marL="1372514" indent="0">
              <a:buNone/>
              <a:defRPr sz="1501"/>
            </a:lvl3pPr>
            <a:lvl4pPr marL="2058772" indent="0">
              <a:buNone/>
              <a:defRPr sz="1351"/>
            </a:lvl4pPr>
            <a:lvl5pPr marL="2745029" indent="0">
              <a:buNone/>
              <a:defRPr sz="1351"/>
            </a:lvl5pPr>
            <a:lvl6pPr marL="3431286" indent="0">
              <a:buNone/>
              <a:defRPr sz="1351"/>
            </a:lvl6pPr>
            <a:lvl7pPr marL="4117543" indent="0">
              <a:buNone/>
              <a:defRPr sz="1351"/>
            </a:lvl7pPr>
            <a:lvl8pPr marL="4803800" indent="0">
              <a:buNone/>
              <a:defRPr sz="1351"/>
            </a:lvl8pPr>
            <a:lvl9pPr marL="5490058" indent="0">
              <a:buNone/>
              <a:defRPr sz="1351"/>
            </a:lvl9pPr>
          </a:lstStyle>
          <a:p>
            <a:pPr lvl="0"/>
            <a:r>
              <a:rPr lang="en-US" smtClean="0"/>
              <a:t>Edit Master text styles</a:t>
            </a:r>
          </a:p>
        </p:txBody>
      </p:sp>
      <p:sp>
        <p:nvSpPr>
          <p:cNvPr id="5" name="Date Placeholder 4"/>
          <p:cNvSpPr>
            <a:spLocks noGrp="1"/>
          </p:cNvSpPr>
          <p:nvPr>
            <p:ph type="dt" sz="half" idx="10"/>
          </p:nvPr>
        </p:nvSpPr>
        <p:spPr/>
        <p:txBody>
          <a:bodyPr/>
          <a:lstStyle/>
          <a:p>
            <a:fld id="{ED557829-FAD4-4BF0-ADFB-B1E9F63EC7D8}" type="datetime1">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06015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8013" y="7108062"/>
            <a:ext cx="15038503" cy="851157"/>
          </a:xfrm>
        </p:spPr>
        <p:txBody>
          <a:bodyPr anchor="b">
            <a:normAutofit/>
          </a:bodyPr>
          <a:lstStyle>
            <a:lvl1pPr algn="ctr">
              <a:defRPr sz="3602"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581503" y="1399894"/>
            <a:ext cx="12347485" cy="4753325"/>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2"/>
            </a:lvl1pPr>
            <a:lvl2pPr marL="686257" indent="0">
              <a:buNone/>
              <a:defRPr sz="2402"/>
            </a:lvl2pPr>
            <a:lvl3pPr marL="1372514" indent="0">
              <a:buNone/>
              <a:defRPr sz="2402"/>
            </a:lvl3pPr>
            <a:lvl4pPr marL="2058772" indent="0">
              <a:buNone/>
              <a:defRPr sz="2402"/>
            </a:lvl4pPr>
            <a:lvl5pPr marL="2745029" indent="0">
              <a:buNone/>
              <a:defRPr sz="2402"/>
            </a:lvl5pPr>
            <a:lvl6pPr marL="3431286" indent="0">
              <a:buNone/>
              <a:defRPr sz="2402"/>
            </a:lvl6pPr>
            <a:lvl7pPr marL="4117543" indent="0">
              <a:buNone/>
              <a:defRPr sz="2402"/>
            </a:lvl7pPr>
            <a:lvl8pPr marL="4803800" indent="0">
              <a:buNone/>
              <a:defRPr sz="2402"/>
            </a:lvl8pPr>
            <a:lvl9pPr marL="5490058" indent="0">
              <a:buNone/>
              <a:defRPr sz="2402"/>
            </a:lvl9pPr>
          </a:lstStyle>
          <a:p>
            <a:r>
              <a:rPr lang="en-US" smtClean="0"/>
              <a:t>Click icon to add picture</a:t>
            </a:r>
            <a:endParaRPr lang="en-US" dirty="0"/>
          </a:p>
        </p:txBody>
      </p:sp>
      <p:sp>
        <p:nvSpPr>
          <p:cNvPr id="4" name="Text Placeholder 3"/>
          <p:cNvSpPr>
            <a:spLocks noGrp="1"/>
          </p:cNvSpPr>
          <p:nvPr>
            <p:ph type="body" sz="half" idx="2"/>
          </p:nvPr>
        </p:nvSpPr>
        <p:spPr>
          <a:xfrm>
            <a:off x="2228013" y="7959219"/>
            <a:ext cx="15038503" cy="741482"/>
          </a:xfrm>
        </p:spPr>
        <p:txBody>
          <a:bodyPr>
            <a:normAutofit/>
          </a:bodyPr>
          <a:lstStyle>
            <a:lvl1pPr marL="0" indent="0" algn="ctr">
              <a:buNone/>
              <a:defRPr sz="2101"/>
            </a:lvl1pPr>
            <a:lvl2pPr marL="686257" indent="0">
              <a:buNone/>
              <a:defRPr sz="1801"/>
            </a:lvl2pPr>
            <a:lvl3pPr marL="1372514" indent="0">
              <a:buNone/>
              <a:defRPr sz="1501"/>
            </a:lvl3pPr>
            <a:lvl4pPr marL="2058772" indent="0">
              <a:buNone/>
              <a:defRPr sz="1351"/>
            </a:lvl4pPr>
            <a:lvl5pPr marL="2745029" indent="0">
              <a:buNone/>
              <a:defRPr sz="1351"/>
            </a:lvl5pPr>
            <a:lvl6pPr marL="3431286" indent="0">
              <a:buNone/>
              <a:defRPr sz="1351"/>
            </a:lvl6pPr>
            <a:lvl7pPr marL="4117543" indent="0">
              <a:buNone/>
              <a:defRPr sz="1351"/>
            </a:lvl7pPr>
            <a:lvl8pPr marL="4803800" indent="0">
              <a:buNone/>
              <a:defRPr sz="1351"/>
            </a:lvl8pPr>
            <a:lvl9pPr marL="5490058" indent="0">
              <a:buNone/>
              <a:defRPr sz="1351"/>
            </a:lvl9pPr>
          </a:lstStyle>
          <a:p>
            <a:pPr lvl="0"/>
            <a:r>
              <a:rPr lang="en-US" smtClean="0"/>
              <a:t>Edit Master text styles</a:t>
            </a:r>
          </a:p>
        </p:txBody>
      </p:sp>
      <p:sp>
        <p:nvSpPr>
          <p:cNvPr id="5" name="Date Placeholder 4"/>
          <p:cNvSpPr>
            <a:spLocks noGrp="1"/>
          </p:cNvSpPr>
          <p:nvPr>
            <p:ph type="dt" sz="half" idx="10"/>
          </p:nvPr>
        </p:nvSpPr>
        <p:spPr/>
        <p:txBody>
          <a:bodyPr/>
          <a:lstStyle/>
          <a:p>
            <a:fld id="{BC126043-F5E7-44CD-AB53-9865B80D1E07}" type="datetime1">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054512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228015" y="1029970"/>
            <a:ext cx="15038503" cy="4577644"/>
          </a:xfrm>
        </p:spPr>
        <p:txBody>
          <a:bodyPr anchor="ctr">
            <a:normAutofit/>
          </a:bodyPr>
          <a:lstStyle>
            <a:lvl1pPr algn="ctr">
              <a:defRPr sz="4803"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228015" y="6523143"/>
            <a:ext cx="15038506" cy="2174381"/>
          </a:xfrm>
        </p:spPr>
        <p:txBody>
          <a:bodyPr anchor="ctr">
            <a:normAutofit/>
          </a:bodyPr>
          <a:lstStyle>
            <a:lvl1pPr marL="0" indent="0" algn="ctr">
              <a:buNone/>
              <a:defRPr sz="30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0E4E9BA-0872-4289-89CA-25C59AEE0441}" type="datetime1">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31659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2399583" y="1296133"/>
            <a:ext cx="915035" cy="878247"/>
          </a:xfrm>
          <a:prstGeom prst="rect">
            <a:avLst/>
          </a:prstGeom>
        </p:spPr>
        <p:txBody>
          <a:bodyPr vert="horz" lIns="137255" tIns="68628" rIns="137255" bIns="6862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8" dirty="0">
                <a:solidFill>
                  <a:schemeClr val="tx1"/>
                </a:solidFill>
                <a:effectLst/>
              </a:rPr>
              <a:t>“</a:t>
            </a:r>
          </a:p>
        </p:txBody>
      </p:sp>
      <p:sp>
        <p:nvSpPr>
          <p:cNvPr id="15" name="TextBox 14"/>
          <p:cNvSpPr txBox="1"/>
          <p:nvPr/>
        </p:nvSpPr>
        <p:spPr>
          <a:xfrm>
            <a:off x="16351485" y="4234320"/>
            <a:ext cx="915035" cy="878247"/>
          </a:xfrm>
          <a:prstGeom prst="rect">
            <a:avLst/>
          </a:prstGeom>
        </p:spPr>
        <p:txBody>
          <a:bodyPr vert="horz" lIns="137255" tIns="68628" rIns="137255" bIns="6862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8" dirty="0">
                <a:solidFill>
                  <a:schemeClr val="tx1"/>
                </a:solidFill>
                <a:effectLst/>
              </a:rPr>
              <a:t>”</a:t>
            </a:r>
          </a:p>
        </p:txBody>
      </p:sp>
      <p:sp>
        <p:nvSpPr>
          <p:cNvPr id="2" name="Title 1"/>
          <p:cNvSpPr>
            <a:spLocks noGrp="1"/>
          </p:cNvSpPr>
          <p:nvPr>
            <p:ph type="title"/>
          </p:nvPr>
        </p:nvSpPr>
        <p:spPr>
          <a:xfrm>
            <a:off x="3314618" y="1029971"/>
            <a:ext cx="13494383" cy="4119878"/>
          </a:xfrm>
        </p:spPr>
        <p:txBody>
          <a:bodyPr anchor="ctr">
            <a:normAutofit/>
          </a:bodyPr>
          <a:lstStyle>
            <a:lvl1pPr algn="ctr">
              <a:defRPr sz="4803"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3657756" y="5149848"/>
            <a:ext cx="12808111" cy="572206"/>
          </a:xfrm>
        </p:spPr>
        <p:txBody>
          <a:bodyPr anchor="ctr">
            <a:normAutofit/>
          </a:bodyPr>
          <a:lstStyle>
            <a:lvl1pPr marL="0" indent="0">
              <a:buFontTx/>
              <a:buNone/>
              <a:defRPr sz="2702"/>
            </a:lvl1pPr>
            <a:lvl2pPr marL="686257" indent="0">
              <a:buFontTx/>
              <a:buNone/>
              <a:defRPr/>
            </a:lvl2pPr>
            <a:lvl3pPr marL="1372514" indent="0">
              <a:buFontTx/>
              <a:buNone/>
              <a:defRPr/>
            </a:lvl3pPr>
            <a:lvl4pPr marL="2058772" indent="0">
              <a:buFontTx/>
              <a:buNone/>
              <a:defRPr/>
            </a:lvl4pPr>
            <a:lvl5pPr marL="2745029" indent="0">
              <a:buFontTx/>
              <a:buNone/>
              <a:defRPr/>
            </a:lvl5pPr>
          </a:lstStyle>
          <a:p>
            <a:pPr lvl="0"/>
            <a:r>
              <a:rPr lang="en-US" smtClean="0"/>
              <a:t>Edit Master text styles</a:t>
            </a:r>
          </a:p>
        </p:txBody>
      </p:sp>
      <p:sp>
        <p:nvSpPr>
          <p:cNvPr id="3" name="Text Placeholder 2"/>
          <p:cNvSpPr>
            <a:spLocks noGrp="1"/>
          </p:cNvSpPr>
          <p:nvPr>
            <p:ph type="body" idx="1"/>
          </p:nvPr>
        </p:nvSpPr>
        <p:spPr>
          <a:xfrm>
            <a:off x="2228013" y="6523143"/>
            <a:ext cx="15038503" cy="2174381"/>
          </a:xfrm>
        </p:spPr>
        <p:txBody>
          <a:bodyPr anchor="ctr">
            <a:normAutofit/>
          </a:bodyPr>
          <a:lstStyle>
            <a:lvl1pPr marL="0" indent="0" algn="ctr">
              <a:buNone/>
              <a:defRPr sz="30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6612B0-04EF-4CDA-A040-2511FD2EA4D3}" type="datetime1">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3819261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228016" y="4968999"/>
            <a:ext cx="15038500" cy="2205920"/>
          </a:xfrm>
        </p:spPr>
        <p:txBody>
          <a:bodyPr anchor="b">
            <a:normAutofit/>
          </a:bodyPr>
          <a:lstStyle>
            <a:lvl1pPr algn="r">
              <a:defRPr sz="4803"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228014" y="7174919"/>
            <a:ext cx="15038501" cy="1292193"/>
          </a:xfrm>
        </p:spPr>
        <p:txBody>
          <a:bodyPr anchor="t">
            <a:normAutofit/>
          </a:bodyPr>
          <a:lstStyle>
            <a:lvl1pPr marL="0" indent="0" algn="r">
              <a:buNone/>
              <a:defRPr sz="30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4DAE288-7D9F-4782-B967-87C850BB4321}" type="datetime1">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959864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2399583" y="1296133"/>
            <a:ext cx="915035" cy="878247"/>
          </a:xfrm>
          <a:prstGeom prst="rect">
            <a:avLst/>
          </a:prstGeom>
        </p:spPr>
        <p:txBody>
          <a:bodyPr vert="horz" lIns="137255" tIns="68628" rIns="137255" bIns="6862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8" dirty="0">
                <a:solidFill>
                  <a:schemeClr val="tx1"/>
                </a:solidFill>
                <a:effectLst/>
              </a:rPr>
              <a:t>“</a:t>
            </a:r>
          </a:p>
        </p:txBody>
      </p:sp>
      <p:sp>
        <p:nvSpPr>
          <p:cNvPr id="15" name="TextBox 14"/>
          <p:cNvSpPr txBox="1"/>
          <p:nvPr/>
        </p:nvSpPr>
        <p:spPr>
          <a:xfrm>
            <a:off x="16351485" y="4234320"/>
            <a:ext cx="915035" cy="878247"/>
          </a:xfrm>
          <a:prstGeom prst="rect">
            <a:avLst/>
          </a:prstGeom>
        </p:spPr>
        <p:txBody>
          <a:bodyPr vert="horz" lIns="137255" tIns="68628" rIns="137255" bIns="6862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8" dirty="0">
                <a:solidFill>
                  <a:schemeClr val="tx1"/>
                </a:solidFill>
                <a:effectLst/>
              </a:rPr>
              <a:t>”</a:t>
            </a:r>
          </a:p>
        </p:txBody>
      </p:sp>
      <p:sp>
        <p:nvSpPr>
          <p:cNvPr id="2" name="Title 1"/>
          <p:cNvSpPr>
            <a:spLocks noGrp="1"/>
          </p:cNvSpPr>
          <p:nvPr>
            <p:ph type="title"/>
          </p:nvPr>
        </p:nvSpPr>
        <p:spPr>
          <a:xfrm>
            <a:off x="3314618" y="1029971"/>
            <a:ext cx="13494383" cy="4119878"/>
          </a:xfrm>
        </p:spPr>
        <p:txBody>
          <a:bodyPr anchor="ctr">
            <a:normAutofit/>
          </a:bodyPr>
          <a:lstStyle>
            <a:lvl1pPr algn="ctr">
              <a:defRPr sz="4803"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228016" y="5836497"/>
            <a:ext cx="15038501" cy="1335146"/>
          </a:xfrm>
        </p:spPr>
        <p:txBody>
          <a:bodyPr vert="horz" lIns="91440" tIns="45720" rIns="91440" bIns="45720" rtlCol="0" anchor="b">
            <a:normAutofit/>
          </a:bodyPr>
          <a:lstStyle>
            <a:lvl1pPr algn="r">
              <a:buNone/>
              <a:defRPr lang="en-US" sz="3602"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2228014" y="7171643"/>
            <a:ext cx="15038501" cy="1525881"/>
          </a:xfrm>
        </p:spPr>
        <p:txBody>
          <a:bodyPr anchor="t">
            <a:normAutofit/>
          </a:bodyPr>
          <a:lstStyle>
            <a:lvl1pPr marL="0" indent="0" algn="r">
              <a:buNone/>
              <a:defRPr sz="27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5C661C6-F5EA-4B3B-83FE-AD6E41651ABB}" type="datetime1">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4696687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228016" y="1029971"/>
            <a:ext cx="15038504" cy="409603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2228015" y="5264291"/>
            <a:ext cx="15038506" cy="1258852"/>
          </a:xfrm>
        </p:spPr>
        <p:txBody>
          <a:bodyPr vert="horz" lIns="91440" tIns="45720" rIns="91440" bIns="45720" rtlCol="0" anchor="b">
            <a:normAutofit/>
          </a:bodyPr>
          <a:lstStyle>
            <a:lvl1pPr>
              <a:buNone/>
              <a:defRPr lang="en-US" sz="4203"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2228013" y="6523143"/>
            <a:ext cx="15038506" cy="2174381"/>
          </a:xfrm>
        </p:spPr>
        <p:txBody>
          <a:bodyPr anchor="t">
            <a:normAutofit/>
          </a:bodyPr>
          <a:lstStyle>
            <a:lvl1pPr marL="0" indent="0" algn="l">
              <a:buNone/>
              <a:defRPr sz="2702">
                <a:solidFill>
                  <a:schemeClr val="tx1"/>
                </a:solidFill>
              </a:defRPr>
            </a:lvl1pPr>
            <a:lvl2pPr marL="686257" indent="0">
              <a:buNone/>
              <a:defRPr sz="2702">
                <a:solidFill>
                  <a:schemeClr val="tx1">
                    <a:tint val="75000"/>
                  </a:schemeClr>
                </a:solidFill>
              </a:defRPr>
            </a:lvl2pPr>
            <a:lvl3pPr marL="1372514" indent="0">
              <a:buNone/>
              <a:defRPr sz="2402">
                <a:solidFill>
                  <a:schemeClr val="tx1">
                    <a:tint val="75000"/>
                  </a:schemeClr>
                </a:solidFill>
              </a:defRPr>
            </a:lvl3pPr>
            <a:lvl4pPr marL="2058772" indent="0">
              <a:buNone/>
              <a:defRPr sz="2101">
                <a:solidFill>
                  <a:schemeClr val="tx1">
                    <a:tint val="75000"/>
                  </a:schemeClr>
                </a:solidFill>
              </a:defRPr>
            </a:lvl4pPr>
            <a:lvl5pPr marL="2745029" indent="0">
              <a:buNone/>
              <a:defRPr sz="2101">
                <a:solidFill>
                  <a:schemeClr val="tx1">
                    <a:tint val="75000"/>
                  </a:schemeClr>
                </a:solidFill>
              </a:defRPr>
            </a:lvl5pPr>
            <a:lvl6pPr marL="3431286" indent="0">
              <a:buNone/>
              <a:defRPr sz="2101">
                <a:solidFill>
                  <a:schemeClr val="tx1">
                    <a:tint val="75000"/>
                  </a:schemeClr>
                </a:solidFill>
              </a:defRPr>
            </a:lvl6pPr>
            <a:lvl7pPr marL="4117543" indent="0">
              <a:buNone/>
              <a:defRPr sz="2101">
                <a:solidFill>
                  <a:schemeClr val="tx1">
                    <a:tint val="75000"/>
                  </a:schemeClr>
                </a:solidFill>
              </a:defRPr>
            </a:lvl7pPr>
            <a:lvl8pPr marL="4803800" indent="0">
              <a:buNone/>
              <a:defRPr sz="2101">
                <a:solidFill>
                  <a:schemeClr val="tx1">
                    <a:tint val="75000"/>
                  </a:schemeClr>
                </a:solidFill>
              </a:defRPr>
            </a:lvl8pPr>
            <a:lvl9pPr marL="5490058" indent="0">
              <a:buNone/>
              <a:defRPr sz="210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8A3F591-20D7-497C-A9A0-EF3C1DDADE7F}" type="datetime1">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361026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BDBC361-9E73-4B11-87EC-616BC6D78B78}" type="datetime1">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446598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609121" y="1029970"/>
            <a:ext cx="2657398" cy="766755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28014" y="1029970"/>
            <a:ext cx="12037967" cy="766755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77E227-1D4C-44A1-9754-073384389781}" type="datetime1">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39193" y="8835808"/>
            <a:ext cx="827325" cy="548364"/>
          </a:xfrm>
          <a:prstGeom prst="rect">
            <a:avLst/>
          </a:prstGeo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8185245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8300700" cy="10299700"/>
          </a:xfrm>
          <a:prstGeom prst="rect">
            <a:avLst/>
          </a:prstGeom>
        </p:spPr>
      </p:pic>
      <p:sp>
        <p:nvSpPr>
          <p:cNvPr id="3" name="Shape 0"/>
          <p:cNvSpPr/>
          <p:nvPr/>
        </p:nvSpPr>
        <p:spPr>
          <a:xfrm>
            <a:off x="0" y="0"/>
            <a:ext cx="18300700" cy="102997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6069512" y="9700944"/>
            <a:ext cx="2145175" cy="512696"/>
          </a:xfrm>
          <a:prstGeom prst="rect">
            <a:avLst/>
          </a:prstGeom>
        </p:spPr>
      </p:pic>
    </p:spTree>
    <p:extLst>
      <p:ext uri="{BB962C8B-B14F-4D97-AF65-F5344CB8AC3E}">
        <p14:creationId xmlns:p14="http://schemas.microsoft.com/office/powerpoint/2010/main" val="4142516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226376" y="1"/>
            <a:ext cx="3657758" cy="10299702"/>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2228013" y="1029971"/>
            <a:ext cx="15038506" cy="2632144"/>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28012" y="4005438"/>
            <a:ext cx="15038506" cy="4692087"/>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4609122" y="8835808"/>
            <a:ext cx="1715691" cy="548364"/>
          </a:xfrm>
          <a:prstGeom prst="rect">
            <a:avLst/>
          </a:prstGeom>
        </p:spPr>
        <p:txBody>
          <a:bodyPr vert="horz" lIns="91440" tIns="45720" rIns="91440" bIns="45720" rtlCol="0" anchor="ctr"/>
          <a:lstStyle>
            <a:lvl1pPr algn="r">
              <a:defRPr sz="1501" b="0" i="0">
                <a:solidFill>
                  <a:schemeClr val="tx1"/>
                </a:solidFill>
                <a:effectLst/>
                <a:latin typeface="+mn-lt"/>
              </a:defRPr>
            </a:lvl1pPr>
          </a:lstStyle>
          <a:p>
            <a:fld id="{54CB286C-67FA-4C98-B5A3-041A10484A65}" type="datetime1">
              <a:rPr lang="en-US" smtClean="0"/>
              <a:t>5/10/2026</a:t>
            </a:fld>
            <a:endParaRPr lang="en-US"/>
          </a:p>
        </p:txBody>
      </p:sp>
      <p:sp>
        <p:nvSpPr>
          <p:cNvPr id="5" name="Footer Placeholder 4"/>
          <p:cNvSpPr>
            <a:spLocks noGrp="1"/>
          </p:cNvSpPr>
          <p:nvPr>
            <p:ph type="ftr" sz="quarter" idx="3"/>
          </p:nvPr>
        </p:nvSpPr>
        <p:spPr>
          <a:xfrm>
            <a:off x="3861099" y="8835808"/>
            <a:ext cx="10633645" cy="548364"/>
          </a:xfrm>
          <a:prstGeom prst="rect">
            <a:avLst/>
          </a:prstGeom>
        </p:spPr>
        <p:txBody>
          <a:bodyPr vert="horz" lIns="91440" tIns="45720" rIns="91440" bIns="45720" rtlCol="0" anchor="ctr"/>
          <a:lstStyle>
            <a:lvl1pPr algn="l">
              <a:defRPr sz="1501" b="0" i="0">
                <a:solidFill>
                  <a:schemeClr val="tx1"/>
                </a:solidFill>
                <a:effectLst/>
                <a:latin typeface="+mn-lt"/>
              </a:defRPr>
            </a:lvl1pPr>
          </a:lstStyle>
          <a:p>
            <a:endParaRPr lang="en-US"/>
          </a:p>
        </p:txBody>
      </p:sp>
    </p:spTree>
    <p:extLst>
      <p:ext uri="{BB962C8B-B14F-4D97-AF65-F5344CB8AC3E}">
        <p14:creationId xmlns:p14="http://schemas.microsoft.com/office/powerpoint/2010/main" val="389126036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6" r:id="rId18"/>
  </p:sldLayoutIdLst>
  <p:timing>
    <p:tnLst>
      <p:par>
        <p:cTn id="1" dur="indefinite" restart="never" nodeType="tmRoot"/>
      </p:par>
    </p:tnLst>
  </p:timing>
  <p:hf sldNum="0" hdr="0" ftr="0" dt="0"/>
  <p:txStyles>
    <p:titleStyle>
      <a:lvl1pPr algn="ctr" defTabSz="686257" rtl="0" eaLnBrk="1" latinLnBrk="0" hangingPunct="1">
        <a:spcBef>
          <a:spcPct val="0"/>
        </a:spcBef>
        <a:buNone/>
        <a:defRPr sz="6004"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911" indent="-428911" algn="l" defTabSz="686257" rtl="0" eaLnBrk="1" latinLnBrk="0" hangingPunct="1">
        <a:spcBef>
          <a:spcPct val="20000"/>
        </a:spcBef>
        <a:spcAft>
          <a:spcPts val="901"/>
        </a:spcAft>
        <a:buClr>
          <a:schemeClr val="accent1">
            <a:lumMod val="75000"/>
          </a:schemeClr>
        </a:buClr>
        <a:buSzPct val="145000"/>
        <a:buFont typeface="Arial"/>
        <a:buChar char="•"/>
        <a:defRPr sz="3602" kern="1200" cap="none">
          <a:solidFill>
            <a:schemeClr val="tx1"/>
          </a:solidFill>
          <a:effectLst/>
          <a:latin typeface="+mn-lt"/>
          <a:ea typeface="+mn-ea"/>
          <a:cs typeface="+mn-cs"/>
        </a:defRPr>
      </a:lvl1pPr>
      <a:lvl2pPr marL="1115168" indent="-428911" algn="l" defTabSz="686257" rtl="0" eaLnBrk="1" latinLnBrk="0" hangingPunct="1">
        <a:spcBef>
          <a:spcPct val="20000"/>
        </a:spcBef>
        <a:spcAft>
          <a:spcPts val="901"/>
        </a:spcAft>
        <a:buClr>
          <a:schemeClr val="accent1">
            <a:lumMod val="75000"/>
          </a:schemeClr>
        </a:buClr>
        <a:buSzPct val="145000"/>
        <a:buFont typeface="Arial"/>
        <a:buChar char="•"/>
        <a:defRPr sz="3002" kern="1200" cap="none">
          <a:solidFill>
            <a:schemeClr val="tx1"/>
          </a:solidFill>
          <a:effectLst/>
          <a:latin typeface="+mn-lt"/>
          <a:ea typeface="+mn-ea"/>
          <a:cs typeface="+mn-cs"/>
        </a:defRPr>
      </a:lvl2pPr>
      <a:lvl3pPr marL="1801425" indent="-428911" algn="l" defTabSz="686257" rtl="0" eaLnBrk="1" latinLnBrk="0" hangingPunct="1">
        <a:spcBef>
          <a:spcPct val="20000"/>
        </a:spcBef>
        <a:spcAft>
          <a:spcPts val="901"/>
        </a:spcAft>
        <a:buClr>
          <a:schemeClr val="accent1">
            <a:lumMod val="75000"/>
          </a:schemeClr>
        </a:buClr>
        <a:buSzPct val="145000"/>
        <a:buFont typeface="Arial"/>
        <a:buChar char="•"/>
        <a:defRPr sz="2702" kern="1200" cap="none">
          <a:solidFill>
            <a:schemeClr val="tx1"/>
          </a:solidFill>
          <a:effectLst/>
          <a:latin typeface="+mn-lt"/>
          <a:ea typeface="+mn-ea"/>
          <a:cs typeface="+mn-cs"/>
        </a:defRPr>
      </a:lvl3pPr>
      <a:lvl4pPr marL="2316118" indent="-257346" algn="l" defTabSz="686257" rtl="0" eaLnBrk="1" latinLnBrk="0" hangingPunct="1">
        <a:spcBef>
          <a:spcPct val="20000"/>
        </a:spcBef>
        <a:spcAft>
          <a:spcPts val="901"/>
        </a:spcAft>
        <a:buClr>
          <a:schemeClr val="accent1">
            <a:lumMod val="75000"/>
          </a:schemeClr>
        </a:buClr>
        <a:buSzPct val="145000"/>
        <a:buFont typeface="Arial"/>
        <a:buChar char="•"/>
        <a:defRPr sz="2402" kern="1200" cap="none">
          <a:solidFill>
            <a:schemeClr val="tx1"/>
          </a:solidFill>
          <a:effectLst/>
          <a:latin typeface="+mn-lt"/>
          <a:ea typeface="+mn-ea"/>
          <a:cs typeface="+mn-cs"/>
        </a:defRPr>
      </a:lvl4pPr>
      <a:lvl5pPr marL="3002375" indent="-257346" algn="l" defTabSz="686257" rtl="0" eaLnBrk="1" latinLnBrk="0" hangingPunct="1">
        <a:spcBef>
          <a:spcPct val="20000"/>
        </a:spcBef>
        <a:spcAft>
          <a:spcPts val="901"/>
        </a:spcAft>
        <a:buClr>
          <a:schemeClr val="accent1">
            <a:lumMod val="75000"/>
          </a:schemeClr>
        </a:buClr>
        <a:buSzPct val="145000"/>
        <a:buFont typeface="Arial"/>
        <a:buChar char="•"/>
        <a:defRPr sz="2101" kern="1200" cap="none">
          <a:solidFill>
            <a:schemeClr val="tx1"/>
          </a:solidFill>
          <a:effectLst/>
          <a:latin typeface="+mn-lt"/>
          <a:ea typeface="+mn-ea"/>
          <a:cs typeface="+mn-cs"/>
        </a:defRPr>
      </a:lvl5pPr>
      <a:lvl6pPr marL="3774415" indent="-343129" algn="l" defTabSz="686257" rtl="0" eaLnBrk="1" latinLnBrk="0" hangingPunct="1">
        <a:spcBef>
          <a:spcPct val="20000"/>
        </a:spcBef>
        <a:spcAft>
          <a:spcPts val="901"/>
        </a:spcAft>
        <a:buClr>
          <a:schemeClr val="accent1">
            <a:lumMod val="75000"/>
          </a:schemeClr>
        </a:buClr>
        <a:buSzPct val="145000"/>
        <a:buFont typeface="Arial"/>
        <a:buChar char="•"/>
        <a:defRPr sz="2101" kern="1200" cap="none">
          <a:solidFill>
            <a:schemeClr val="tx1"/>
          </a:solidFill>
          <a:effectLst/>
          <a:latin typeface="+mn-lt"/>
          <a:ea typeface="+mn-ea"/>
          <a:cs typeface="+mn-cs"/>
        </a:defRPr>
      </a:lvl6pPr>
      <a:lvl7pPr marL="4460672" indent="-343129" algn="l" defTabSz="686257" rtl="0" eaLnBrk="1" latinLnBrk="0" hangingPunct="1">
        <a:spcBef>
          <a:spcPct val="20000"/>
        </a:spcBef>
        <a:spcAft>
          <a:spcPts val="901"/>
        </a:spcAft>
        <a:buClr>
          <a:schemeClr val="accent1">
            <a:lumMod val="75000"/>
          </a:schemeClr>
        </a:buClr>
        <a:buSzPct val="145000"/>
        <a:buFont typeface="Arial"/>
        <a:buChar char="•"/>
        <a:defRPr sz="2101" kern="1200" cap="none">
          <a:solidFill>
            <a:schemeClr val="tx1"/>
          </a:solidFill>
          <a:effectLst/>
          <a:latin typeface="+mn-lt"/>
          <a:ea typeface="+mn-ea"/>
          <a:cs typeface="+mn-cs"/>
        </a:defRPr>
      </a:lvl7pPr>
      <a:lvl8pPr marL="5146929" indent="-343129" algn="l" defTabSz="686257" rtl="0" eaLnBrk="1" latinLnBrk="0" hangingPunct="1">
        <a:spcBef>
          <a:spcPct val="20000"/>
        </a:spcBef>
        <a:spcAft>
          <a:spcPts val="901"/>
        </a:spcAft>
        <a:buClr>
          <a:schemeClr val="accent1">
            <a:lumMod val="75000"/>
          </a:schemeClr>
        </a:buClr>
        <a:buSzPct val="145000"/>
        <a:buFont typeface="Arial"/>
        <a:buChar char="•"/>
        <a:defRPr sz="2101" kern="1200" cap="none">
          <a:solidFill>
            <a:schemeClr val="tx1"/>
          </a:solidFill>
          <a:effectLst/>
          <a:latin typeface="+mn-lt"/>
          <a:ea typeface="+mn-ea"/>
          <a:cs typeface="+mn-cs"/>
        </a:defRPr>
      </a:lvl8pPr>
      <a:lvl9pPr marL="5833186" indent="-343129" algn="l" defTabSz="686257" rtl="0" eaLnBrk="1" latinLnBrk="0" hangingPunct="1">
        <a:spcBef>
          <a:spcPct val="20000"/>
        </a:spcBef>
        <a:spcAft>
          <a:spcPts val="901"/>
        </a:spcAft>
        <a:buClr>
          <a:schemeClr val="accent1">
            <a:lumMod val="75000"/>
          </a:schemeClr>
        </a:buClr>
        <a:buSzPct val="145000"/>
        <a:buFont typeface="Arial"/>
        <a:buChar char="•"/>
        <a:defRPr sz="2101" kern="1200" cap="none">
          <a:solidFill>
            <a:schemeClr val="tx1"/>
          </a:solidFill>
          <a:effectLst/>
          <a:latin typeface="+mn-lt"/>
          <a:ea typeface="+mn-ea"/>
          <a:cs typeface="+mn-cs"/>
        </a:defRPr>
      </a:lvl9pPr>
    </p:bodyStyle>
    <p:otherStyle>
      <a:defPPr>
        <a:defRPr lang="en-US"/>
      </a:defPPr>
      <a:lvl1pPr marL="0" algn="l" defTabSz="686257" rtl="0" eaLnBrk="1" latinLnBrk="0" hangingPunct="1">
        <a:defRPr sz="2702" kern="1200">
          <a:solidFill>
            <a:schemeClr val="tx1"/>
          </a:solidFill>
          <a:latin typeface="+mn-lt"/>
          <a:ea typeface="+mn-ea"/>
          <a:cs typeface="+mn-cs"/>
        </a:defRPr>
      </a:lvl1pPr>
      <a:lvl2pPr marL="686257" algn="l" defTabSz="686257" rtl="0" eaLnBrk="1" latinLnBrk="0" hangingPunct="1">
        <a:defRPr sz="2702" kern="1200">
          <a:solidFill>
            <a:schemeClr val="tx1"/>
          </a:solidFill>
          <a:latin typeface="+mn-lt"/>
          <a:ea typeface="+mn-ea"/>
          <a:cs typeface="+mn-cs"/>
        </a:defRPr>
      </a:lvl2pPr>
      <a:lvl3pPr marL="1372514" algn="l" defTabSz="686257" rtl="0" eaLnBrk="1" latinLnBrk="0" hangingPunct="1">
        <a:defRPr sz="2702" kern="1200">
          <a:solidFill>
            <a:schemeClr val="tx1"/>
          </a:solidFill>
          <a:latin typeface="+mn-lt"/>
          <a:ea typeface="+mn-ea"/>
          <a:cs typeface="+mn-cs"/>
        </a:defRPr>
      </a:lvl3pPr>
      <a:lvl4pPr marL="2058772" algn="l" defTabSz="686257" rtl="0" eaLnBrk="1" latinLnBrk="0" hangingPunct="1">
        <a:defRPr sz="2702" kern="1200">
          <a:solidFill>
            <a:schemeClr val="tx1"/>
          </a:solidFill>
          <a:latin typeface="+mn-lt"/>
          <a:ea typeface="+mn-ea"/>
          <a:cs typeface="+mn-cs"/>
        </a:defRPr>
      </a:lvl4pPr>
      <a:lvl5pPr marL="2745029" algn="l" defTabSz="686257" rtl="0" eaLnBrk="1" latinLnBrk="0" hangingPunct="1">
        <a:defRPr sz="2702" kern="1200">
          <a:solidFill>
            <a:schemeClr val="tx1"/>
          </a:solidFill>
          <a:latin typeface="+mn-lt"/>
          <a:ea typeface="+mn-ea"/>
          <a:cs typeface="+mn-cs"/>
        </a:defRPr>
      </a:lvl5pPr>
      <a:lvl6pPr marL="3431286" algn="l" defTabSz="686257" rtl="0" eaLnBrk="1" latinLnBrk="0" hangingPunct="1">
        <a:defRPr sz="2702" kern="1200">
          <a:solidFill>
            <a:schemeClr val="tx1"/>
          </a:solidFill>
          <a:latin typeface="+mn-lt"/>
          <a:ea typeface="+mn-ea"/>
          <a:cs typeface="+mn-cs"/>
        </a:defRPr>
      </a:lvl6pPr>
      <a:lvl7pPr marL="4117543" algn="l" defTabSz="686257" rtl="0" eaLnBrk="1" latinLnBrk="0" hangingPunct="1">
        <a:defRPr sz="2702" kern="1200">
          <a:solidFill>
            <a:schemeClr val="tx1"/>
          </a:solidFill>
          <a:latin typeface="+mn-lt"/>
          <a:ea typeface="+mn-ea"/>
          <a:cs typeface="+mn-cs"/>
        </a:defRPr>
      </a:lvl7pPr>
      <a:lvl8pPr marL="4803800" algn="l" defTabSz="686257" rtl="0" eaLnBrk="1" latinLnBrk="0" hangingPunct="1">
        <a:defRPr sz="2702" kern="1200">
          <a:solidFill>
            <a:schemeClr val="tx1"/>
          </a:solidFill>
          <a:latin typeface="+mn-lt"/>
          <a:ea typeface="+mn-ea"/>
          <a:cs typeface="+mn-cs"/>
        </a:defRPr>
      </a:lvl8pPr>
      <a:lvl9pPr marL="5490058" algn="l" defTabSz="686257" rtl="0" eaLnBrk="1" latinLnBrk="0" hangingPunct="1">
        <a:defRPr sz="270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 Id="rId5" Type="http://schemas.openxmlformats.org/officeDocument/2006/relationships/hyperlink" Target="https://www.pexels.com/photo/gradient-background-with-bright-multicolored-lights-7130490/"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pexels.com/photo/gradient-background-with-bright-multicolored-lights-7130490/" TargetMode="External"/><Relationship Id="rId2" Type="http://schemas.openxmlformats.org/officeDocument/2006/relationships/image" Target="../media/image6.jpe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0.png"/></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170.png"/><Relationship Id="rId5" Type="http://schemas.openxmlformats.org/officeDocument/2006/relationships/image" Target="../media/image181.png"/></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 Id="rId5" Type="http://schemas.openxmlformats.org/officeDocument/2006/relationships/image" Target="../media/image210.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7"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00.png"/><Relationship Id="rId4" Type="http://schemas.openxmlformats.org/officeDocument/2006/relationships/image" Target="../media/image18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9B261F20-E444-4E5C-9EF8-D1179E4196D1}"/>
              </a:ext>
            </a:extLst>
          </p:cNvPr>
          <p:cNvSpPr txBox="1"/>
          <p:nvPr/>
        </p:nvSpPr>
        <p:spPr>
          <a:xfrm>
            <a:off x="1339850" y="120650"/>
            <a:ext cx="15621000" cy="9602629"/>
          </a:xfrm>
          <a:prstGeom prst="rect">
            <a:avLst/>
          </a:prstGeom>
          <a:noFill/>
        </p:spPr>
        <p:txBody>
          <a:bodyPr wrap="square" rtlCol="0">
            <a:spAutoFit/>
          </a:bodyPr>
          <a:lstStyle/>
          <a:p>
            <a:pPr algn="ctr"/>
            <a:r>
              <a:rPr lang="en-US" sz="6600" dirty="0" smtClean="0">
                <a:solidFill>
                  <a:srgbClr val="00B050"/>
                </a:solidFill>
                <a:latin typeface="Algerian" panose="04020705040A02060702" pitchFamily="82" charset="0"/>
              </a:rPr>
              <a:t>Uttara university</a:t>
            </a:r>
          </a:p>
          <a:p>
            <a:pPr algn="ctr"/>
            <a:endParaRPr lang="en-US" sz="13800" dirty="0" smtClean="0">
              <a:solidFill>
                <a:schemeClr val="accent1">
                  <a:lumMod val="50000"/>
                </a:schemeClr>
              </a:solidFill>
              <a:latin typeface="Algerian" panose="04020705040A02060702" pitchFamily="82" charset="0"/>
            </a:endParaRPr>
          </a:p>
          <a:p>
            <a:pPr algn="ctr"/>
            <a:r>
              <a:rPr lang="en-US" sz="13800" dirty="0" smtClean="0">
                <a:solidFill>
                  <a:schemeClr val="accent1">
                    <a:lumMod val="50000"/>
                  </a:schemeClr>
                </a:solidFill>
                <a:latin typeface="Algerian" panose="04020705040A02060702" pitchFamily="82" charset="0"/>
              </a:rPr>
              <a:t>Welcome To</a:t>
            </a:r>
          </a:p>
          <a:p>
            <a:pPr algn="ctr"/>
            <a:r>
              <a:rPr lang="en-US" sz="13800" dirty="0" smtClean="0">
                <a:solidFill>
                  <a:schemeClr val="accent1">
                    <a:lumMod val="50000"/>
                  </a:schemeClr>
                </a:solidFill>
                <a:latin typeface="Algerian" panose="04020705040A02060702" pitchFamily="82" charset="0"/>
              </a:rPr>
              <a:t>MY</a:t>
            </a:r>
          </a:p>
          <a:p>
            <a:pPr algn="ctr"/>
            <a:r>
              <a:rPr lang="en-US" sz="13800" dirty="0" smtClean="0">
                <a:solidFill>
                  <a:schemeClr val="accent1">
                    <a:lumMod val="50000"/>
                  </a:schemeClr>
                </a:solidFill>
                <a:latin typeface="Algerian" panose="04020705040A02060702" pitchFamily="82" charset="0"/>
              </a:rPr>
              <a:t>Presentation</a:t>
            </a:r>
            <a:endParaRPr lang="en-US" sz="13800" dirty="0">
              <a:solidFill>
                <a:schemeClr val="accent1">
                  <a:lumMod val="50000"/>
                </a:schemeClr>
              </a:solidFill>
              <a:latin typeface="Algerian" panose="04020705040A02060702" pitchFamily="82" charset="0"/>
            </a:endParaRPr>
          </a:p>
        </p:txBody>
      </p:sp>
      <p:pic>
        <p:nvPicPr>
          <p:cNvPr id="3" name="Picture 2"/>
          <p:cNvPicPr>
            <a:picLocks noChangeAspect="1"/>
          </p:cNvPicPr>
          <p:nvPr/>
        </p:nvPicPr>
        <p:blipFill>
          <a:blip r:embed="rId2"/>
          <a:stretch>
            <a:fillRect/>
          </a:stretch>
        </p:blipFill>
        <p:spPr>
          <a:xfrm>
            <a:off x="8374063" y="1368425"/>
            <a:ext cx="1552575" cy="2028825"/>
          </a:xfrm>
          <a:prstGeom prst="rect">
            <a:avLst/>
          </a:prstGeom>
        </p:spPr>
      </p:pic>
    </p:spTree>
    <p:extLst>
      <p:ext uri="{BB962C8B-B14F-4D97-AF65-F5344CB8AC3E}">
        <p14:creationId xmlns:p14="http://schemas.microsoft.com/office/powerpoint/2010/main" val="48423915"/>
      </p:ext>
    </p:extLst>
  </p:cSld>
  <p:clrMapOvr>
    <a:masterClrMapping/>
  </p:clrMapOvr>
  <p:transition spd="slow" advTm="2096">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844550" y="4499420"/>
            <a:ext cx="16017875" cy="3614451"/>
          </a:xfrm>
          <a:prstGeom prst="rect">
            <a:avLst/>
          </a:prstGeom>
        </p:spPr>
        <p:txBody>
          <a:bodyPr vert="horz" wrap="square" lIns="0" tIns="13335" rIns="0" bIns="0" rtlCol="0">
            <a:spAutoFit/>
          </a:bodyPr>
          <a:lstStyle/>
          <a:p>
            <a:pPr marL="12700" marR="5080">
              <a:lnSpc>
                <a:spcPct val="100200"/>
              </a:lnSpc>
              <a:spcBef>
                <a:spcPts val="105"/>
              </a:spcBef>
            </a:pPr>
            <a:r>
              <a:rPr lang="en-US" sz="13800" dirty="0" smtClean="0">
                <a:solidFill>
                  <a:schemeClr val="bg1"/>
                </a:solidFill>
                <a:latin typeface="Algerian" panose="04020705040A02060702" pitchFamily="82" charset="0"/>
                <a:cs typeface="Times New Roman"/>
              </a:rPr>
              <a:t> </a:t>
            </a:r>
            <a:r>
              <a:rPr lang="en-US" sz="9600" dirty="0" smtClean="0">
                <a:solidFill>
                  <a:srgbClr val="FFFFFF"/>
                </a:solidFill>
                <a:latin typeface="RQND Pro"/>
                <a:ea typeface="RQND Pro"/>
                <a:cs typeface="RQND Pro"/>
                <a:sym typeface="RQND Pro"/>
              </a:rPr>
              <a:t>“Mathematical Methods”</a:t>
            </a:r>
            <a:r>
              <a:rPr lang="en-US" sz="9600" dirty="0">
                <a:solidFill>
                  <a:srgbClr val="FFFFFF"/>
                </a:solidFill>
                <a:latin typeface="RQND Pro"/>
                <a:ea typeface="RQND Pro"/>
                <a:cs typeface="RQND Pro"/>
                <a:sym typeface="RQND Pro"/>
              </a:rPr>
              <a:t/>
            </a:r>
            <a:br>
              <a:rPr lang="en-US" sz="9600" dirty="0">
                <a:solidFill>
                  <a:srgbClr val="FFFFFF"/>
                </a:solidFill>
                <a:latin typeface="RQND Pro"/>
                <a:ea typeface="RQND Pro"/>
                <a:cs typeface="RQND Pro"/>
                <a:sym typeface="RQND Pro"/>
              </a:rPr>
            </a:br>
            <a:endParaRPr sz="9600" dirty="0">
              <a:solidFill>
                <a:schemeClr val="bg1"/>
              </a:solidFill>
              <a:latin typeface="Algerian" panose="04020705040A02060702" pitchFamily="82" charset="0"/>
              <a:cs typeface="Times New Roman"/>
            </a:endParaRPr>
          </a:p>
        </p:txBody>
      </p:sp>
      <p:sp>
        <p:nvSpPr>
          <p:cNvPr id="5" name="TextBox 4">
            <a:extLst>
              <a:ext uri="{FF2B5EF4-FFF2-40B4-BE49-F238E27FC236}">
                <a16:creationId xmlns:a16="http://schemas.microsoft.com/office/drawing/2014/main" xmlns="" id="{48A7CA69-FFEF-72A5-6BF5-FFC842217A9F}"/>
              </a:ext>
            </a:extLst>
          </p:cNvPr>
          <p:cNvSpPr txBox="1"/>
          <p:nvPr/>
        </p:nvSpPr>
        <p:spPr>
          <a:xfrm>
            <a:off x="5645150" y="1492250"/>
            <a:ext cx="6400800" cy="1569660"/>
          </a:xfrm>
          <a:prstGeom prst="rect">
            <a:avLst/>
          </a:prstGeom>
          <a:noFill/>
        </p:spPr>
        <p:txBody>
          <a:bodyPr wrap="square" rtlCol="0">
            <a:spAutoFit/>
          </a:bodyPr>
          <a:lstStyle/>
          <a:p>
            <a:pPr algn="ctr"/>
            <a:r>
              <a:rPr lang="en-US" sz="9600" b="1" dirty="0" smtClean="0">
                <a:solidFill>
                  <a:srgbClr val="FFFF00"/>
                </a:solidFill>
                <a:latin typeface="Freestyle Script" panose="030804020302050B0404" pitchFamily="66" charset="0"/>
              </a:rPr>
              <a:t>Presentation on</a:t>
            </a:r>
            <a:endParaRPr lang="en-US" sz="9600" b="1" dirty="0">
              <a:solidFill>
                <a:srgbClr val="FFFF00"/>
              </a:solidFill>
              <a:latin typeface="Freestyle Script" panose="030804020302050B0404" pitchFamily="66" charset="0"/>
            </a:endParaRPr>
          </a:p>
        </p:txBody>
      </p:sp>
      <p:sp>
        <p:nvSpPr>
          <p:cNvPr id="7" name="TextBox 6">
            <a:extLst>
              <a:ext uri="{FF2B5EF4-FFF2-40B4-BE49-F238E27FC236}">
                <a16:creationId xmlns:a16="http://schemas.microsoft.com/office/drawing/2014/main" xmlns="" id="{9DB6E262-BF82-9549-E649-CFFDAAC407F9}"/>
              </a:ext>
            </a:extLst>
          </p:cNvPr>
          <p:cNvSpPr txBox="1"/>
          <p:nvPr/>
        </p:nvSpPr>
        <p:spPr>
          <a:xfrm>
            <a:off x="4654550" y="6597650"/>
            <a:ext cx="8991600" cy="800219"/>
          </a:xfrm>
          <a:prstGeom prst="rect">
            <a:avLst/>
          </a:prstGeom>
          <a:noFill/>
          <a:ln>
            <a:noFill/>
          </a:ln>
        </p:spPr>
        <p:txBody>
          <a:bodyPr wrap="square" rtlCol="0">
            <a:spAutoFit/>
          </a:bodyPr>
          <a:lstStyle/>
          <a:p>
            <a:pPr algn="ctr"/>
            <a:endParaRPr lang="en-US" sz="2800" dirty="0">
              <a:solidFill>
                <a:schemeClr val="accent5">
                  <a:lumMod val="40000"/>
                  <a:lumOff val="60000"/>
                </a:schemeClr>
              </a:solidFill>
              <a:latin typeface="Arial Rounded MT Bold" panose="020F0704030504030204" pitchFamily="34" charset="0"/>
            </a:endParaRPr>
          </a:p>
          <a:p>
            <a:endParaRPr lang="en-US"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Tm="453">
        <p:split orient="vert"/>
      </p:transition>
    </mc:Choice>
    <mc:Fallback xmlns="">
      <p:transition spd="slow" advTm="453">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extLst>
              <a:ext uri="{837473B0-CC2E-450A-ABE3-18F120FF3D39}">
                <a1611:picAttrSrcUrl xmlns:a1611="http://schemas.microsoft.com/office/drawing/2016/11/main" xmlns="" r:id="rId5"/>
              </a:ext>
            </a:extLst>
          </a:blip>
          <a:srcRect/>
          <a:stretch>
            <a:fillRect t="-9000" b="-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01224A2-827C-3437-CD7A-F407C0BFC0A4}"/>
              </a:ext>
            </a:extLst>
          </p:cNvPr>
          <p:cNvSpPr txBox="1"/>
          <p:nvPr/>
        </p:nvSpPr>
        <p:spPr>
          <a:xfrm>
            <a:off x="9531350" y="3930650"/>
            <a:ext cx="4715391" cy="869469"/>
          </a:xfrm>
          <a:prstGeom prst="rect">
            <a:avLst/>
          </a:prstGeom>
          <a:noFill/>
        </p:spPr>
        <p:txBody>
          <a:bodyPr wrap="square" rtlCol="0">
            <a:spAutoFit/>
          </a:bodyPr>
          <a:lstStyle/>
          <a:p>
            <a:pPr algn="l"/>
            <a:r>
              <a:rPr lang="en-US" sz="4000" dirty="0" smtClean="0">
                <a:solidFill>
                  <a:srgbClr val="FF0000"/>
                </a:solidFill>
                <a:latin typeface="Arial Rounded MT Bold" panose="020F0704030504030204" pitchFamily="34" charset="0"/>
                <a:cs typeface="Vrinda" panose="020B0502040204020203" pitchFamily="34" charset="0"/>
              </a:rPr>
              <a:t>Presenting</a:t>
            </a:r>
            <a:r>
              <a:rPr lang="en-US" sz="4000" dirty="0" smtClean="0">
                <a:solidFill>
                  <a:srgbClr val="FF0000"/>
                </a:solidFill>
                <a:latin typeface="Arial Rounded MT Bold" panose="020F0704030504030204" pitchFamily="34" charset="0"/>
              </a:rPr>
              <a:t> </a:t>
            </a:r>
            <a:r>
              <a:rPr lang="en-US" sz="4000" dirty="0">
                <a:solidFill>
                  <a:srgbClr val="FF0000"/>
                </a:solidFill>
                <a:latin typeface="Arial Rounded MT Bold" panose="020F0704030504030204" pitchFamily="34" charset="0"/>
              </a:rPr>
              <a:t>To </a:t>
            </a:r>
          </a:p>
          <a:p>
            <a:endParaRPr lang="en-US" sz="1100" dirty="0">
              <a:latin typeface="Arial Rounded MT Bold" panose="020F0704030504030204" pitchFamily="34" charset="0"/>
            </a:endParaRPr>
          </a:p>
        </p:txBody>
      </p:sp>
      <p:sp>
        <p:nvSpPr>
          <p:cNvPr id="11" name="TextBox 8">
            <a:extLst>
              <a:ext uri="{FF2B5EF4-FFF2-40B4-BE49-F238E27FC236}">
                <a16:creationId xmlns:a16="http://schemas.microsoft.com/office/drawing/2014/main" xmlns="" id="{9B6CC541-B9B7-4692-B50C-B3C4370BD5D7}"/>
              </a:ext>
            </a:extLst>
          </p:cNvPr>
          <p:cNvSpPr txBox="1"/>
          <p:nvPr/>
        </p:nvSpPr>
        <p:spPr>
          <a:xfrm>
            <a:off x="1736364" y="2635250"/>
            <a:ext cx="6746875" cy="2923877"/>
          </a:xfrm>
          <a:prstGeom prst="rect">
            <a:avLst/>
          </a:prstGeom>
        </p:spPr>
        <p:txBody>
          <a:bodyPr wrap="square" lIns="0" tIns="0" rIns="0" bIns="0" rtlCol="0" anchor="t">
            <a:spAutoFit/>
          </a:bodyPr>
          <a:lstStyle/>
          <a:p>
            <a:pPr algn="l">
              <a:lnSpc>
                <a:spcPts val="5739"/>
              </a:lnSpc>
            </a:pPr>
            <a:r>
              <a:rPr lang="en-US" sz="4099" b="1" dirty="0" smtClean="0">
                <a:solidFill>
                  <a:srgbClr val="000000"/>
                </a:solidFill>
                <a:latin typeface="Times New Roman Bold"/>
                <a:ea typeface="Times New Roman Bold"/>
                <a:cs typeface="Times New Roman Bold"/>
                <a:sym typeface="Times New Roman Bold"/>
              </a:rPr>
              <a:t>Name: Md. </a:t>
            </a:r>
            <a:r>
              <a:rPr lang="en-US" sz="4099" b="1" dirty="0" err="1" smtClean="0">
                <a:solidFill>
                  <a:srgbClr val="000000"/>
                </a:solidFill>
                <a:latin typeface="Times New Roman Bold"/>
                <a:ea typeface="Times New Roman Bold"/>
                <a:cs typeface="Times New Roman Bold"/>
                <a:sym typeface="Times New Roman Bold"/>
              </a:rPr>
              <a:t>Sobuj</a:t>
            </a:r>
            <a:r>
              <a:rPr lang="en-US" sz="4099" b="1" dirty="0" smtClean="0">
                <a:solidFill>
                  <a:srgbClr val="000000"/>
                </a:solidFill>
                <a:latin typeface="Times New Roman Bold"/>
                <a:ea typeface="Times New Roman Bold"/>
                <a:cs typeface="Times New Roman Bold"/>
                <a:sym typeface="Times New Roman Bold"/>
              </a:rPr>
              <a:t> Ali</a:t>
            </a:r>
          </a:p>
          <a:p>
            <a:pPr algn="l">
              <a:lnSpc>
                <a:spcPts val="5739"/>
              </a:lnSpc>
            </a:pPr>
            <a:r>
              <a:rPr lang="en-US" sz="4099" b="1" dirty="0" smtClean="0">
                <a:solidFill>
                  <a:srgbClr val="000000"/>
                </a:solidFill>
                <a:latin typeface="Times New Roman Bold"/>
                <a:ea typeface="Times New Roman Bold"/>
                <a:cs typeface="Times New Roman Bold"/>
                <a:sym typeface="Times New Roman Bold"/>
              </a:rPr>
              <a:t>ID: 2233151040</a:t>
            </a:r>
          </a:p>
          <a:p>
            <a:pPr algn="l">
              <a:lnSpc>
                <a:spcPts val="5739"/>
              </a:lnSpc>
            </a:pPr>
            <a:r>
              <a:rPr lang="en-US" sz="4099" b="1" dirty="0" smtClean="0">
                <a:solidFill>
                  <a:srgbClr val="000000"/>
                </a:solidFill>
                <a:latin typeface="Times New Roman Bold"/>
                <a:ea typeface="Times New Roman Bold"/>
                <a:cs typeface="Times New Roman Bold"/>
                <a:sym typeface="Times New Roman Bold"/>
              </a:rPr>
              <a:t>Department </a:t>
            </a:r>
            <a:r>
              <a:rPr lang="en-US" sz="4099" b="1" dirty="0">
                <a:solidFill>
                  <a:srgbClr val="000000"/>
                </a:solidFill>
                <a:latin typeface="Times New Roman Bold"/>
                <a:ea typeface="Times New Roman Bold"/>
                <a:cs typeface="Times New Roman Bold"/>
                <a:sym typeface="Times New Roman Bold"/>
              </a:rPr>
              <a:t>of </a:t>
            </a:r>
            <a:r>
              <a:rPr lang="en-US" sz="4099" b="1" dirty="0" smtClean="0">
                <a:solidFill>
                  <a:srgbClr val="000000"/>
                </a:solidFill>
                <a:latin typeface="Times New Roman Bold"/>
                <a:ea typeface="Times New Roman Bold"/>
                <a:cs typeface="Times New Roman Bold"/>
                <a:sym typeface="Times New Roman Bold"/>
              </a:rPr>
              <a:t>Mathematics</a:t>
            </a:r>
          </a:p>
          <a:p>
            <a:pPr algn="l">
              <a:lnSpc>
                <a:spcPts val="5739"/>
              </a:lnSpc>
            </a:pPr>
            <a:r>
              <a:rPr lang="en-US" sz="4099" b="1" dirty="0" smtClean="0">
                <a:solidFill>
                  <a:srgbClr val="000000"/>
                </a:solidFill>
                <a:latin typeface="Times New Roman Bold"/>
                <a:ea typeface="Times New Roman Bold"/>
                <a:cs typeface="Times New Roman Bold"/>
                <a:sym typeface="Times New Roman Bold"/>
              </a:rPr>
              <a:t>Uttara University</a:t>
            </a:r>
            <a:endParaRPr lang="en-US" sz="4099" b="1" dirty="0">
              <a:solidFill>
                <a:srgbClr val="000000"/>
              </a:solidFill>
              <a:latin typeface="Times New Roman Bold"/>
              <a:ea typeface="Times New Roman Bold"/>
              <a:cs typeface="Times New Roman Bold"/>
              <a:sym typeface="Times New Roman Bold"/>
            </a:endParaRPr>
          </a:p>
        </p:txBody>
      </p:sp>
      <p:sp>
        <p:nvSpPr>
          <p:cNvPr id="13" name="TextBox 7">
            <a:extLst>
              <a:ext uri="{FF2B5EF4-FFF2-40B4-BE49-F238E27FC236}">
                <a16:creationId xmlns:a16="http://schemas.microsoft.com/office/drawing/2014/main" xmlns="" id="{875FAF75-502C-402A-932D-2A3A6BF83F35}"/>
              </a:ext>
            </a:extLst>
          </p:cNvPr>
          <p:cNvSpPr txBox="1"/>
          <p:nvPr/>
        </p:nvSpPr>
        <p:spPr>
          <a:xfrm>
            <a:off x="9531350" y="5024528"/>
            <a:ext cx="8448549" cy="2308324"/>
          </a:xfrm>
          <a:prstGeom prst="rect">
            <a:avLst/>
          </a:prstGeom>
        </p:spPr>
        <p:txBody>
          <a:bodyPr wrap="square" lIns="0" tIns="0" rIns="0" bIns="0" rtlCol="0" anchor="t">
            <a:spAutoFit/>
          </a:bodyPr>
          <a:lstStyle/>
          <a:p>
            <a:pPr>
              <a:lnSpc>
                <a:spcPts val="6019"/>
              </a:lnSpc>
            </a:pPr>
            <a:r>
              <a:rPr lang="en-US" sz="4299" b="1" dirty="0" smtClean="0">
                <a:solidFill>
                  <a:srgbClr val="000000"/>
                </a:solidFill>
                <a:latin typeface="Times New Roman Bold"/>
                <a:ea typeface="Times New Roman Bold"/>
                <a:cs typeface="Times New Roman Bold"/>
                <a:sym typeface="Times New Roman Bold"/>
              </a:rPr>
              <a:t>Professor Dr. </a:t>
            </a:r>
            <a:r>
              <a:rPr lang="en-US" sz="4299" b="1" dirty="0" err="1" smtClean="0">
                <a:solidFill>
                  <a:srgbClr val="000000"/>
                </a:solidFill>
                <a:latin typeface="Times New Roman Bold"/>
                <a:ea typeface="Times New Roman Bold"/>
                <a:cs typeface="Times New Roman Bold"/>
                <a:sym typeface="Times New Roman Bold"/>
              </a:rPr>
              <a:t>Shahansha</a:t>
            </a:r>
            <a:r>
              <a:rPr lang="en-US" sz="4299" b="1" dirty="0" smtClean="0">
                <a:solidFill>
                  <a:srgbClr val="000000"/>
                </a:solidFill>
                <a:latin typeface="Times New Roman Bold"/>
                <a:ea typeface="Times New Roman Bold"/>
                <a:cs typeface="Times New Roman Bold"/>
                <a:sym typeface="Times New Roman Bold"/>
              </a:rPr>
              <a:t> Khan</a:t>
            </a:r>
            <a:endParaRPr lang="en-US" sz="4299" b="1" dirty="0">
              <a:solidFill>
                <a:srgbClr val="000000"/>
              </a:solidFill>
              <a:latin typeface="Times New Roman Bold"/>
              <a:ea typeface="Times New Roman Bold"/>
              <a:cs typeface="Times New Roman Bold"/>
              <a:sym typeface="Times New Roman Bold"/>
            </a:endParaRPr>
          </a:p>
          <a:p>
            <a:pPr>
              <a:lnSpc>
                <a:spcPts val="6019"/>
              </a:lnSpc>
            </a:pPr>
            <a:r>
              <a:rPr lang="en-US" sz="4299" b="1" dirty="0" smtClean="0">
                <a:solidFill>
                  <a:srgbClr val="000000"/>
                </a:solidFill>
                <a:latin typeface="Times New Roman Bold"/>
                <a:ea typeface="Times New Roman Bold"/>
                <a:cs typeface="Times New Roman Bold"/>
                <a:sym typeface="Times New Roman Bold"/>
              </a:rPr>
              <a:t>Professor and Chairman</a:t>
            </a:r>
            <a:endParaRPr lang="en-US" sz="4299" b="1" dirty="0">
              <a:solidFill>
                <a:srgbClr val="000000"/>
              </a:solidFill>
              <a:latin typeface="Times New Roman Bold"/>
              <a:ea typeface="Times New Roman Bold"/>
              <a:cs typeface="Times New Roman Bold"/>
              <a:sym typeface="Times New Roman Bold"/>
            </a:endParaRPr>
          </a:p>
          <a:p>
            <a:pPr>
              <a:lnSpc>
                <a:spcPts val="6019"/>
              </a:lnSpc>
            </a:pPr>
            <a:r>
              <a:rPr lang="en-US" sz="4299" b="1" dirty="0" smtClean="0">
                <a:solidFill>
                  <a:srgbClr val="000000"/>
                </a:solidFill>
                <a:latin typeface="Times New Roman Bold"/>
                <a:ea typeface="Times New Roman Bold"/>
                <a:cs typeface="Times New Roman Bold"/>
                <a:sym typeface="Times New Roman Bold"/>
              </a:rPr>
              <a:t>Uttara University</a:t>
            </a:r>
            <a:endParaRPr lang="en-US" sz="4299" b="1" dirty="0">
              <a:solidFill>
                <a:srgbClr val="000000"/>
              </a:solidFill>
              <a:latin typeface="Times New Roman Bold"/>
              <a:ea typeface="Times New Roman Bold"/>
              <a:cs typeface="Times New Roman Bold"/>
              <a:sym typeface="Times New Roman Bold"/>
            </a:endParaRPr>
          </a:p>
        </p:txBody>
      </p:sp>
      <p:sp>
        <p:nvSpPr>
          <p:cNvPr id="14" name="TextBox 13">
            <a:extLst>
              <a:ext uri="{FF2B5EF4-FFF2-40B4-BE49-F238E27FC236}">
                <a16:creationId xmlns:a16="http://schemas.microsoft.com/office/drawing/2014/main" xmlns="" id="{4E9E335F-4865-4387-BB2C-B02E6FAEB621}"/>
              </a:ext>
            </a:extLst>
          </p:cNvPr>
          <p:cNvSpPr txBox="1"/>
          <p:nvPr/>
        </p:nvSpPr>
        <p:spPr>
          <a:xfrm>
            <a:off x="1662978" y="1568450"/>
            <a:ext cx="4715391" cy="869469"/>
          </a:xfrm>
          <a:prstGeom prst="rect">
            <a:avLst/>
          </a:prstGeom>
          <a:noFill/>
        </p:spPr>
        <p:txBody>
          <a:bodyPr wrap="square" rtlCol="0">
            <a:spAutoFit/>
          </a:bodyPr>
          <a:lstStyle/>
          <a:p>
            <a:pPr algn="l"/>
            <a:r>
              <a:rPr lang="en-US" sz="4000" dirty="0">
                <a:solidFill>
                  <a:srgbClr val="FF0000"/>
                </a:solidFill>
                <a:latin typeface="Arial Rounded MT Bold" panose="020F0704030504030204" pitchFamily="34" charset="0"/>
                <a:cs typeface="Vrinda" panose="020B0502040204020203" pitchFamily="34" charset="0"/>
              </a:rPr>
              <a:t>Presenting</a:t>
            </a:r>
            <a:r>
              <a:rPr lang="en-US" sz="4000" dirty="0">
                <a:solidFill>
                  <a:srgbClr val="FF0000"/>
                </a:solidFill>
                <a:latin typeface="Arial Rounded MT Bold" panose="020F0704030504030204" pitchFamily="34" charset="0"/>
              </a:rPr>
              <a:t> By </a:t>
            </a:r>
          </a:p>
          <a:p>
            <a:endParaRPr lang="en-US" sz="1100" dirty="0">
              <a:latin typeface="Arial Rounded MT Bold" panose="020F0704030504030204" pitchFamily="34" charset="0"/>
            </a:endParaRPr>
          </a:p>
        </p:txBody>
      </p:sp>
    </p:spTree>
    <p:extLst>
      <p:ext uri="{BB962C8B-B14F-4D97-AF65-F5344CB8AC3E}">
        <p14:creationId xmlns:p14="http://schemas.microsoft.com/office/powerpoint/2010/main" val="3962393428"/>
      </p:ext>
    </p:extLst>
  </p:cSld>
  <p:clrMapOvr>
    <a:masterClrMapping/>
  </p:clrMapOvr>
  <mc:AlternateContent xmlns:mc="http://schemas.openxmlformats.org/markup-compatibility/2006" xmlns:p14="http://schemas.microsoft.com/office/powerpoint/2010/main">
    <mc:Choice Requires="p14">
      <p:transition spd="slow" p14:dur="1600" advTm="393">
        <p:blinds dir="vert"/>
      </p:transition>
    </mc:Choice>
    <mc:Fallback xmlns="">
      <p:transition spd="slow" advTm="393">
        <p:blinds dir="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extLst>
              <a:ext uri="{837473B0-CC2E-450A-ABE3-18F120FF3D39}">
                <a1611:picAttrSrcUrl xmlns:a1611="http://schemas.microsoft.com/office/drawing/2016/11/main" xmlns="" r:id="rId3"/>
              </a:ext>
            </a:extLst>
          </a:blip>
          <a:srcRect/>
          <a:stretch>
            <a:fillRect t="-9000" b="-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9D34F36-CBC1-EE99-F56D-1EAA6A829F15}"/>
              </a:ext>
            </a:extLst>
          </p:cNvPr>
          <p:cNvSpPr txBox="1"/>
          <p:nvPr/>
        </p:nvSpPr>
        <p:spPr>
          <a:xfrm>
            <a:off x="7550150" y="577850"/>
            <a:ext cx="5372100" cy="1015663"/>
          </a:xfrm>
          <a:prstGeom prst="rect">
            <a:avLst/>
          </a:prstGeom>
          <a:noFill/>
        </p:spPr>
        <p:txBody>
          <a:bodyPr wrap="square" rtlCol="0">
            <a:spAutoFit/>
          </a:bodyPr>
          <a:lstStyle/>
          <a:p>
            <a:pPr algn="ctr"/>
            <a:r>
              <a:rPr lang="en-US" sz="6000" dirty="0" err="1" smtClean="0">
                <a:solidFill>
                  <a:srgbClr val="FF0000"/>
                </a:solidFill>
                <a:latin typeface="Algerian" panose="04020705040A02060702" pitchFamily="82" charset="0"/>
              </a:rPr>
              <a:t>OverView</a:t>
            </a:r>
            <a:endParaRPr lang="en-US" sz="6000" dirty="0">
              <a:solidFill>
                <a:srgbClr val="FF0000"/>
              </a:solidFill>
              <a:latin typeface="Algerian" panose="04020705040A02060702" pitchFamily="82" charset="0"/>
            </a:endParaRPr>
          </a:p>
        </p:txBody>
      </p:sp>
      <p:sp>
        <p:nvSpPr>
          <p:cNvPr id="5" name="TextBox 4">
            <a:extLst>
              <a:ext uri="{FF2B5EF4-FFF2-40B4-BE49-F238E27FC236}">
                <a16:creationId xmlns:a16="http://schemas.microsoft.com/office/drawing/2014/main" xmlns="" id="{2AA10F24-2A78-8CF0-A260-751BD11BD4AA}"/>
              </a:ext>
            </a:extLst>
          </p:cNvPr>
          <p:cNvSpPr txBox="1"/>
          <p:nvPr/>
        </p:nvSpPr>
        <p:spPr>
          <a:xfrm>
            <a:off x="7537450" y="2025650"/>
            <a:ext cx="10210800" cy="5663089"/>
          </a:xfrm>
          <a:prstGeom prst="rect">
            <a:avLst/>
          </a:prstGeom>
          <a:noFill/>
        </p:spPr>
        <p:txBody>
          <a:bodyPr wrap="square" rtlCol="0">
            <a:spAutoFit/>
          </a:bodyPr>
          <a:lstStyle/>
          <a:p>
            <a:pPr algn="l"/>
            <a:endParaRPr lang="en-US" b="1" i="0" dirty="0">
              <a:solidFill>
                <a:srgbClr val="0D0D0D"/>
              </a:solidFill>
              <a:effectLst/>
              <a:highlight>
                <a:srgbClr val="FFFFFF"/>
              </a:highlight>
              <a:latin typeface="Söhne"/>
            </a:endParaRPr>
          </a:p>
          <a:p>
            <a:pPr marL="571500" indent="-571500">
              <a:buFont typeface="Wingdings" panose="05000000000000000000" pitchFamily="2" charset="2"/>
              <a:buChar char="Ø"/>
            </a:pPr>
            <a:r>
              <a:rPr lang="en-US" sz="4000" i="0" dirty="0" smtClean="0">
                <a:solidFill>
                  <a:srgbClr val="0D0D0D"/>
                </a:solidFill>
                <a:effectLst/>
                <a:latin typeface="Arial Rounded MT Bold" panose="020F0704030504030204" pitchFamily="34" charset="0"/>
              </a:rPr>
              <a:t>Orthogonal Functions</a:t>
            </a:r>
          </a:p>
          <a:p>
            <a:pPr marL="571500" indent="-571500">
              <a:buFont typeface="Wingdings" panose="05000000000000000000" pitchFamily="2" charset="2"/>
              <a:buChar char="Ø"/>
            </a:pPr>
            <a:r>
              <a:rPr lang="en-US" sz="4000" dirty="0" smtClean="0">
                <a:solidFill>
                  <a:srgbClr val="0D0D0D"/>
                </a:solidFill>
                <a:latin typeface="Arial Rounded MT Bold" panose="020F0704030504030204" pitchFamily="34" charset="0"/>
              </a:rPr>
              <a:t>Orthonormal Functions</a:t>
            </a:r>
          </a:p>
          <a:p>
            <a:pPr marL="571500" indent="-571500">
              <a:buFont typeface="Wingdings" panose="05000000000000000000" pitchFamily="2" charset="2"/>
              <a:buChar char="Ø"/>
            </a:pPr>
            <a:r>
              <a:rPr lang="en-US" sz="4000" dirty="0" smtClean="0">
                <a:solidFill>
                  <a:srgbClr val="0D0D0D"/>
                </a:solidFill>
                <a:latin typeface="Arial Rounded MT Bold" panose="020F0704030504030204" pitchFamily="34" charset="0"/>
              </a:rPr>
              <a:t>Weight Function</a:t>
            </a:r>
          </a:p>
          <a:p>
            <a:pPr marL="571500" indent="-571500">
              <a:buFont typeface="Wingdings" panose="05000000000000000000" pitchFamily="2" charset="2"/>
              <a:buChar char="Ø"/>
            </a:pPr>
            <a:r>
              <a:rPr lang="en-US" sz="4000" dirty="0" smtClean="0">
                <a:solidFill>
                  <a:srgbClr val="0D0D0D"/>
                </a:solidFill>
                <a:latin typeface="Arial Rounded MT Bold" panose="020F0704030504030204" pitchFamily="34" charset="0"/>
              </a:rPr>
              <a:t>Self </a:t>
            </a:r>
            <a:r>
              <a:rPr lang="en-US" sz="4000" dirty="0" err="1" smtClean="0">
                <a:solidFill>
                  <a:srgbClr val="0D0D0D"/>
                </a:solidFill>
                <a:latin typeface="Arial Rounded MT Bold" panose="020F0704030504030204" pitchFamily="34" charset="0"/>
              </a:rPr>
              <a:t>Adjoint</a:t>
            </a:r>
            <a:r>
              <a:rPr lang="en-US" sz="4000" dirty="0" smtClean="0">
                <a:solidFill>
                  <a:srgbClr val="0D0D0D"/>
                </a:solidFill>
                <a:latin typeface="Arial Rounded MT Bold" panose="020F0704030504030204" pitchFamily="34" charset="0"/>
              </a:rPr>
              <a:t> Operator</a:t>
            </a:r>
          </a:p>
          <a:p>
            <a:pPr marL="571500" indent="-571500">
              <a:buFont typeface="Wingdings" panose="05000000000000000000" pitchFamily="2" charset="2"/>
              <a:buChar char="Ø"/>
            </a:pPr>
            <a:r>
              <a:rPr lang="en-US" sz="4000" dirty="0" smtClean="0">
                <a:solidFill>
                  <a:srgbClr val="0D0D0D"/>
                </a:solidFill>
                <a:latin typeface="Arial Rounded MT Bold" panose="020F0704030504030204" pitchFamily="34" charset="0"/>
              </a:rPr>
              <a:t>Eigen Values &amp; Eigen Functions</a:t>
            </a:r>
          </a:p>
          <a:p>
            <a:pPr marL="571500" indent="-571500">
              <a:buFont typeface="Wingdings" panose="05000000000000000000" pitchFamily="2" charset="2"/>
              <a:buChar char="Ø"/>
            </a:pPr>
            <a:r>
              <a:rPr lang="en-US" sz="4000" dirty="0" smtClean="0">
                <a:solidFill>
                  <a:srgbClr val="0D0D0D"/>
                </a:solidFill>
                <a:latin typeface="Arial Rounded MT Bold" panose="020F0704030504030204" pitchFamily="34" charset="0"/>
              </a:rPr>
              <a:t>Laplace Transform</a:t>
            </a:r>
          </a:p>
          <a:p>
            <a:pPr marL="571500" indent="-571500">
              <a:buFont typeface="Wingdings" panose="05000000000000000000" pitchFamily="2" charset="2"/>
              <a:buChar char="Ø"/>
            </a:pPr>
            <a:r>
              <a:rPr lang="en-US" sz="4000" dirty="0" smtClean="0">
                <a:solidFill>
                  <a:srgbClr val="0D0D0D"/>
                </a:solidFill>
                <a:latin typeface="Arial Rounded MT Bold" panose="020F0704030504030204" pitchFamily="34" charset="0"/>
              </a:rPr>
              <a:t>Inverse Laplace Transform</a:t>
            </a:r>
          </a:p>
          <a:p>
            <a:pPr marL="571500" indent="-571500">
              <a:buFont typeface="Wingdings" panose="05000000000000000000" pitchFamily="2" charset="2"/>
              <a:buChar char="Ø"/>
            </a:pPr>
            <a:r>
              <a:rPr lang="en-US" sz="4000" dirty="0" smtClean="0">
                <a:solidFill>
                  <a:srgbClr val="0D0D0D"/>
                </a:solidFill>
                <a:latin typeface="Arial Rounded MT Bold" panose="020F0704030504030204" pitchFamily="34" charset="0"/>
              </a:rPr>
              <a:t>Fourier Series</a:t>
            </a:r>
          </a:p>
          <a:p>
            <a:pPr marL="571500" indent="-571500">
              <a:buFont typeface="Wingdings" panose="05000000000000000000" pitchFamily="2" charset="2"/>
              <a:buChar char="Ø"/>
            </a:pPr>
            <a:endParaRPr lang="en-US" sz="2400" dirty="0">
              <a:solidFill>
                <a:srgbClr val="0D0D0D"/>
              </a:solidFill>
              <a:latin typeface="Arial Rounded MT Bold" panose="020F0704030504030204" pitchFamily="34" charset="0"/>
            </a:endParaRPr>
          </a:p>
        </p:txBody>
      </p:sp>
      <p:grpSp>
        <p:nvGrpSpPr>
          <p:cNvPr id="4" name="Group 13">
            <a:extLst>
              <a:ext uri="{FF2B5EF4-FFF2-40B4-BE49-F238E27FC236}">
                <a16:creationId xmlns:a16="http://schemas.microsoft.com/office/drawing/2014/main" xmlns="" id="{6624163F-0273-4497-A2B1-2ECF4098F34E}"/>
              </a:ext>
            </a:extLst>
          </p:cNvPr>
          <p:cNvGrpSpPr/>
          <p:nvPr/>
        </p:nvGrpSpPr>
        <p:grpSpPr>
          <a:xfrm>
            <a:off x="0" y="-260350"/>
            <a:ext cx="7169150" cy="10591800"/>
            <a:chOff x="-905933" y="-347134"/>
            <a:chExt cx="16967200" cy="14224002"/>
          </a:xfrm>
        </p:grpSpPr>
        <p:pic>
          <p:nvPicPr>
            <p:cNvPr id="6" name="Picture 14">
              <a:extLst>
                <a:ext uri="{FF2B5EF4-FFF2-40B4-BE49-F238E27FC236}">
                  <a16:creationId xmlns:a16="http://schemas.microsoft.com/office/drawing/2014/main" xmlns="" id="{C4EE74FA-9D0E-4E8D-9D43-5B5B9A98B02C}"/>
                </a:ext>
              </a:extLst>
            </p:cNvPr>
            <p:cNvPicPr>
              <a:picLocks noChangeAspect="1"/>
            </p:cNvPicPr>
            <p:nvPr/>
          </p:nvPicPr>
          <p:blipFill rotWithShape="1">
            <a:blip r:embed="rId4"/>
            <a:srcRect l="13399" t="-2345" r="14323" b="6264"/>
            <a:stretch/>
          </p:blipFill>
          <p:spPr>
            <a:xfrm>
              <a:off x="-905933" y="-347134"/>
              <a:ext cx="16967200" cy="14224002"/>
            </a:xfrm>
            <a:prstGeom prst="rect">
              <a:avLst/>
            </a:prstGeom>
          </p:spPr>
        </p:pic>
      </p:grpSp>
    </p:spTree>
    <p:extLst>
      <p:ext uri="{BB962C8B-B14F-4D97-AF65-F5344CB8AC3E}">
        <p14:creationId xmlns:p14="http://schemas.microsoft.com/office/powerpoint/2010/main" val="1715627548"/>
      </p:ext>
    </p:extLst>
  </p:cSld>
  <p:clrMapOvr>
    <a:masterClrMapping/>
  </p:clrMapOvr>
  <mc:AlternateContent xmlns:mc="http://schemas.openxmlformats.org/markup-compatibility/2006" xmlns:p14="http://schemas.microsoft.com/office/powerpoint/2010/main">
    <mc:Choice Requires="p14">
      <p:transition spd="slow" p14:dur="800" advTm="1093">
        <p:circle/>
      </p:transition>
    </mc:Choice>
    <mc:Fallback xmlns="">
      <p:transition spd="slow" advTm="1093">
        <p:circl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xmlns="" id="{21263997-E8F4-88EA-1AF1-397BFD3AEEF8}"/>
              </a:ext>
            </a:extLst>
          </p:cNvPr>
          <p:cNvSpPr txBox="1"/>
          <p:nvPr/>
        </p:nvSpPr>
        <p:spPr>
          <a:xfrm>
            <a:off x="4425950" y="605274"/>
            <a:ext cx="9601200" cy="1169551"/>
          </a:xfrm>
          <a:prstGeom prst="rect">
            <a:avLst/>
          </a:prstGeom>
          <a:noFill/>
        </p:spPr>
        <p:txBody>
          <a:bodyPr wrap="square" rtlCol="0">
            <a:spAutoFit/>
          </a:bodyPr>
          <a:lstStyle/>
          <a:p>
            <a:pPr algn="ctr"/>
            <a:r>
              <a:rPr lang="en-US" sz="5400" dirty="0">
                <a:solidFill>
                  <a:srgbClr val="FF0000"/>
                </a:solidFill>
                <a:latin typeface="Algerian" panose="04020705040A02060702" pitchFamily="82" charset="0"/>
              </a:rPr>
              <a:t>Introduction</a:t>
            </a:r>
          </a:p>
          <a:p>
            <a:endParaRPr lang="en-US" sz="1400" dirty="0"/>
          </a:p>
        </p:txBody>
      </p:sp>
      <p:sp>
        <p:nvSpPr>
          <p:cNvPr id="2" name="TextBox 1"/>
          <p:cNvSpPr txBox="1"/>
          <p:nvPr/>
        </p:nvSpPr>
        <p:spPr>
          <a:xfrm>
            <a:off x="1890713" y="2075298"/>
            <a:ext cx="14706600" cy="8771632"/>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Mathematical Methods is an important branch of applied mathematics that deals with advanced analytical techniques used to solve mathematical, physical, and engineering problems. These methods provide systematic procedures for transforming complex problems into simpler mathematical forms so that accurate and meaningful solutions can be obtained</a:t>
            </a:r>
            <a:r>
              <a:rPr lang="en-US" sz="4000" dirty="0" smtClean="0">
                <a:latin typeface="Times New Roman" panose="02020603050405020304" pitchFamily="18" charset="0"/>
                <a:cs typeface="Times New Roman" panose="02020603050405020304" pitchFamily="18" charset="0"/>
              </a:rPr>
              <a:t>.</a:t>
            </a:r>
          </a:p>
          <a:p>
            <a:endParaRPr lang="en-US" sz="4000" dirty="0">
              <a:latin typeface="Times New Roman" panose="02020603050405020304" pitchFamily="18" charset="0"/>
              <a:cs typeface="Times New Roman" panose="02020603050405020304" pitchFamily="18" charset="0"/>
            </a:endParaRPr>
          </a:p>
          <a:p>
            <a:r>
              <a:rPr lang="en-US" sz="4000" dirty="0">
                <a:latin typeface="Times New Roman" panose="02020603050405020304" pitchFamily="18" charset="0"/>
                <a:cs typeface="Times New Roman" panose="02020603050405020304" pitchFamily="18" charset="0"/>
              </a:rPr>
              <a:t>In higher mathematics and engineering, many problems such as vibration analysis, heat conduction, wave motion, electrical circuit analysis, and signal processing cannot be solved easily by elementary mathematical techniques. Mathematical methods overcome these difficulties by introducing concepts such as orthogonal functions, </a:t>
            </a:r>
            <a:r>
              <a:rPr lang="en-US" sz="4000" dirty="0" err="1">
                <a:latin typeface="Times New Roman" panose="02020603050405020304" pitchFamily="18" charset="0"/>
                <a:cs typeface="Times New Roman" panose="02020603050405020304" pitchFamily="18" charset="0"/>
              </a:rPr>
              <a:t>eigen</a:t>
            </a:r>
            <a:r>
              <a:rPr lang="en-US" sz="4000" dirty="0">
                <a:latin typeface="Times New Roman" panose="02020603050405020304" pitchFamily="18" charset="0"/>
                <a:cs typeface="Times New Roman" panose="02020603050405020304" pitchFamily="18" charset="0"/>
              </a:rPr>
              <a:t> values, transform methods, and Fourier analysis.</a:t>
            </a:r>
          </a:p>
          <a:p>
            <a:endParaRPr lang="en-US" sz="4400" b="1" dirty="0"/>
          </a:p>
        </p:txBody>
      </p:sp>
    </p:spTree>
  </p:cSld>
  <p:clrMapOvr>
    <a:masterClrMapping/>
  </p:clrMapOvr>
  <mc:AlternateContent xmlns:mc="http://schemas.openxmlformats.org/markup-compatibility/2006" xmlns:p14="http://schemas.microsoft.com/office/powerpoint/2010/main">
    <mc:Choice Requires="p14">
      <p:transition spd="slow" p14:dur="800" advTm="1718">
        <p:circle/>
      </p:transition>
    </mc:Choice>
    <mc:Fallback xmlns="">
      <p:transition spd="slow" advTm="1718">
        <p:circl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1FF5DC76-398C-F568-1D90-05023B76F682}"/>
              </a:ext>
            </a:extLst>
          </p:cNvPr>
          <p:cNvSpPr txBox="1"/>
          <p:nvPr/>
        </p:nvSpPr>
        <p:spPr>
          <a:xfrm>
            <a:off x="1606550" y="730250"/>
            <a:ext cx="14249400" cy="923330"/>
          </a:xfrm>
          <a:prstGeom prst="rect">
            <a:avLst/>
          </a:prstGeom>
          <a:noFill/>
        </p:spPr>
        <p:txBody>
          <a:bodyPr wrap="square" rtlCol="0">
            <a:spAutoFit/>
          </a:bodyPr>
          <a:lstStyle/>
          <a:p>
            <a:pPr algn="ctr"/>
            <a:r>
              <a:rPr lang="en-US" sz="5400" dirty="0" smtClean="0">
                <a:ln w="0"/>
                <a:solidFill>
                  <a:srgbClr val="FF0000"/>
                </a:solidFill>
                <a:effectLst>
                  <a:reflection blurRad="6350" stA="53000" endA="300" endPos="35500" dir="5400000" sy="-90000" algn="bl" rotWithShape="0"/>
                </a:effectLst>
                <a:latin typeface="Algerian" panose="04020705040A02060702" pitchFamily="82" charset="0"/>
              </a:rPr>
              <a:t>Inner Product of Functions</a:t>
            </a:r>
            <a:endParaRPr lang="en-US" sz="5400" dirty="0">
              <a:ln w="0"/>
              <a:solidFill>
                <a:srgbClr val="FF0000"/>
              </a:solidFill>
              <a:effectLst>
                <a:reflection blurRad="6350" stA="53000" endA="300" endPos="35500" dir="5400000" sy="-90000" algn="bl" rotWithShape="0"/>
              </a:effectLst>
              <a:latin typeface="Algerian" panose="04020705040A02060702" pitchFamily="82" charset="0"/>
            </a:endParaRPr>
          </a:p>
        </p:txBody>
      </p:sp>
      <p:sp>
        <p:nvSpPr>
          <p:cNvPr id="2" name="AutoShape 2" descr="data:image/jpeg;base64,/9j/4AAQSkZJRgABAQAAAQABAAD/4QDfRXhpZgAASUkqAAgAAAABAA4BAgC9AAAAGgAAAAAAAABUaGUgQXVzdHJpYW4gc2NpZW50aXN0IFByb2Zlc3NvciBFcndpbiBTY2hyb2Rpbmdlci4gSGUgc2hhcmVkIHRoZSAxOTMzIE5vYmVsIFByaXplIGZvciBoaXMgcmVzZWFyY2ggaW50byBhdG9taWMgdGhlb3J5LiAoUGhvdG8gYnkgPyBIdWx0b24tRGV1dHNjaCBDb2xsZWN0aW9uL0NPUkJJUy9Db3JiaXMgdmlhIEdldHR5IEltYWdlcyn/7QEOUGhvdG9zaG9wIDMuMAA4QklNBAQAAAAAAPIcAlAADkh1bHRvbiBEZXV0c2NoHAJ4AL5UaGUgQXVzdHJpYW4gc2NpZW50aXN0IFByb2Zlc3NvciBFcndpbiBTY2hyb2Rpbmdlci4gSGUgc2hhcmVkIHRoZSAxOTMzIE5vYmVsIFByaXplIGZvciBoaXMgcmVzZWFyY2ggaW50byBhdG9taWMgdGhlb3J5LiAoUGhvdG8gYnkgwqkgSHVsdG9uLURldXRzY2ggQ29sbGVjdGlvbi9DT1JCSVMvQ29yYmlzIHZpYSBHZXR0eSBJbWFnZXMpHAJuABdDb3JiaXMgdmlhIEdldHR5IEltYWdlc//hBcRodHRwOi8vbnMuYWRvYmUuY29tL3hhcC8xLjAvADw/eHBhY2tldCBiZWdpbj0i77u/IiBpZD0iVzVNME1wQ2VoaUh6cmVTek5UY3prYzlkIj8+Cjx4OnhtcG1ldGEgeG1sbnM6eD0iYWRvYmU6bnM6bWV0YS8iPgoJPHJkZjpSREYgeG1sbnM6cmRmPSJodHRwOi8vd3d3LnczLm9yZy8xOTk5LzAyLzIyLXJkZi1zeW50YXgtbnMjIj4KCQk8cmRmOkRlc2NyaXB0aW9uIHJkZjphYm91dD0iIiB4bWxuczpwaG90b3Nob3A9Imh0dHA6Ly9ucy5hZG9iZS5jb20vcGhvdG9zaG9wLzEuMC8iIHhtbG5zOklwdGM0eG1wQ29yZT0iaHR0cDovL2lwdGMub3JnL3N0ZC9JcHRjNHhtcENvcmUvMS4wL3htbG5zLyIgICB4bWxuczpHZXR0eUltYWdlc0dJRlQ9Imh0dHA6Ly94bXAuZ2V0dHlpbWFnZXMuY29tL2dpZnQvMS4wLyIgeG1sbnM6ZGM9Imh0dHA6Ly9wdXJsLm9yZy9kYy9lbGVtZW50cy8xLjEvIiB4bWxuczpwbHVzPSJodHRwOi8vbnMudXNlcGx1cy5vcmcvbGRmL3htcC8xLjAvIiAgeG1sbnM6aXB0Y0V4dD0iaHR0cDovL2lwdGMub3JnL3N0ZC9JcHRjNHhtcEV4dC8yMDA4LTAyLTI5LyIgeG1sbnM6eG1wUmlnaHRzPSJodHRwOi8vbnMuYWRvYmUuY29tL3hhcC8xLjAvcmlnaHRzLyIgcGhvdG9zaG9wOkNyZWRpdD0iQ29yYmlzIHZpYSBHZXR0eSBJbWFnZXMiIEdldHR5SW1hZ2VzR0lGVDpBc3NldElEPSI2MTM1MDc1MTYiIHhtcFJpZ2h0czpXZWJTdGF0ZW1lbnQ9Imh0dHBzOi8vd3d3LmdldHR5aW1hZ2VzLmNvbS9ldWxhP3V0bV9tZWRpdW09b3JnYW5pYyZhbXA7dXRtX3NvdXJjZT1nb29nbGUmYW1wO3V0bV9jYW1wYWlnbj1pcHRjdXJsIiA+CjxkYzpjcmVhdG9yPjxyZGY6U2VxPjxyZGY6bGk+SHVsdG9uIERldXRzY2g8L3JkZjpsaT48L3JkZjpTZXE+PC9kYzpjcmVhdG9yPjxkYzpkZXNjcmlwdGlvbj48cmRmOkFsdD48cmRmOmxpIHhtbDpsYW5nPSJ4LWRlZmF1bHQiPlRoZSBBdXN0cmlhbiBzY2llbnRpc3QgUHJvZmVzc29yIEVyd2luIFNjaHJvZGluZ2VyLiBIZSBzaGFyZWQgdGhlIDE5MzMgTm9iZWwgUHJpemUgZm9yIGhpcyByZXNlYXJjaCBpbnRvIGF0b21pYyB0aGVvcnkuIChQaG90byBieSDCqSBIdWx0b24tRGV1dHNjaCBDb2xsZWN0aW9uL0NPUkJJUy9Db3JiaXMgdmlhIEdldHR5IEltYWdlcyk8L3JkZjpsaT48L3JkZjpBbHQ+PC9kYzpkZXNjcmlwdGlvbj4KPHBsdXM6TGljZW5zb3I+PHJkZjpTZXE+PHJkZjpsaSByZGY6cGFyc2VUeXBlPSdSZXNvdXJjZSc+PHBsdXM6TGljZW5zb3JVUkw+aHR0cHM6Ly93d3cuZ2V0dHlpbWFnZXMuY29tL2RldGFpbC82MTM1MDc1MTY/dXRtX21lZGl1bT1vcmdhbmljJmFtcDt1dG1fc291cmNlPWdvb2dsZSZhbXA7dXRtX2NhbXBhaWduPWlwdGN1cmw8L3BsdXM6TGljZW5zb3JVUkw+PC9yZGY6bGk+PC9yZGY6U2VxPjwvcGx1czpMaWNlbnNvcj4KCQk8L3JkZjpEZXNjcmlwdGlvbj4KCTwvcmRmOlJERj4KPC94OnhtcG1ldGE+Cjw/eHBhY2tldCBlbmQ9InciPz4K/9sAhAAJBgcIBwYJCAcICgoJCw0WDw0MDA0bFBUQFiAdIiIgHR8fJCg0LCQmMScfHy09LTE1Nzo6OiMrP0Q/OEM0OTo3AQoKCg0MDRoPDxo3JR8lNzc3Nzc3Nzc3Nzc3Nzc3Nzc3Nzc3Nzc3Nzc3Nzc3Nzc3Nzc3Nzc3Nzc3Nzc3Nzc3Nzf/wAARCAB4AHgDASIAAhEBAxEB/8QAHAAAAQQDAQAAAAAAAAAAAAAABwABBQYCBAgD/8QAORAAAQMDAwEGBAUDAgcAAAAAAQIDBAAFEQYSITEHE0FRYXEigZGhFDJCscEVI1LR8AgWJGJygqL/xAAUAQEAAAAAAAAAAAAAAAAAAAAA/8QAFBEBAAAAAAAAAAAAAAAAAAAAAP/aAAwDAQACEQMRAD8AMoFOaalQICn9aYVFagv0SyRlOy3EpwM4JoJRRGMk8VWL1rW02vvEKeC3UEgoA8hk/ahVq/tSuM1wM2p78O0M5KAPiGMeNDl6U8+tS3XFKUrqSeTQFXVXafJI7mE+tveMnuSAUggY586rFu7TdR29w/8AXKlNk/lkcn6iqWea8zQG/Rfa21Nkpg6gQllxxWGpKeEc9Ary96JtvucK5I3QpLTwHB2KBxXIJrctN5uNmlCVbJbsZ4dFIP7jofnQdfmsTih32b9pjGpii2XNKY11CfhwfgkY6lPkfHb9PQgqPFAhjyrAgA0s+tYk+tBqzAkppVhPOGyc0qCcpAUiOaVBq3KUiBAkSlkANIKuemfCuZtaakm3uetT725GeAOB9KLPbXfHLdZ48FlRSqUokqB5wnw+9AMhbzu1IKlHwoPFRJNOnoSegr3dhvNnDiFJPkRXpHtsh5SUoQSVflAHJoNUGsVHPGOKJOnuzQSW0v3Z5xpGMlKMAY9TVkhaGsDEkNNxPxOQPid5Ax6UAPIJBOCQOpx0rzODXTkfStuYRtjwGEJIxtS2AP2qr6q7OIM6OsxEJZkgfAsDx9fMUALbWtpxDjS1IcQoKQtJwUkdCD4Gjz2Y9pIvgbtF7WE3MAht7ACXwP2V+9AyfDkW+Y7Elo2PtK2rTWdsfkR7jFfhrUiQ26ktqT1Cs8UHXG4GsSsYxXgy5uQk5ySBk06jjmg07i7sbVnypVp3l3ayr24zSoLlTGs6Yig5y7Ybt/UdYvspXubhpDKffqfuftWl2fW9qRIlSn0ghlICc+ZrLtcQ83r65JebCAdikYGNySkc/XP0rDSbxZtMruzhwupPyGKDK8FBnLaGMJOBnx+dWnS9rbS2l2VgKIBa546/vVDnvkyytI59as2m7kEqbadeJAIKUhWB09OtASpshSYR+AlYO04+58sf61t2wIcdYUnoBjBqBt9yYdWpqQsBJ/NuHAzjGKsVn7tboSGgnaODgdKCwtJw3yBWtKZBB44NbTfTjpWD4G0/xQAPtls7Ua4InNIUlSsJWR0Oc49jVP0Q8yxq21LkNhxv8QElJTnk8A/IkH5US+26BJdt7UtpO9plf9zrlIPj+1Dvs8iuS9ZWxtoZKXCs8ZwADQdKNHCAKdXSnQnaMHnHjTLOAaCHuyQphWemKevK9LPcrSPKmoL2D40ia8UOBXSvQUAn7frM49brdeWkApirUy8fEJXjafbcMf8AtQw03n+8kdANxHnXT11t0a722Tb5qAuPIbKFpPkfEeo61zmzZZNk1LcLNIwpxjgODgLTxhQ9wR7UETMTuJJ6+1etrddbdAbwnrz5Cpn+lGRJd2DvG2gA4oJzlR8APE1FzHp1nnKKIaEpRyA+jPHryKApxUx2rXb5RbBUtYQoJH6jxg/z7VnpObKYkyIk0/3UPbOmPh6jHyINDRWuJ7UJlh1mM9HccC/hyNpSeU48D+XnywfE1YdUtzbhbmJdpmluO5GEhwpUAv8AxCQrOc89POgMkq6W63tI/Gzo7G7hIcdCSr2z1rCPcYc5JVGkNrHooGuUmW3ZEtIWgl1SN4LyiMjGR165os9nF9cNglOTmIcG2xWStE3ui0rvh1T47hjxGKC3a5i99pu58ciO4f8A5oL9mKUQdVtTZ6HEMR2StTgICW8jgqOeBg9OtGIKk6pgNtqWGbW6nc+pleVPJ/wB6gHx4Bx70NbNZ7a3G1dZ3XT/AFBXeiGytJSFJQSUqSfE5/agOLa0uIS4hQUlQyCPEUnEhQ6VBaEdcXpG0d7neIjYOev5asJHHNBCXNnKDke9KpCSkLSQfalQbcKSHEBYNSaCCAaHtm1C226hh1KyVHbuHQVfIytyAc8UHlfXpMax3B+AndLajOLZTjOVhJI+9cuWyTJmXJDjsp7vHio94VEnceT9TXWKa5r7R7V/y3ruShlvu4zqxLZCRwArqB7KCvtQWW2BabGhECScfi3W5EgJxvVgK4zyDt24yOcHyqq63mRXnWGYkVDbjSSVvpPLm5OCFA5z06586aJe3bcZBaQh6LKCe/jOEhK8cggjlKh4EefiOKhLg83JfU42laUK52qIJHpnjP0oNJD6kQ3ooaaKXXELLhSd6SnOMHOAPiOeKK+jtHQ9VdnbCNpbksSlOJKVFIdORuSr3CQM+BAPuKSApXwjA8qPHYW6hzSMhnPxszF7h6EAigGeptI3V6W5c4YE5lZ+IIJKk44IIPOcg5HUHirZ2fLhoZTEfjLRIyMJWOhPXHl70T32oMGU48QltUhe4jGApXiffpWLlrgqdEnuUBYHCkjFB4usiPGDTICUBOE44xVK1bpmZfrjZ5UQIjpgtqU5JJ5cJPKMfI8nzq+OpBaUk1E2/wDEyLk82stCKyAEgE7yT5jpQSFrjCPEabAwEoArc6g+tYrIQcU4WMZoNKWoRwVrUMedKo7UroVDcQD8VKgoNvUtUpHecYPHrRgsiiuE3nrihZGhOfjUqTkjdzRTsaNkNCc+FBJpqta40ZA1bEbD6izMYB7iQkZxnqCPEHirMOKXPjQcw6g05c9NrREu7SEOKG5Cm17krTnGQf8AWoSQnA4FHPtqtIkWOPdUnCojmxQ80rIH74+tBEJDiCj9QNBHpOCc0R+xzUsOzXOdHnPpZZkNghTigBuB46+Jzj1oeuIAUcVMwV2hzTzUZ51Me5s3RD5WtJwuPtwoBXQEHnFB0E5uusZbdzjtMgrJaDT3eHH6VZwMH05Hqa3YyCzHSyte/A+FfnVIs+sk3mIpy32S8pCEnu3SwFNLwccLz/vFS9hv1wkPoiXW0vxCvOx4uIWg4/8AEkg+9BNvHbuJIGBQQ7RdQXW0agbVa570cqTlQR0JB8QetHCYAmOtRVgVzPr64i46mlqQctMq7tHy60Bo7KtQXLVtrmP3UIJYdDaHUI27jjJ/j61ZphcjnaskeIPnWt2bWT+gaMtsRaCmQtvvnweoWv4iD7ZA+VTtwhiYwUE7VfpV5UA41RcQ2heTgY6UqhNdxJUOUpt4EYGQR0UPMUqC525j+9gIzz0xV0hJCGkgDpUXb4SUEOAfEetTbaAE8UHqKfHnST0pUFZ7RNNDVGmnobayiSyr8RGUDx3iQcA+hBI+efCuaWnilYJSRkcg8Yrrz1rlvXVqXZ9WXSKoYAkLcR6oWdyfsQPlQQi+TWUaQ7Hc3sqCVEFOSkHg8HrW2q3Potca5YSuM+4trck5KHE9Uq8jggjzBr1hWaTMcGxvj1OKAp6FZnsQmPx+oobkd3HdRVOpCkH/ABA/ir46zsQg95kjk0HLVo+fCmRbrvZYEdaV8j4QAf5ozwrxabkhbLcphxQGHGgemfSgr2qr6zDs0qUlY2soUQfM+A+tAXRVuVf9Z2yI4N4elBx4EZyhJ3q+wNW7tjVItU8WlG4Qn8SGlZ/Mnpt+RB+1ev8Aw/W1cjU824Y/txIuzOP1rIx9kqoD4BSI4p8cdKR5BoIbUen41+iht5RacRnY4BnGfA+lKpinoI+GnaopPnUiDTUqD0T0pZFKlQYFwHgHigl24sMrvcSQ3jvFRtq/XCjj96VKgoFrmOw3G0KWpUbvQ4po/kKsY3Y6ZwTXQ+lYtunWpiW3BTlxAO5bQBPr/v0pUqDculhNzQ4y/MebjrCQGmAlOMf92CevljpVac7JtNBpYYalMvFOESG5Kwpo4wCBnHHqKVKgCGuTfmr0bbqWSt+RAT3LSlYwW+oUPPPXJ58D0o3diNp/puim31pw9OdU+rP+PRI+gB+dNSoCB4cdKb2NKlQJVKlSoP/Z"/>
          <p:cNvSpPr>
            <a:spLocks noChangeAspect="1" noChangeArrowheads="1"/>
          </p:cNvSpPr>
          <p:nvPr/>
        </p:nvSpPr>
        <p:spPr bwMode="auto">
          <a:xfrm>
            <a:off x="5721350" y="4159250"/>
            <a:ext cx="2667000" cy="266700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3" name="TextBox 2"/>
              <p:cNvSpPr txBox="1"/>
              <p:nvPr/>
            </p:nvSpPr>
            <p:spPr>
              <a:xfrm>
                <a:off x="1987550" y="2330450"/>
                <a:ext cx="15240000" cy="2171685"/>
              </a:xfrm>
              <a:prstGeom prst="rect">
                <a:avLst/>
              </a:prstGeom>
              <a:noFill/>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If f(x) and g(x) are continuous on [</a:t>
                </a:r>
                <a:r>
                  <a:rPr lang="en-US" sz="4000" dirty="0" err="1" smtClean="0">
                    <a:latin typeface="Times New Roman" panose="02020603050405020304" pitchFamily="18" charset="0"/>
                    <a:cs typeface="Times New Roman" panose="02020603050405020304" pitchFamily="18" charset="0"/>
                  </a:rPr>
                  <a:t>a,b</a:t>
                </a:r>
                <a:r>
                  <a:rPr lang="en-US" sz="4000" dirty="0" smtClean="0">
                    <a:latin typeface="Times New Roman" panose="02020603050405020304" pitchFamily="18" charset="0"/>
                    <a:cs typeface="Times New Roman" panose="02020603050405020304" pitchFamily="18" charset="0"/>
                  </a:rPr>
                  <a:t>], then we can write</a:t>
                </a:r>
              </a:p>
              <a:p>
                <a:r>
                  <a:rPr lang="en-US" sz="4000" dirty="0">
                    <a:latin typeface="Times New Roman" panose="02020603050405020304" pitchFamily="18" charset="0"/>
                    <a:cs typeface="Times New Roman" panose="02020603050405020304" pitchFamily="18" charset="0"/>
                  </a:rPr>
                  <a:t> </a:t>
                </a:r>
                <a:r>
                  <a:rPr lang="en-US" sz="4000" dirty="0" smtClean="0">
                    <a:latin typeface="Times New Roman" panose="02020603050405020304" pitchFamily="18" charset="0"/>
                    <a:cs typeface="Times New Roman" panose="02020603050405020304" pitchFamily="18" charset="0"/>
                  </a:rPr>
                  <a:t>                                                                   (</a:t>
                </a:r>
                <a:r>
                  <a:rPr lang="en-US" sz="4000" dirty="0" err="1" smtClean="0">
                    <a:latin typeface="Times New Roman" panose="02020603050405020304" pitchFamily="18" charset="0"/>
                    <a:cs typeface="Times New Roman" panose="02020603050405020304" pitchFamily="18" charset="0"/>
                  </a:rPr>
                  <a:t>f,g</a:t>
                </a:r>
                <a:r>
                  <a:rPr lang="en-US" sz="4000" dirty="0" smtClean="0">
                    <a:latin typeface="Times New Roman" panose="02020603050405020304" pitchFamily="18" charset="0"/>
                    <a:cs typeface="Times New Roman" panose="02020603050405020304" pitchFamily="18" charset="0"/>
                  </a:rPr>
                  <a:t>) = </a:t>
                </a:r>
                <a14:m>
                  <m:oMath xmlns:m="http://schemas.openxmlformats.org/officeDocument/2006/math">
                    <m:nary>
                      <m:naryPr>
                        <m:ctrlPr>
                          <a:rPr lang="en-US" sz="4000" i="1" smtClean="0">
                            <a:latin typeface="Cambria Math" panose="02040503050406030204" pitchFamily="18" charset="0"/>
                            <a:cs typeface="Times New Roman" panose="02020603050405020304" pitchFamily="18" charset="0"/>
                          </a:rPr>
                        </m:ctrlPr>
                      </m:naryPr>
                      <m:sub>
                        <m:r>
                          <m:rPr>
                            <m:brk m:alnAt="23"/>
                          </m:rPr>
                          <a:rPr lang="en-US" sz="4000" b="0" i="1" smtClean="0">
                            <a:latin typeface="Cambria Math" panose="02040503050406030204" pitchFamily="18" charset="0"/>
                            <a:cs typeface="Times New Roman" panose="02020603050405020304" pitchFamily="18" charset="0"/>
                          </a:rPr>
                          <m:t>𝑎</m:t>
                        </m:r>
                      </m:sub>
                      <m:sup>
                        <m:r>
                          <a:rPr lang="en-US" sz="4000" b="0" i="1" smtClean="0">
                            <a:latin typeface="Cambria Math" panose="02040503050406030204" pitchFamily="18" charset="0"/>
                            <a:cs typeface="Times New Roman" panose="02020603050405020304" pitchFamily="18" charset="0"/>
                          </a:rPr>
                          <m:t>𝑏</m:t>
                        </m:r>
                      </m:sup>
                      <m:e>
                        <m:r>
                          <a:rPr lang="en-US" sz="4000" b="0" i="1" smtClean="0">
                            <a:latin typeface="Cambria Math" panose="02040503050406030204" pitchFamily="18" charset="0"/>
                            <a:cs typeface="Times New Roman" panose="02020603050405020304" pitchFamily="18" charset="0"/>
                          </a:rPr>
                          <m:t>𝑓</m:t>
                        </m:r>
                        <m:d>
                          <m:dPr>
                            <m:ctrlPr>
                              <a:rPr lang="en-US" sz="4000" b="0" i="1" smtClean="0">
                                <a:latin typeface="Cambria Math" panose="02040503050406030204" pitchFamily="18" charset="0"/>
                                <a:cs typeface="Times New Roman" panose="02020603050405020304" pitchFamily="18" charset="0"/>
                              </a:rPr>
                            </m:ctrlPr>
                          </m:dPr>
                          <m:e>
                            <m:r>
                              <a:rPr lang="en-US" sz="4000" b="0" i="1" smtClean="0">
                                <a:latin typeface="Cambria Math" panose="02040503050406030204" pitchFamily="18" charset="0"/>
                                <a:cs typeface="Times New Roman" panose="02020603050405020304" pitchFamily="18" charset="0"/>
                              </a:rPr>
                              <m:t>𝑥</m:t>
                            </m:r>
                          </m:e>
                        </m:d>
                        <m:r>
                          <a:rPr lang="en-US" sz="4000" b="0" i="1" smtClean="0">
                            <a:latin typeface="Cambria Math" panose="02040503050406030204" pitchFamily="18" charset="0"/>
                            <a:cs typeface="Times New Roman" panose="02020603050405020304" pitchFamily="18" charset="0"/>
                          </a:rPr>
                          <m:t>𝑔</m:t>
                        </m:r>
                        <m:d>
                          <m:dPr>
                            <m:ctrlPr>
                              <a:rPr lang="en-US" sz="4000" b="0" i="1" smtClean="0">
                                <a:latin typeface="Cambria Math" panose="02040503050406030204" pitchFamily="18" charset="0"/>
                                <a:cs typeface="Times New Roman" panose="02020603050405020304" pitchFamily="18" charset="0"/>
                              </a:rPr>
                            </m:ctrlPr>
                          </m:dPr>
                          <m:e>
                            <m:r>
                              <a:rPr lang="en-US" sz="4000" b="0" i="1" smtClean="0">
                                <a:latin typeface="Cambria Math" panose="02040503050406030204" pitchFamily="18" charset="0"/>
                                <a:cs typeface="Times New Roman" panose="02020603050405020304" pitchFamily="18" charset="0"/>
                              </a:rPr>
                              <m:t>𝑥</m:t>
                            </m:r>
                          </m:e>
                        </m:d>
                        <m:r>
                          <a:rPr lang="en-US" sz="4000" b="0" i="1" smtClean="0">
                            <a:latin typeface="Cambria Math" panose="02040503050406030204" pitchFamily="18" charset="0"/>
                            <a:cs typeface="Times New Roman" panose="02020603050405020304" pitchFamily="18" charset="0"/>
                          </a:rPr>
                          <m:t> </m:t>
                        </m:r>
                        <m:r>
                          <a:rPr lang="en-US" sz="4000" b="0" i="1" smtClean="0">
                            <a:latin typeface="Cambria Math" panose="02040503050406030204" pitchFamily="18" charset="0"/>
                            <a:cs typeface="Times New Roman" panose="02020603050405020304" pitchFamily="18" charset="0"/>
                          </a:rPr>
                          <m:t>𝑑𝑥</m:t>
                        </m:r>
                      </m:e>
                    </m:nary>
                  </m:oMath>
                </a14:m>
                <a:r>
                  <a:rPr lang="en-US" sz="4000" dirty="0" smtClean="0">
                    <a:latin typeface="Times New Roman" panose="02020603050405020304" pitchFamily="18" charset="0"/>
                    <a:cs typeface="Times New Roman" panose="02020603050405020304" pitchFamily="18" charset="0"/>
                  </a:rPr>
                  <a:t> </a:t>
                </a:r>
              </a:p>
              <a:p>
                <a:r>
                  <a:rPr lang="en-US" sz="4000" dirty="0" smtClean="0">
                    <a:latin typeface="Times New Roman" panose="02020603050405020304" pitchFamily="18" charset="0"/>
                    <a:cs typeface="Times New Roman" panose="02020603050405020304" pitchFamily="18" charset="0"/>
                  </a:rPr>
                  <a:t>is called the inner product of given function.</a:t>
                </a:r>
              </a:p>
            </p:txBody>
          </p:sp>
        </mc:Choice>
        <mc:Fallback xmlns="">
          <p:sp>
            <p:nvSpPr>
              <p:cNvPr id="3" name="TextBox 2"/>
              <p:cNvSpPr txBox="1">
                <a:spLocks noRot="1" noChangeAspect="1" noMove="1" noResize="1" noEditPoints="1" noAdjustHandles="1" noChangeArrowheads="1" noChangeShapeType="1" noTextEdit="1"/>
              </p:cNvSpPr>
              <p:nvPr/>
            </p:nvSpPr>
            <p:spPr>
              <a:xfrm>
                <a:off x="1987550" y="2330450"/>
                <a:ext cx="15240000" cy="2171685"/>
              </a:xfrm>
              <a:prstGeom prst="rect">
                <a:avLst/>
              </a:prstGeom>
              <a:blipFill rotWithShape="0">
                <a:blip r:embed="rId6"/>
                <a:stretch>
                  <a:fillRect l="-1400" t="-5042" b="-10924"/>
                </a:stretch>
              </a:blipFill>
            </p:spPr>
            <p:txBody>
              <a:bodyPr/>
              <a:lstStyle/>
              <a:p>
                <a:r>
                  <a:rPr lang="en-US">
                    <a:noFill/>
                  </a:rPr>
                  <a:t> </a:t>
                </a:r>
              </a:p>
            </p:txBody>
          </p:sp>
        </mc:Fallback>
      </mc:AlternateContent>
      <p:sp>
        <p:nvSpPr>
          <p:cNvPr id="5" name="Rectangle 1"/>
          <p:cNvSpPr>
            <a:spLocks noChangeArrowheads="1"/>
          </p:cNvSpPr>
          <p:nvPr/>
        </p:nvSpPr>
        <p:spPr bwMode="auto">
          <a:xfrm>
            <a:off x="0" y="0"/>
            <a:ext cx="92440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222222"/>
                </a:solidFill>
                <a:effectLst/>
                <a:latin typeface="Arial" panose="020B0604020202020204" pitchFamily="34" charset="0"/>
                <a:cs typeface="Arial" panose="020B0604020202020204" pitchFamily="34" charset="0"/>
              </a:rPr>
              <a:t>Mathematical Methods is an important branch of applied mathematics that deals with advanced analytical techniques used to solve mathematical, physical, and engineering problems. These methods provide systematic procedures for transforming complex problems into simpler mathematical forms so that accurate and meaningful solutions can be obtained.</a:t>
            </a:r>
          </a:p>
          <a:p>
            <a:pPr marL="0" marR="0" lvl="0" indent="0" algn="l" defTabSz="914400" rtl="0" eaLnBrk="0" fontAlgn="b"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222222"/>
                </a:solidFill>
                <a:effectLst/>
                <a:latin typeface="Arial" panose="020B0604020202020204" pitchFamily="34" charset="0"/>
                <a:cs typeface="Arial" panose="020B0604020202020204" pitchFamily="34" charset="0"/>
              </a:rPr>
              <a:t>In higher mathematics and engineering, many problems such as vibration analysis, heat conduction, wave motion, electrical circuit analysis, and signal processing cannot be solved easily by elementary mathematical techniques. Mathematical methods overcome these difficulties by introducing concepts such as orthogonal functions, eigen values, transform methods, and Fourier analysis.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rPr>
              <a:t/>
            </a:r>
            <a:br>
              <a:rPr kumimoji="0" lang="en-US" altLang="en-US" sz="1800" b="0" i="0" u="none" strike="noStrike" cap="none" normalizeH="0" baseline="0" smtClean="0">
                <a:ln>
                  <a:noFill/>
                </a:ln>
                <a:solidFill>
                  <a:schemeClr val="tx1"/>
                </a:solidFill>
                <a:effectLst/>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 name="Rectangle 5"/>
          <p:cNvSpPr/>
          <p:nvPr/>
        </p:nvSpPr>
        <p:spPr>
          <a:xfrm>
            <a:off x="1606550" y="5683250"/>
            <a:ext cx="9220200" cy="1676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987550" y="5835650"/>
            <a:ext cx="15087600" cy="1323439"/>
          </a:xfrm>
          <a:prstGeom prst="rect">
            <a:avLst/>
          </a:prstGeom>
          <a:noFill/>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Inner product of functions is analogous to</a:t>
            </a:r>
          </a:p>
          <a:p>
            <a:r>
              <a:rPr lang="en-US" sz="4000" dirty="0" smtClean="0">
                <a:latin typeface="Times New Roman" panose="02020603050405020304" pitchFamily="18" charset="0"/>
                <a:cs typeface="Times New Roman" panose="02020603050405020304" pitchFamily="18" charset="0"/>
              </a:rPr>
              <a:t> dot product of vectors.</a:t>
            </a:r>
            <a:endParaRPr lang="en-US" sz="40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928800" y="5179005"/>
            <a:ext cx="5298750" cy="3524453"/>
          </a:xfrm>
          <a:prstGeom prst="rect">
            <a:avLst/>
          </a:prstGeom>
        </p:spPr>
      </p:pic>
    </p:spTree>
    <p:extLst>
      <p:ext uri="{BB962C8B-B14F-4D97-AF65-F5344CB8AC3E}">
        <p14:creationId xmlns:p14="http://schemas.microsoft.com/office/powerpoint/2010/main" val="921347120"/>
      </p:ext>
    </p:extLst>
  </p:cSld>
  <p:clrMapOvr>
    <a:masterClrMapping/>
  </p:clrMapOvr>
  <p:transition spd="slow" advTm="1505">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oft Background Vector Art, Icons, and Graphics for Free ...">
            <a:extLst>
              <a:ext uri="{FF2B5EF4-FFF2-40B4-BE49-F238E27FC236}">
                <a16:creationId xmlns:a16="http://schemas.microsoft.com/office/drawing/2014/main" xmlns="" id="{0D149911-58EC-4F9D-ABB9-730DDC629C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64" y="-31750"/>
            <a:ext cx="18357114" cy="1033145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Rectangle 6"/>
          <p:cNvSpPr/>
          <p:nvPr/>
        </p:nvSpPr>
        <p:spPr>
          <a:xfrm>
            <a:off x="1911350" y="4311650"/>
            <a:ext cx="14401800" cy="2895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13265150" y="1085850"/>
            <a:ext cx="4800600" cy="44831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c 40"/>
          <p:cNvSpPr/>
          <p:nvPr/>
        </p:nvSpPr>
        <p:spPr>
          <a:xfrm>
            <a:off x="15897950" y="3170244"/>
            <a:ext cx="45719" cy="15715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ectangle 4"/>
          <p:cNvSpPr/>
          <p:nvPr/>
        </p:nvSpPr>
        <p:spPr>
          <a:xfrm>
            <a:off x="4349750" y="757535"/>
            <a:ext cx="8183651" cy="923330"/>
          </a:xfrm>
          <a:prstGeom prst="rect">
            <a:avLst/>
          </a:prstGeom>
        </p:spPr>
        <p:txBody>
          <a:bodyPr wrap="none">
            <a:spAutoFit/>
          </a:bodyPr>
          <a:lstStyle/>
          <a:p>
            <a:r>
              <a:rPr lang="en-US" sz="5400" dirty="0" smtClean="0">
                <a:solidFill>
                  <a:schemeClr val="accent6">
                    <a:lumMod val="50000"/>
                  </a:schemeClr>
                </a:solidFill>
                <a:latin typeface="Algerian" panose="04020705040A02060702" pitchFamily="82" charset="0"/>
              </a:rPr>
              <a:t>Orthogonal Functions</a:t>
            </a:r>
            <a:endParaRPr lang="en-US" sz="5400" dirty="0">
              <a:solidFill>
                <a:schemeClr val="accent6">
                  <a:lumMod val="50000"/>
                </a:schemeClr>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8" name="TextBox 7"/>
              <p:cNvSpPr txBox="1"/>
              <p:nvPr/>
            </p:nvSpPr>
            <p:spPr>
              <a:xfrm>
                <a:off x="1530350" y="2406650"/>
                <a:ext cx="15773400" cy="4176784"/>
              </a:xfrm>
              <a:prstGeom prst="rect">
                <a:avLst/>
              </a:prstGeom>
              <a:noFill/>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If f(x) and g(x) be the two functions on the interval [</a:t>
                </a:r>
                <a:r>
                  <a:rPr lang="en-US" sz="4000" dirty="0" err="1" smtClean="0">
                    <a:latin typeface="Times New Roman" panose="02020603050405020304" pitchFamily="18" charset="0"/>
                    <a:cs typeface="Times New Roman" panose="02020603050405020304" pitchFamily="18" charset="0"/>
                  </a:rPr>
                  <a:t>a,b</a:t>
                </a:r>
                <a:r>
                  <a:rPr lang="en-US" sz="4000" dirty="0" smtClean="0">
                    <a:latin typeface="Times New Roman" panose="02020603050405020304" pitchFamily="18" charset="0"/>
                    <a:cs typeface="Times New Roman" panose="02020603050405020304" pitchFamily="18" charset="0"/>
                  </a:rPr>
                  <a:t>] , then</a:t>
                </a:r>
              </a:p>
              <a:p>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a:t>
                </a:r>
                <a:r>
                  <a:rPr lang="en-US" sz="4000" dirty="0" err="1">
                    <a:latin typeface="Times New Roman" panose="02020603050405020304" pitchFamily="18" charset="0"/>
                    <a:cs typeface="Times New Roman" panose="02020603050405020304" pitchFamily="18" charset="0"/>
                  </a:rPr>
                  <a:t>f,g</a:t>
                </a:r>
                <a:r>
                  <a:rPr lang="en-US" sz="4000" dirty="0">
                    <a:latin typeface="Times New Roman" panose="02020603050405020304" pitchFamily="18" charset="0"/>
                    <a:cs typeface="Times New Roman" panose="02020603050405020304" pitchFamily="18" charset="0"/>
                  </a:rPr>
                  <a:t>) = </a:t>
                </a:r>
                <a14:m>
                  <m:oMath xmlns:m="http://schemas.openxmlformats.org/officeDocument/2006/math">
                    <m:nary>
                      <m:naryPr>
                        <m:ctrlPr>
                          <a:rPr lang="en-US" sz="4000" i="1">
                            <a:latin typeface="Cambria Math" panose="02040503050406030204" pitchFamily="18" charset="0"/>
                            <a:cs typeface="Times New Roman" panose="02020603050405020304" pitchFamily="18" charset="0"/>
                          </a:rPr>
                        </m:ctrlPr>
                      </m:naryPr>
                      <m:sub>
                        <m:r>
                          <m:rPr>
                            <m:brk m:alnAt="23"/>
                          </m:rPr>
                          <a:rPr lang="en-US" sz="4000" i="1">
                            <a:latin typeface="Cambria Math" panose="02040503050406030204" pitchFamily="18" charset="0"/>
                            <a:cs typeface="Times New Roman" panose="02020603050405020304" pitchFamily="18" charset="0"/>
                          </a:rPr>
                          <m:t>𝑎</m:t>
                        </m:r>
                      </m:sub>
                      <m:sup>
                        <m:r>
                          <a:rPr lang="en-US" sz="4000" i="1">
                            <a:latin typeface="Cambria Math" panose="02040503050406030204" pitchFamily="18" charset="0"/>
                            <a:cs typeface="Times New Roman" panose="02020603050405020304" pitchFamily="18" charset="0"/>
                          </a:rPr>
                          <m:t>𝑏</m:t>
                        </m:r>
                      </m:sup>
                      <m:e>
                        <m:r>
                          <a:rPr lang="en-US" sz="4000" i="1">
                            <a:latin typeface="Cambria Math" panose="02040503050406030204" pitchFamily="18" charset="0"/>
                            <a:cs typeface="Times New Roman" panose="02020603050405020304" pitchFamily="18" charset="0"/>
                          </a:rPr>
                          <m:t>𝑓</m:t>
                        </m:r>
                        <m:d>
                          <m:dPr>
                            <m:ctrlPr>
                              <a:rPr lang="en-US" sz="4000" i="1">
                                <a:latin typeface="Cambria Math" panose="02040503050406030204" pitchFamily="18" charset="0"/>
                                <a:cs typeface="Times New Roman" panose="02020603050405020304" pitchFamily="18" charset="0"/>
                              </a:rPr>
                            </m:ctrlPr>
                          </m:dPr>
                          <m:e>
                            <m:r>
                              <a:rPr lang="en-US" sz="4000" i="1">
                                <a:latin typeface="Cambria Math" panose="02040503050406030204" pitchFamily="18" charset="0"/>
                                <a:cs typeface="Times New Roman" panose="02020603050405020304" pitchFamily="18" charset="0"/>
                              </a:rPr>
                              <m:t>𝑥</m:t>
                            </m:r>
                          </m:e>
                        </m:d>
                        <m:r>
                          <a:rPr lang="en-US" sz="4000" i="1">
                            <a:latin typeface="Cambria Math" panose="02040503050406030204" pitchFamily="18" charset="0"/>
                            <a:cs typeface="Times New Roman" panose="02020603050405020304" pitchFamily="18" charset="0"/>
                          </a:rPr>
                          <m:t>𝑔</m:t>
                        </m:r>
                        <m:d>
                          <m:dPr>
                            <m:ctrlPr>
                              <a:rPr lang="en-US" sz="4000" i="1">
                                <a:latin typeface="Cambria Math" panose="02040503050406030204" pitchFamily="18" charset="0"/>
                                <a:cs typeface="Times New Roman" panose="02020603050405020304" pitchFamily="18" charset="0"/>
                              </a:rPr>
                            </m:ctrlPr>
                          </m:dPr>
                          <m:e>
                            <m:r>
                              <a:rPr lang="en-US" sz="4000" i="1">
                                <a:latin typeface="Cambria Math" panose="02040503050406030204" pitchFamily="18" charset="0"/>
                                <a:cs typeface="Times New Roman" panose="02020603050405020304" pitchFamily="18" charset="0"/>
                              </a:rPr>
                              <m:t>𝑥</m:t>
                            </m:r>
                          </m:e>
                        </m:d>
                        <m:r>
                          <a:rPr lang="en-US" sz="4000" i="1">
                            <a:latin typeface="Cambria Math" panose="02040503050406030204" pitchFamily="18" charset="0"/>
                            <a:cs typeface="Times New Roman" panose="02020603050405020304" pitchFamily="18" charset="0"/>
                          </a:rPr>
                          <m:t> </m:t>
                        </m:r>
                        <m:r>
                          <a:rPr lang="en-US" sz="4000" i="1">
                            <a:latin typeface="Cambria Math" panose="02040503050406030204" pitchFamily="18" charset="0"/>
                            <a:cs typeface="Times New Roman" panose="02020603050405020304" pitchFamily="18" charset="0"/>
                          </a:rPr>
                          <m:t>𝑑𝑥</m:t>
                        </m:r>
                      </m:e>
                    </m:nary>
                  </m:oMath>
                </a14:m>
                <a:r>
                  <a:rPr lang="en-US" sz="4000" dirty="0" smtClean="0">
                    <a:latin typeface="Times New Roman" panose="02020603050405020304" pitchFamily="18" charset="0"/>
                    <a:cs typeface="Times New Roman" panose="02020603050405020304" pitchFamily="18" charset="0"/>
                  </a:rPr>
                  <a:t> = 0</a:t>
                </a:r>
              </a:p>
              <a:p>
                <a:endParaRPr lang="en-US" sz="4000" dirty="0" smtClean="0">
                  <a:latin typeface="Times New Roman" panose="02020603050405020304" pitchFamily="18" charset="0"/>
                  <a:cs typeface="Times New Roman" panose="02020603050405020304" pitchFamily="18" charset="0"/>
                </a:endParaRPr>
              </a:p>
              <a:p>
                <a:r>
                  <a:rPr lang="en-US" sz="4000" dirty="0" smtClean="0">
                    <a:solidFill>
                      <a:srgbClr val="FF0000"/>
                    </a:solidFill>
                    <a:latin typeface="Times New Roman" panose="02020603050405020304" pitchFamily="18" charset="0"/>
                    <a:cs typeface="Times New Roman" panose="02020603050405020304" pitchFamily="18" charset="0"/>
                  </a:rPr>
                  <a:t>Example:</a:t>
                </a:r>
              </a:p>
              <a:p>
                <a:r>
                  <a:rPr lang="en-US" sz="4000" dirty="0">
                    <a:latin typeface="Times New Roman" panose="02020603050405020304" pitchFamily="18" charset="0"/>
                    <a:cs typeface="Times New Roman" panose="02020603050405020304" pitchFamily="18" charset="0"/>
                  </a:rPr>
                  <a:t> </a:t>
                </a:r>
                <a:r>
                  <a:rPr lang="en-US" sz="4000" dirty="0" smtClean="0">
                    <a:latin typeface="Times New Roman" panose="02020603050405020304" pitchFamily="18" charset="0"/>
                    <a:cs typeface="Times New Roman" panose="02020603050405020304" pitchFamily="18" charset="0"/>
                  </a:rPr>
                  <a:t>             </a:t>
                </a:r>
                <a14:m>
                  <m:oMath xmlns:m="http://schemas.openxmlformats.org/officeDocument/2006/math">
                    <m:nary>
                      <m:naryPr>
                        <m:ctrlPr>
                          <a:rPr lang="en-US" sz="4000" i="1">
                            <a:latin typeface="Cambria Math" panose="02040503050406030204" pitchFamily="18" charset="0"/>
                            <a:cs typeface="Times New Roman" panose="02020603050405020304" pitchFamily="18" charset="0"/>
                          </a:rPr>
                        </m:ctrlPr>
                      </m:naryPr>
                      <m:sub>
                        <m:r>
                          <a:rPr lang="en-US" sz="4000" b="0" i="1" smtClean="0">
                            <a:latin typeface="Cambria Math" panose="02040503050406030204" pitchFamily="18" charset="0"/>
                            <a:cs typeface="Times New Roman" panose="02020603050405020304" pitchFamily="18" charset="0"/>
                          </a:rPr>
                          <m:t>0</m:t>
                        </m:r>
                      </m:sub>
                      <m:sup>
                        <m:r>
                          <m:rPr>
                            <m:sty m:val="p"/>
                          </m:rPr>
                          <a:rPr lang="el-GR" sz="4000" i="1" smtClean="0">
                            <a:latin typeface="Cambria Math" panose="02040503050406030204" pitchFamily="18" charset="0"/>
                            <a:cs typeface="Times New Roman" panose="02020603050405020304" pitchFamily="18" charset="0"/>
                          </a:rPr>
                          <m:t>π</m:t>
                        </m:r>
                      </m:sup>
                      <m:e>
                        <m:r>
                          <a:rPr lang="en-US" sz="4000" b="0" i="1" smtClean="0">
                            <a:latin typeface="Cambria Math" panose="02040503050406030204" pitchFamily="18" charset="0"/>
                            <a:cs typeface="Times New Roman" panose="02020603050405020304" pitchFamily="18" charset="0"/>
                          </a:rPr>
                          <m:t>𝑠𝑖𝑛𝑥</m:t>
                        </m:r>
                        <m:r>
                          <a:rPr lang="en-US" sz="4000" b="0" i="1" smtClean="0">
                            <a:latin typeface="Cambria Math" panose="02040503050406030204" pitchFamily="18" charset="0"/>
                            <a:cs typeface="Times New Roman" panose="02020603050405020304" pitchFamily="18" charset="0"/>
                          </a:rPr>
                          <m:t> </m:t>
                        </m:r>
                        <m:r>
                          <a:rPr lang="en-US" sz="4000" b="0" i="1" smtClean="0">
                            <a:latin typeface="Cambria Math" panose="02040503050406030204" pitchFamily="18" charset="0"/>
                            <a:cs typeface="Times New Roman" panose="02020603050405020304" pitchFamily="18" charset="0"/>
                          </a:rPr>
                          <m:t>𝑐𝑜𝑠𝑥</m:t>
                        </m:r>
                        <m:r>
                          <a:rPr lang="en-US" sz="4000" i="1">
                            <a:latin typeface="Cambria Math" panose="02040503050406030204" pitchFamily="18" charset="0"/>
                            <a:cs typeface="Times New Roman" panose="02020603050405020304" pitchFamily="18" charset="0"/>
                          </a:rPr>
                          <m:t> </m:t>
                        </m:r>
                        <m:r>
                          <a:rPr lang="en-US" sz="4000" i="1">
                            <a:latin typeface="Cambria Math" panose="02040503050406030204" pitchFamily="18" charset="0"/>
                            <a:cs typeface="Times New Roman" panose="02020603050405020304" pitchFamily="18" charset="0"/>
                          </a:rPr>
                          <m:t>𝑑𝑥</m:t>
                        </m:r>
                      </m:e>
                    </m:nary>
                  </m:oMath>
                </a14:m>
                <a:r>
                  <a:rPr lang="en-US" sz="4000" dirty="0">
                    <a:latin typeface="Times New Roman" panose="02020603050405020304" pitchFamily="18" charset="0"/>
                    <a:cs typeface="Times New Roman" panose="02020603050405020304" pitchFamily="18" charset="0"/>
                  </a:rPr>
                  <a:t> = </a:t>
                </a:r>
                <a:r>
                  <a:rPr lang="en-US" sz="4000" dirty="0" smtClean="0">
                    <a:latin typeface="Times New Roman" panose="02020603050405020304" pitchFamily="18" charset="0"/>
                    <a:cs typeface="Times New Roman" panose="02020603050405020304" pitchFamily="18" charset="0"/>
                  </a:rPr>
                  <a:t>0</a:t>
                </a:r>
                <a:endParaRPr lang="en-US" sz="4000" dirty="0">
                  <a:latin typeface="Times New Roman" panose="02020603050405020304" pitchFamily="18" charset="0"/>
                  <a:cs typeface="Times New Roman" panose="02020603050405020304" pitchFamily="18" charset="0"/>
                </a:endParaRPr>
              </a:p>
              <a:p>
                <a:endParaRPr lang="en-US" sz="4000" dirty="0">
                  <a:latin typeface="Times New Roman" panose="02020603050405020304" pitchFamily="18" charset="0"/>
                  <a:cs typeface="Times New Roman" panose="020206030504050203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530350" y="2406650"/>
                <a:ext cx="15773400" cy="4176784"/>
              </a:xfrm>
              <a:prstGeom prst="rect">
                <a:avLst/>
              </a:prstGeom>
              <a:blipFill rotWithShape="0">
                <a:blip r:embed="rId5"/>
                <a:stretch>
                  <a:fillRect l="-1352" t="-2628"/>
                </a:stretch>
              </a:blipFill>
            </p:spPr>
            <p:txBody>
              <a:bodyPr/>
              <a:lstStyle/>
              <a:p>
                <a:r>
                  <a:rPr lang="en-US">
                    <a:noFill/>
                  </a:rPr>
                  <a:t> </a:t>
                </a:r>
              </a:p>
            </p:txBody>
          </p:sp>
        </mc:Fallback>
      </mc:AlternateContent>
      <p:sp>
        <p:nvSpPr>
          <p:cNvPr id="10" name="TextBox 9"/>
          <p:cNvSpPr txBox="1"/>
          <p:nvPr/>
        </p:nvSpPr>
        <p:spPr>
          <a:xfrm>
            <a:off x="11710899" y="4090994"/>
            <a:ext cx="5334000" cy="584775"/>
          </a:xfrm>
          <a:prstGeom prst="rect">
            <a:avLst/>
          </a:prstGeom>
          <a:solidFill>
            <a:srgbClr val="FFFF00"/>
          </a:solidFill>
        </p:spPr>
        <p:txBody>
          <a:bodyPr wrap="square" rtlCol="0">
            <a:spAutoFit/>
          </a:bodyPr>
          <a:lstStyle/>
          <a:p>
            <a:r>
              <a:rPr lang="en-US" sz="3200" dirty="0" smtClean="0">
                <a:latin typeface="Aramis" panose="020B0600050302020204" pitchFamily="34" charset="0"/>
              </a:rPr>
              <a:t>Inner product zero </a:t>
            </a:r>
            <a:r>
              <a:rPr lang="en-US" sz="3200" dirty="0" smtClean="0">
                <a:latin typeface="Aramis" panose="020B0600050302020204" pitchFamily="34" charset="0"/>
                <a:ea typeface="Cambria Math" panose="02040503050406030204" pitchFamily="18" charset="0"/>
              </a:rPr>
              <a:t>→ Orthogonal</a:t>
            </a:r>
            <a:endParaRPr lang="en-US" sz="3200" dirty="0">
              <a:latin typeface="Aramis" panose="020B0600050302020204" pitchFamily="34" charset="0"/>
            </a:endParaRPr>
          </a:p>
        </p:txBody>
      </p:sp>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68008" y="4894756"/>
            <a:ext cx="8038906" cy="4904544"/>
          </a:xfrm>
          <a:prstGeom prst="rect">
            <a:avLst/>
          </a:prstGeom>
        </p:spPr>
      </p:pic>
    </p:spTree>
    <p:extLst>
      <p:ext uri="{BB962C8B-B14F-4D97-AF65-F5344CB8AC3E}">
        <p14:creationId xmlns:p14="http://schemas.microsoft.com/office/powerpoint/2010/main" val="2205610197"/>
      </p:ext>
    </p:extLst>
  </p:cSld>
  <p:clrMapOvr>
    <a:masterClrMapping/>
  </p:clrMapOvr>
  <mc:AlternateContent xmlns:mc="http://schemas.openxmlformats.org/markup-compatibility/2006" xmlns:p14="http://schemas.microsoft.com/office/powerpoint/2010/main">
    <mc:Choice Requires="p14">
      <p:transition spd="slow" p14:dur="800" advTm="1455">
        <p14:flythrough/>
      </p:transition>
    </mc:Choice>
    <mc:Fallback xmlns="">
      <p:transition spd="slow" advTm="1455">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F18956B-1C67-4A87-8CC3-F65D34ECFD82}"/>
              </a:ext>
            </a:extLst>
          </p:cNvPr>
          <p:cNvSpPr txBox="1"/>
          <p:nvPr/>
        </p:nvSpPr>
        <p:spPr>
          <a:xfrm>
            <a:off x="3740150" y="1113786"/>
            <a:ext cx="10515600" cy="945067"/>
          </a:xfrm>
          <a:prstGeom prst="rect">
            <a:avLst/>
          </a:prstGeom>
          <a:noFill/>
        </p:spPr>
        <p:txBody>
          <a:bodyPr wrap="square" rtlCol="0">
            <a:spAutoFit/>
          </a:bodyPr>
          <a:lstStyle/>
          <a:p>
            <a:pPr algn="ctr" fontAlgn="base">
              <a:lnSpc>
                <a:spcPct val="110000"/>
              </a:lnSpc>
              <a:spcAft>
                <a:spcPts val="875"/>
              </a:spcAft>
              <a:buClr>
                <a:srgbClr val="000000"/>
              </a:buClr>
              <a:buSzPts val="1100"/>
            </a:pPr>
            <a:r>
              <a:rPr lang="en-US" sz="5400" b="1" kern="0" dirty="0" smtClean="0">
                <a:solidFill>
                  <a:srgbClr val="FF0000"/>
                </a:solidFill>
                <a:latin typeface="Algerian" panose="04020705040A02060702" pitchFamily="82" charset="0"/>
                <a:ea typeface="Arial" panose="020B0604020202020204" pitchFamily="34" charset="0"/>
              </a:rPr>
              <a:t>Set of Orthogonal functions</a:t>
            </a:r>
            <a:endParaRPr lang="en-US" sz="5400" b="1" kern="0" dirty="0">
              <a:solidFill>
                <a:srgbClr val="FF0000"/>
              </a:solidFill>
              <a:effectLst/>
              <a:latin typeface="Algerian" panose="04020705040A02060702" pitchFamily="82" charset="0"/>
              <a:ea typeface="Arial" panose="020B0604020202020204" pitchFamily="34" charset="0"/>
            </a:endParaRPr>
          </a:p>
        </p:txBody>
      </p:sp>
      <p:sp>
        <p:nvSpPr>
          <p:cNvPr id="6" name="AutoShape 4" descr="The Pros and Cons of Nuclear Power">
            <a:extLst>
              <a:ext uri="{FF2B5EF4-FFF2-40B4-BE49-F238E27FC236}">
                <a16:creationId xmlns:a16="http://schemas.microsoft.com/office/drawing/2014/main" xmlns="" id="{EF3B82D1-09B2-4DE5-AA8B-9B754751F0F5}"/>
              </a:ext>
            </a:extLst>
          </p:cNvPr>
          <p:cNvSpPr>
            <a:spLocks noChangeAspect="1" noChangeArrowheads="1"/>
          </p:cNvSpPr>
          <p:nvPr/>
        </p:nvSpPr>
        <p:spPr bwMode="auto">
          <a:xfrm>
            <a:off x="8997950" y="4997450"/>
            <a:ext cx="3733800" cy="3733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5" name="TextBox 4"/>
              <p:cNvSpPr txBox="1"/>
              <p:nvPr/>
            </p:nvSpPr>
            <p:spPr>
              <a:xfrm>
                <a:off x="1911350" y="2406650"/>
                <a:ext cx="15392400" cy="3733779"/>
              </a:xfrm>
              <a:prstGeom prst="rect">
                <a:avLst/>
              </a:prstGeom>
              <a:noFill/>
            </p:spPr>
            <p:txBody>
              <a:bodyPr wrap="square" rtlCol="0">
                <a:spAutoFit/>
              </a:bodyPr>
              <a:lstStyle/>
              <a:p>
                <a:r>
                  <a:rPr lang="en-US" sz="4400" dirty="0" smtClean="0">
                    <a:latin typeface="Times New Roman" panose="02020603050405020304" pitchFamily="18" charset="0"/>
                    <a:cs typeface="Times New Roman" panose="02020603050405020304" pitchFamily="18" charset="0"/>
                  </a:rPr>
                  <a:t>A set of real functions f</a:t>
                </a:r>
                <a:r>
                  <a:rPr lang="en-US" sz="4400" baseline="-25000" dirty="0" smtClean="0">
                    <a:latin typeface="Times New Roman" panose="02020603050405020304" pitchFamily="18" charset="0"/>
                    <a:cs typeface="Times New Roman" panose="02020603050405020304" pitchFamily="18" charset="0"/>
                  </a:rPr>
                  <a:t>1</a:t>
                </a:r>
                <a:r>
                  <a:rPr lang="en-US" sz="4400" dirty="0">
                    <a:latin typeface="Times New Roman" panose="02020603050405020304" pitchFamily="18" charset="0"/>
                    <a:cs typeface="Times New Roman" panose="02020603050405020304" pitchFamily="18" charset="0"/>
                  </a:rPr>
                  <a:t>(x), </a:t>
                </a:r>
                <a:r>
                  <a:rPr lang="en-US" sz="4400" dirty="0" smtClean="0">
                    <a:latin typeface="Times New Roman" panose="02020603050405020304" pitchFamily="18" charset="0"/>
                    <a:cs typeface="Times New Roman" panose="02020603050405020304" pitchFamily="18" charset="0"/>
                  </a:rPr>
                  <a:t>f</a:t>
                </a:r>
                <a:r>
                  <a:rPr lang="en-US" sz="4400" baseline="-25000" dirty="0" smtClean="0">
                    <a:latin typeface="Times New Roman" panose="02020603050405020304" pitchFamily="18" charset="0"/>
                    <a:cs typeface="Times New Roman" panose="02020603050405020304" pitchFamily="18" charset="0"/>
                  </a:rPr>
                  <a:t>2</a:t>
                </a:r>
                <a:r>
                  <a:rPr lang="en-US" sz="4400" dirty="0" smtClean="0">
                    <a:latin typeface="Times New Roman" panose="02020603050405020304" pitchFamily="18" charset="0"/>
                    <a:cs typeface="Times New Roman" panose="02020603050405020304" pitchFamily="18" charset="0"/>
                  </a:rPr>
                  <a:t>(x),</a:t>
                </a:r>
                <a:r>
                  <a:rPr lang="en-US" sz="4400" dirty="0">
                    <a:latin typeface="Times New Roman" panose="02020603050405020304" pitchFamily="18" charset="0"/>
                    <a:cs typeface="Times New Roman" panose="02020603050405020304" pitchFamily="18" charset="0"/>
                  </a:rPr>
                  <a:t> </a:t>
                </a:r>
                <a:r>
                  <a:rPr lang="en-US" sz="4400" dirty="0" smtClean="0">
                    <a:latin typeface="Times New Roman" panose="02020603050405020304" pitchFamily="18" charset="0"/>
                    <a:cs typeface="Times New Roman" panose="02020603050405020304" pitchFamily="18" charset="0"/>
                  </a:rPr>
                  <a:t>f</a:t>
                </a:r>
                <a:r>
                  <a:rPr lang="en-US" sz="4400" baseline="-25000" dirty="0" smtClean="0">
                    <a:latin typeface="Times New Roman" panose="02020603050405020304" pitchFamily="18" charset="0"/>
                    <a:cs typeface="Times New Roman" panose="02020603050405020304" pitchFamily="18" charset="0"/>
                  </a:rPr>
                  <a:t>3</a:t>
                </a:r>
                <a:r>
                  <a:rPr lang="en-US" sz="4400" dirty="0" smtClean="0">
                    <a:latin typeface="Times New Roman" panose="02020603050405020304" pitchFamily="18" charset="0"/>
                    <a:cs typeface="Times New Roman" panose="02020603050405020304" pitchFamily="18" charset="0"/>
                  </a:rPr>
                  <a:t>(x),</a:t>
                </a:r>
                <a:r>
                  <a:rPr lang="en-US" sz="4400" dirty="0">
                    <a:latin typeface="Times New Roman" panose="02020603050405020304" pitchFamily="18" charset="0"/>
                    <a:cs typeface="Times New Roman" panose="02020603050405020304" pitchFamily="18" charset="0"/>
                  </a:rPr>
                  <a:t> </a:t>
                </a:r>
                <a:r>
                  <a:rPr lang="en-US" sz="4400" dirty="0" smtClean="0">
                    <a:latin typeface="Times New Roman" panose="02020603050405020304" pitchFamily="18" charset="0"/>
                    <a:cs typeface="Times New Roman" panose="02020603050405020304" pitchFamily="18" charset="0"/>
                  </a:rPr>
                  <a:t> ... ,</a:t>
                </a:r>
                <a:r>
                  <a:rPr lang="en-US" sz="4400" dirty="0" err="1" smtClean="0">
                    <a:latin typeface="Times New Roman" panose="02020603050405020304" pitchFamily="18" charset="0"/>
                    <a:cs typeface="Times New Roman" panose="02020603050405020304" pitchFamily="18" charset="0"/>
                  </a:rPr>
                  <a:t>f</a:t>
                </a:r>
                <a:r>
                  <a:rPr lang="en-US" sz="4400" baseline="-25000" dirty="0" err="1" smtClean="0">
                    <a:latin typeface="Times New Roman" panose="02020603050405020304" pitchFamily="18" charset="0"/>
                    <a:cs typeface="Times New Roman" panose="02020603050405020304" pitchFamily="18" charset="0"/>
                  </a:rPr>
                  <a:t>n</a:t>
                </a:r>
                <a:r>
                  <a:rPr lang="en-US" sz="4400" dirty="0" smtClean="0">
                    <a:latin typeface="Times New Roman" panose="02020603050405020304" pitchFamily="18" charset="0"/>
                    <a:cs typeface="Times New Roman" panose="02020603050405020304" pitchFamily="18" charset="0"/>
                  </a:rPr>
                  <a:t>(x) is orthogonal if </a:t>
                </a:r>
                <a14:m>
                  <m:oMath xmlns:m="http://schemas.openxmlformats.org/officeDocument/2006/math">
                    <m:nary>
                      <m:naryPr>
                        <m:ctrlPr>
                          <a:rPr lang="en-US" sz="4400" i="1">
                            <a:latin typeface="Cambria Math" panose="02040503050406030204" pitchFamily="18" charset="0"/>
                            <a:cs typeface="Times New Roman" panose="02020603050405020304" pitchFamily="18" charset="0"/>
                          </a:rPr>
                        </m:ctrlPr>
                      </m:naryPr>
                      <m:sub>
                        <m:r>
                          <m:rPr>
                            <m:brk m:alnAt="23"/>
                          </m:rPr>
                          <a:rPr lang="en-US" sz="4400" i="1">
                            <a:latin typeface="Cambria Math" panose="02040503050406030204" pitchFamily="18" charset="0"/>
                            <a:cs typeface="Times New Roman" panose="02020603050405020304" pitchFamily="18" charset="0"/>
                          </a:rPr>
                          <m:t>𝑎</m:t>
                        </m:r>
                      </m:sub>
                      <m:sup>
                        <m:r>
                          <a:rPr lang="en-US" sz="4400" i="1">
                            <a:latin typeface="Cambria Math" panose="02040503050406030204" pitchFamily="18" charset="0"/>
                            <a:cs typeface="Times New Roman" panose="02020603050405020304" pitchFamily="18" charset="0"/>
                          </a:rPr>
                          <m:t>𝑏</m:t>
                        </m:r>
                      </m:sup>
                      <m:e>
                        <m:r>
                          <m:rPr>
                            <m:nor/>
                          </m:rPr>
                          <a:rPr lang="en-US" sz="4400" dirty="0">
                            <a:latin typeface="Times New Roman" panose="02020603050405020304" pitchFamily="18" charset="0"/>
                            <a:cs typeface="Times New Roman" panose="02020603050405020304" pitchFamily="18" charset="0"/>
                          </a:rPr>
                          <m:t>f</m:t>
                        </m:r>
                        <m:r>
                          <m:rPr>
                            <m:nor/>
                          </m:rPr>
                          <a:rPr lang="en-US" sz="4400" baseline="-25000" dirty="0">
                            <a:latin typeface="Times New Roman" panose="02020603050405020304" pitchFamily="18" charset="0"/>
                            <a:cs typeface="Times New Roman" panose="02020603050405020304" pitchFamily="18" charset="0"/>
                          </a:rPr>
                          <m:t>m</m:t>
                        </m:r>
                        <m:d>
                          <m:dPr>
                            <m:ctrlPr>
                              <a:rPr lang="en-US" sz="4400" i="1">
                                <a:latin typeface="Cambria Math" panose="02040503050406030204" pitchFamily="18" charset="0"/>
                                <a:cs typeface="Times New Roman" panose="02020603050405020304" pitchFamily="18" charset="0"/>
                              </a:rPr>
                            </m:ctrlPr>
                          </m:dPr>
                          <m:e>
                            <m:r>
                              <a:rPr lang="en-US" sz="4400" i="1">
                                <a:latin typeface="Cambria Math" panose="02040503050406030204" pitchFamily="18" charset="0"/>
                                <a:cs typeface="Times New Roman" panose="02020603050405020304" pitchFamily="18" charset="0"/>
                              </a:rPr>
                              <m:t>𝑥</m:t>
                            </m:r>
                          </m:e>
                        </m:d>
                        <m:r>
                          <m:rPr>
                            <m:nor/>
                          </m:rPr>
                          <a:rPr lang="en-US" sz="4400" dirty="0">
                            <a:latin typeface="Times New Roman" panose="02020603050405020304" pitchFamily="18" charset="0"/>
                            <a:cs typeface="Times New Roman" panose="02020603050405020304" pitchFamily="18" charset="0"/>
                          </a:rPr>
                          <m:t>f</m:t>
                        </m:r>
                        <m:r>
                          <m:rPr>
                            <m:nor/>
                          </m:rPr>
                          <a:rPr lang="en-US" sz="4400" b="0" i="0" baseline="-25000" dirty="0" smtClean="0">
                            <a:latin typeface="Times New Roman" panose="02020603050405020304" pitchFamily="18" charset="0"/>
                            <a:cs typeface="Times New Roman" panose="02020603050405020304" pitchFamily="18" charset="0"/>
                          </a:rPr>
                          <m:t>n</m:t>
                        </m:r>
                        <m:d>
                          <m:dPr>
                            <m:ctrlPr>
                              <a:rPr lang="en-US" sz="4400" i="1">
                                <a:latin typeface="Cambria Math" panose="02040503050406030204" pitchFamily="18" charset="0"/>
                                <a:cs typeface="Times New Roman" panose="02020603050405020304" pitchFamily="18" charset="0"/>
                              </a:rPr>
                            </m:ctrlPr>
                          </m:dPr>
                          <m:e>
                            <m:r>
                              <a:rPr lang="en-US" sz="4400" i="1">
                                <a:latin typeface="Cambria Math" panose="02040503050406030204" pitchFamily="18" charset="0"/>
                                <a:cs typeface="Times New Roman" panose="02020603050405020304" pitchFamily="18" charset="0"/>
                              </a:rPr>
                              <m:t>𝑥</m:t>
                            </m:r>
                          </m:e>
                        </m:d>
                        <m:r>
                          <a:rPr lang="en-US" sz="4400" i="1">
                            <a:latin typeface="Cambria Math" panose="02040503050406030204" pitchFamily="18" charset="0"/>
                            <a:cs typeface="Times New Roman" panose="02020603050405020304" pitchFamily="18" charset="0"/>
                          </a:rPr>
                          <m:t> </m:t>
                        </m:r>
                        <m:r>
                          <a:rPr lang="en-US" sz="4400" i="1">
                            <a:latin typeface="Cambria Math" panose="02040503050406030204" pitchFamily="18" charset="0"/>
                            <a:cs typeface="Times New Roman" panose="02020603050405020304" pitchFamily="18" charset="0"/>
                          </a:rPr>
                          <m:t>𝑑𝑥</m:t>
                        </m:r>
                      </m:e>
                    </m:nary>
                  </m:oMath>
                </a14:m>
                <a:r>
                  <a:rPr lang="en-US" sz="4400" dirty="0">
                    <a:latin typeface="Times New Roman" panose="02020603050405020304" pitchFamily="18" charset="0"/>
                    <a:cs typeface="Times New Roman" panose="02020603050405020304" pitchFamily="18" charset="0"/>
                  </a:rPr>
                  <a:t> = </a:t>
                </a:r>
                <a:r>
                  <a:rPr lang="en-US" sz="4400" dirty="0" smtClean="0">
                    <a:latin typeface="Times New Roman" panose="02020603050405020304" pitchFamily="18" charset="0"/>
                    <a:cs typeface="Times New Roman" panose="02020603050405020304" pitchFamily="18" charset="0"/>
                  </a:rPr>
                  <a:t>0  </a:t>
                </a:r>
              </a:p>
              <a:p>
                <a:endParaRPr lang="en-US" sz="44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f</a:t>
                </a:r>
                <a:r>
                  <a:rPr lang="en-US" sz="4400" dirty="0" smtClean="0">
                    <a:latin typeface="Times New Roman" panose="02020603050405020304" pitchFamily="18" charset="0"/>
                    <a:cs typeface="Times New Roman" panose="02020603050405020304" pitchFamily="18" charset="0"/>
                  </a:rPr>
                  <a:t>or:</a:t>
                </a:r>
              </a:p>
              <a:p>
                <a:r>
                  <a:rPr lang="en-US" sz="4400" dirty="0">
                    <a:latin typeface="Times New Roman" panose="02020603050405020304" pitchFamily="18" charset="0"/>
                    <a:cs typeface="Times New Roman" panose="02020603050405020304" pitchFamily="18" charset="0"/>
                  </a:rPr>
                  <a:t> </a:t>
                </a:r>
                <a:r>
                  <a:rPr lang="en-US" sz="4400" dirty="0" smtClean="0">
                    <a:latin typeface="Times New Roman" panose="02020603050405020304" pitchFamily="18" charset="0"/>
                    <a:cs typeface="Times New Roman" panose="02020603050405020304" pitchFamily="18" charset="0"/>
                  </a:rPr>
                  <a:t>     m </a:t>
                </a:r>
                <a14:m>
                  <m:oMath xmlns:m="http://schemas.openxmlformats.org/officeDocument/2006/math">
                    <m:r>
                      <a:rPr lang="en-US" sz="4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𝑛</m:t>
                    </m:r>
                  </m:oMath>
                </a14:m>
                <a:endParaRPr lang="en-US" sz="4400" dirty="0">
                  <a:latin typeface="Times New Roman" panose="02020603050405020304" pitchFamily="18" charset="0"/>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911350" y="2406650"/>
                <a:ext cx="15392400" cy="3733779"/>
              </a:xfrm>
              <a:prstGeom prst="rect">
                <a:avLst/>
              </a:prstGeom>
              <a:blipFill rotWithShape="0">
                <a:blip r:embed="rId6"/>
                <a:stretch>
                  <a:fillRect l="-1624" t="-3268" b="-7026"/>
                </a:stretch>
              </a:blipFill>
            </p:spPr>
            <p:txBody>
              <a:bodyPr/>
              <a:lstStyle/>
              <a:p>
                <a:r>
                  <a:rPr lang="en-US">
                    <a:noFill/>
                  </a:rPr>
                  <a:t> </a:t>
                </a:r>
              </a:p>
            </p:txBody>
          </p:sp>
        </mc:Fallback>
      </mc:AlternateContent>
      <p:sp>
        <p:nvSpPr>
          <p:cNvPr id="2" name="TextBox 1"/>
          <p:cNvSpPr txBox="1"/>
          <p:nvPr/>
        </p:nvSpPr>
        <p:spPr>
          <a:xfrm>
            <a:off x="1911350" y="6417211"/>
            <a:ext cx="7315200" cy="1323439"/>
          </a:xfrm>
          <a:prstGeom prst="rect">
            <a:avLst/>
          </a:prstGeom>
          <a:solidFill>
            <a:schemeClr val="accent1"/>
          </a:solidFill>
        </p:spPr>
        <p:txBody>
          <a:bodyPr wrap="square" rtlCol="0">
            <a:spAutoFit/>
          </a:bodyPr>
          <a:lstStyle/>
          <a:p>
            <a:r>
              <a:rPr lang="en-US" sz="4000" dirty="0" smtClean="0">
                <a:solidFill>
                  <a:srgbClr val="FF0000"/>
                </a:solidFill>
                <a:latin typeface="Times New Roman" panose="02020603050405020304" pitchFamily="18" charset="0"/>
                <a:cs typeface="Times New Roman" panose="02020603050405020304" pitchFamily="18" charset="0"/>
              </a:rPr>
              <a:t>Example:</a:t>
            </a:r>
          </a:p>
          <a:p>
            <a:r>
              <a:rPr lang="en-US" sz="4000" dirty="0">
                <a:solidFill>
                  <a:srgbClr val="FF0000"/>
                </a:solidFill>
                <a:latin typeface="Times New Roman" panose="02020603050405020304" pitchFamily="18" charset="0"/>
                <a:cs typeface="Times New Roman" panose="02020603050405020304" pitchFamily="18" charset="0"/>
              </a:rPr>
              <a:t> </a:t>
            </a:r>
            <a:r>
              <a:rPr lang="en-US" sz="4000" dirty="0" smtClean="0">
                <a:solidFill>
                  <a:srgbClr val="FF0000"/>
                </a:solidFill>
                <a:latin typeface="Times New Roman" panose="02020603050405020304" pitchFamily="18" charset="0"/>
                <a:cs typeface="Times New Roman" panose="02020603050405020304" pitchFamily="18" charset="0"/>
              </a:rPr>
              <a:t>     {sin </a:t>
            </a:r>
            <a:r>
              <a:rPr lang="en-US" sz="4000" dirty="0" err="1" smtClean="0">
                <a:solidFill>
                  <a:srgbClr val="FF0000"/>
                </a:solidFill>
                <a:latin typeface="Times New Roman" panose="02020603050405020304" pitchFamily="18" charset="0"/>
                <a:cs typeface="Times New Roman" panose="02020603050405020304" pitchFamily="18" charset="0"/>
              </a:rPr>
              <a:t>nx</a:t>
            </a:r>
            <a:r>
              <a:rPr lang="en-US" sz="4000" dirty="0" smtClean="0">
                <a:solidFill>
                  <a:srgbClr val="FF0000"/>
                </a:solidFill>
                <a:latin typeface="Times New Roman" panose="02020603050405020304" pitchFamily="18" charset="0"/>
                <a:cs typeface="Times New Roman" panose="02020603050405020304" pitchFamily="18" charset="0"/>
              </a:rPr>
              <a:t>} is orthogonal on [0,</a:t>
            </a:r>
            <a:r>
              <a:rPr lang="el-GR" sz="4000" dirty="0" smtClean="0">
                <a:solidFill>
                  <a:srgbClr val="FF0000"/>
                </a:solidFill>
                <a:latin typeface="Microsoft JhengHei UI" panose="020B0604030504040204" pitchFamily="34" charset="-120"/>
                <a:ea typeface="Microsoft JhengHei UI" panose="020B0604030504040204" pitchFamily="34" charset="-120"/>
                <a:cs typeface="Times New Roman" panose="02020603050405020304" pitchFamily="18" charset="0"/>
              </a:rPr>
              <a:t>π</a:t>
            </a:r>
            <a:r>
              <a:rPr lang="en-US" sz="4000" dirty="0" smtClean="0">
                <a:solidFill>
                  <a:srgbClr val="FF0000"/>
                </a:solidFill>
                <a:latin typeface="Microsoft JhengHei UI" panose="020B0604030504040204" pitchFamily="34" charset="-120"/>
                <a:ea typeface="Microsoft JhengHei UI" panose="020B0604030504040204" pitchFamily="34" charset="-120"/>
                <a:cs typeface="Times New Roman" panose="02020603050405020304" pitchFamily="18" charset="0"/>
              </a:rPr>
              <a:t>]</a:t>
            </a:r>
            <a:endParaRPr lang="en-US" sz="4000" dirty="0">
              <a:solidFill>
                <a:srgbClr val="FF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98150" y="3854450"/>
            <a:ext cx="6373114" cy="4134427"/>
          </a:xfrm>
          <a:prstGeom prst="rect">
            <a:avLst/>
          </a:prstGeom>
        </p:spPr>
      </p:pic>
    </p:spTree>
  </p:cSld>
  <p:clrMapOvr>
    <a:masterClrMapping/>
  </p:clrMapOvr>
  <mc:AlternateContent xmlns:mc="http://schemas.openxmlformats.org/markup-compatibility/2006" xmlns:p15="http://schemas.microsoft.com/office/powerpoint/2012/main">
    <mc:Choice Requires="p15">
      <p:transition spd="slow" advTm="1328">
        <p15:prstTrans prst="fracture"/>
      </p:transition>
    </mc:Choice>
    <mc:Fallback xmlns="">
      <p:transition spd="slow" advTm="1328">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p:cNvSpPr>
            <a:spLocks noChangeArrowheads="1"/>
          </p:cNvSpPr>
          <p:nvPr/>
        </p:nvSpPr>
        <p:spPr bwMode="auto">
          <a:xfrm>
            <a:off x="1149350" y="7836583"/>
            <a:ext cx="103632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2520950" y="5624083"/>
            <a:ext cx="11125200"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ectangle 1"/>
          <p:cNvSpPr/>
          <p:nvPr/>
        </p:nvSpPr>
        <p:spPr>
          <a:xfrm>
            <a:off x="4806950" y="1224181"/>
            <a:ext cx="4724400" cy="1106269"/>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noFill/>
            </a:endParaRPr>
          </a:p>
        </p:txBody>
      </p:sp>
      <p:sp>
        <p:nvSpPr>
          <p:cNvPr id="3" name="TextBox 2"/>
          <p:cNvSpPr txBox="1"/>
          <p:nvPr/>
        </p:nvSpPr>
        <p:spPr>
          <a:xfrm>
            <a:off x="5949950" y="1224181"/>
            <a:ext cx="7162800" cy="923330"/>
          </a:xfrm>
          <a:prstGeom prst="rect">
            <a:avLst/>
          </a:prstGeom>
          <a:noFill/>
        </p:spPr>
        <p:txBody>
          <a:bodyPr wrap="square" rtlCol="0">
            <a:spAutoFit/>
          </a:bodyPr>
          <a:lstStyle/>
          <a:p>
            <a:r>
              <a:rPr lang="en-US" sz="5400" dirty="0" smtClean="0">
                <a:ln w="0"/>
                <a:solidFill>
                  <a:srgbClr val="FF0000"/>
                </a:solidFill>
                <a:effectLst>
                  <a:reflection blurRad="6350" stA="53000" endA="300" endPos="35500" dir="5400000" sy="-90000" algn="bl" rotWithShape="0"/>
                </a:effectLst>
                <a:latin typeface="Algerian" panose="04020705040A02060702" pitchFamily="82" charset="0"/>
              </a:rPr>
              <a:t>Norm of a function</a:t>
            </a:r>
            <a:endParaRPr lang="en-US" sz="5400" dirty="0">
              <a:ln w="0"/>
              <a:solidFill>
                <a:srgbClr val="FF0000"/>
              </a:solidFill>
              <a:effectLst>
                <a:reflection blurRad="6350" stA="53000" endA="300" endPos="35500" dir="5400000" sy="-90000" algn="bl" rotWithShape="0"/>
              </a:effectLst>
              <a:latin typeface="Algerian" panose="04020705040A02060702" pitchFamily="82" charset="0"/>
            </a:endParaRPr>
          </a:p>
        </p:txBody>
      </p:sp>
      <mc:AlternateContent xmlns:mc="http://schemas.openxmlformats.org/markup-compatibility/2006" xmlns:a14="http://schemas.microsoft.com/office/drawing/2010/main">
        <mc:Choice Requires="a14">
          <p:sp>
            <p:nvSpPr>
              <p:cNvPr id="10" name="Rectangle 9"/>
              <p:cNvSpPr/>
              <p:nvPr/>
            </p:nvSpPr>
            <p:spPr>
              <a:xfrm>
                <a:off x="2292350" y="2718442"/>
                <a:ext cx="12649200" cy="464120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4400" dirty="0" smtClean="0">
                    <a:latin typeface="Times New Roman" panose="02020603050405020304" pitchFamily="18" charset="0"/>
                    <a:cs typeface="Times New Roman" panose="02020603050405020304" pitchFamily="18" charset="0"/>
                  </a:rPr>
                  <a:t>The Norm of the function f(x) is defined as non-negative square root of </a:t>
                </a:r>
              </a:p>
              <a:p>
                <a:r>
                  <a:rPr lang="en-US" sz="4400" dirty="0">
                    <a:latin typeface="Times New Roman" panose="02020603050405020304" pitchFamily="18" charset="0"/>
                    <a:cs typeface="Times New Roman" panose="02020603050405020304" pitchFamily="18" charset="0"/>
                  </a:rPr>
                  <a:t> </a:t>
                </a:r>
                <a:r>
                  <a:rPr lang="en-US" sz="4400" dirty="0" smtClean="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sz="4400" b="0" i="1" smtClean="0">
                            <a:latin typeface="Cambria Math" panose="02040503050406030204" pitchFamily="18" charset="0"/>
                            <a:cs typeface="Times New Roman" panose="02020603050405020304" pitchFamily="18" charset="0"/>
                          </a:rPr>
                        </m:ctrlPr>
                      </m:dPr>
                      <m:e>
                        <m:d>
                          <m:dPr>
                            <m:begChr m:val="|"/>
                            <m:endChr m:val="|"/>
                            <m:ctrlPr>
                              <a:rPr lang="en-US" sz="4400" b="0" i="1" smtClean="0">
                                <a:latin typeface="Cambria Math" panose="02040503050406030204" pitchFamily="18" charset="0"/>
                                <a:cs typeface="Times New Roman" panose="02020603050405020304" pitchFamily="18" charset="0"/>
                              </a:rPr>
                            </m:ctrlPr>
                          </m:dPr>
                          <m:e>
                            <m:r>
                              <a:rPr lang="en-US" sz="4400" b="0" i="1" smtClean="0">
                                <a:latin typeface="Cambria Math" panose="02040503050406030204" pitchFamily="18" charset="0"/>
                                <a:cs typeface="Times New Roman" panose="02020603050405020304" pitchFamily="18" charset="0"/>
                              </a:rPr>
                              <m:t>𝑓</m:t>
                            </m:r>
                            <m:d>
                              <m:dPr>
                                <m:ctrlPr>
                                  <a:rPr lang="en-US" sz="4400" b="0" i="1" smtClean="0">
                                    <a:latin typeface="Cambria Math" panose="02040503050406030204" pitchFamily="18" charset="0"/>
                                    <a:cs typeface="Times New Roman" panose="02020603050405020304" pitchFamily="18" charset="0"/>
                                  </a:rPr>
                                </m:ctrlPr>
                              </m:dPr>
                              <m:e>
                                <m:r>
                                  <a:rPr lang="en-US" sz="4400" b="0" i="1" smtClean="0">
                                    <a:latin typeface="Cambria Math" panose="02040503050406030204" pitchFamily="18" charset="0"/>
                                    <a:cs typeface="Times New Roman" panose="02020603050405020304" pitchFamily="18" charset="0"/>
                                  </a:rPr>
                                  <m:t>𝑥</m:t>
                                </m:r>
                              </m:e>
                            </m:d>
                          </m:e>
                        </m:d>
                      </m:e>
                    </m:d>
                    <m:r>
                      <a:rPr lang="en-US" sz="4400" b="0" i="1" smtClean="0">
                        <a:latin typeface="Cambria Math" panose="02040503050406030204" pitchFamily="18" charset="0"/>
                        <a:cs typeface="Times New Roman" panose="02020603050405020304" pitchFamily="18" charset="0"/>
                      </a:rPr>
                      <m:t>=</m:t>
                    </m:r>
                    <m:rad>
                      <m:radPr>
                        <m:degHide m:val="on"/>
                        <m:ctrlPr>
                          <a:rPr lang="en-US" sz="4400" b="0" i="1" smtClean="0">
                            <a:latin typeface="Cambria Math" panose="02040503050406030204" pitchFamily="18" charset="0"/>
                            <a:cs typeface="Times New Roman" panose="02020603050405020304" pitchFamily="18" charset="0"/>
                          </a:rPr>
                        </m:ctrlPr>
                      </m:radPr>
                      <m:deg/>
                      <m:e>
                        <m:r>
                          <a:rPr lang="en-US" sz="4400" b="0" i="1" smtClean="0">
                            <a:latin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cs typeface="Times New Roman" panose="02020603050405020304" pitchFamily="18" charset="0"/>
                          </a:rPr>
                          <m:t>𝑓</m:t>
                        </m:r>
                        <m:r>
                          <a:rPr lang="en-US" sz="4400" b="0" i="1" smtClean="0">
                            <a:latin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cs typeface="Times New Roman" panose="02020603050405020304" pitchFamily="18" charset="0"/>
                          </a:rPr>
                          <m:t>𝑓</m:t>
                        </m:r>
                        <m:r>
                          <a:rPr lang="en-US" sz="4400" b="0" i="1" smtClean="0">
                            <a:latin typeface="Cambria Math" panose="02040503050406030204" pitchFamily="18" charset="0"/>
                            <a:cs typeface="Times New Roman" panose="02020603050405020304" pitchFamily="18" charset="0"/>
                          </a:rPr>
                          <m:t>)</m:t>
                        </m:r>
                      </m:e>
                    </m:rad>
                  </m:oMath>
                </a14:m>
                <a:r>
                  <a:rPr lang="en-US" dirty="0" smtClean="0">
                    <a:latin typeface="Times New Roman" panose="02020603050405020304" pitchFamily="18" charset="0"/>
                    <a:cs typeface="Times New Roman" panose="02020603050405020304" pitchFamily="18" charset="0"/>
                  </a:rPr>
                  <a:t> </a:t>
                </a:r>
              </a:p>
              <a:p>
                <a:r>
                  <a:rPr lang="en-US" sz="4400" dirty="0" smtClean="0">
                    <a:latin typeface="Times New Roman" panose="02020603050405020304" pitchFamily="18" charset="0"/>
                    <a:cs typeface="Times New Roman" panose="02020603050405020304" pitchFamily="18" charset="0"/>
                  </a:rPr>
                  <a:t>Or,</a:t>
                </a:r>
              </a:p>
              <a:p>
                <a:r>
                  <a:rPr lang="en-US" sz="4400" dirty="0">
                    <a:latin typeface="Times New Roman" panose="02020603050405020304" pitchFamily="18" charset="0"/>
                    <a:cs typeface="Times New Roman" panose="02020603050405020304" pitchFamily="18" charset="0"/>
                  </a:rPr>
                  <a:t> </a:t>
                </a:r>
                <a:r>
                  <a:rPr lang="en-US" sz="4400" dirty="0" smtClean="0">
                    <a:latin typeface="Times New Roman" panose="02020603050405020304" pitchFamily="18" charset="0"/>
                    <a:cs typeface="Times New Roman" panose="02020603050405020304" pitchFamily="18" charset="0"/>
                  </a:rPr>
                  <a:t>    ||f(x)|| = [</a:t>
                </a:r>
                <a14:m>
                  <m:oMath xmlns:m="http://schemas.openxmlformats.org/officeDocument/2006/math">
                    <m:nary>
                      <m:naryPr>
                        <m:ctrlPr>
                          <a:rPr lang="en-US" sz="4400" i="1" smtClean="0">
                            <a:latin typeface="Cambria Math" panose="02040503050406030204" pitchFamily="18" charset="0"/>
                            <a:cs typeface="Times New Roman" panose="02020603050405020304" pitchFamily="18" charset="0"/>
                          </a:rPr>
                        </m:ctrlPr>
                      </m:naryPr>
                      <m:sub>
                        <m:r>
                          <m:rPr>
                            <m:brk m:alnAt="23"/>
                          </m:rPr>
                          <a:rPr lang="en-US" sz="4400" b="0" i="1" smtClean="0">
                            <a:latin typeface="Cambria Math" panose="02040503050406030204" pitchFamily="18" charset="0"/>
                            <a:cs typeface="Times New Roman" panose="02020603050405020304" pitchFamily="18" charset="0"/>
                          </a:rPr>
                          <m:t>𝑎</m:t>
                        </m:r>
                      </m:sub>
                      <m:sup>
                        <m:r>
                          <a:rPr lang="en-US" sz="4400" b="0" i="1" smtClean="0">
                            <a:latin typeface="Cambria Math" panose="02040503050406030204" pitchFamily="18" charset="0"/>
                            <a:cs typeface="Times New Roman" panose="02020603050405020304" pitchFamily="18" charset="0"/>
                          </a:rPr>
                          <m:t>𝑏</m:t>
                        </m:r>
                      </m:sup>
                      <m:e>
                        <m:sSup>
                          <m:sSupPr>
                            <m:ctrlPr>
                              <a:rPr lang="en-US" sz="4400" b="0" i="1" smtClean="0">
                                <a:latin typeface="Cambria Math" panose="02040503050406030204" pitchFamily="18" charset="0"/>
                                <a:cs typeface="Times New Roman" panose="02020603050405020304" pitchFamily="18" charset="0"/>
                              </a:rPr>
                            </m:ctrlPr>
                          </m:sSupPr>
                          <m:e>
                            <m:r>
                              <a:rPr lang="en-US" sz="4400" b="0" i="1" smtClean="0">
                                <a:latin typeface="Cambria Math" panose="02040503050406030204" pitchFamily="18" charset="0"/>
                                <a:cs typeface="Times New Roman" panose="02020603050405020304" pitchFamily="18" charset="0"/>
                              </a:rPr>
                              <m:t>𝑓</m:t>
                            </m:r>
                          </m:e>
                          <m:sup>
                            <m:r>
                              <a:rPr lang="en-US" sz="4400" b="0" i="1" smtClean="0">
                                <a:latin typeface="Cambria Math" panose="02040503050406030204" pitchFamily="18" charset="0"/>
                                <a:cs typeface="Times New Roman" panose="02020603050405020304" pitchFamily="18" charset="0"/>
                              </a:rPr>
                              <m:t>2</m:t>
                            </m:r>
                          </m:sup>
                        </m:sSup>
                        <m:d>
                          <m:dPr>
                            <m:ctrlPr>
                              <a:rPr lang="en-US" sz="4400" b="0" i="1" smtClean="0">
                                <a:latin typeface="Cambria Math" panose="02040503050406030204" pitchFamily="18" charset="0"/>
                                <a:cs typeface="Times New Roman" panose="02020603050405020304" pitchFamily="18" charset="0"/>
                              </a:rPr>
                            </m:ctrlPr>
                          </m:dPr>
                          <m:e>
                            <m:r>
                              <a:rPr lang="en-US" sz="4400" b="0" i="1" smtClean="0">
                                <a:latin typeface="Cambria Math" panose="02040503050406030204" pitchFamily="18" charset="0"/>
                                <a:cs typeface="Times New Roman" panose="02020603050405020304" pitchFamily="18" charset="0"/>
                              </a:rPr>
                              <m:t>𝑥</m:t>
                            </m:r>
                          </m:e>
                        </m:d>
                        <m:r>
                          <a:rPr lang="en-US" sz="4400" b="0" i="1" smtClean="0">
                            <a:latin typeface="Cambria Math" panose="02040503050406030204" pitchFamily="18" charset="0"/>
                            <a:cs typeface="Times New Roman" panose="02020603050405020304" pitchFamily="18" charset="0"/>
                          </a:rPr>
                          <m:t>𝑑𝑥</m:t>
                        </m:r>
                      </m:e>
                    </m:nary>
                    <m:sSup>
                      <m:sSupPr>
                        <m:ctrlPr>
                          <a:rPr lang="en-US" sz="4400" b="0" i="1" smtClean="0">
                            <a:latin typeface="Cambria Math" panose="02040503050406030204" pitchFamily="18" charset="0"/>
                            <a:cs typeface="Times New Roman" panose="02020603050405020304" pitchFamily="18" charset="0"/>
                          </a:rPr>
                        </m:ctrlPr>
                      </m:sSupPr>
                      <m:e>
                        <m:r>
                          <a:rPr lang="en-US" sz="4400" b="0" i="1" smtClean="0">
                            <a:latin typeface="Cambria Math" panose="02040503050406030204" pitchFamily="18" charset="0"/>
                            <a:cs typeface="Times New Roman" panose="02020603050405020304" pitchFamily="18" charset="0"/>
                          </a:rPr>
                          <m:t>]</m:t>
                        </m:r>
                      </m:e>
                      <m:sup>
                        <m:r>
                          <a:rPr lang="en-US" sz="4400" b="0" i="1" smtClean="0">
                            <a:latin typeface="Cambria Math" panose="02040503050406030204" pitchFamily="18" charset="0"/>
                            <a:cs typeface="Times New Roman" panose="02020603050405020304" pitchFamily="18" charset="0"/>
                          </a:rPr>
                          <m:t>1/2</m:t>
                        </m:r>
                      </m:sup>
                    </m:sSup>
                    <m:r>
                      <a:rPr lang="en-US" sz="4400" b="0" i="1" smtClean="0">
                        <a:latin typeface="Cambria Math" panose="02040503050406030204" pitchFamily="18" charset="0"/>
                        <a:cs typeface="Times New Roman" panose="02020603050405020304" pitchFamily="18" charset="0"/>
                      </a:rPr>
                      <m:t>   </m:t>
                    </m:r>
                  </m:oMath>
                </a14:m>
                <a:r>
                  <a:rPr lang="en-US" sz="4400" dirty="0" smtClean="0">
                    <a:latin typeface="Times New Roman" panose="02020603050405020304" pitchFamily="18" charset="0"/>
                    <a:cs typeface="Times New Roman" panose="02020603050405020304" pitchFamily="18" charset="0"/>
                  </a:rPr>
                  <a:t> </a:t>
                </a:r>
              </a:p>
              <a:p>
                <a:r>
                  <a:rPr lang="en-US" sz="4400" dirty="0" smtClean="0">
                    <a:latin typeface="Times New Roman" panose="02020603050405020304" pitchFamily="18" charset="0"/>
                    <a:cs typeface="Times New Roman" panose="02020603050405020304" pitchFamily="18" charset="0"/>
                  </a:rPr>
                  <a:t>Norm measures the magnitude of a function.</a:t>
                </a:r>
              </a:p>
              <a:p>
                <a:endParaRPr lang="en-US" dirty="0">
                  <a:latin typeface="Times New Roman" panose="02020603050405020304" pitchFamily="18" charset="0"/>
                  <a:cs typeface="Times New Roman" panose="02020603050405020304"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2292350" y="2718442"/>
                <a:ext cx="12649200" cy="4641208"/>
              </a:xfrm>
              <a:prstGeom prst="rect">
                <a:avLst/>
              </a:prstGeom>
              <a:blipFill rotWithShape="0">
                <a:blip r:embed="rId2"/>
                <a:stretch>
                  <a:fillRect l="-1928" t="-4074" b="-210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054350" y="7747643"/>
                <a:ext cx="9296400" cy="1409745"/>
              </a:xfrm>
              <a:prstGeom prst="rect">
                <a:avLst/>
              </a:prstGeom>
              <a:solidFill>
                <a:srgbClr val="FFFF00"/>
              </a:solid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When,  ||</a:t>
                </a:r>
                <a:r>
                  <a:rPr lang="en-US" sz="3600" dirty="0">
                    <a:latin typeface="Times New Roman" panose="02020603050405020304" pitchFamily="18" charset="0"/>
                    <a:cs typeface="Times New Roman" panose="02020603050405020304" pitchFamily="18" charset="0"/>
                  </a:rPr>
                  <a:t>f(x)|| = [</a:t>
                </a:r>
                <a14:m>
                  <m:oMath xmlns:m="http://schemas.openxmlformats.org/officeDocument/2006/math">
                    <m:nary>
                      <m:naryPr>
                        <m:ctrlPr>
                          <a:rPr lang="en-US" sz="3600" i="1">
                            <a:latin typeface="Cambria Math" panose="02040503050406030204" pitchFamily="18" charset="0"/>
                            <a:cs typeface="Times New Roman" panose="02020603050405020304" pitchFamily="18" charset="0"/>
                          </a:rPr>
                        </m:ctrlPr>
                      </m:naryPr>
                      <m:sub>
                        <m:r>
                          <m:rPr>
                            <m:brk m:alnAt="23"/>
                          </m:rPr>
                          <a:rPr lang="en-US" sz="3600" i="1">
                            <a:latin typeface="Cambria Math" panose="02040503050406030204" pitchFamily="18" charset="0"/>
                            <a:cs typeface="Times New Roman" panose="02020603050405020304" pitchFamily="18" charset="0"/>
                          </a:rPr>
                          <m:t>𝑎</m:t>
                        </m:r>
                      </m:sub>
                      <m:sup>
                        <m:r>
                          <a:rPr lang="en-US" sz="3600" i="1">
                            <a:latin typeface="Cambria Math" panose="02040503050406030204" pitchFamily="18" charset="0"/>
                            <a:cs typeface="Times New Roman" panose="02020603050405020304" pitchFamily="18" charset="0"/>
                          </a:rPr>
                          <m:t>𝑏</m:t>
                        </m:r>
                      </m:sup>
                      <m:e>
                        <m:sSup>
                          <m:sSupPr>
                            <m:ctrlPr>
                              <a:rPr lang="en-US" sz="3600" i="1">
                                <a:latin typeface="Cambria Math" panose="02040503050406030204" pitchFamily="18" charset="0"/>
                                <a:cs typeface="Times New Roman" panose="02020603050405020304" pitchFamily="18" charset="0"/>
                              </a:rPr>
                            </m:ctrlPr>
                          </m:sSupPr>
                          <m:e>
                            <m:r>
                              <a:rPr lang="en-US" sz="3600" i="1">
                                <a:latin typeface="Cambria Math" panose="02040503050406030204" pitchFamily="18" charset="0"/>
                                <a:cs typeface="Times New Roman" panose="02020603050405020304" pitchFamily="18" charset="0"/>
                              </a:rPr>
                              <m:t>𝑓</m:t>
                            </m:r>
                          </m:e>
                          <m:sup>
                            <m:r>
                              <a:rPr lang="en-US" sz="3600" i="1">
                                <a:latin typeface="Cambria Math" panose="02040503050406030204" pitchFamily="18" charset="0"/>
                                <a:cs typeface="Times New Roman" panose="02020603050405020304" pitchFamily="18" charset="0"/>
                              </a:rPr>
                              <m:t>2</m:t>
                            </m:r>
                          </m:sup>
                        </m:sSup>
                        <m:d>
                          <m:dPr>
                            <m:ctrlPr>
                              <a:rPr lang="en-US" sz="3600" i="1">
                                <a:latin typeface="Cambria Math" panose="02040503050406030204" pitchFamily="18" charset="0"/>
                                <a:cs typeface="Times New Roman" panose="02020603050405020304" pitchFamily="18" charset="0"/>
                              </a:rPr>
                            </m:ctrlPr>
                          </m:dPr>
                          <m:e>
                            <m:r>
                              <a:rPr lang="en-US" sz="3600" i="1">
                                <a:latin typeface="Cambria Math" panose="02040503050406030204" pitchFamily="18" charset="0"/>
                                <a:cs typeface="Times New Roman" panose="02020603050405020304" pitchFamily="18" charset="0"/>
                              </a:rPr>
                              <m:t>𝑥</m:t>
                            </m:r>
                          </m:e>
                        </m:d>
                        <m:r>
                          <a:rPr lang="en-US" sz="3600" i="1">
                            <a:latin typeface="Cambria Math" panose="02040503050406030204" pitchFamily="18" charset="0"/>
                            <a:cs typeface="Times New Roman" panose="02020603050405020304" pitchFamily="18" charset="0"/>
                          </a:rPr>
                          <m:t>𝑑𝑥</m:t>
                        </m:r>
                      </m:e>
                    </m:nary>
                    <m:sSup>
                      <m:sSupPr>
                        <m:ctrlPr>
                          <a:rPr lang="en-US" sz="3600" i="1">
                            <a:latin typeface="Cambria Math" panose="02040503050406030204" pitchFamily="18" charset="0"/>
                            <a:cs typeface="Times New Roman" panose="02020603050405020304" pitchFamily="18" charset="0"/>
                          </a:rPr>
                        </m:ctrlPr>
                      </m:sSupPr>
                      <m:e>
                        <m:r>
                          <a:rPr lang="en-US" sz="3600" i="1">
                            <a:latin typeface="Cambria Math" panose="02040503050406030204" pitchFamily="18" charset="0"/>
                            <a:cs typeface="Times New Roman" panose="02020603050405020304" pitchFamily="18" charset="0"/>
                          </a:rPr>
                          <m:t>]</m:t>
                        </m:r>
                      </m:e>
                      <m:sup>
                        <m:r>
                          <a:rPr lang="en-US" sz="3600" i="1">
                            <a:latin typeface="Cambria Math" panose="02040503050406030204" pitchFamily="18" charset="0"/>
                            <a:cs typeface="Times New Roman" panose="02020603050405020304" pitchFamily="18" charset="0"/>
                          </a:rPr>
                          <m:t>1/2</m:t>
                        </m:r>
                      </m:sup>
                    </m:sSup>
                  </m:oMath>
                </a14:m>
                <a:r>
                  <a:rPr lang="en-US" sz="3600" dirty="0" smtClean="0">
                    <a:latin typeface="Times New Roman" panose="02020603050405020304" pitchFamily="18" charset="0"/>
                    <a:cs typeface="Times New Roman" panose="02020603050405020304" pitchFamily="18" charset="0"/>
                  </a:rPr>
                  <a:t>=1</a:t>
                </a:r>
              </a:p>
              <a:p>
                <a:r>
                  <a:rPr lang="en-US" sz="3600" dirty="0" smtClean="0">
                    <a:latin typeface="Times New Roman" panose="02020603050405020304" pitchFamily="18" charset="0"/>
                    <a:cs typeface="Times New Roman" panose="02020603050405020304" pitchFamily="18" charset="0"/>
                  </a:rPr>
                  <a:t>Then the given function Normalize function</a:t>
                </a:r>
                <a:endParaRPr lang="en-US" sz="3600" dirty="0">
                  <a:latin typeface="Times New Roman" panose="02020603050405020304" pitchFamily="18" charset="0"/>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054350" y="7747643"/>
                <a:ext cx="9296400" cy="1409745"/>
              </a:xfrm>
              <a:prstGeom prst="rect">
                <a:avLst/>
              </a:prstGeom>
              <a:blipFill rotWithShape="0">
                <a:blip r:embed="rId3"/>
                <a:stretch>
                  <a:fillRect l="-1967" b="-15152"/>
                </a:stretch>
              </a:blipFill>
            </p:spPr>
            <p:txBody>
              <a:bodyPr/>
              <a:lstStyle/>
              <a:p>
                <a:r>
                  <a:rPr lang="en-US">
                    <a:noFill/>
                  </a:rPr>
                  <a:t> </a:t>
                </a:r>
              </a:p>
            </p:txBody>
          </p:sp>
        </mc:Fallback>
      </mc:AlternateContent>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08670" y="3397250"/>
            <a:ext cx="5585680" cy="34921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35607656"/>
      </p:ext>
    </p:extLst>
  </p:cSld>
  <p:clrMapOvr>
    <a:masterClrMapping/>
  </p:clrMapOvr>
  <mc:AlternateContent xmlns:mc="http://schemas.openxmlformats.org/markup-compatibility/2006" xmlns:p14="http://schemas.microsoft.com/office/powerpoint/2010/main">
    <mc:Choice Requires="p14">
      <p:transition spd="slow" p14:dur="1500" advTm="1889">
        <p14:reveal/>
      </p:transition>
    </mc:Choice>
    <mc:Fallback xmlns="">
      <p:transition spd="slow" advTm="1889">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oft Abstract Background Images - Free Download on Freepik">
            <a:extLst>
              <a:ext uri="{FF2B5EF4-FFF2-40B4-BE49-F238E27FC236}">
                <a16:creationId xmlns:a16="http://schemas.microsoft.com/office/drawing/2014/main" xmlns="" id="{A3D7F748-83C9-4BE4-84EE-E082E3A183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 y="-31750"/>
            <a:ext cx="18300700" cy="102997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58039DB6-884E-406E-B178-1C5280A19EF2}"/>
              </a:ext>
            </a:extLst>
          </p:cNvPr>
          <p:cNvSpPr txBox="1"/>
          <p:nvPr/>
        </p:nvSpPr>
        <p:spPr>
          <a:xfrm>
            <a:off x="2825750" y="806450"/>
            <a:ext cx="12287250" cy="923330"/>
          </a:xfrm>
          <a:prstGeom prst="rect">
            <a:avLst/>
          </a:prstGeom>
          <a:noFill/>
        </p:spPr>
        <p:txBody>
          <a:bodyPr wrap="square" rtlCol="0">
            <a:spAutoFit/>
          </a:bodyPr>
          <a:lstStyle/>
          <a:p>
            <a:r>
              <a:rPr lang="en-US" sz="5400" kern="0" dirty="0" smtClean="0">
                <a:solidFill>
                  <a:srgbClr val="FF0000"/>
                </a:solidFill>
                <a:latin typeface="Algerian" panose="04020705040A02060702" pitchFamily="82" charset="0"/>
                <a:ea typeface="Arial" panose="020B0604020202020204" pitchFamily="34" charset="0"/>
              </a:rPr>
              <a:t>          Orthonormal Functions</a:t>
            </a:r>
            <a:endParaRPr lang="en-US" sz="1400" dirty="0"/>
          </a:p>
        </p:txBody>
      </p:sp>
      <mc:AlternateContent xmlns:mc="http://schemas.openxmlformats.org/markup-compatibility/2006" xmlns:a14="http://schemas.microsoft.com/office/drawing/2010/main">
        <mc:Choice Requires="a14">
          <p:sp>
            <p:nvSpPr>
              <p:cNvPr id="4" name="TextBox 3"/>
              <p:cNvSpPr txBox="1"/>
              <p:nvPr/>
            </p:nvSpPr>
            <p:spPr>
              <a:xfrm>
                <a:off x="2216150" y="2238792"/>
                <a:ext cx="14249400" cy="7518405"/>
              </a:xfrm>
              <a:prstGeom prst="rect">
                <a:avLst/>
              </a:prstGeom>
              <a:noFill/>
            </p:spPr>
            <p:txBody>
              <a:bodyPr wrap="square" rtlCol="0">
                <a:spAutoFit/>
              </a:bodyPr>
              <a:lstStyle/>
              <a:p>
                <a:r>
                  <a:rPr lang="en-US" sz="4400" dirty="0" smtClean="0">
                    <a:latin typeface="Times New Roman" panose="02020603050405020304" pitchFamily="18" charset="0"/>
                    <a:cs typeface="Times New Roman" panose="02020603050405020304" pitchFamily="18" charset="0"/>
                  </a:rPr>
                  <a:t>Orthonormal functions are set of functions that are both:</a:t>
                </a:r>
              </a:p>
              <a:p>
                <a:r>
                  <a:rPr lang="en-US" sz="4400" dirty="0">
                    <a:latin typeface="Times New Roman" panose="02020603050405020304" pitchFamily="18" charset="0"/>
                    <a:cs typeface="Times New Roman" panose="02020603050405020304" pitchFamily="18" charset="0"/>
                  </a:rPr>
                  <a:t> </a:t>
                </a:r>
                <a:r>
                  <a:rPr lang="en-US" sz="4400" dirty="0" smtClean="0">
                    <a:latin typeface="Times New Roman" panose="02020603050405020304" pitchFamily="18" charset="0"/>
                    <a:cs typeface="Times New Roman" panose="02020603050405020304" pitchFamily="18" charset="0"/>
                  </a:rPr>
                  <a:t>  1. Orthogonal </a:t>
                </a:r>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 Their inner product is zero</a:t>
                </a:r>
              </a:p>
              <a:p>
                <a:r>
                  <a:rPr lang="en-US" sz="4400" dirty="0">
                    <a:latin typeface="Cambria Math" panose="02040503050406030204" pitchFamily="18" charset="0"/>
                    <a:ea typeface="Cambria Math" panose="02040503050406030204" pitchFamily="18" charset="0"/>
                    <a:cs typeface="Times New Roman" panose="02020603050405020304" pitchFamily="18" charset="0"/>
                  </a:rPr>
                  <a:t> </a:t>
                </a:r>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  2.</a:t>
                </a:r>
                <a:r>
                  <a:rPr lang="en-US" sz="4400" dirty="0">
                    <a:latin typeface="Times New Roman" panose="02020603050405020304" pitchFamily="18" charset="0"/>
                    <a:cs typeface="Times New Roman" panose="02020603050405020304" pitchFamily="18" charset="0"/>
                  </a:rPr>
                  <a:t> </a:t>
                </a:r>
                <a:r>
                  <a:rPr lang="en-US" sz="4400" dirty="0" smtClean="0">
                    <a:latin typeface="Times New Roman" panose="02020603050405020304" pitchFamily="18" charset="0"/>
                    <a:cs typeface="Times New Roman" panose="02020603050405020304" pitchFamily="18" charset="0"/>
                  </a:rPr>
                  <a:t>Normalized </a:t>
                </a:r>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 The inner product of a function with itself is one </a:t>
                </a:r>
              </a:p>
              <a:p>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Mathematically, two functions </a:t>
                </a:r>
                <a:r>
                  <a:rPr lang="en-US" sz="4400" dirty="0" err="1" smtClean="0">
                    <a:latin typeface="Cambria Math" panose="02040503050406030204" pitchFamily="18" charset="0"/>
                    <a:ea typeface="Cambria Math" panose="02040503050406030204" pitchFamily="18" charset="0"/>
                    <a:cs typeface="Times New Roman" panose="02020603050405020304" pitchFamily="18" charset="0"/>
                  </a:rPr>
                  <a:t>f</a:t>
                </a:r>
                <a:r>
                  <a:rPr lang="en-US" sz="4400" baseline="-25000" dirty="0" err="1" smtClean="0">
                    <a:latin typeface="Cambria Math" panose="02040503050406030204" pitchFamily="18" charset="0"/>
                    <a:ea typeface="Cambria Math" panose="02040503050406030204" pitchFamily="18" charset="0"/>
                    <a:cs typeface="Times New Roman" panose="02020603050405020304" pitchFamily="18" charset="0"/>
                  </a:rPr>
                  <a:t>m</a:t>
                </a:r>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(x) and </a:t>
                </a:r>
                <a:r>
                  <a:rPr lang="en-US" sz="4400" dirty="0" err="1" smtClean="0">
                    <a:latin typeface="Cambria Math" panose="02040503050406030204" pitchFamily="18" charset="0"/>
                    <a:ea typeface="Cambria Math" panose="02040503050406030204" pitchFamily="18" charset="0"/>
                    <a:cs typeface="Times New Roman" panose="02020603050405020304" pitchFamily="18" charset="0"/>
                  </a:rPr>
                  <a:t>f</a:t>
                </a:r>
                <a:r>
                  <a:rPr lang="en-US" sz="4400" baseline="-25000" dirty="0" err="1" smtClean="0">
                    <a:latin typeface="Cambria Math" panose="02040503050406030204" pitchFamily="18" charset="0"/>
                    <a:ea typeface="Cambria Math" panose="02040503050406030204" pitchFamily="18" charset="0"/>
                    <a:cs typeface="Times New Roman" panose="02020603050405020304" pitchFamily="18" charset="0"/>
                  </a:rPr>
                  <a:t>n</a:t>
                </a:r>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(x) are orthonormal if:                                                                                                                      </a:t>
                </a:r>
              </a:p>
              <a:p>
                <a:r>
                  <a:rPr lang="en-US" sz="4400" dirty="0" smtClean="0">
                    <a:cs typeface="Times New Roman" panose="02020603050405020304" pitchFamily="18" charset="0"/>
                  </a:rPr>
                  <a:t>                            </a:t>
                </a:r>
                <a14:m>
                  <m:oMath xmlns:m="http://schemas.openxmlformats.org/officeDocument/2006/math">
                    <m:nary>
                      <m:naryPr>
                        <m:ctrlPr>
                          <a:rPr lang="en-US" sz="4400" i="1">
                            <a:latin typeface="Cambria Math" panose="02040503050406030204" pitchFamily="18" charset="0"/>
                            <a:cs typeface="Times New Roman" panose="02020603050405020304" pitchFamily="18" charset="0"/>
                          </a:rPr>
                        </m:ctrlPr>
                      </m:naryPr>
                      <m:sub>
                        <m:r>
                          <m:rPr>
                            <m:brk m:alnAt="23"/>
                          </m:rPr>
                          <a:rPr lang="en-US" sz="4400" i="1">
                            <a:latin typeface="Cambria Math" panose="02040503050406030204" pitchFamily="18" charset="0"/>
                            <a:cs typeface="Times New Roman" panose="02020603050405020304" pitchFamily="18" charset="0"/>
                          </a:rPr>
                          <m:t>𝑎</m:t>
                        </m:r>
                      </m:sub>
                      <m:sup>
                        <m:r>
                          <a:rPr lang="en-US" sz="4400" i="1">
                            <a:latin typeface="Cambria Math" panose="02040503050406030204" pitchFamily="18" charset="0"/>
                            <a:cs typeface="Times New Roman" panose="02020603050405020304" pitchFamily="18" charset="0"/>
                          </a:rPr>
                          <m:t>𝑏</m:t>
                        </m:r>
                      </m:sup>
                      <m:e>
                        <m:r>
                          <m:rPr>
                            <m:nor/>
                          </m:rPr>
                          <a:rPr lang="en-US" sz="4400" dirty="0">
                            <a:latin typeface="Times New Roman" panose="02020603050405020304" pitchFamily="18" charset="0"/>
                            <a:cs typeface="Times New Roman" panose="02020603050405020304" pitchFamily="18" charset="0"/>
                          </a:rPr>
                          <m:t>f</m:t>
                        </m:r>
                        <m:r>
                          <m:rPr>
                            <m:nor/>
                          </m:rPr>
                          <a:rPr lang="en-US" sz="4400" baseline="-25000" dirty="0">
                            <a:latin typeface="Times New Roman" panose="02020603050405020304" pitchFamily="18" charset="0"/>
                            <a:cs typeface="Times New Roman" panose="02020603050405020304" pitchFamily="18" charset="0"/>
                          </a:rPr>
                          <m:t>m</m:t>
                        </m:r>
                        <m:d>
                          <m:dPr>
                            <m:ctrlPr>
                              <a:rPr lang="en-US" sz="4400" i="1">
                                <a:latin typeface="Cambria Math" panose="02040503050406030204" pitchFamily="18" charset="0"/>
                                <a:cs typeface="Times New Roman" panose="02020603050405020304" pitchFamily="18" charset="0"/>
                              </a:rPr>
                            </m:ctrlPr>
                          </m:dPr>
                          <m:e>
                            <m:r>
                              <a:rPr lang="en-US" sz="4400" i="1">
                                <a:latin typeface="Cambria Math" panose="02040503050406030204" pitchFamily="18" charset="0"/>
                                <a:cs typeface="Times New Roman" panose="02020603050405020304" pitchFamily="18" charset="0"/>
                              </a:rPr>
                              <m:t>𝑥</m:t>
                            </m:r>
                          </m:e>
                        </m:d>
                        <m:r>
                          <m:rPr>
                            <m:nor/>
                          </m:rPr>
                          <a:rPr lang="en-US" sz="4400" b="0" i="0" smtClean="0">
                            <a:latin typeface="Cambria Math" panose="02040503050406030204" pitchFamily="18" charset="0"/>
                            <a:cs typeface="Times New Roman" panose="02020603050405020304" pitchFamily="18" charset="0"/>
                          </a:rPr>
                          <m:t> </m:t>
                        </m:r>
                        <m:r>
                          <m:rPr>
                            <m:nor/>
                          </m:rPr>
                          <a:rPr lang="en-US" sz="4400" dirty="0">
                            <a:latin typeface="Times New Roman" panose="02020603050405020304" pitchFamily="18" charset="0"/>
                            <a:cs typeface="Times New Roman" panose="02020603050405020304" pitchFamily="18" charset="0"/>
                          </a:rPr>
                          <m:t>f</m:t>
                        </m:r>
                        <m:r>
                          <m:rPr>
                            <m:nor/>
                          </m:rPr>
                          <a:rPr lang="en-US" sz="4400" baseline="-25000" dirty="0">
                            <a:latin typeface="Times New Roman" panose="02020603050405020304" pitchFamily="18" charset="0"/>
                            <a:cs typeface="Times New Roman" panose="02020603050405020304" pitchFamily="18" charset="0"/>
                          </a:rPr>
                          <m:t>n</m:t>
                        </m:r>
                        <m:d>
                          <m:dPr>
                            <m:ctrlPr>
                              <a:rPr lang="en-US" sz="4400" i="1">
                                <a:latin typeface="Cambria Math" panose="02040503050406030204" pitchFamily="18" charset="0"/>
                                <a:cs typeface="Times New Roman" panose="02020603050405020304" pitchFamily="18" charset="0"/>
                              </a:rPr>
                            </m:ctrlPr>
                          </m:dPr>
                          <m:e>
                            <m:r>
                              <a:rPr lang="en-US" sz="4400" i="1">
                                <a:latin typeface="Cambria Math" panose="02040503050406030204" pitchFamily="18" charset="0"/>
                                <a:cs typeface="Times New Roman" panose="02020603050405020304" pitchFamily="18" charset="0"/>
                              </a:rPr>
                              <m:t>𝑥</m:t>
                            </m:r>
                          </m:e>
                        </m:d>
                        <m:r>
                          <a:rPr lang="en-US" sz="4400" i="1">
                            <a:latin typeface="Cambria Math" panose="02040503050406030204" pitchFamily="18" charset="0"/>
                            <a:cs typeface="Times New Roman" panose="02020603050405020304" pitchFamily="18" charset="0"/>
                          </a:rPr>
                          <m:t> </m:t>
                        </m:r>
                        <m:r>
                          <a:rPr lang="en-US" sz="4400" i="1">
                            <a:latin typeface="Cambria Math" panose="02040503050406030204" pitchFamily="18" charset="0"/>
                            <a:cs typeface="Times New Roman" panose="02020603050405020304" pitchFamily="18" charset="0"/>
                          </a:rPr>
                          <m:t>𝑑𝑥</m:t>
                        </m:r>
                      </m:e>
                    </m:nary>
                    <m:r>
                      <a:rPr lang="en-US" sz="4400" b="0" i="0" smtClean="0">
                        <a:latin typeface="Cambria Math" panose="02040503050406030204" pitchFamily="18" charset="0"/>
                        <a:cs typeface="Times New Roman" panose="02020603050405020304" pitchFamily="18" charset="0"/>
                      </a:rPr>
                      <m:t> </m:t>
                    </m:r>
                  </m:oMath>
                </a14:m>
                <a:r>
                  <a:rPr lang="en-US" sz="4400" dirty="0" smtClean="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sz="4400" i="1" smtClean="0">
                            <a:latin typeface="Cambria Math" panose="02040503050406030204" pitchFamily="18" charset="0"/>
                            <a:cs typeface="Times New Roman" panose="02020603050405020304" pitchFamily="18" charset="0"/>
                          </a:rPr>
                        </m:ctrlPr>
                      </m:dPr>
                      <m:e>
                        <m:eqArr>
                          <m:eqArrPr>
                            <m:ctrlPr>
                              <a:rPr lang="en-US" sz="4400" i="1" smtClean="0">
                                <a:latin typeface="Cambria Math" panose="02040503050406030204" pitchFamily="18" charset="0"/>
                                <a:cs typeface="Times New Roman" panose="02020603050405020304" pitchFamily="18" charset="0"/>
                              </a:rPr>
                            </m:ctrlPr>
                          </m:eqArrPr>
                          <m:e>
                            <m:r>
                              <a:rPr lang="en-US" sz="4400" b="0" i="1" smtClean="0">
                                <a:latin typeface="Cambria Math" panose="02040503050406030204" pitchFamily="18" charset="0"/>
                                <a:cs typeface="Times New Roman" panose="02020603050405020304" pitchFamily="18" charset="0"/>
                              </a:rPr>
                              <m:t>1, </m:t>
                            </m:r>
                            <m:r>
                              <a:rPr lang="en-US" sz="4400" b="0" i="1" smtClean="0">
                                <a:latin typeface="Cambria Math" panose="02040503050406030204" pitchFamily="18" charset="0"/>
                                <a:cs typeface="Times New Roman" panose="02020603050405020304" pitchFamily="18" charset="0"/>
                              </a:rPr>
                              <m:t>𝑚</m:t>
                            </m:r>
                            <m:r>
                              <a:rPr lang="en-US" sz="4400" b="0" i="1" smtClean="0">
                                <a:latin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cs typeface="Times New Roman" panose="02020603050405020304" pitchFamily="18" charset="0"/>
                              </a:rPr>
                              <m:t>𝑛</m:t>
                            </m:r>
                          </m:e>
                          <m:e>
                            <m:r>
                              <a:rPr lang="en-US" sz="4400" b="0" i="1" smtClean="0">
                                <a:latin typeface="Cambria Math" panose="02040503050406030204" pitchFamily="18" charset="0"/>
                                <a:cs typeface="Times New Roman" panose="02020603050405020304" pitchFamily="18" charset="0"/>
                              </a:rPr>
                              <m:t>0, </m:t>
                            </m:r>
                            <m:r>
                              <a:rPr lang="en-US" sz="4400" b="0" i="1" smtClean="0">
                                <a:latin typeface="Cambria Math" panose="02040503050406030204" pitchFamily="18" charset="0"/>
                                <a:cs typeface="Times New Roman" panose="02020603050405020304" pitchFamily="18" charset="0"/>
                              </a:rPr>
                              <m:t>𝑚</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𝑛</m:t>
                            </m:r>
                          </m:e>
                        </m:eqArr>
                      </m:e>
                    </m:d>
                  </m:oMath>
                </a14:m>
                <a:endParaRPr lang="en-US" sz="4400" dirty="0" smtClean="0">
                  <a:latin typeface="Times New Roman" panose="02020603050405020304" pitchFamily="18" charset="0"/>
                  <a:cs typeface="Times New Roman" panose="02020603050405020304" pitchFamily="18" charset="0"/>
                </a:endParaRPr>
              </a:p>
              <a:p>
                <a:r>
                  <a:rPr lang="en-US" sz="4400" b="1" dirty="0" smtClean="0">
                    <a:solidFill>
                      <a:srgbClr val="FF0000"/>
                    </a:solidFill>
                    <a:latin typeface="Times New Roman" panose="02020603050405020304" pitchFamily="18" charset="0"/>
                    <a:cs typeface="Times New Roman" panose="02020603050405020304" pitchFamily="18" charset="0"/>
                  </a:rPr>
                  <a:t>Formula: </a:t>
                </a:r>
                <a:r>
                  <a:rPr lang="el-GR" sz="4400" b="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a:t>φ</a:t>
                </a:r>
                <a:r>
                  <a:rPr lang="en-US" sz="4400" b="1" baseline="-25000"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a:t>n</a:t>
                </a:r>
                <a:r>
                  <a:rPr lang="en-US" sz="4400" b="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r>
                      <a:rPr lang="en-US" sz="4400" b="1" i="1">
                        <a:solidFill>
                          <a:srgbClr val="FF0000"/>
                        </a:solidFill>
                        <a:latin typeface="Cambria Math" panose="02040503050406030204" pitchFamily="18" charset="0"/>
                        <a:cs typeface="Times New Roman" panose="02020603050405020304" pitchFamily="18" charset="0"/>
                      </a:rPr>
                      <m:t>𝒙</m:t>
                    </m:r>
                  </m:oMath>
                </a14:m>
                <a:r>
                  <a:rPr lang="en-US" sz="4400" b="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a:t>) = </a:t>
                </a:r>
                <a:r>
                  <a:rPr lang="en-US" sz="4400" b="1" baseline="-25000"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f>
                      <m:fPr>
                        <m:ctrlPr>
                          <a:rPr lang="en-US" sz="4400" b="1" i="1" baseline="-250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en-US" sz="4400" b="1" dirty="0">
                            <a:solidFill>
                              <a:srgbClr val="FF0000"/>
                            </a:solidFill>
                            <a:latin typeface="Times New Roman" panose="02020603050405020304" pitchFamily="18" charset="0"/>
                            <a:cs typeface="Times New Roman" panose="02020603050405020304" pitchFamily="18" charset="0"/>
                          </a:rPr>
                          <m:t>f</m:t>
                        </m:r>
                        <m:r>
                          <m:rPr>
                            <m:nor/>
                          </m:rPr>
                          <a:rPr lang="en-US" sz="4400" b="1" baseline="-25000" dirty="0">
                            <a:solidFill>
                              <a:srgbClr val="FF0000"/>
                            </a:solidFill>
                            <a:latin typeface="Times New Roman" panose="02020603050405020304" pitchFamily="18" charset="0"/>
                            <a:cs typeface="Times New Roman" panose="02020603050405020304" pitchFamily="18" charset="0"/>
                          </a:rPr>
                          <m:t>n</m:t>
                        </m:r>
                        <m:d>
                          <m:dPr>
                            <m:ctrlPr>
                              <a:rPr lang="en-US" sz="4400" b="1" i="1">
                                <a:solidFill>
                                  <a:srgbClr val="FF0000"/>
                                </a:solidFill>
                                <a:latin typeface="Cambria Math" panose="02040503050406030204" pitchFamily="18" charset="0"/>
                                <a:cs typeface="Times New Roman" panose="02020603050405020304" pitchFamily="18" charset="0"/>
                              </a:rPr>
                            </m:ctrlPr>
                          </m:dPr>
                          <m:e>
                            <m:r>
                              <a:rPr lang="en-US" sz="4400" b="1" i="1">
                                <a:solidFill>
                                  <a:srgbClr val="FF0000"/>
                                </a:solidFill>
                                <a:latin typeface="Cambria Math" panose="02040503050406030204" pitchFamily="18" charset="0"/>
                                <a:cs typeface="Times New Roman" panose="02020603050405020304" pitchFamily="18" charset="0"/>
                              </a:rPr>
                              <m:t>𝒙</m:t>
                            </m:r>
                          </m:e>
                        </m:d>
                      </m:num>
                      <m:den>
                        <m:r>
                          <a:rPr lang="en-US" sz="4400" b="1" i="1" smtClean="0">
                            <a:solidFill>
                              <a:srgbClr val="FF0000"/>
                            </a:solidFill>
                            <a:latin typeface="Cambria Math" panose="02040503050406030204" pitchFamily="18" charset="0"/>
                            <a:cs typeface="Times New Roman" panose="02020603050405020304" pitchFamily="18" charset="0"/>
                          </a:rPr>
                          <m:t>||</m:t>
                        </m:r>
                        <m:r>
                          <m:rPr>
                            <m:nor/>
                          </m:rPr>
                          <a:rPr lang="en-US" sz="4400" b="1" dirty="0">
                            <a:solidFill>
                              <a:srgbClr val="FF0000"/>
                            </a:solidFill>
                            <a:latin typeface="Times New Roman" panose="02020603050405020304" pitchFamily="18" charset="0"/>
                            <a:cs typeface="Times New Roman" panose="02020603050405020304" pitchFamily="18" charset="0"/>
                          </a:rPr>
                          <m:t>f</m:t>
                        </m:r>
                        <m:r>
                          <m:rPr>
                            <m:nor/>
                          </m:rPr>
                          <a:rPr lang="en-US" sz="4400" b="1" baseline="-25000" dirty="0">
                            <a:solidFill>
                              <a:srgbClr val="FF0000"/>
                            </a:solidFill>
                            <a:latin typeface="Times New Roman" panose="02020603050405020304" pitchFamily="18" charset="0"/>
                            <a:cs typeface="Times New Roman" panose="02020603050405020304" pitchFamily="18" charset="0"/>
                          </a:rPr>
                          <m:t>n</m:t>
                        </m:r>
                        <m:d>
                          <m:dPr>
                            <m:ctrlPr>
                              <a:rPr lang="en-US" sz="4400" b="1" i="1">
                                <a:solidFill>
                                  <a:srgbClr val="FF0000"/>
                                </a:solidFill>
                                <a:latin typeface="Cambria Math" panose="02040503050406030204" pitchFamily="18" charset="0"/>
                                <a:cs typeface="Times New Roman" panose="02020603050405020304" pitchFamily="18" charset="0"/>
                              </a:rPr>
                            </m:ctrlPr>
                          </m:dPr>
                          <m:e>
                            <m:r>
                              <a:rPr lang="en-US" sz="4400" b="1" i="1">
                                <a:solidFill>
                                  <a:srgbClr val="FF0000"/>
                                </a:solidFill>
                                <a:latin typeface="Cambria Math" panose="02040503050406030204" pitchFamily="18" charset="0"/>
                                <a:cs typeface="Times New Roman" panose="02020603050405020304" pitchFamily="18" charset="0"/>
                              </a:rPr>
                              <m:t>𝒙</m:t>
                            </m:r>
                          </m:e>
                        </m:d>
                        <m:r>
                          <a:rPr lang="en-US" sz="4400" b="1" i="1" smtClean="0">
                            <a:solidFill>
                              <a:srgbClr val="FF0000"/>
                            </a:solidFill>
                            <a:latin typeface="Cambria Math" panose="02040503050406030204" pitchFamily="18" charset="0"/>
                            <a:cs typeface="Times New Roman" panose="02020603050405020304" pitchFamily="18" charset="0"/>
                          </a:rPr>
                          <m:t>||</m:t>
                        </m:r>
                      </m:den>
                    </m:f>
                  </m:oMath>
                </a14:m>
                <a:endParaRPr lang="en-US" sz="4400" b="1" dirty="0">
                  <a:solidFill>
                    <a:srgbClr val="FF0000"/>
                  </a:solidFill>
                  <a:latin typeface="Times New Roman" panose="02020603050405020304" pitchFamily="18" charset="0"/>
                  <a:cs typeface="Times New Roman" panose="02020603050405020304" pitchFamily="18" charset="0"/>
                </a:endParaRPr>
              </a:p>
              <a:p>
                <a:endParaRPr lang="en-US" sz="4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216150" y="2238792"/>
                <a:ext cx="14249400" cy="7518405"/>
              </a:xfrm>
              <a:prstGeom prst="rect">
                <a:avLst/>
              </a:prstGeom>
              <a:blipFill rotWithShape="0">
                <a:blip r:embed="rId5"/>
                <a:stretch>
                  <a:fillRect l="-1754" t="-1540" r="-311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0979150" y="8504980"/>
                <a:ext cx="6096000" cy="1344984"/>
              </a:xfrm>
              <a:prstGeom prst="rect">
                <a:avLst/>
              </a:prstGeom>
              <a:solidFill>
                <a:srgbClr val="FFFF00"/>
              </a:solidFill>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Example: </a:t>
                </a:r>
                <a:r>
                  <a:rPr lang="el-GR" sz="4000" dirty="0">
                    <a:latin typeface="Cambria Math" panose="02040503050406030204" pitchFamily="18" charset="0"/>
                    <a:ea typeface="Cambria Math" panose="02040503050406030204" pitchFamily="18" charset="0"/>
                    <a:cs typeface="Times New Roman" panose="02020603050405020304" pitchFamily="18" charset="0"/>
                  </a:rPr>
                  <a:t>φ</a:t>
                </a:r>
                <a:r>
                  <a:rPr lang="en-US" sz="4000" baseline="-25000" dirty="0">
                    <a:latin typeface="Cambria Math" panose="02040503050406030204" pitchFamily="18" charset="0"/>
                    <a:ea typeface="Cambria Math" panose="02040503050406030204" pitchFamily="18" charset="0"/>
                    <a:cs typeface="Times New Roman" panose="02020603050405020304" pitchFamily="18" charset="0"/>
                  </a:rPr>
                  <a:t>n</a:t>
                </a:r>
                <a:r>
                  <a:rPr lang="en-US" sz="4000" dirty="0">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r>
                      <a:rPr lang="en-US" sz="4000" i="1">
                        <a:latin typeface="Cambria Math" panose="02040503050406030204" pitchFamily="18" charset="0"/>
                        <a:cs typeface="Times New Roman" panose="02020603050405020304" pitchFamily="18" charset="0"/>
                      </a:rPr>
                      <m:t>𝑥</m:t>
                    </m:r>
                  </m:oMath>
                </a14:m>
                <a:r>
                  <a:rPr lang="en-US" sz="4000" dirty="0" smtClean="0">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rad>
                      <m:radPr>
                        <m:degHide m:val="on"/>
                        <m:ctrlPr>
                          <a:rPr lang="en-US" sz="4000" i="1" smtClean="0">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en-US" sz="400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sz="4000" b="0" i="1" smtClean="0">
                                <a:latin typeface="Cambria Math" panose="02040503050406030204" pitchFamily="18" charset="0"/>
                                <a:ea typeface="Cambria Math" panose="02040503050406030204" pitchFamily="18" charset="0"/>
                                <a:cs typeface="Times New Roman" panose="02020603050405020304" pitchFamily="18" charset="0"/>
                              </a:rPr>
                              <m:t>2</m:t>
                            </m:r>
                          </m:num>
                          <m:den>
                            <m:r>
                              <m:rPr>
                                <m:sty m:val="p"/>
                              </m:rPr>
                              <a:rPr lang="el-GR" sz="4000" i="1" smtClean="0">
                                <a:latin typeface="Cambria Math" panose="02040503050406030204" pitchFamily="18" charset="0"/>
                                <a:ea typeface="Cambria Math" panose="02040503050406030204" pitchFamily="18" charset="0"/>
                                <a:cs typeface="Times New Roman" panose="02020603050405020304" pitchFamily="18" charset="0"/>
                              </a:rPr>
                              <m:t>π</m:t>
                            </m:r>
                          </m:den>
                        </m:f>
                      </m:e>
                    </m:rad>
                  </m:oMath>
                </a14:m>
                <a:r>
                  <a:rPr lang="en-US" sz="4000" dirty="0" smtClean="0">
                    <a:latin typeface="Times New Roman" panose="02020603050405020304" pitchFamily="18" charset="0"/>
                    <a:cs typeface="Times New Roman" panose="02020603050405020304" pitchFamily="18" charset="0"/>
                  </a:rPr>
                  <a:t> sin n</a:t>
                </a:r>
                <a:r>
                  <a:rPr lang="en-US" sz="4000" dirty="0">
                    <a:cs typeface="Times New Roman" panose="02020603050405020304" pitchFamily="18" charset="0"/>
                  </a:rPr>
                  <a:t> </a:t>
                </a:r>
                <a14:m>
                  <m:oMath xmlns:m="http://schemas.openxmlformats.org/officeDocument/2006/math">
                    <m:r>
                      <a:rPr lang="en-US" sz="4000" i="1">
                        <a:latin typeface="Cambria Math" panose="02040503050406030204" pitchFamily="18" charset="0"/>
                        <a:cs typeface="Times New Roman" panose="02020603050405020304" pitchFamily="18" charset="0"/>
                      </a:rPr>
                      <m:t>𝑥</m:t>
                    </m:r>
                  </m:oMath>
                </a14:m>
                <a:endParaRPr lang="en-US" sz="4000" dirty="0">
                  <a:latin typeface="Times New Roman" panose="02020603050405020304" pitchFamily="18" charset="0"/>
                  <a:cs typeface="Times New Roman" panose="020206030504050203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0979150" y="8504980"/>
                <a:ext cx="6096000" cy="1344984"/>
              </a:xfrm>
              <a:prstGeom prst="rect">
                <a:avLst/>
              </a:prstGeom>
              <a:blipFill rotWithShape="0">
                <a:blip r:embed="rId6"/>
                <a:stretch>
                  <a:fillRect l="-3500"/>
                </a:stretch>
              </a:blipFill>
            </p:spPr>
            <p:txBody>
              <a:bodyPr/>
              <a:lstStyle/>
              <a:p>
                <a:r>
                  <a:rPr lang="en-US">
                    <a:noFill/>
                  </a:rPr>
                  <a:t> </a:t>
                </a:r>
              </a:p>
            </p:txBody>
          </p:sp>
        </mc:Fallback>
      </mc:AlternateContent>
    </p:spTree>
    <p:extLst>
      <p:ext uri="{BB962C8B-B14F-4D97-AF65-F5344CB8AC3E}">
        <p14:creationId xmlns:p14="http://schemas.microsoft.com/office/powerpoint/2010/main" val="3816572636"/>
      </p:ext>
    </p:extLst>
  </p:cSld>
  <p:clrMapOvr>
    <a:masterClrMapping/>
  </p:clrMapOvr>
  <mc:AlternateContent xmlns:mc="http://schemas.openxmlformats.org/markup-compatibility/2006" xmlns:p14="http://schemas.microsoft.com/office/powerpoint/2010/main">
    <mc:Choice Requires="p14">
      <p:transition spd="med" p14:dur="700" advTm="2598">
        <p:fade/>
      </p:transition>
    </mc:Choice>
    <mc:Fallback xmlns="">
      <p:transition spd="med" advTm="2598">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CBBAA1-361B-4E83-8230-81D46462FAE2}"/>
              </a:ext>
            </a:extLst>
          </p:cNvPr>
          <p:cNvSpPr>
            <a:spLocks noGrp="1"/>
          </p:cNvSpPr>
          <p:nvPr>
            <p:ph type="title"/>
          </p:nvPr>
        </p:nvSpPr>
        <p:spPr/>
        <p:txBody>
          <a:bodyPr/>
          <a:lstStyle/>
          <a:p>
            <a:endParaRPr lang="en-US"/>
          </a:p>
        </p:txBody>
      </p:sp>
      <p:pic>
        <p:nvPicPr>
          <p:cNvPr id="5122" name="Picture 2" descr="Powerpoint Background&quot; Images – Browse 13,951 Stock Photos, Vectors, and  Video | Adobe Stock">
            <a:extLst>
              <a:ext uri="{FF2B5EF4-FFF2-40B4-BE49-F238E27FC236}">
                <a16:creationId xmlns:a16="http://schemas.microsoft.com/office/drawing/2014/main" xmlns="" id="{27915A2E-0F1A-4618-834D-2C373BC3CB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0"/>
            <a:ext cx="18305639" cy="103314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5EA5BC5D-8BBF-4AE1-A2F4-9EDDE7211DAC}"/>
              </a:ext>
            </a:extLst>
          </p:cNvPr>
          <p:cNvSpPr txBox="1"/>
          <p:nvPr/>
        </p:nvSpPr>
        <p:spPr>
          <a:xfrm>
            <a:off x="996949" y="844552"/>
            <a:ext cx="15925801" cy="1015663"/>
          </a:xfrm>
          <a:prstGeom prst="rect">
            <a:avLst/>
          </a:prstGeom>
          <a:noFill/>
        </p:spPr>
        <p:txBody>
          <a:bodyPr wrap="square" rtlCol="0">
            <a:spAutoFit/>
          </a:bodyPr>
          <a:lstStyle/>
          <a:p>
            <a:r>
              <a:rPr lang="en-US" sz="6000" dirty="0" smtClean="0">
                <a:solidFill>
                  <a:schemeClr val="accent6">
                    <a:lumMod val="50000"/>
                  </a:schemeClr>
                </a:solidFill>
                <a:latin typeface="Algerian" panose="04020705040A02060702" pitchFamily="82" charset="0"/>
              </a:rPr>
              <a:t>                          Weight Function</a:t>
            </a:r>
            <a:endParaRPr lang="en-US" sz="6000" dirty="0">
              <a:solidFill>
                <a:schemeClr val="accent6">
                  <a:lumMod val="50000"/>
                </a:schemeClr>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5" name="Rectangle 4"/>
              <p:cNvSpPr/>
              <p:nvPr/>
            </p:nvSpPr>
            <p:spPr>
              <a:xfrm>
                <a:off x="1493118" y="2755489"/>
                <a:ext cx="15773401" cy="56025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a:t>
                </a:r>
                <a14:m>
                  <m:oMath xmlns:m="http://schemas.openxmlformats.org/officeDocument/2006/math">
                    <m:sSup>
                      <m:sSupPr>
                        <m:ctrlP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sSupPr>
                      <m:e>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𝑓</m:t>
                        </m:r>
                      </m:e>
                      <m:sup>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𝑛</m:t>
                        </m:r>
                      </m:sup>
                    </m:sSup>
                  </m:oMath>
                </a14:m>
                <a:r>
                  <a:rPr lang="en-US" sz="4400" b="0" i="1"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a:t>: </a:t>
                </a:r>
                <a:r>
                  <a:rPr lang="en-US" sz="4400" b="0"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a:t>A set </a:t>
                </a:r>
                <a:r>
                  <a:rPr lang="en-US" sz="4400" dirty="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a:t>of r</a:t>
                </a:r>
                <a:r>
                  <a:rPr lang="en-US" sz="4400" b="0"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a:t>eal functions {</a:t>
                </a:r>
                <a:r>
                  <a:rPr lang="el-GR" sz="440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φ</a:t>
                </a:r>
                <a:r>
                  <a:rPr lang="en-US" sz="4400" baseline="-2500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1</a:t>
                </a:r>
                <a:r>
                  <a:rPr lang="en-US" sz="440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r>
                      <a:rPr lang="en-US" sz="4400" i="1">
                        <a:solidFill>
                          <a:schemeClr val="tx1"/>
                        </a:solidFill>
                        <a:latin typeface="Cambria Math" panose="02040503050406030204" pitchFamily="18" charset="0"/>
                        <a:cs typeface="Times New Roman" panose="02020603050405020304" pitchFamily="18" charset="0"/>
                      </a:rPr>
                      <m:t>𝑥</m:t>
                    </m:r>
                  </m:oMath>
                </a14:m>
                <a:r>
                  <a:rPr lang="en-US" sz="440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r>
                  <a:rPr lang="el-GR" sz="440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φ</a:t>
                </a:r>
                <a:r>
                  <a:rPr lang="en-US" sz="4400" baseline="-2500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2</a:t>
                </a:r>
                <a:r>
                  <a:rPr lang="en-US" sz="440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r>
                      <a:rPr lang="en-US" sz="4400" i="1">
                        <a:solidFill>
                          <a:schemeClr val="tx1"/>
                        </a:solidFill>
                        <a:latin typeface="Cambria Math" panose="02040503050406030204" pitchFamily="18" charset="0"/>
                        <a:cs typeface="Times New Roman" panose="02020603050405020304" pitchFamily="18" charset="0"/>
                      </a:rPr>
                      <m:t>𝑥</m:t>
                    </m:r>
                  </m:oMath>
                </a14:m>
                <a:r>
                  <a:rPr lang="en-US" sz="440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 ,</a:t>
                </a:r>
                <a:r>
                  <a:rPr lang="el-GR" sz="440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φ</a:t>
                </a:r>
                <a:r>
                  <a:rPr lang="en-US" sz="4400"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n</a:t>
                </a:r>
                <a:r>
                  <a:rPr lang="en-US" sz="4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r>
                      <a:rPr lang="en-US" sz="4400" i="1">
                        <a:solidFill>
                          <a:schemeClr val="tx1"/>
                        </a:solidFill>
                        <a:latin typeface="Cambria Math" panose="02040503050406030204" pitchFamily="18" charset="0"/>
                        <a:cs typeface="Times New Roman" panose="02020603050405020304" pitchFamily="18" charset="0"/>
                      </a:rPr>
                      <m:t>𝑥</m:t>
                    </m:r>
                  </m:oMath>
                </a14:m>
                <a:r>
                  <a:rPr lang="en-US" sz="440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is orthogonal respect a function w(x) on an interval [</a:t>
                </a:r>
                <a:r>
                  <a:rPr lang="en-US" sz="4400" dirty="0" err="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a,b</a:t>
                </a:r>
                <a:r>
                  <a:rPr lang="en-US" sz="4400"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a:t>
                </a:r>
              </a:p>
              <a:p>
                <a:r>
                  <a:rPr lang="en-US" sz="4400" b="0"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a:t>    </a:t>
                </a:r>
                <a14:m>
                  <m:oMath xmlns:m="http://schemas.openxmlformats.org/officeDocument/2006/math">
                    <m:nary>
                      <m:naryPr>
                        <m:ctrlPr>
                          <a:rPr lang="en-US" sz="44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naryPr>
                      <m:sub>
                        <m:r>
                          <m:rPr>
                            <m:brk m:alnAt="23"/>
                          </m:rPr>
                          <a:rPr lang="en-US" sz="440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𝑎</m:t>
                        </m:r>
                      </m:sub>
                      <m:sup>
                        <m:r>
                          <a:rPr lang="en-US" sz="440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𝑏</m:t>
                        </m:r>
                      </m:sup>
                      <m:e>
                        <m:r>
                          <m:rPr>
                            <m:sty m:val="p"/>
                          </m:rPr>
                          <a:rPr lang="en-US" sz="4400" b="0" i="0"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w</m:t>
                        </m:r>
                        <m:r>
                          <a:rPr lang="en-US" sz="4400" b="0" i="0"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r>
                          <a:rPr lang="en-US" sz="4400" i="1">
                            <a:solidFill>
                              <a:schemeClr val="tx1"/>
                            </a:solidFill>
                            <a:latin typeface="Cambria Math" panose="02040503050406030204" pitchFamily="18" charset="0"/>
                            <a:cs typeface="Times New Roman" panose="02020603050405020304" pitchFamily="18" charset="0"/>
                          </a:rPr>
                          <m:t>𝑥</m:t>
                        </m:r>
                        <m:r>
                          <a:rPr lang="en-US" sz="4400" b="0" i="0"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r>
                          <m:rPr>
                            <m:nor/>
                          </m:rPr>
                          <a:rPr lang="el-GR" sz="4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φ</m:t>
                        </m:r>
                        <m:r>
                          <m:rPr>
                            <m:nor/>
                          </m:rPr>
                          <a:rPr lang="en-US" sz="4400" baseline="-25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n</m:t>
                        </m:r>
                        <m:r>
                          <m:rPr>
                            <m:nor/>
                          </m:rPr>
                          <a:rPr lang="en-US" sz="4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sz="4400" i="1">
                            <a:solidFill>
                              <a:schemeClr val="tx1"/>
                            </a:solidFill>
                            <a:latin typeface="Cambria Math" panose="02040503050406030204" pitchFamily="18" charset="0"/>
                            <a:cs typeface="Times New Roman" panose="02020603050405020304" pitchFamily="18" charset="0"/>
                          </a:rPr>
                          <m:t>𝑥</m:t>
                        </m:r>
                        <m:r>
                          <m:rPr>
                            <m:nor/>
                          </m:rPr>
                          <a:rPr lang="en-US" sz="44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sz="440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𝑑𝑥</m:t>
                        </m:r>
                      </m:e>
                    </m:nary>
                  </m:oMath>
                </a14:m>
                <a:r>
                  <a:rPr lang="en-US" sz="4400"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a:t> = 0    but </a:t>
                </a:r>
                <a14:m>
                  <m:oMath xmlns:m="http://schemas.openxmlformats.org/officeDocument/2006/math">
                    <m:r>
                      <m:rPr>
                        <m:sty m:val="p"/>
                      </m:rPr>
                      <a:rPr lang="en-US" sz="4400" b="0" i="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m:t>
                    </m:r>
                    <m:r>
                      <a:rPr lang="en-US" sz="44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𝑛</m:t>
                    </m:r>
                  </m:oMath>
                </a14:m>
                <a:r>
                  <a:rPr lang="en-US" sz="4400"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a:t> </a:t>
                </a:r>
                <a:endParaRPr lang="en-US" sz="4400" dirty="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endParaRPr>
              </a:p>
              <a:p>
                <a:endParaRPr lang="en-US" sz="4400" b="0" i="1"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endParaRPr>
              </a:p>
              <a:p>
                <a:r>
                  <a:rPr lang="en-US" sz="4400" i="1" dirty="0"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a:t>Example: w(x)= </a:t>
                </a:r>
                <a14:m>
                  <m:oMath xmlns:m="http://schemas.openxmlformats.org/officeDocument/2006/math">
                    <m:sSup>
                      <m:sSupPr>
                        <m:ctrlPr>
                          <a:rPr lang="en-US" sz="4400" b="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sSupPr>
                      <m:e>
                        <m:r>
                          <a:rPr lang="en-US" sz="4400" b="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𝑒</m:t>
                        </m:r>
                      </m:e>
                      <m:sup>
                        <m:r>
                          <a:rPr lang="en-US" sz="4400" b="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r>
                          <a:rPr lang="en-US" sz="4400" b="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𝑥</m:t>
                        </m:r>
                      </m:sup>
                    </m:sSup>
                  </m:oMath>
                </a14:m>
                <a:endParaRPr lang="en-US" sz="4400" dirty="0" smtClean="0">
                  <a:latin typeface="Times New Roman" panose="02020603050405020304" pitchFamily="18" charset="0"/>
                  <a:cs typeface="Times New Roman" panose="02020603050405020304" pitchFamily="18" charset="0"/>
                </a:endParaRPr>
              </a:p>
              <a:p>
                <a:endParaRPr lang="en-US" sz="4400" dirty="0">
                  <a:latin typeface="Times New Roman" panose="02020603050405020304" pitchFamily="18" charset="0"/>
                  <a:cs typeface="Times New Roman" panose="02020603050405020304" pitchFamily="18" charset="0"/>
                </a:endParaRPr>
              </a:p>
              <a:p>
                <a:r>
                  <a:rPr lang="en-US" sz="2400" dirty="0" smtClean="0">
                    <a:solidFill>
                      <a:srgbClr val="7030A0"/>
                    </a:solidFill>
                    <a:latin typeface="Times New Roman" panose="02020603050405020304" pitchFamily="18" charset="0"/>
                    <a:cs typeface="Times New Roman" panose="02020603050405020304" pitchFamily="18" charset="0"/>
                  </a:rPr>
                  <a:t>Weight function assigns different importance to different regions.</a:t>
                </a:r>
                <a:endParaRPr lang="en-US" sz="2400" dirty="0">
                  <a:solidFill>
                    <a:srgbClr val="7030A0"/>
                  </a:solidFill>
                  <a:latin typeface="Times New Roman" panose="02020603050405020304" pitchFamily="18"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493118" y="2755489"/>
                <a:ext cx="15773401" cy="5602536"/>
              </a:xfrm>
              <a:prstGeom prst="rect">
                <a:avLst/>
              </a:prstGeom>
              <a:blipFill rotWithShape="0">
                <a:blip r:embed="rId5"/>
                <a:stretch>
                  <a:fillRect l="-1662"/>
                </a:stretch>
              </a:blipFill>
              <a:ln>
                <a:noFill/>
              </a:ln>
            </p:spPr>
            <p:txBody>
              <a:bodyPr/>
              <a:lstStyle/>
              <a:p>
                <a:r>
                  <a:rPr lang="en-US">
                    <a:noFill/>
                  </a:rPr>
                  <a:t> </a:t>
                </a:r>
              </a:p>
            </p:txBody>
          </p:sp>
        </mc:Fallback>
      </mc:AlternateContent>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67282" y="5623562"/>
            <a:ext cx="5457662" cy="3629737"/>
          </a:xfrm>
          <a:prstGeom prst="rect">
            <a:avLst/>
          </a:prstGeom>
        </p:spPr>
      </p:pic>
    </p:spTree>
    <p:extLst>
      <p:ext uri="{BB962C8B-B14F-4D97-AF65-F5344CB8AC3E}">
        <p14:creationId xmlns:p14="http://schemas.microsoft.com/office/powerpoint/2010/main" val="3181820072"/>
      </p:ext>
    </p:extLst>
  </p:cSld>
  <p:clrMapOvr>
    <a:masterClrMapping/>
  </p:clrMapOvr>
  <mc:AlternateContent xmlns:mc="http://schemas.openxmlformats.org/markup-compatibility/2006" xmlns:p14="http://schemas.microsoft.com/office/powerpoint/2010/main">
    <mc:Choice Requires="p14">
      <p:transition spd="slow" p14:dur="1500" advTm="967">
        <p14:window dir="vert"/>
      </p:transition>
    </mc:Choice>
    <mc:Fallback xmlns="">
      <p:transition spd="slow" advTm="967">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2,232 Brown Bg Stock Vectors and Vector Art | Shutterstock">
            <a:extLst>
              <a:ext uri="{FF2B5EF4-FFF2-40B4-BE49-F238E27FC236}">
                <a16:creationId xmlns:a16="http://schemas.microsoft.com/office/drawing/2014/main" xmlns="" id="{E52C4F7B-96BE-40D1-AC5A-A736D232E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 y="-26307"/>
            <a:ext cx="18294351" cy="1035775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E9143F76-A671-4651-9C25-BA29C844F8E0}"/>
              </a:ext>
            </a:extLst>
          </p:cNvPr>
          <p:cNvSpPr txBox="1"/>
          <p:nvPr/>
        </p:nvSpPr>
        <p:spPr>
          <a:xfrm>
            <a:off x="3187700" y="806450"/>
            <a:ext cx="11925300" cy="923330"/>
          </a:xfrm>
          <a:prstGeom prst="rect">
            <a:avLst/>
          </a:prstGeom>
          <a:noFill/>
        </p:spPr>
        <p:txBody>
          <a:bodyPr wrap="square" rtlCol="0">
            <a:spAutoFit/>
          </a:bodyPr>
          <a:lstStyle/>
          <a:p>
            <a:pPr algn="ctr"/>
            <a:r>
              <a:rPr lang="en-US" sz="5400" kern="0" dirty="0" smtClean="0">
                <a:solidFill>
                  <a:srgbClr val="FF0000"/>
                </a:solidFill>
                <a:latin typeface="Algerian" panose="04020705040A02060702" pitchFamily="82" charset="0"/>
              </a:rPr>
              <a:t>Eigenvalues &amp; </a:t>
            </a:r>
            <a:r>
              <a:rPr lang="en-US" sz="5400" kern="0" dirty="0" err="1" smtClean="0">
                <a:solidFill>
                  <a:srgbClr val="FF0000"/>
                </a:solidFill>
                <a:latin typeface="Algerian" panose="04020705040A02060702" pitchFamily="82" charset="0"/>
              </a:rPr>
              <a:t>Eigenfunctions</a:t>
            </a:r>
            <a:endParaRPr lang="en-US" sz="1400" dirty="0"/>
          </a:p>
        </p:txBody>
      </p:sp>
      <mc:AlternateContent xmlns:mc="http://schemas.openxmlformats.org/markup-compatibility/2006" xmlns:a14="http://schemas.microsoft.com/office/drawing/2010/main">
        <mc:Choice Requires="a14">
          <p:sp>
            <p:nvSpPr>
              <p:cNvPr id="4" name="TextBox 3"/>
              <p:cNvSpPr txBox="1"/>
              <p:nvPr/>
            </p:nvSpPr>
            <p:spPr>
              <a:xfrm>
                <a:off x="2444750" y="2940050"/>
                <a:ext cx="14401800" cy="2123658"/>
              </a:xfrm>
              <a:prstGeom prst="rect">
                <a:avLst/>
              </a:prstGeom>
              <a:noFill/>
            </p:spPr>
            <p:txBody>
              <a:bodyPr wrap="square" rtlCol="0">
                <a:spAutoFit/>
              </a:bodyPr>
              <a:lstStyle/>
              <a:p>
                <a:r>
                  <a:rPr lang="en-US" sz="4400" dirty="0" smtClean="0">
                    <a:latin typeface="Times New Roman" panose="02020603050405020304" pitchFamily="18" charset="0"/>
                    <a:cs typeface="Times New Roman" panose="02020603050405020304" pitchFamily="18" charset="0"/>
                  </a:rPr>
                  <a:t>If L[</a:t>
                </a:r>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 </a:t>
                </a:r>
                <a:r>
                  <a:rPr lang="el-GR" sz="4400" dirty="0" smtClean="0">
                    <a:latin typeface="Cambria Math" panose="02040503050406030204" pitchFamily="18" charset="0"/>
                    <a:ea typeface="Cambria Math" panose="02040503050406030204" pitchFamily="18" charset="0"/>
                    <a:cs typeface="Times New Roman" panose="02020603050405020304" pitchFamily="18" charset="0"/>
                  </a:rPr>
                  <a:t>Ψ</a:t>
                </a:r>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 ]= </a:t>
                </a:r>
                <a:r>
                  <a:rPr lang="el-GR" sz="4400" dirty="0" smtClean="0">
                    <a:latin typeface="Cambria Math" panose="02040503050406030204" pitchFamily="18" charset="0"/>
                    <a:ea typeface="Cambria Math" panose="02040503050406030204" pitchFamily="18" charset="0"/>
                    <a:cs typeface="Times New Roman" panose="02020603050405020304" pitchFamily="18" charset="0"/>
                  </a:rPr>
                  <a:t>λΨ</a:t>
                </a:r>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 where L is a linear operator, then </a:t>
                </a:r>
                <a:r>
                  <a:rPr lang="el-GR" sz="4400" dirty="0" smtClean="0">
                    <a:latin typeface="Cambria Math" panose="02040503050406030204" pitchFamily="18" charset="0"/>
                    <a:ea typeface="Cambria Math" panose="02040503050406030204" pitchFamily="18" charset="0"/>
                    <a:cs typeface="Times New Roman" panose="02020603050405020304" pitchFamily="18" charset="0"/>
                  </a:rPr>
                  <a:t>λ</a:t>
                </a:r>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 is called Eigenvalue </a:t>
                </a:r>
              </a:p>
              <a:p>
                <a:r>
                  <a:rPr lang="en-US" sz="4400" dirty="0">
                    <a:latin typeface="Cambria Math" panose="02040503050406030204" pitchFamily="18" charset="0"/>
                    <a:ea typeface="Cambria Math" panose="02040503050406030204" pitchFamily="18" charset="0"/>
                    <a:cs typeface="Times New Roman" panose="02020603050405020304" pitchFamily="18" charset="0"/>
                  </a:rPr>
                  <a:t>a</a:t>
                </a:r>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nd </a:t>
                </a:r>
                <a:r>
                  <a:rPr lang="el-GR" sz="4400" dirty="0" smtClean="0">
                    <a:latin typeface="Cambria Math" panose="02040503050406030204" pitchFamily="18" charset="0"/>
                    <a:ea typeface="Cambria Math" panose="02040503050406030204" pitchFamily="18" charset="0"/>
                    <a:cs typeface="Times New Roman" panose="02020603050405020304" pitchFamily="18" charset="0"/>
                  </a:rPr>
                  <a:t>Ψ</a:t>
                </a:r>
                <a:r>
                  <a:rPr lang="en-US" sz="4400" dirty="0" smtClean="0">
                    <a:latin typeface="Cambria Math" panose="02040503050406030204" pitchFamily="18" charset="0"/>
                    <a:ea typeface="Cambria Math" panose="02040503050406030204" pitchFamily="18" charset="0"/>
                    <a:cs typeface="Times New Roman" panose="02020603050405020304" pitchFamily="18" charset="0"/>
                  </a:rPr>
                  <a:t> ( </a:t>
                </a:r>
                <a:r>
                  <a:rPr lang="el-GR" sz="4400" dirty="0" smtClean="0">
                    <a:latin typeface="Cambria Math" panose="02040503050406030204" pitchFamily="18" charset="0"/>
                    <a:ea typeface="Cambria Math" panose="02040503050406030204" pitchFamily="18" charset="0"/>
                    <a:cs typeface="Times New Roman" panose="02020603050405020304" pitchFamily="18" charset="0"/>
                  </a:rPr>
                  <a:t>Ψ</a:t>
                </a:r>
                <a14:m>
                  <m:oMath xmlns:m="http://schemas.openxmlformats.org/officeDocument/2006/math">
                    <m:r>
                      <a:rPr lang="el-GR" sz="4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4400" b="0" i="1" smtClean="0">
                        <a:latin typeface="Cambria Math" panose="02040503050406030204" pitchFamily="18" charset="0"/>
                        <a:ea typeface="Cambria Math" panose="02040503050406030204" pitchFamily="18" charset="0"/>
                        <a:cs typeface="Times New Roman" panose="02020603050405020304" pitchFamily="18" charset="0"/>
                      </a:rPr>
                      <m:t>0)</m:t>
                    </m:r>
                  </m:oMath>
                </a14:m>
                <a:r>
                  <a:rPr lang="en-US" sz="4400" dirty="0" smtClean="0">
                    <a:latin typeface="Times New Roman" panose="02020603050405020304" pitchFamily="18" charset="0"/>
                    <a:cs typeface="Times New Roman" panose="02020603050405020304" pitchFamily="18" charset="0"/>
                  </a:rPr>
                  <a:t> is called </a:t>
                </a:r>
                <a:r>
                  <a:rPr lang="en-US" sz="4400" dirty="0" err="1" smtClean="0">
                    <a:latin typeface="Times New Roman" panose="02020603050405020304" pitchFamily="18" charset="0"/>
                    <a:cs typeface="Times New Roman" panose="02020603050405020304" pitchFamily="18" charset="0"/>
                  </a:rPr>
                  <a:t>Eigenfunction</a:t>
                </a:r>
                <a:endParaRPr lang="en-US" sz="4400" dirty="0" smtClean="0">
                  <a:latin typeface="Times New Roman" panose="02020603050405020304" pitchFamily="18" charset="0"/>
                  <a:cs typeface="Times New Roman" panose="0202060305040502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444750" y="2940050"/>
                <a:ext cx="14401800" cy="2123658"/>
              </a:xfrm>
              <a:prstGeom prst="rect">
                <a:avLst/>
              </a:prstGeom>
              <a:blipFill rotWithShape="0">
                <a:blip r:embed="rId5"/>
                <a:stretch>
                  <a:fillRect l="-1693" t="-5731" b="-12894"/>
                </a:stretch>
              </a:blipFill>
            </p:spPr>
            <p:txBody>
              <a:bodyPr/>
              <a:lstStyle/>
              <a:p>
                <a:r>
                  <a:rPr lang="en-US">
                    <a:noFill/>
                  </a:rPr>
                  <a:t> </a:t>
                </a:r>
              </a:p>
            </p:txBody>
          </p:sp>
        </mc:Fallback>
      </mc:AlternateContent>
      <p:sp>
        <p:nvSpPr>
          <p:cNvPr id="2" name="TextBox 1"/>
          <p:cNvSpPr txBox="1"/>
          <p:nvPr/>
        </p:nvSpPr>
        <p:spPr>
          <a:xfrm>
            <a:off x="8845550" y="5683250"/>
            <a:ext cx="8763000" cy="3754874"/>
          </a:xfrm>
          <a:prstGeom prst="rect">
            <a:avLst/>
          </a:prstGeom>
          <a:solidFill>
            <a:srgbClr val="FFFF00"/>
          </a:solidFill>
        </p:spPr>
        <p:txBody>
          <a:bodyPr wrap="square" rtlCol="0">
            <a:spAutoFit/>
          </a:bodyPr>
          <a:lstStyle/>
          <a:p>
            <a:r>
              <a:rPr lang="en-US" sz="4400" dirty="0">
                <a:solidFill>
                  <a:srgbClr val="FF0000"/>
                </a:solidFill>
                <a:latin typeface="Times New Roman" panose="02020603050405020304" pitchFamily="18" charset="0"/>
                <a:cs typeface="Times New Roman" panose="02020603050405020304" pitchFamily="18" charset="0"/>
              </a:rPr>
              <a:t>Example: </a:t>
            </a:r>
            <a:r>
              <a:rPr lang="en-US" sz="4400" dirty="0">
                <a:cs typeface="Times New Roman" panose="02020603050405020304" pitchFamily="18" charset="0"/>
              </a:rPr>
              <a:t>y’’+</a:t>
            </a:r>
            <a:r>
              <a:rPr lang="el-GR" sz="4400" dirty="0">
                <a:latin typeface="Cambria Math" panose="02040503050406030204" pitchFamily="18" charset="0"/>
                <a:ea typeface="Cambria Math" panose="02040503050406030204" pitchFamily="18" charset="0"/>
                <a:cs typeface="Times New Roman" panose="02020603050405020304" pitchFamily="18" charset="0"/>
              </a:rPr>
              <a:t>λ</a:t>
            </a:r>
            <a:r>
              <a:rPr lang="en-US" sz="4400" dirty="0">
                <a:latin typeface="Cambria Math" panose="02040503050406030204" pitchFamily="18" charset="0"/>
                <a:ea typeface="Cambria Math" panose="02040503050406030204" pitchFamily="18" charset="0"/>
                <a:cs typeface="Times New Roman" panose="02020603050405020304" pitchFamily="18" charset="0"/>
              </a:rPr>
              <a:t>y=0</a:t>
            </a:r>
          </a:p>
          <a:p>
            <a:pPr marL="1028700" lvl="1" indent="-571500">
              <a:buFont typeface="Arial" panose="020B0604020202020204" pitchFamily="34" charset="0"/>
              <a:buChar char="•"/>
            </a:pPr>
            <a:r>
              <a:rPr lang="en-US" sz="4400" dirty="0">
                <a:latin typeface="Cambria Math" panose="02040503050406030204" pitchFamily="18" charset="0"/>
                <a:ea typeface="Cambria Math" panose="02040503050406030204" pitchFamily="18" charset="0"/>
                <a:cs typeface="Times New Roman" panose="02020603050405020304" pitchFamily="18" charset="0"/>
              </a:rPr>
              <a:t>Solution depends on boundary conditions</a:t>
            </a:r>
          </a:p>
          <a:p>
            <a:pPr marL="1028700" lvl="1" indent="-571500">
              <a:buFont typeface="Arial" panose="020B0604020202020204" pitchFamily="34" charset="0"/>
              <a:buChar char="•"/>
            </a:pPr>
            <a:r>
              <a:rPr lang="en-US" sz="4400" dirty="0">
                <a:latin typeface="Cambria Math" panose="02040503050406030204" pitchFamily="18" charset="0"/>
                <a:ea typeface="Cambria Math" panose="02040503050406030204" pitchFamily="18" charset="0"/>
                <a:cs typeface="Times New Roman" panose="02020603050405020304" pitchFamily="18" charset="0"/>
              </a:rPr>
              <a:t>Only specific values of </a:t>
            </a:r>
            <a:r>
              <a:rPr lang="el-GR" sz="4400" dirty="0">
                <a:latin typeface="Cambria Math" panose="02040503050406030204" pitchFamily="18" charset="0"/>
                <a:ea typeface="Cambria Math" panose="02040503050406030204" pitchFamily="18" charset="0"/>
                <a:cs typeface="Times New Roman" panose="02020603050405020304" pitchFamily="18" charset="0"/>
              </a:rPr>
              <a:t>λ</a:t>
            </a:r>
            <a:r>
              <a:rPr lang="en-US" sz="4400" dirty="0">
                <a:latin typeface="Cambria Math" panose="02040503050406030204" pitchFamily="18" charset="0"/>
                <a:ea typeface="Cambria Math" panose="02040503050406030204" pitchFamily="18" charset="0"/>
                <a:cs typeface="Times New Roman" panose="02020603050405020304" pitchFamily="18" charset="0"/>
              </a:rPr>
              <a:t> are allowed → Eigenvalues     </a:t>
            </a:r>
            <a:endParaRPr lang="en-US" sz="4400" dirty="0">
              <a:cs typeface="Times New Roman" panose="02020603050405020304" pitchFamily="18" charset="0"/>
            </a:endParaRPr>
          </a:p>
          <a:p>
            <a:endParaRPr lang="en-US" dirty="0"/>
          </a:p>
        </p:txBody>
      </p:sp>
      <p:sp>
        <p:nvSpPr>
          <p:cNvPr id="5" name="TextBox 4"/>
          <p:cNvSpPr txBox="1"/>
          <p:nvPr/>
        </p:nvSpPr>
        <p:spPr>
          <a:xfrm>
            <a:off x="1377950" y="5924530"/>
            <a:ext cx="7239000" cy="3416320"/>
          </a:xfrm>
          <a:prstGeom prst="rect">
            <a:avLst/>
          </a:prstGeom>
          <a:solidFill>
            <a:schemeClr val="accent1"/>
          </a:solid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Key Properties:</a:t>
            </a:r>
          </a:p>
          <a:p>
            <a:pPr marL="571500" indent="-571500">
              <a:buFont typeface="Arial" panose="020B0604020202020204" pitchFamily="34" charset="0"/>
              <a:buChar char="•"/>
            </a:pPr>
            <a:r>
              <a:rPr lang="en-US" sz="3600" dirty="0" err="1" smtClean="0">
                <a:latin typeface="Times New Roman" panose="02020603050405020304" pitchFamily="18" charset="0"/>
                <a:cs typeface="Times New Roman" panose="02020603050405020304" pitchFamily="18" charset="0"/>
              </a:rPr>
              <a:t>Eigenfunctions</a:t>
            </a:r>
            <a:r>
              <a:rPr lang="en-US" sz="3600" dirty="0" smtClean="0">
                <a:latin typeface="Times New Roman" panose="02020603050405020304" pitchFamily="18" charset="0"/>
                <a:cs typeface="Times New Roman" panose="02020603050405020304" pitchFamily="18" charset="0"/>
              </a:rPr>
              <a:t> are orthogonal ( if </a:t>
            </a:r>
            <a:r>
              <a:rPr lang="el-GR" sz="3600" dirty="0" smtClean="0">
                <a:latin typeface="Cambria Math" panose="02040503050406030204" pitchFamily="18" charset="0"/>
                <a:ea typeface="Cambria Math" panose="02040503050406030204" pitchFamily="18" charset="0"/>
                <a:cs typeface="Times New Roman" panose="02020603050405020304" pitchFamily="18" charset="0"/>
              </a:rPr>
              <a:t>λ</a:t>
            </a:r>
            <a:r>
              <a:rPr lang="en-US" sz="3600" dirty="0" smtClean="0">
                <a:latin typeface="Cambria Math" panose="02040503050406030204" pitchFamily="18" charset="0"/>
                <a:ea typeface="Cambria Math" panose="02040503050406030204" pitchFamily="18" charset="0"/>
                <a:cs typeface="Times New Roman" panose="02020603050405020304" pitchFamily="18" charset="0"/>
              </a:rPr>
              <a:t> different)</a:t>
            </a:r>
          </a:p>
          <a:p>
            <a:pPr marL="571500" indent="-571500">
              <a:buFont typeface="Arial" panose="020B0604020202020204" pitchFamily="34" charset="0"/>
              <a:buChar char="•"/>
            </a:pPr>
            <a:r>
              <a:rPr lang="en-US" sz="3600" dirty="0" smtClean="0">
                <a:latin typeface="Cambria Math" panose="02040503050406030204" pitchFamily="18" charset="0"/>
                <a:ea typeface="Cambria Math" panose="02040503050406030204" pitchFamily="18" charset="0"/>
                <a:cs typeface="Times New Roman" panose="02020603050405020304" pitchFamily="18" charset="0"/>
              </a:rPr>
              <a:t>Eigenvalues are usually real ( for self-</a:t>
            </a:r>
            <a:r>
              <a:rPr lang="en-US" sz="3600" dirty="0" err="1" smtClean="0">
                <a:latin typeface="Cambria Math" panose="02040503050406030204" pitchFamily="18" charset="0"/>
                <a:ea typeface="Cambria Math" panose="02040503050406030204" pitchFamily="18" charset="0"/>
                <a:cs typeface="Times New Roman" panose="02020603050405020304" pitchFamily="18" charset="0"/>
              </a:rPr>
              <a:t>adjoint</a:t>
            </a:r>
            <a:r>
              <a:rPr lang="en-US" sz="3600" dirty="0" smtClean="0">
                <a:latin typeface="Cambria Math" panose="02040503050406030204" pitchFamily="18" charset="0"/>
                <a:ea typeface="Cambria Math" panose="02040503050406030204" pitchFamily="18" charset="0"/>
                <a:cs typeface="Times New Roman" panose="02020603050405020304" pitchFamily="18" charset="0"/>
              </a:rPr>
              <a:t> operators)</a:t>
            </a:r>
          </a:p>
          <a:p>
            <a:pPr marL="571500" indent="-571500">
              <a:buFont typeface="Arial" panose="020B0604020202020204" pitchFamily="34" charset="0"/>
              <a:buChar char="•"/>
            </a:pPr>
            <a:r>
              <a:rPr lang="en-US" sz="3600" dirty="0" smtClean="0">
                <a:latin typeface="Cambria Math" panose="02040503050406030204" pitchFamily="18" charset="0"/>
                <a:ea typeface="Cambria Math" panose="02040503050406030204" pitchFamily="18" charset="0"/>
                <a:cs typeface="Times New Roman" panose="02020603050405020304" pitchFamily="18" charset="0"/>
              </a:rPr>
              <a:t>Set of </a:t>
            </a:r>
            <a:r>
              <a:rPr lang="en-US" sz="3600" dirty="0" err="1" smtClean="0">
                <a:latin typeface="Cambria Math" panose="02040503050406030204" pitchFamily="18" charset="0"/>
                <a:ea typeface="Cambria Math" panose="02040503050406030204" pitchFamily="18" charset="0"/>
                <a:cs typeface="Times New Roman" panose="02020603050405020304" pitchFamily="18" charset="0"/>
              </a:rPr>
              <a:t>eigenfunctions</a:t>
            </a:r>
            <a:r>
              <a:rPr lang="en-US" sz="3600" dirty="0" smtClean="0">
                <a:latin typeface="Cambria Math" panose="02040503050406030204" pitchFamily="18" charset="0"/>
                <a:ea typeface="Cambria Math" panose="02040503050406030204" pitchFamily="18" charset="0"/>
                <a:cs typeface="Times New Roman" panose="02020603050405020304" pitchFamily="18" charset="0"/>
              </a:rPr>
              <a:t> is </a:t>
            </a:r>
            <a:r>
              <a:rPr lang="en-US" sz="3600" dirty="0" smtClean="0">
                <a:latin typeface="Cambria Math" panose="02040503050406030204" pitchFamily="18" charset="0"/>
                <a:ea typeface="Cambria Math" panose="02040503050406030204" pitchFamily="18" charset="0"/>
                <a:cs typeface="Times New Roman" panose="02020603050405020304" pitchFamily="18" charset="0"/>
              </a:rPr>
              <a:t>complete</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2366189"/>
      </p:ext>
    </p:extLst>
  </p:cSld>
  <p:clrMapOvr>
    <a:masterClrMapping/>
  </p:clrMapOvr>
  <p:transition spd="slow" advTm="1782">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0850" y="0"/>
            <a:ext cx="18300700" cy="10299700"/>
          </a:xfrm>
          <a:prstGeom prst="rect">
            <a:avLst/>
          </a:prstGeom>
          <a:ln>
            <a:solidFill>
              <a:schemeClr val="accent6">
                <a:lumMod val="40000"/>
                <a:lumOff val="60000"/>
              </a:schemeClr>
            </a:solid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r>
              <a:rPr lang="en-US" dirty="0" smtClean="0"/>
              <a:t>  </a:t>
            </a:r>
            <a:endParaRPr lang="en-US" dirty="0"/>
          </a:p>
        </p:txBody>
      </p:sp>
      <p:sp>
        <p:nvSpPr>
          <p:cNvPr id="3" name="Rectangle 2"/>
          <p:cNvSpPr/>
          <p:nvPr/>
        </p:nvSpPr>
        <p:spPr>
          <a:xfrm>
            <a:off x="2444750" y="654050"/>
            <a:ext cx="131826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5400" dirty="0" smtClean="0">
                <a:ln w="0"/>
                <a:solidFill>
                  <a:srgbClr val="FF0000"/>
                </a:solidFill>
                <a:effectLst>
                  <a:reflection blurRad="6350" stA="53000" endA="300" endPos="35500" dir="5400000" sy="-90000" algn="bl" rotWithShape="0"/>
                </a:effectLst>
                <a:latin typeface="Algerian" panose="04020705040A02060702" pitchFamily="82" charset="0"/>
              </a:rPr>
              <a:t>Introduction to Laplace Transform</a:t>
            </a:r>
            <a:endParaRPr lang="en-US" sz="5400" dirty="0">
              <a:ln w="0"/>
              <a:solidFill>
                <a:srgbClr val="FF0000"/>
              </a:solidFill>
              <a:effectLst>
                <a:reflection blurRad="6350" stA="53000" endA="300" endPos="35500" dir="5400000" sy="-90000" algn="bl" rotWithShape="0"/>
              </a:effectLst>
              <a:latin typeface="Algerian" panose="04020705040A02060702" pitchFamily="82" charset="0"/>
            </a:endParaRPr>
          </a:p>
        </p:txBody>
      </p:sp>
      <mc:AlternateContent xmlns:mc="http://schemas.openxmlformats.org/markup-compatibility/2006" xmlns:a14="http://schemas.microsoft.com/office/drawing/2010/main">
        <mc:Choice Requires="a14">
          <p:sp>
            <p:nvSpPr>
              <p:cNvPr id="7" name="TextBox 6"/>
              <p:cNvSpPr txBox="1"/>
              <p:nvPr/>
            </p:nvSpPr>
            <p:spPr>
              <a:xfrm>
                <a:off x="1682750" y="1949450"/>
                <a:ext cx="14554200" cy="3338414"/>
              </a:xfrm>
              <a:prstGeom prst="rect">
                <a:avLst/>
              </a:prstGeom>
              <a:noFill/>
              <a:scene3d>
                <a:camera prst="orthographicFront"/>
                <a:lightRig rig="threePt" dir="t"/>
              </a:scene3d>
              <a:sp3d>
                <a:bevelT prst="angle"/>
              </a:sp3d>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The Laplace transform is a powerful integral transform that converts a function of time F(t) into a complex functions of frequency f(s), simplifying the solution of complex differential equations into algebraic ones. It is defined as </a:t>
                </a:r>
                <a14:m>
                  <m:oMath xmlns:m="http://schemas.openxmlformats.org/officeDocument/2006/math">
                    <m:r>
                      <a:rPr lang="en-US" sz="400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ℒ</m:t>
                    </m:r>
                  </m:oMath>
                </a14:m>
                <a:r>
                  <a:rPr lang="en-US" sz="4000" dirty="0" smtClean="0">
                    <a:solidFill>
                      <a:srgbClr val="002060"/>
                    </a:solidFill>
                    <a:latin typeface="Times New Roman" panose="02020603050405020304" pitchFamily="18" charset="0"/>
                    <a:cs typeface="Times New Roman" panose="02020603050405020304" pitchFamily="18" charset="0"/>
                  </a:rPr>
                  <a:t>{F(t)}=</a:t>
                </a:r>
                <a14:m>
                  <m:oMath xmlns:m="http://schemas.openxmlformats.org/officeDocument/2006/math">
                    <m:nary>
                      <m:naryPr>
                        <m:ctrlPr>
                          <a:rPr lang="en-US" sz="4000" i="1" smtClean="0">
                            <a:solidFill>
                              <a:srgbClr val="002060"/>
                            </a:solidFill>
                            <a:latin typeface="Cambria Math" panose="02040503050406030204" pitchFamily="18" charset="0"/>
                            <a:cs typeface="Times New Roman" panose="02020603050405020304" pitchFamily="18" charset="0"/>
                          </a:rPr>
                        </m:ctrlPr>
                      </m:naryPr>
                      <m:sub>
                        <m:r>
                          <m:rPr>
                            <m:brk m:alnAt="23"/>
                          </m:rPr>
                          <a:rPr lang="en-US" sz="4000" b="0" i="1" smtClean="0">
                            <a:solidFill>
                              <a:srgbClr val="002060"/>
                            </a:solidFill>
                            <a:latin typeface="Cambria Math" panose="02040503050406030204" pitchFamily="18" charset="0"/>
                            <a:cs typeface="Times New Roman" panose="02020603050405020304" pitchFamily="18" charset="0"/>
                          </a:rPr>
                          <m:t>0</m:t>
                        </m:r>
                      </m:sub>
                      <m:sup>
                        <m:r>
                          <a:rPr lang="en-US" sz="400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sup>
                      <m:e>
                        <m:sSup>
                          <m:sSupPr>
                            <m:ctrlPr>
                              <a:rPr lang="en-US" sz="4000" b="0" i="1" smtClean="0">
                                <a:solidFill>
                                  <a:srgbClr val="002060"/>
                                </a:solidFill>
                                <a:latin typeface="Cambria Math" panose="02040503050406030204" pitchFamily="18" charset="0"/>
                                <a:cs typeface="Times New Roman" panose="02020603050405020304" pitchFamily="18" charset="0"/>
                              </a:rPr>
                            </m:ctrlPr>
                          </m:sSupPr>
                          <m:e>
                            <m:r>
                              <a:rPr lang="en-US" sz="4000" b="0" i="1" smtClean="0">
                                <a:solidFill>
                                  <a:srgbClr val="002060"/>
                                </a:solidFill>
                                <a:latin typeface="Cambria Math" panose="02040503050406030204" pitchFamily="18" charset="0"/>
                                <a:cs typeface="Times New Roman" panose="02020603050405020304" pitchFamily="18" charset="0"/>
                              </a:rPr>
                              <m:t>𝑒</m:t>
                            </m:r>
                          </m:e>
                          <m:sup>
                            <m:r>
                              <a:rPr lang="en-US" sz="4000" b="0" i="1" smtClean="0">
                                <a:solidFill>
                                  <a:srgbClr val="002060"/>
                                </a:solidFill>
                                <a:latin typeface="Cambria Math" panose="02040503050406030204" pitchFamily="18" charset="0"/>
                                <a:cs typeface="Times New Roman" panose="02020603050405020304" pitchFamily="18" charset="0"/>
                              </a:rPr>
                              <m:t>−</m:t>
                            </m:r>
                            <m:r>
                              <a:rPr lang="en-US" sz="4000" b="0" i="1" smtClean="0">
                                <a:solidFill>
                                  <a:srgbClr val="002060"/>
                                </a:solidFill>
                                <a:latin typeface="Cambria Math" panose="02040503050406030204" pitchFamily="18" charset="0"/>
                                <a:cs typeface="Times New Roman" panose="02020603050405020304" pitchFamily="18" charset="0"/>
                              </a:rPr>
                              <m:t>𝑠𝑡</m:t>
                            </m:r>
                          </m:sup>
                        </m:sSup>
                        <m:r>
                          <a:rPr lang="en-US" sz="4000" b="0" i="1" smtClean="0">
                            <a:solidFill>
                              <a:srgbClr val="002060"/>
                            </a:solidFill>
                            <a:latin typeface="Cambria Math" panose="02040503050406030204" pitchFamily="18" charset="0"/>
                            <a:cs typeface="Times New Roman" panose="02020603050405020304" pitchFamily="18" charset="0"/>
                          </a:rPr>
                          <m:t>𝐹</m:t>
                        </m:r>
                        <m:d>
                          <m:dPr>
                            <m:ctrlPr>
                              <a:rPr lang="en-US" sz="4000" b="0" i="1" smtClean="0">
                                <a:solidFill>
                                  <a:srgbClr val="002060"/>
                                </a:solidFill>
                                <a:latin typeface="Cambria Math" panose="02040503050406030204" pitchFamily="18" charset="0"/>
                                <a:cs typeface="Times New Roman" panose="02020603050405020304" pitchFamily="18" charset="0"/>
                              </a:rPr>
                            </m:ctrlPr>
                          </m:dPr>
                          <m:e>
                            <m:r>
                              <a:rPr lang="en-US" sz="4000" b="0" i="1" smtClean="0">
                                <a:solidFill>
                                  <a:srgbClr val="002060"/>
                                </a:solidFill>
                                <a:latin typeface="Cambria Math" panose="02040503050406030204" pitchFamily="18" charset="0"/>
                                <a:cs typeface="Times New Roman" panose="02020603050405020304" pitchFamily="18" charset="0"/>
                              </a:rPr>
                              <m:t>𝑡</m:t>
                            </m:r>
                          </m:e>
                        </m:d>
                        <m:r>
                          <a:rPr lang="en-US" sz="4000" b="0" i="1" smtClean="0">
                            <a:solidFill>
                              <a:srgbClr val="002060"/>
                            </a:solidFill>
                            <a:latin typeface="Cambria Math" panose="02040503050406030204" pitchFamily="18" charset="0"/>
                            <a:cs typeface="Times New Roman" panose="02020603050405020304" pitchFamily="18" charset="0"/>
                          </a:rPr>
                          <m:t>𝑑𝑡</m:t>
                        </m:r>
                        <m:r>
                          <a:rPr lang="en-US" sz="4000" b="0" i="1" smtClean="0">
                            <a:solidFill>
                              <a:srgbClr val="002060"/>
                            </a:solidFill>
                            <a:latin typeface="Cambria Math" panose="02040503050406030204" pitchFamily="18" charset="0"/>
                            <a:cs typeface="Times New Roman" panose="02020603050405020304" pitchFamily="18" charset="0"/>
                          </a:rPr>
                          <m:t>=</m:t>
                        </m:r>
                        <m:r>
                          <a:rPr lang="en-US" sz="4000" b="0" i="1" smtClean="0">
                            <a:solidFill>
                              <a:srgbClr val="002060"/>
                            </a:solidFill>
                            <a:latin typeface="Cambria Math" panose="02040503050406030204" pitchFamily="18" charset="0"/>
                            <a:cs typeface="Times New Roman" panose="02020603050405020304" pitchFamily="18" charset="0"/>
                          </a:rPr>
                          <m:t>𝑓</m:t>
                        </m:r>
                        <m:r>
                          <a:rPr lang="en-US" sz="4000" b="0" i="1" smtClean="0">
                            <a:solidFill>
                              <a:srgbClr val="002060"/>
                            </a:solidFill>
                            <a:latin typeface="Cambria Math" panose="02040503050406030204" pitchFamily="18" charset="0"/>
                            <a:cs typeface="Times New Roman" panose="02020603050405020304" pitchFamily="18" charset="0"/>
                          </a:rPr>
                          <m:t>(</m:t>
                        </m:r>
                        <m:r>
                          <a:rPr lang="en-US" sz="4000" b="0" i="1" smtClean="0">
                            <a:solidFill>
                              <a:srgbClr val="002060"/>
                            </a:solidFill>
                            <a:latin typeface="Cambria Math" panose="02040503050406030204" pitchFamily="18" charset="0"/>
                            <a:cs typeface="Times New Roman" panose="02020603050405020304" pitchFamily="18" charset="0"/>
                          </a:rPr>
                          <m:t>𝑠</m:t>
                        </m:r>
                        <m:r>
                          <a:rPr lang="en-US" sz="4000" b="0" i="1" smtClean="0">
                            <a:solidFill>
                              <a:srgbClr val="002060"/>
                            </a:solidFill>
                            <a:latin typeface="Cambria Math" panose="02040503050406030204" pitchFamily="18" charset="0"/>
                            <a:cs typeface="Times New Roman" panose="02020603050405020304" pitchFamily="18" charset="0"/>
                          </a:rPr>
                          <m:t>)</m:t>
                        </m:r>
                      </m:e>
                    </m:nary>
                  </m:oMath>
                </a14:m>
                <a:endParaRPr lang="en-US" sz="4000" dirty="0" smtClean="0">
                  <a:latin typeface="Times New Roman" panose="02020603050405020304" pitchFamily="18" charset="0"/>
                  <a:cs typeface="Times New Roman" panose="02020603050405020304" pitchFamily="18" charset="0"/>
                </a:endParaRPr>
              </a:p>
              <a:p>
                <a:endParaRPr lang="en-US" sz="4000" dirty="0">
                  <a:latin typeface="Times New Roman" panose="02020603050405020304" pitchFamily="18"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82750" y="1949450"/>
                <a:ext cx="14554200" cy="3338414"/>
              </a:xfrm>
              <a:prstGeom prst="rect">
                <a:avLst/>
              </a:prstGeom>
              <a:blipFill rotWithShape="0">
                <a:blip r:embed="rId4"/>
                <a:stretch>
                  <a:fillRect l="-1380" t="-2712" r="-1672"/>
                </a:stretch>
              </a:blipFill>
            </p:spPr>
            <p:txBody>
              <a:bodyPr/>
              <a:lstStyle/>
              <a:p>
                <a:r>
                  <a:rPr lang="en-US">
                    <a:noFill/>
                  </a:rPr>
                  <a:t> </a:t>
                </a:r>
              </a:p>
            </p:txBody>
          </p:sp>
        </mc:Fallback>
      </mc:AlternateContent>
      <p:sp>
        <p:nvSpPr>
          <p:cNvPr id="8" name="TextBox 7"/>
          <p:cNvSpPr txBox="1"/>
          <p:nvPr/>
        </p:nvSpPr>
        <p:spPr>
          <a:xfrm>
            <a:off x="8524933" y="5320615"/>
            <a:ext cx="3886200" cy="2553474"/>
          </a:xfrm>
          <a:prstGeom prst="ellipse">
            <a:avLst/>
          </a:prstGeom>
          <a:solidFill>
            <a:srgbClr val="92D050"/>
          </a:solidFill>
        </p:spPr>
        <p:txBody>
          <a:bodyPr wrap="square" rtlCol="0">
            <a:spAutoFit/>
          </a:bodyPr>
          <a:lstStyle/>
          <a:p>
            <a:r>
              <a:rPr lang="en-US" sz="2800" i="1" u="sng" dirty="0" smtClean="0">
                <a:latin typeface="Times New Roman" panose="02020603050405020304" pitchFamily="18" charset="0"/>
                <a:cs typeface="Times New Roman" panose="02020603050405020304" pitchFamily="18" charset="0"/>
              </a:rPr>
              <a:t>Applications:</a:t>
            </a:r>
          </a:p>
          <a:p>
            <a:r>
              <a:rPr lang="en-US" sz="2800" i="1" dirty="0" smtClean="0">
                <a:latin typeface="Times New Roman" panose="02020603050405020304" pitchFamily="18" charset="0"/>
                <a:cs typeface="Times New Roman" panose="02020603050405020304" pitchFamily="18" charset="0"/>
              </a:rPr>
              <a:t>Electrical circuits</a:t>
            </a:r>
          </a:p>
          <a:p>
            <a:r>
              <a:rPr lang="en-US" sz="2800" i="1" dirty="0" smtClean="0">
                <a:latin typeface="Times New Roman" panose="02020603050405020304" pitchFamily="18" charset="0"/>
                <a:cs typeface="Times New Roman" panose="02020603050405020304" pitchFamily="18" charset="0"/>
              </a:rPr>
              <a:t>Control systems</a:t>
            </a:r>
          </a:p>
          <a:p>
            <a:r>
              <a:rPr lang="en-US" sz="2800" i="1" dirty="0" smtClean="0">
                <a:latin typeface="Times New Roman" panose="02020603050405020304" pitchFamily="18" charset="0"/>
                <a:cs typeface="Times New Roman" panose="02020603050405020304" pitchFamily="18" charset="0"/>
              </a:rPr>
              <a:t>Signal processing</a:t>
            </a:r>
            <a:endParaRPr lang="en-US" sz="2800" i="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2426950" y="4997450"/>
            <a:ext cx="5791200" cy="646331"/>
          </a:xfrm>
          <a:prstGeom prst="rect">
            <a:avLst/>
          </a:prstGeom>
          <a:noFill/>
        </p:spPr>
        <p:txBody>
          <a:bodyPr wrap="square" rtlCol="0">
            <a:spAutoFit/>
          </a:bodyPr>
          <a:lstStyle/>
          <a:p>
            <a:r>
              <a:rPr lang="en-US" sz="3600" b="1" i="1" dirty="0" smtClean="0">
                <a:solidFill>
                  <a:srgbClr val="FF0000"/>
                </a:solidFill>
                <a:latin typeface="Times New Roman" panose="02020603050405020304" pitchFamily="18" charset="0"/>
                <a:cs typeface="Times New Roman" panose="02020603050405020304" pitchFamily="18" charset="0"/>
              </a:rPr>
              <a:t>Basic Laplace Formulas:</a:t>
            </a: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730442450"/>
                  </p:ext>
                </p:extLst>
              </p:nvPr>
            </p:nvGraphicFramePr>
            <p:xfrm>
              <a:off x="12579350" y="5532436"/>
              <a:ext cx="4572000" cy="4722814"/>
            </p:xfrm>
            <a:graphic>
              <a:graphicData uri="http://schemas.openxmlformats.org/drawingml/2006/table">
                <a:tbl>
                  <a:tblPr firstRow="1" bandRow="1">
                    <a:tableStyleId>{5C22544A-7EE6-4342-B048-85BDC9FD1C3A}</a:tableStyleId>
                  </a:tblPr>
                  <a:tblGrid>
                    <a:gridCol w="1600200"/>
                    <a:gridCol w="2971800"/>
                  </a:tblGrid>
                  <a:tr h="192835">
                    <a:tc>
                      <a:txBody>
                        <a:bodyPr/>
                        <a:lstStyle/>
                        <a:p>
                          <a:r>
                            <a:rPr lang="en-US" sz="2800" dirty="0" smtClean="0">
                              <a:latin typeface="Times New Roman" panose="02020603050405020304" pitchFamily="18" charset="0"/>
                              <a:cs typeface="Times New Roman" panose="02020603050405020304" pitchFamily="18" charset="0"/>
                            </a:rPr>
                            <a:t>Function</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dirty="0" smtClean="0"/>
                            <a:t>Laplace Transform</a:t>
                          </a:r>
                          <a:endParaRPr lang="en-US" dirty="0"/>
                        </a:p>
                      </a:txBody>
                      <a:tcPr/>
                    </a:tc>
                  </a:tr>
                  <a:tr h="370840">
                    <a:tc>
                      <a:txBody>
                        <a:bodyPr/>
                        <a:lstStyle/>
                        <a:p>
                          <a:r>
                            <a:rPr lang="en-US" dirty="0" smtClean="0"/>
                            <a:t>          1</a:t>
                          </a:r>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den>
                                </m:f>
                              </m:oMath>
                            </m:oMathPara>
                          </a14:m>
                          <a:endParaRPr lang="en-US" dirty="0"/>
                        </a:p>
                      </a:txBody>
                      <a:tcPr/>
                    </a:tc>
                  </a:tr>
                  <a:tr h="370840">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𝑎𝑡</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den>
                                </m:f>
                              </m:oMath>
                            </m:oMathPara>
                          </a14:m>
                          <a:endParaRPr lang="en-US" dirty="0"/>
                        </a:p>
                      </a:txBody>
                      <a:tcPr/>
                    </a:tc>
                  </a:tr>
                  <a:tr h="370840">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𝑛</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rPr>
                                      <m:t>!</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den>
                                </m:f>
                              </m:oMath>
                            </m:oMathPara>
                          </a14:m>
                          <a:endParaRPr lang="en-US" dirty="0"/>
                        </a:p>
                      </a:txBody>
                      <a:tcPr/>
                    </a:tc>
                  </a:tr>
                  <a:tr h="0">
                    <a:tc>
                      <a:txBody>
                        <a:bodyPr/>
                        <a:lstStyle/>
                        <a:p>
                          <a:r>
                            <a:rPr lang="en-US" dirty="0" smtClean="0"/>
                            <a:t>     Sin at</a:t>
                          </a:r>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𝑎</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den>
                                </m:f>
                              </m:oMath>
                            </m:oMathPara>
                          </a14:m>
                          <a:endParaRPr lang="en-US" dirty="0"/>
                        </a:p>
                      </a:txBody>
                      <a:tcPr/>
                    </a:tc>
                  </a:tr>
                  <a:tr h="370840">
                    <a:tc>
                      <a:txBody>
                        <a:bodyPr/>
                        <a:lstStyle/>
                        <a:p>
                          <a:r>
                            <a:rPr lang="en-US" dirty="0" smtClean="0"/>
                            <a:t>   </a:t>
                          </a:r>
                          <a:r>
                            <a:rPr lang="en-US" baseline="0" dirty="0" smtClean="0"/>
                            <a:t> </a:t>
                          </a:r>
                          <a:r>
                            <a:rPr lang="en-US" dirty="0" smtClean="0"/>
                            <a:t>Cos at</a:t>
                          </a:r>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𝑠</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den>
                                </m:f>
                              </m:oMath>
                            </m:oMathPara>
                          </a14:m>
                          <a:endParaRPr lang="en-US" dirty="0"/>
                        </a:p>
                      </a:txBody>
                      <a:tcPr/>
                    </a:tc>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730442450"/>
                  </p:ext>
                </p:extLst>
              </p:nvPr>
            </p:nvGraphicFramePr>
            <p:xfrm>
              <a:off x="12579350" y="5532436"/>
              <a:ext cx="4572000" cy="4722814"/>
            </p:xfrm>
            <a:graphic>
              <a:graphicData uri="http://schemas.openxmlformats.org/drawingml/2006/table">
                <a:tbl>
                  <a:tblPr firstRow="1" bandRow="1">
                    <a:tableStyleId>{5C22544A-7EE6-4342-B048-85BDC9FD1C3A}</a:tableStyleId>
                  </a:tblPr>
                  <a:tblGrid>
                    <a:gridCol w="1600200"/>
                    <a:gridCol w="2971800"/>
                  </a:tblGrid>
                  <a:tr h="518160">
                    <a:tc>
                      <a:txBody>
                        <a:bodyPr/>
                        <a:lstStyle/>
                        <a:p>
                          <a:r>
                            <a:rPr lang="en-US" sz="2800" dirty="0" smtClean="0">
                              <a:latin typeface="Times New Roman" panose="02020603050405020304" pitchFamily="18" charset="0"/>
                              <a:cs typeface="Times New Roman" panose="02020603050405020304" pitchFamily="18" charset="0"/>
                            </a:rPr>
                            <a:t>Function</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dirty="0" smtClean="0"/>
                            <a:t>Laplace Transform</a:t>
                          </a:r>
                          <a:endParaRPr lang="en-US" dirty="0"/>
                        </a:p>
                      </a:txBody>
                      <a:tcPr/>
                    </a:tc>
                  </a:tr>
                  <a:tr h="864807">
                    <a:tc>
                      <a:txBody>
                        <a:bodyPr/>
                        <a:lstStyle/>
                        <a:p>
                          <a:r>
                            <a:rPr lang="en-US" dirty="0" smtClean="0"/>
                            <a:t>          1</a:t>
                          </a:r>
                          <a:endParaRPr lang="en-US" dirty="0"/>
                        </a:p>
                      </a:txBody>
                      <a:tcPr/>
                    </a:tc>
                    <a:tc>
                      <a:txBody>
                        <a:bodyPr/>
                        <a:lstStyle/>
                        <a:p>
                          <a:endParaRPr lang="en-US"/>
                        </a:p>
                      </a:txBody>
                      <a:tcPr>
                        <a:blipFill rotWithShape="0">
                          <a:blip r:embed="rId5"/>
                          <a:stretch>
                            <a:fillRect l="-54098" t="-66901" r="-820" b="-388028"/>
                          </a:stretch>
                        </a:blipFill>
                      </a:tcPr>
                    </a:tc>
                  </a:tr>
                  <a:tr h="864807">
                    <a:tc>
                      <a:txBody>
                        <a:bodyPr/>
                        <a:lstStyle/>
                        <a:p>
                          <a:endParaRPr lang="en-US"/>
                        </a:p>
                      </a:txBody>
                      <a:tcPr>
                        <a:blipFill rotWithShape="0">
                          <a:blip r:embed="rId5"/>
                          <a:stretch>
                            <a:fillRect l="-380" t="-166901" r="-187072" b="-288028"/>
                          </a:stretch>
                        </a:blipFill>
                      </a:tcPr>
                    </a:tc>
                    <a:tc>
                      <a:txBody>
                        <a:bodyPr/>
                        <a:lstStyle/>
                        <a:p>
                          <a:endParaRPr lang="en-US"/>
                        </a:p>
                      </a:txBody>
                      <a:tcPr>
                        <a:blipFill rotWithShape="0">
                          <a:blip r:embed="rId5"/>
                          <a:stretch>
                            <a:fillRect l="-54098" t="-166901" r="-820" b="-288028"/>
                          </a:stretch>
                        </a:blipFill>
                      </a:tcPr>
                    </a:tc>
                  </a:tr>
                  <a:tr h="868871">
                    <a:tc>
                      <a:txBody>
                        <a:bodyPr/>
                        <a:lstStyle/>
                        <a:p>
                          <a:endParaRPr lang="en-US"/>
                        </a:p>
                      </a:txBody>
                      <a:tcPr>
                        <a:blipFill rotWithShape="0">
                          <a:blip r:embed="rId5"/>
                          <a:stretch>
                            <a:fillRect l="-380" t="-265035" r="-187072" b="-186014"/>
                          </a:stretch>
                        </a:blipFill>
                      </a:tcPr>
                    </a:tc>
                    <a:tc>
                      <a:txBody>
                        <a:bodyPr/>
                        <a:lstStyle/>
                        <a:p>
                          <a:endParaRPr lang="en-US"/>
                        </a:p>
                      </a:txBody>
                      <a:tcPr>
                        <a:blipFill rotWithShape="0">
                          <a:blip r:embed="rId5"/>
                          <a:stretch>
                            <a:fillRect l="-54098" t="-265035" r="-820" b="-186014"/>
                          </a:stretch>
                        </a:blipFill>
                      </a:tcPr>
                    </a:tc>
                  </a:tr>
                  <a:tr h="803148">
                    <a:tc>
                      <a:txBody>
                        <a:bodyPr/>
                        <a:lstStyle/>
                        <a:p>
                          <a:r>
                            <a:rPr lang="en-US" dirty="0" smtClean="0"/>
                            <a:t>     Sin at</a:t>
                          </a:r>
                          <a:endParaRPr lang="en-US" dirty="0"/>
                        </a:p>
                      </a:txBody>
                      <a:tcPr/>
                    </a:tc>
                    <a:tc>
                      <a:txBody>
                        <a:bodyPr/>
                        <a:lstStyle/>
                        <a:p>
                          <a:endParaRPr lang="en-US"/>
                        </a:p>
                      </a:txBody>
                      <a:tcPr>
                        <a:blipFill rotWithShape="0">
                          <a:blip r:embed="rId5"/>
                          <a:stretch>
                            <a:fillRect l="-54098" t="-395455" r="-820" b="-101515"/>
                          </a:stretch>
                        </a:blipFill>
                      </a:tcPr>
                    </a:tc>
                  </a:tr>
                  <a:tr h="803021">
                    <a:tc>
                      <a:txBody>
                        <a:bodyPr/>
                        <a:lstStyle/>
                        <a:p>
                          <a:r>
                            <a:rPr lang="en-US" dirty="0" smtClean="0"/>
                            <a:t>   </a:t>
                          </a:r>
                          <a:r>
                            <a:rPr lang="en-US" baseline="0" dirty="0" smtClean="0"/>
                            <a:t> </a:t>
                          </a:r>
                          <a:r>
                            <a:rPr lang="en-US" dirty="0" smtClean="0"/>
                            <a:t>Cos at</a:t>
                          </a:r>
                          <a:endParaRPr lang="en-US" dirty="0"/>
                        </a:p>
                      </a:txBody>
                      <a:tcPr/>
                    </a:tc>
                    <a:tc>
                      <a:txBody>
                        <a:bodyPr/>
                        <a:lstStyle/>
                        <a:p>
                          <a:endParaRPr lang="en-US"/>
                        </a:p>
                      </a:txBody>
                      <a:tcPr>
                        <a:blipFill rotWithShape="0">
                          <a:blip r:embed="rId5"/>
                          <a:stretch>
                            <a:fillRect l="-54098" t="-495455" r="-820" b="-1515"/>
                          </a:stretch>
                        </a:blipFill>
                      </a:tcPr>
                    </a:tc>
                  </a:tr>
                </a:tbl>
              </a:graphicData>
            </a:graphic>
          </p:graphicFrame>
        </mc:Fallback>
      </mc:AlternateContent>
      <mc:AlternateContent xmlns:mc="http://schemas.openxmlformats.org/markup-compatibility/2006" xmlns:a14="http://schemas.microsoft.com/office/drawing/2010/main">
        <mc:Choice Requires="a14">
          <p:sp>
            <p:nvSpPr>
              <p:cNvPr id="11" name="TextBox 10"/>
              <p:cNvSpPr txBox="1"/>
              <p:nvPr/>
            </p:nvSpPr>
            <p:spPr>
              <a:xfrm>
                <a:off x="1149350" y="4884995"/>
                <a:ext cx="7239000" cy="2812821"/>
              </a:xfrm>
              <a:prstGeom prst="rect">
                <a:avLst/>
              </a:prstGeom>
              <a:solidFill>
                <a:srgbClr val="FFFF00"/>
              </a:solidFill>
            </p:spPr>
            <p:txBody>
              <a:bodyPr wrap="square" rtlCol="0">
                <a:spAutoFit/>
              </a:bodyPr>
              <a:lstStyle/>
              <a:p>
                <a:r>
                  <a:rPr lang="en-US" sz="4000" b="1" dirty="0" smtClean="0">
                    <a:latin typeface="Times New Roman" panose="02020603050405020304" pitchFamily="18" charset="0"/>
                    <a:cs typeface="Times New Roman" panose="02020603050405020304" pitchFamily="18" charset="0"/>
                  </a:rPr>
                  <a:t>Linearity Property:</a:t>
                </a:r>
              </a:p>
              <a:p>
                <a14:m>
                  <m:oMath xmlns:m="http://schemas.openxmlformats.org/officeDocument/2006/math">
                    <m:r>
                      <a:rPr lang="en-US" sz="40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ℒ</m:t>
                    </m:r>
                  </m:oMath>
                </a14:m>
                <a:r>
                  <a:rPr lang="en-US" sz="4000" dirty="0" smtClean="0">
                    <a:latin typeface="Times New Roman" panose="02020603050405020304" pitchFamily="18" charset="0"/>
                    <a:cs typeface="Times New Roman" panose="02020603050405020304" pitchFamily="18" charset="0"/>
                  </a:rPr>
                  <a:t>{af(t)+</a:t>
                </a:r>
                <a:r>
                  <a:rPr lang="en-US" sz="4000" dirty="0" err="1" smtClean="0">
                    <a:latin typeface="Times New Roman" panose="02020603050405020304" pitchFamily="18" charset="0"/>
                    <a:cs typeface="Times New Roman" panose="02020603050405020304" pitchFamily="18" charset="0"/>
                  </a:rPr>
                  <a:t>bg</a:t>
                </a:r>
                <a:r>
                  <a:rPr lang="en-US" sz="4000" dirty="0" smtClean="0">
                    <a:latin typeface="Times New Roman" panose="02020603050405020304" pitchFamily="18" charset="0"/>
                    <a:cs typeface="Times New Roman" panose="02020603050405020304" pitchFamily="18" charset="0"/>
                  </a:rPr>
                  <a:t>(t)}=a</a:t>
                </a:r>
                <a14:m>
                  <m:oMath xmlns:m="http://schemas.openxmlformats.org/officeDocument/2006/math">
                    <m:r>
                      <a:rPr lang="en-US" sz="40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ℒ</m:t>
                    </m:r>
                  </m:oMath>
                </a14:m>
                <a:r>
                  <a:rPr lang="en-US" sz="4000" dirty="0" smtClean="0">
                    <a:latin typeface="Times New Roman" panose="02020603050405020304" pitchFamily="18" charset="0"/>
                    <a:cs typeface="Times New Roman" panose="02020603050405020304" pitchFamily="18" charset="0"/>
                  </a:rPr>
                  <a:t>{f(t)}+b</a:t>
                </a:r>
                <a14:m>
                  <m:oMath xmlns:m="http://schemas.openxmlformats.org/officeDocument/2006/math">
                    <m:r>
                      <a:rPr lang="en-US" sz="40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ℒ</m:t>
                    </m:r>
                  </m:oMath>
                </a14:m>
                <a:r>
                  <a:rPr lang="en-US" sz="4000" dirty="0" smtClean="0">
                    <a:latin typeface="Times New Roman" panose="02020603050405020304" pitchFamily="18" charset="0"/>
                    <a:cs typeface="Times New Roman" panose="02020603050405020304" pitchFamily="18" charset="0"/>
                  </a:rPr>
                  <a:t>{g(t)}</a:t>
                </a:r>
              </a:p>
              <a:p>
                <a:endParaRPr lang="en-US" sz="4000" dirty="0" smtClean="0">
                  <a:latin typeface="Times New Roman" panose="02020603050405020304" pitchFamily="18" charset="0"/>
                  <a:cs typeface="Times New Roman" panose="02020603050405020304" pitchFamily="18" charset="0"/>
                </a:endParaRPr>
              </a:p>
              <a:p>
                <a:r>
                  <a:rPr lang="en-US" sz="4000" dirty="0" smtClean="0">
                    <a:latin typeface="Times New Roman" panose="02020603050405020304" pitchFamily="18" charset="0"/>
                    <a:cs typeface="Times New Roman" panose="02020603050405020304" pitchFamily="18" charset="0"/>
                  </a:rPr>
                  <a:t>Example: </a:t>
                </a:r>
                <a14:m>
                  <m:oMath xmlns:m="http://schemas.openxmlformats.org/officeDocument/2006/math">
                    <m:r>
                      <a:rPr lang="en-US" sz="4000" i="1">
                        <a:latin typeface="Cambria Math" panose="02040503050406030204" pitchFamily="18" charset="0"/>
                        <a:ea typeface="Cambria Math" panose="02040503050406030204" pitchFamily="18" charset="0"/>
                        <a:cs typeface="Times New Roman" panose="02020603050405020304" pitchFamily="18" charset="0"/>
                      </a:rPr>
                      <m:t>ℒ</m:t>
                    </m:r>
                  </m:oMath>
                </a14:m>
                <a:r>
                  <a:rPr lang="en-US" sz="4000" dirty="0" smtClean="0">
                    <a:latin typeface="Times New Roman" panose="02020603050405020304" pitchFamily="18" charset="0"/>
                    <a:cs typeface="Times New Roman" panose="02020603050405020304" pitchFamily="18" charset="0"/>
                  </a:rPr>
                  <a:t>{3t+2 </a:t>
                </a:r>
                <a:r>
                  <a:rPr lang="en-US" sz="4000" dirty="0" err="1" smtClean="0">
                    <a:latin typeface="Times New Roman" panose="02020603050405020304" pitchFamily="18" charset="0"/>
                    <a:cs typeface="Times New Roman" panose="02020603050405020304" pitchFamily="18" charset="0"/>
                  </a:rPr>
                  <a:t>sint</a:t>
                </a:r>
                <a:r>
                  <a:rPr lang="en-US" sz="4000" dirty="0" smtClean="0">
                    <a:latin typeface="Times New Roman" panose="02020603050405020304" pitchFamily="18" charset="0"/>
                    <a:cs typeface="Times New Roman" panose="02020603050405020304" pitchFamily="18" charset="0"/>
                  </a:rPr>
                  <a:t>}=</a:t>
                </a:r>
                <a14:m>
                  <m:oMath xmlns:m="http://schemas.openxmlformats.org/officeDocument/2006/math">
                    <m:f>
                      <m:fPr>
                        <m:ctrlPr>
                          <a:rPr lang="en-US" sz="4000" i="1" smtClean="0">
                            <a:latin typeface="Cambria Math" panose="02040503050406030204" pitchFamily="18" charset="0"/>
                            <a:cs typeface="Times New Roman" panose="02020603050405020304" pitchFamily="18" charset="0"/>
                          </a:rPr>
                        </m:ctrlPr>
                      </m:fPr>
                      <m:num>
                        <m:r>
                          <a:rPr lang="en-US" sz="4000" b="0" i="1" smtClean="0">
                            <a:latin typeface="Cambria Math" panose="02040503050406030204" pitchFamily="18" charset="0"/>
                            <a:cs typeface="Times New Roman" panose="02020603050405020304" pitchFamily="18" charset="0"/>
                          </a:rPr>
                          <m:t>3</m:t>
                        </m:r>
                      </m:num>
                      <m:den>
                        <m:sSup>
                          <m:sSupPr>
                            <m:ctrlPr>
                              <a:rPr lang="en-US" sz="4000" b="0" i="1" smtClean="0">
                                <a:latin typeface="Cambria Math" panose="02040503050406030204" pitchFamily="18" charset="0"/>
                                <a:cs typeface="Times New Roman" panose="02020603050405020304" pitchFamily="18" charset="0"/>
                              </a:rPr>
                            </m:ctrlPr>
                          </m:sSupPr>
                          <m:e>
                            <m:r>
                              <a:rPr lang="en-US" sz="4000" b="0" i="1" smtClean="0">
                                <a:latin typeface="Cambria Math" panose="02040503050406030204" pitchFamily="18" charset="0"/>
                                <a:cs typeface="Times New Roman" panose="02020603050405020304" pitchFamily="18" charset="0"/>
                              </a:rPr>
                              <m:t>𝑠</m:t>
                            </m:r>
                          </m:e>
                          <m:sup>
                            <m:r>
                              <a:rPr lang="en-US" sz="4000" b="0" i="1" smtClean="0">
                                <a:latin typeface="Cambria Math" panose="02040503050406030204" pitchFamily="18" charset="0"/>
                                <a:cs typeface="Times New Roman" panose="02020603050405020304" pitchFamily="18" charset="0"/>
                              </a:rPr>
                              <m:t>2</m:t>
                            </m:r>
                          </m:sup>
                        </m:sSup>
                      </m:den>
                    </m:f>
                    <m:r>
                      <a:rPr lang="en-US" sz="4000" b="0" i="1" smtClean="0">
                        <a:latin typeface="Cambria Math" panose="02040503050406030204" pitchFamily="18" charset="0"/>
                        <a:cs typeface="Times New Roman" panose="02020603050405020304" pitchFamily="18" charset="0"/>
                      </a:rPr>
                      <m:t>+</m:t>
                    </m:r>
                    <m:f>
                      <m:fPr>
                        <m:ctrlPr>
                          <a:rPr lang="en-US" sz="4000" b="0" i="1" smtClean="0">
                            <a:latin typeface="Cambria Math" panose="02040503050406030204" pitchFamily="18" charset="0"/>
                            <a:cs typeface="Times New Roman" panose="02020603050405020304" pitchFamily="18" charset="0"/>
                          </a:rPr>
                        </m:ctrlPr>
                      </m:fPr>
                      <m:num>
                        <m:r>
                          <a:rPr lang="en-US" sz="4000" b="0" i="1" smtClean="0">
                            <a:latin typeface="Cambria Math" panose="02040503050406030204" pitchFamily="18" charset="0"/>
                            <a:cs typeface="Times New Roman" panose="02020603050405020304" pitchFamily="18" charset="0"/>
                          </a:rPr>
                          <m:t>2</m:t>
                        </m:r>
                      </m:num>
                      <m:den>
                        <m:sSup>
                          <m:sSupPr>
                            <m:ctrlPr>
                              <a:rPr lang="en-US" sz="4000" b="0" i="1" smtClean="0">
                                <a:latin typeface="Cambria Math" panose="02040503050406030204" pitchFamily="18" charset="0"/>
                                <a:cs typeface="Times New Roman" panose="02020603050405020304" pitchFamily="18" charset="0"/>
                              </a:rPr>
                            </m:ctrlPr>
                          </m:sSupPr>
                          <m:e>
                            <m:r>
                              <a:rPr lang="en-US" sz="4000" b="0" i="1" smtClean="0">
                                <a:latin typeface="Cambria Math" panose="02040503050406030204" pitchFamily="18" charset="0"/>
                                <a:cs typeface="Times New Roman" panose="02020603050405020304" pitchFamily="18" charset="0"/>
                              </a:rPr>
                              <m:t>𝑠</m:t>
                            </m:r>
                          </m:e>
                          <m:sup>
                            <m:r>
                              <a:rPr lang="en-US" sz="4000" b="0" i="1" smtClean="0">
                                <a:latin typeface="Cambria Math" panose="02040503050406030204" pitchFamily="18" charset="0"/>
                                <a:cs typeface="Times New Roman" panose="02020603050405020304" pitchFamily="18" charset="0"/>
                              </a:rPr>
                              <m:t>2</m:t>
                            </m:r>
                          </m:sup>
                        </m:sSup>
                        <m:r>
                          <a:rPr lang="en-US" sz="4000" b="0" i="1" smtClean="0">
                            <a:latin typeface="Cambria Math" panose="02040503050406030204" pitchFamily="18" charset="0"/>
                            <a:cs typeface="Times New Roman" panose="02020603050405020304" pitchFamily="18" charset="0"/>
                          </a:rPr>
                          <m:t>+1</m:t>
                        </m:r>
                      </m:den>
                    </m:f>
                  </m:oMath>
                </a14:m>
                <a:endParaRPr lang="en-US" sz="4000" dirty="0">
                  <a:latin typeface="Times New Roman" panose="02020603050405020304" pitchFamily="18" charset="0"/>
                  <a:cs typeface="Times New Roman" panose="02020603050405020304" pitchFamily="18"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149350" y="4884995"/>
                <a:ext cx="7239000" cy="2812821"/>
              </a:xfrm>
              <a:prstGeom prst="rect">
                <a:avLst/>
              </a:prstGeom>
              <a:blipFill rotWithShape="0">
                <a:blip r:embed="rId6"/>
                <a:stretch>
                  <a:fillRect l="-3033" t="-3896" r="-2106" b="-34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054350" y="7788811"/>
                <a:ext cx="5105400" cy="1464231"/>
              </a:xfrm>
              <a:prstGeom prst="roundRect">
                <a:avLst/>
              </a:prstGeom>
              <a:solidFill>
                <a:srgbClr val="00B0F0"/>
              </a:solidFill>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First Shifting Property:</a:t>
                </a:r>
              </a:p>
              <a:p>
                <a14:m>
                  <m:oMath xmlns:m="http://schemas.openxmlformats.org/officeDocument/2006/math">
                    <m:r>
                      <a:rPr lang="en-US" sz="4000" i="1">
                        <a:latin typeface="Cambria Math" panose="02040503050406030204" pitchFamily="18" charset="0"/>
                        <a:ea typeface="Cambria Math" panose="02040503050406030204" pitchFamily="18" charset="0"/>
                        <a:cs typeface="Times New Roman" panose="02020603050405020304" pitchFamily="18" charset="0"/>
                      </a:rPr>
                      <m:t>ℒ</m:t>
                    </m:r>
                  </m:oMath>
                </a14:m>
                <a:r>
                  <a:rPr lang="en-US" sz="4000" dirty="0" smtClean="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4000" b="0" i="1" smtClean="0">
                            <a:latin typeface="Cambria Math" panose="02040503050406030204" pitchFamily="18" charset="0"/>
                            <a:cs typeface="Times New Roman" panose="02020603050405020304" pitchFamily="18" charset="0"/>
                          </a:rPr>
                        </m:ctrlPr>
                      </m:sSupPr>
                      <m:e>
                        <m:r>
                          <a:rPr lang="en-US" sz="4000" b="0" i="1" smtClean="0">
                            <a:latin typeface="Cambria Math" panose="02040503050406030204" pitchFamily="18" charset="0"/>
                            <a:cs typeface="Times New Roman" panose="02020603050405020304" pitchFamily="18" charset="0"/>
                          </a:rPr>
                          <m:t>𝑒</m:t>
                        </m:r>
                      </m:e>
                      <m:sup>
                        <m:r>
                          <a:rPr lang="en-US" sz="4000" b="0" i="1" smtClean="0">
                            <a:latin typeface="Cambria Math" panose="02040503050406030204" pitchFamily="18" charset="0"/>
                            <a:cs typeface="Times New Roman" panose="02020603050405020304" pitchFamily="18" charset="0"/>
                          </a:rPr>
                          <m:t>𝑎𝑡</m:t>
                        </m:r>
                      </m:sup>
                    </m:sSup>
                    <m:r>
                      <a:rPr lang="en-US" sz="4000" b="0" i="1" smtClean="0">
                        <a:latin typeface="Cambria Math" panose="02040503050406030204" pitchFamily="18" charset="0"/>
                        <a:cs typeface="Times New Roman" panose="02020603050405020304" pitchFamily="18" charset="0"/>
                      </a:rPr>
                      <m:t>𝐹</m:t>
                    </m:r>
                    <m:r>
                      <a:rPr lang="en-US" sz="4000" b="0" i="1" smtClean="0">
                        <a:latin typeface="Cambria Math" panose="02040503050406030204" pitchFamily="18" charset="0"/>
                        <a:cs typeface="Times New Roman" panose="02020603050405020304" pitchFamily="18" charset="0"/>
                      </a:rPr>
                      <m:t>(</m:t>
                    </m:r>
                    <m:r>
                      <a:rPr lang="en-US" sz="4000" b="0" i="1" smtClean="0">
                        <a:latin typeface="Cambria Math" panose="02040503050406030204" pitchFamily="18" charset="0"/>
                        <a:cs typeface="Times New Roman" panose="02020603050405020304" pitchFamily="18" charset="0"/>
                      </a:rPr>
                      <m:t>𝑡</m:t>
                    </m:r>
                    <m:r>
                      <a:rPr lang="en-US" sz="4000" b="0" i="1" smtClean="0">
                        <a:latin typeface="Cambria Math" panose="02040503050406030204" pitchFamily="18" charset="0"/>
                        <a:cs typeface="Times New Roman" panose="02020603050405020304" pitchFamily="18" charset="0"/>
                      </a:rPr>
                      <m:t>)</m:t>
                    </m:r>
                  </m:oMath>
                </a14:m>
                <a:r>
                  <a:rPr lang="en-US" sz="4000" dirty="0" smtClean="0">
                    <a:latin typeface="Times New Roman" panose="02020603050405020304" pitchFamily="18" charset="0"/>
                    <a:cs typeface="Times New Roman" panose="02020603050405020304" pitchFamily="18" charset="0"/>
                  </a:rPr>
                  <a:t>}= f(s-a)</a:t>
                </a:r>
                <a:endParaRPr lang="en-US" sz="4000" dirty="0">
                  <a:latin typeface="Times New Roman" panose="02020603050405020304" pitchFamily="18" charset="0"/>
                  <a:cs typeface="Times New Roman" panose="020206030504050203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3054350" y="7788811"/>
                <a:ext cx="5105400" cy="1464231"/>
              </a:xfrm>
              <a:prstGeom prst="roundRect">
                <a:avLst/>
              </a:prstGeom>
              <a:blipFill rotWithShape="0">
                <a:blip r:embed="rId7"/>
                <a:stretch>
                  <a:fillRect l="-2864" t="-2917" r="-1551" b="-120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7245350" y="8523610"/>
                <a:ext cx="4467975" cy="1646905"/>
              </a:xfrm>
              <a:prstGeom prst="roundRect">
                <a:avLst/>
              </a:prstGeom>
              <a:solidFill>
                <a:srgbClr val="00B0F0"/>
              </a:solid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Example: </a:t>
                </a:r>
              </a:p>
              <a:p>
                <a14:m>
                  <m:oMath xmlns:m="http://schemas.openxmlformats.org/officeDocument/2006/math">
                    <m:r>
                      <a:rPr lang="en-US" sz="3600" i="1">
                        <a:latin typeface="Cambria Math" panose="02040503050406030204" pitchFamily="18" charset="0"/>
                        <a:ea typeface="Cambria Math" panose="02040503050406030204" pitchFamily="18" charset="0"/>
                        <a:cs typeface="Times New Roman" panose="02020603050405020304" pitchFamily="18" charset="0"/>
                      </a:rPr>
                      <m:t>ℒ</m:t>
                    </m:r>
                  </m:oMath>
                </a14:m>
                <a:r>
                  <a:rPr lang="en-US" sz="3600" dirty="0" smtClean="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3600" b="0" i="1" smtClean="0">
                            <a:latin typeface="Cambria Math" panose="02040503050406030204" pitchFamily="18" charset="0"/>
                            <a:cs typeface="Times New Roman" panose="02020603050405020304" pitchFamily="18" charset="0"/>
                          </a:rPr>
                        </m:ctrlPr>
                      </m:sSupPr>
                      <m:e>
                        <m:r>
                          <a:rPr lang="en-US" sz="3600" b="0" i="1" smtClean="0">
                            <a:latin typeface="Cambria Math" panose="02040503050406030204" pitchFamily="18" charset="0"/>
                            <a:cs typeface="Times New Roman" panose="02020603050405020304" pitchFamily="18" charset="0"/>
                          </a:rPr>
                          <m:t>𝑒</m:t>
                        </m:r>
                      </m:e>
                      <m:sup>
                        <m:r>
                          <a:rPr lang="en-US" sz="3600" b="0" i="1" smtClean="0">
                            <a:latin typeface="Cambria Math" panose="02040503050406030204" pitchFamily="18" charset="0"/>
                            <a:cs typeface="Times New Roman" panose="02020603050405020304" pitchFamily="18" charset="0"/>
                          </a:rPr>
                          <m:t>2</m:t>
                        </m:r>
                        <m:r>
                          <a:rPr lang="en-US" sz="3600" b="0" i="1" smtClean="0">
                            <a:latin typeface="Cambria Math" panose="02040503050406030204" pitchFamily="18" charset="0"/>
                            <a:cs typeface="Times New Roman" panose="02020603050405020304" pitchFamily="18" charset="0"/>
                          </a:rPr>
                          <m:t>𝑡</m:t>
                        </m:r>
                      </m:sup>
                    </m:sSup>
                    <m:func>
                      <m:funcPr>
                        <m:ctrlPr>
                          <a:rPr lang="en-US" sz="3600" b="0" i="1" smtClean="0">
                            <a:latin typeface="Cambria Math" panose="02040503050406030204" pitchFamily="18" charset="0"/>
                            <a:cs typeface="Times New Roman" panose="02020603050405020304" pitchFamily="18" charset="0"/>
                          </a:rPr>
                        </m:ctrlPr>
                      </m:funcPr>
                      <m:fName>
                        <m:r>
                          <m:rPr>
                            <m:sty m:val="p"/>
                          </m:rPr>
                          <a:rPr lang="en-US" sz="3600" b="0" i="0" smtClean="0">
                            <a:latin typeface="Cambria Math" panose="02040503050406030204" pitchFamily="18" charset="0"/>
                            <a:cs typeface="Times New Roman" panose="02020603050405020304" pitchFamily="18" charset="0"/>
                          </a:rPr>
                          <m:t>sin</m:t>
                        </m:r>
                      </m:fName>
                      <m:e>
                        <m:r>
                          <a:rPr lang="en-US" sz="3600" b="0" i="1" smtClean="0">
                            <a:latin typeface="Cambria Math" panose="02040503050406030204" pitchFamily="18" charset="0"/>
                            <a:cs typeface="Times New Roman" panose="02020603050405020304" pitchFamily="18" charset="0"/>
                          </a:rPr>
                          <m:t>𝑡</m:t>
                        </m:r>
                      </m:e>
                    </m:func>
                  </m:oMath>
                </a14:m>
                <a:r>
                  <a:rPr lang="en-US" sz="3600" dirty="0" smtClean="0">
                    <a:latin typeface="Times New Roman" panose="02020603050405020304" pitchFamily="18" charset="0"/>
                    <a:cs typeface="Times New Roman" panose="02020603050405020304" pitchFamily="18" charset="0"/>
                  </a:rPr>
                  <a:t>}=</a:t>
                </a:r>
                <a14:m>
                  <m:oMath xmlns:m="http://schemas.openxmlformats.org/officeDocument/2006/math">
                    <m:f>
                      <m:fPr>
                        <m:ctrlPr>
                          <a:rPr lang="en-US" sz="3600" i="1" dirty="0" smtClean="0">
                            <a:latin typeface="Cambria Math" panose="02040503050406030204" pitchFamily="18" charset="0"/>
                            <a:cs typeface="Times New Roman" panose="02020603050405020304" pitchFamily="18" charset="0"/>
                          </a:rPr>
                        </m:ctrlPr>
                      </m:fPr>
                      <m:num>
                        <m:r>
                          <a:rPr lang="en-US" sz="3600" b="0" i="1" dirty="0" smtClean="0">
                            <a:latin typeface="Cambria Math" panose="02040503050406030204" pitchFamily="18" charset="0"/>
                            <a:cs typeface="Times New Roman" panose="02020603050405020304" pitchFamily="18" charset="0"/>
                          </a:rPr>
                          <m:t>1</m:t>
                        </m:r>
                      </m:num>
                      <m:den>
                        <m:sSup>
                          <m:sSupPr>
                            <m:ctrlPr>
                              <a:rPr lang="en-US" sz="3600" b="0" i="1" dirty="0" smtClean="0">
                                <a:latin typeface="Cambria Math" panose="02040503050406030204" pitchFamily="18" charset="0"/>
                                <a:cs typeface="Times New Roman" panose="02020603050405020304" pitchFamily="18" charset="0"/>
                              </a:rPr>
                            </m:ctrlPr>
                          </m:sSupPr>
                          <m:e>
                            <m:d>
                              <m:dPr>
                                <m:ctrlPr>
                                  <a:rPr lang="en-US" sz="3600" b="0" i="1" dirty="0" smtClean="0">
                                    <a:latin typeface="Cambria Math" panose="02040503050406030204" pitchFamily="18" charset="0"/>
                                    <a:cs typeface="Times New Roman" panose="02020603050405020304" pitchFamily="18" charset="0"/>
                                  </a:rPr>
                                </m:ctrlPr>
                              </m:dPr>
                              <m:e>
                                <m:r>
                                  <a:rPr lang="en-US" sz="3600" b="0" i="1" dirty="0" smtClean="0">
                                    <a:latin typeface="Cambria Math" panose="02040503050406030204" pitchFamily="18" charset="0"/>
                                    <a:cs typeface="Times New Roman" panose="02020603050405020304" pitchFamily="18" charset="0"/>
                                  </a:rPr>
                                  <m:t>𝑠</m:t>
                                </m:r>
                                <m:r>
                                  <a:rPr lang="en-US" sz="3600" b="0" i="1" dirty="0" smtClean="0">
                                    <a:latin typeface="Cambria Math" panose="02040503050406030204" pitchFamily="18" charset="0"/>
                                    <a:cs typeface="Times New Roman" panose="02020603050405020304" pitchFamily="18" charset="0"/>
                                  </a:rPr>
                                  <m:t>−2</m:t>
                                </m:r>
                              </m:e>
                            </m:d>
                          </m:e>
                          <m:sup>
                            <m:r>
                              <a:rPr lang="en-US" sz="3600" b="0" i="1" dirty="0" smtClean="0">
                                <a:latin typeface="Cambria Math" panose="02040503050406030204" pitchFamily="18" charset="0"/>
                                <a:cs typeface="Times New Roman" panose="02020603050405020304" pitchFamily="18" charset="0"/>
                              </a:rPr>
                              <m:t>2</m:t>
                            </m:r>
                          </m:sup>
                        </m:sSup>
                        <m:r>
                          <a:rPr lang="en-US" sz="3600" b="0" i="1" dirty="0" smtClean="0">
                            <a:latin typeface="Cambria Math" panose="02040503050406030204" pitchFamily="18" charset="0"/>
                            <a:cs typeface="Times New Roman" panose="02020603050405020304" pitchFamily="18" charset="0"/>
                          </a:rPr>
                          <m:t>+1</m:t>
                        </m:r>
                      </m:den>
                    </m:f>
                  </m:oMath>
                </a14:m>
                <a:endParaRPr lang="en-US" sz="3600" dirty="0">
                  <a:latin typeface="Times New Roman" panose="02020603050405020304" pitchFamily="18" charset="0"/>
                  <a:cs typeface="Times New Roman" panose="02020603050405020304" pitchFamily="18" charset="0"/>
                </a:endParaRPr>
              </a:p>
            </p:txBody>
          </p:sp>
        </mc:Choice>
        <mc:Fallback>
          <p:sp>
            <p:nvSpPr>
              <p:cNvPr id="13" name="TextBox 12"/>
              <p:cNvSpPr txBox="1">
                <a:spLocks noRot="1" noChangeAspect="1" noMove="1" noResize="1" noEditPoints="1" noAdjustHandles="1" noChangeArrowheads="1" noChangeShapeType="1" noTextEdit="1"/>
              </p:cNvSpPr>
              <p:nvPr/>
            </p:nvSpPr>
            <p:spPr>
              <a:xfrm>
                <a:off x="7245350" y="8523610"/>
                <a:ext cx="4467975" cy="1646905"/>
              </a:xfrm>
              <a:prstGeom prst="roundRect">
                <a:avLst/>
              </a:prstGeom>
              <a:blipFill rotWithShape="0">
                <a:blip r:embed="rId8"/>
                <a:stretch>
                  <a:fillRect l="-2459" t="-1111"/>
                </a:stretch>
              </a:blipFill>
            </p:spPr>
            <p:txBody>
              <a:bodyPr/>
              <a:lstStyle/>
              <a:p>
                <a:r>
                  <a:rPr lang="en-US">
                    <a:noFill/>
                  </a:rPr>
                  <a:t> </a:t>
                </a:r>
              </a:p>
            </p:txBody>
          </p:sp>
        </mc:Fallback>
      </mc:AlternateContent>
    </p:spTree>
    <p:extLst>
      <p:ext uri="{BB962C8B-B14F-4D97-AF65-F5344CB8AC3E}">
        <p14:creationId xmlns:p14="http://schemas.microsoft.com/office/powerpoint/2010/main" val="10017969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advTm="1957">
        <p15:prstTrans prst="drape"/>
      </p:transition>
    </mc:Choice>
    <mc:Fallback xmlns="">
      <p:transition spd="slow" advTm="1957">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8300700" cy="102997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578350" y="577850"/>
            <a:ext cx="8534400" cy="1295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000" i="1" u="sng" dirty="0" smtClean="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Second Shifting Properties</a:t>
            </a:r>
            <a:endParaRPr lang="en-US" sz="6000" i="1" u="sng"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grpSp>
        <p:nvGrpSpPr>
          <p:cNvPr id="7" name="Group 6"/>
          <p:cNvGrpSpPr/>
          <p:nvPr/>
        </p:nvGrpSpPr>
        <p:grpSpPr>
          <a:xfrm>
            <a:off x="768350" y="2025650"/>
            <a:ext cx="15468600" cy="7772400"/>
            <a:chOff x="768350" y="2025650"/>
            <a:chExt cx="15468600" cy="7772400"/>
          </a:xfrm>
        </p:grpSpPr>
        <p:sp>
          <p:nvSpPr>
            <p:cNvPr id="2" name="Oval 1"/>
            <p:cNvSpPr/>
            <p:nvPr/>
          </p:nvSpPr>
          <p:spPr>
            <a:xfrm>
              <a:off x="768350" y="4953000"/>
              <a:ext cx="12877800" cy="484505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p:cNvSpPr/>
                <p:nvPr/>
              </p:nvSpPr>
              <p:spPr>
                <a:xfrm>
                  <a:off x="2216150" y="2025650"/>
                  <a:ext cx="14020800" cy="7772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We know from the </a:t>
                  </a:r>
                  <a:r>
                    <a:rPr lang="en-US" sz="400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defination</a:t>
                  </a:r>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of </a:t>
                  </a:r>
                  <a:r>
                    <a:rPr lang="en-US" sz="4000" dirty="0" err="1"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laplace</a:t>
                  </a:r>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transform</a:t>
                  </a:r>
                </a:p>
                <a:p>
                  <a14:m>
                    <m:oMath xmlns:m="http://schemas.openxmlformats.org/officeDocument/2006/math">
                      <m:r>
                        <a:rPr lang="en-US" sz="40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ℒ</m:t>
                      </m:r>
                    </m:oMath>
                  </a14:m>
                  <a:r>
                    <a:rPr lang="en-US" sz="4000" dirty="0">
                      <a:solidFill>
                        <a:schemeClr val="tx1"/>
                      </a:solidFill>
                      <a:latin typeface="Times New Roman" panose="02020603050405020304" pitchFamily="18" charset="0"/>
                      <a:cs typeface="Times New Roman" panose="02020603050405020304" pitchFamily="18" charset="0"/>
                    </a:rPr>
                    <a:t>{F(t)}=</a:t>
                  </a:r>
                  <a14:m>
                    <m:oMath xmlns:m="http://schemas.openxmlformats.org/officeDocument/2006/math">
                      <m:nary>
                        <m:naryPr>
                          <m:ctrlPr>
                            <a:rPr lang="en-US" sz="4000" i="1">
                              <a:solidFill>
                                <a:schemeClr val="tx1"/>
                              </a:solidFill>
                              <a:latin typeface="Cambria Math" panose="02040503050406030204" pitchFamily="18" charset="0"/>
                              <a:cs typeface="Times New Roman" panose="02020603050405020304" pitchFamily="18" charset="0"/>
                            </a:rPr>
                          </m:ctrlPr>
                        </m:naryPr>
                        <m:sub>
                          <m:r>
                            <m:rPr>
                              <m:brk m:alnAt="23"/>
                            </m:rPr>
                            <a:rPr lang="en-US" sz="4000" i="1">
                              <a:solidFill>
                                <a:schemeClr val="tx1"/>
                              </a:solidFill>
                              <a:latin typeface="Cambria Math" panose="02040503050406030204" pitchFamily="18" charset="0"/>
                              <a:cs typeface="Times New Roman" panose="02020603050405020304" pitchFamily="18" charset="0"/>
                            </a:rPr>
                            <m:t>0</m:t>
                          </m:r>
                        </m:sub>
                        <m:sup>
                          <m:r>
                            <a:rPr lang="en-US" sz="40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up>
                        <m:e>
                          <m:sSup>
                            <m:sSupPr>
                              <m:ctrlPr>
                                <a:rPr lang="en-US" sz="4000" i="1">
                                  <a:solidFill>
                                    <a:schemeClr val="tx1"/>
                                  </a:solidFill>
                                  <a:latin typeface="Cambria Math" panose="02040503050406030204" pitchFamily="18" charset="0"/>
                                  <a:cs typeface="Times New Roman" panose="02020603050405020304" pitchFamily="18" charset="0"/>
                                </a:rPr>
                              </m:ctrlPr>
                            </m:sSupPr>
                            <m:e>
                              <m:r>
                                <a:rPr lang="en-US" sz="4000" i="1">
                                  <a:solidFill>
                                    <a:schemeClr val="tx1"/>
                                  </a:solidFill>
                                  <a:latin typeface="Cambria Math" panose="02040503050406030204" pitchFamily="18" charset="0"/>
                                  <a:cs typeface="Times New Roman" panose="02020603050405020304" pitchFamily="18" charset="0"/>
                                </a:rPr>
                                <m:t>𝑒</m:t>
                              </m:r>
                            </m:e>
                            <m:sup>
                              <m:r>
                                <a:rPr lang="en-US" sz="4000" i="1">
                                  <a:solidFill>
                                    <a:schemeClr val="tx1"/>
                                  </a:solidFill>
                                  <a:latin typeface="Cambria Math" panose="02040503050406030204" pitchFamily="18" charset="0"/>
                                  <a:cs typeface="Times New Roman" panose="02020603050405020304" pitchFamily="18" charset="0"/>
                                </a:rPr>
                                <m:t>−</m:t>
                              </m:r>
                              <m:r>
                                <a:rPr lang="en-US" sz="4000" i="1">
                                  <a:solidFill>
                                    <a:schemeClr val="tx1"/>
                                  </a:solidFill>
                                  <a:latin typeface="Cambria Math" panose="02040503050406030204" pitchFamily="18" charset="0"/>
                                  <a:cs typeface="Times New Roman" panose="02020603050405020304" pitchFamily="18" charset="0"/>
                                </a:rPr>
                                <m:t>𝑠𝑡</m:t>
                              </m:r>
                            </m:sup>
                          </m:sSup>
                          <m:r>
                            <a:rPr lang="en-US" sz="4000" i="1">
                              <a:solidFill>
                                <a:schemeClr val="tx1"/>
                              </a:solidFill>
                              <a:latin typeface="Cambria Math" panose="02040503050406030204" pitchFamily="18" charset="0"/>
                              <a:cs typeface="Times New Roman" panose="02020603050405020304" pitchFamily="18" charset="0"/>
                            </a:rPr>
                            <m:t>𝐹</m:t>
                          </m:r>
                          <m:d>
                            <m:dPr>
                              <m:ctrlPr>
                                <a:rPr lang="en-US" sz="4000" i="1">
                                  <a:solidFill>
                                    <a:schemeClr val="tx1"/>
                                  </a:solidFill>
                                  <a:latin typeface="Cambria Math" panose="02040503050406030204" pitchFamily="18" charset="0"/>
                                  <a:cs typeface="Times New Roman" panose="02020603050405020304" pitchFamily="18" charset="0"/>
                                </a:rPr>
                              </m:ctrlPr>
                            </m:dPr>
                            <m:e>
                              <m:r>
                                <a:rPr lang="en-US" sz="4000" i="1">
                                  <a:solidFill>
                                    <a:schemeClr val="tx1"/>
                                  </a:solidFill>
                                  <a:latin typeface="Cambria Math" panose="02040503050406030204" pitchFamily="18" charset="0"/>
                                  <a:cs typeface="Times New Roman" panose="02020603050405020304" pitchFamily="18" charset="0"/>
                                </a:rPr>
                                <m:t>𝑡</m:t>
                              </m:r>
                            </m:e>
                          </m:d>
                          <m:r>
                            <a:rPr lang="en-US" sz="4000" i="1">
                              <a:solidFill>
                                <a:schemeClr val="tx1"/>
                              </a:solidFill>
                              <a:latin typeface="Cambria Math" panose="02040503050406030204" pitchFamily="18" charset="0"/>
                              <a:cs typeface="Times New Roman" panose="02020603050405020304" pitchFamily="18" charset="0"/>
                            </a:rPr>
                            <m:t>𝑑𝑡</m:t>
                          </m:r>
                          <m:r>
                            <a:rPr lang="en-US" sz="4000" i="1">
                              <a:solidFill>
                                <a:schemeClr val="tx1"/>
                              </a:solidFill>
                              <a:latin typeface="Cambria Math" panose="02040503050406030204" pitchFamily="18" charset="0"/>
                              <a:cs typeface="Times New Roman" panose="02020603050405020304" pitchFamily="18" charset="0"/>
                            </a:rPr>
                            <m:t>=</m:t>
                          </m:r>
                          <m:r>
                            <a:rPr lang="en-US" sz="4000" i="1">
                              <a:solidFill>
                                <a:schemeClr val="tx1"/>
                              </a:solidFill>
                              <a:latin typeface="Cambria Math" panose="02040503050406030204" pitchFamily="18" charset="0"/>
                              <a:cs typeface="Times New Roman" panose="02020603050405020304" pitchFamily="18" charset="0"/>
                            </a:rPr>
                            <m:t>𝑓</m:t>
                          </m:r>
                          <m:r>
                            <a:rPr lang="en-US" sz="4000" i="1">
                              <a:solidFill>
                                <a:schemeClr val="tx1"/>
                              </a:solidFill>
                              <a:latin typeface="Cambria Math" panose="02040503050406030204" pitchFamily="18" charset="0"/>
                              <a:cs typeface="Times New Roman" panose="02020603050405020304" pitchFamily="18" charset="0"/>
                            </a:rPr>
                            <m:t>(</m:t>
                          </m:r>
                          <m:r>
                            <a:rPr lang="en-US" sz="4000" i="1">
                              <a:solidFill>
                                <a:schemeClr val="tx1"/>
                              </a:solidFill>
                              <a:latin typeface="Cambria Math" panose="02040503050406030204" pitchFamily="18" charset="0"/>
                              <a:cs typeface="Times New Roman" panose="02020603050405020304" pitchFamily="18" charset="0"/>
                            </a:rPr>
                            <m:t>𝑠</m:t>
                          </m:r>
                          <m:r>
                            <a:rPr lang="en-US" sz="4000" i="1">
                              <a:solidFill>
                                <a:schemeClr val="tx1"/>
                              </a:solidFill>
                              <a:latin typeface="Cambria Math" panose="02040503050406030204" pitchFamily="18" charset="0"/>
                              <a:cs typeface="Times New Roman" panose="02020603050405020304" pitchFamily="18" charset="0"/>
                            </a:rPr>
                            <m:t>)</m:t>
                          </m:r>
                        </m:e>
                      </m:nary>
                    </m:oMath>
                  </a14:m>
                  <a:endPar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Now, G(t) = </a:t>
                  </a:r>
                  <a14:m>
                    <m:oMath xmlns:m="http://schemas.openxmlformats.org/officeDocument/2006/math">
                      <m:d>
                        <m:dPr>
                          <m:begChr m:val="{"/>
                          <m:endChr m:val=""/>
                          <m:ctrlPr>
                            <a:rPr lang="en-US" sz="40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d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eqArr>
                            <m:eqArrPr>
                              <m:ctrlPr>
                                <a:rPr lang="en-US" sz="40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eqArr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𝐹</m:t>
                              </m:r>
                              <m:d>
                                <m:dPr>
                                  <m:ctrlP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d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𝑡</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𝑎</m:t>
                                  </m:r>
                                </m:e>
                              </m:d>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𝑤h𝑒𝑛</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𝑡</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𝑎</m:t>
                              </m:r>
                            </m:e>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0  </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𝑤h𝑒𝑛</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𝑡</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&lt;</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𝑎</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e>
                          </m:eqArr>
                        </m:e>
                      </m:d>
                      <m:r>
                        <a:rPr lang="en-US" sz="4000" b="0" i="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r>
                        <a:rPr lang="en-US" sz="40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ℒ</m:t>
                      </m:r>
                    </m:oMath>
                  </a14:m>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{G(t)}= </a:t>
                  </a:r>
                  <a14:m>
                    <m:oMath xmlns:m="http://schemas.openxmlformats.org/officeDocument/2006/math">
                      <m:sSup>
                        <m:sSupPr>
                          <m:ctrlP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sSup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𝑒</m:t>
                          </m:r>
                        </m:e>
                        <m: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𝑎𝑠</m:t>
                          </m:r>
                        </m:sup>
                      </m:sSup>
                    </m:oMath>
                  </a14:m>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.f(s)</a:t>
                  </a:r>
                </a:p>
                <a:p>
                  <a:endPar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r>
                    <a:rPr lang="en-US" sz="4000" dirty="0" smtClean="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Example</a:t>
                  </a:r>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4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G(t) = </a:t>
                  </a:r>
                  <a14:m>
                    <m:oMath xmlns:m="http://schemas.openxmlformats.org/officeDocument/2006/math">
                      <m:d>
                        <m:dPr>
                          <m:begChr m:val="{"/>
                          <m:endChr m:val=""/>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dPr>
                        <m:e>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eqArr>
                            <m:eqArr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eqArr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𝑐𝑜𝑠</m:t>
                              </m:r>
                              <m:d>
                                <m:d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dPr>
                                <m:e>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𝑡</m:t>
                                  </m:r>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f>
                                    <m:f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fPr>
                                    <m:num>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2</m:t>
                                      </m:r>
                                      <m:r>
                                        <m:rPr>
                                          <m:sty m:val="p"/>
                                        </m:rPr>
                                        <a:rPr lang="el-GR"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π</m:t>
                                      </m:r>
                                    </m:num>
                                    <m:den>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3</m:t>
                                      </m:r>
                                    </m:den>
                                  </m:f>
                                </m:e>
                              </m:d>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𝑤h𝑒𝑛</m:t>
                              </m:r>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𝑡</m:t>
                              </m:r>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fPr>
                                <m:num>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2</m:t>
                                  </m:r>
                                  <m:r>
                                    <m:rPr>
                                      <m:sty m:val="p"/>
                                    </m:rPr>
                                    <a:rPr lang="el-GR"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π</m:t>
                                  </m:r>
                                </m:num>
                                <m:den>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3</m:t>
                                  </m:r>
                                </m:den>
                              </m:f>
                            </m:e>
                            <m:e>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0  </m:t>
                              </m:r>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𝑤h𝑒𝑛</m:t>
                              </m:r>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𝑡</m:t>
                              </m:r>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&lt;</m:t>
                              </m:r>
                              <m:f>
                                <m:f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fPr>
                                <m:num>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2</m:t>
                                  </m:r>
                                  <m:r>
                                    <m:rPr>
                                      <m:sty m:val="p"/>
                                    </m:rPr>
                                    <a:rPr lang="el-GR"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π</m:t>
                                  </m:r>
                                </m:num>
                                <m:den>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3</m:t>
                                  </m:r>
                                </m:den>
                              </m:f>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                      </m:t>
                              </m:r>
                            </m:e>
                          </m:eqArr>
                        </m:e>
                      </m:d>
                    </m:oMath>
                  </a14:m>
                  <a:endParaRPr lang="en-US" sz="4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r>
                    <a:rPr lang="en-US" sz="400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Let, F(t)=cost</a:t>
                  </a:r>
                </a:p>
                <a:p>
                  <a14:m>
                    <m:oMath xmlns:m="http://schemas.openxmlformats.org/officeDocument/2006/math">
                      <m:r>
                        <a:rPr lang="en-US" sz="40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ℒ</m:t>
                      </m:r>
                    </m:oMath>
                  </a14:m>
                  <a:r>
                    <a:rPr lang="en-US" sz="4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{G(t</a:t>
                  </a:r>
                  <a:r>
                    <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sSup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𝑒</m:t>
                          </m:r>
                        </m:e>
                        <m: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f>
                            <m:fPr>
                              <m:ctrlP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fPr>
                            <m:num>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2</m:t>
                              </m:r>
                              <m:r>
                                <m:rPr>
                                  <m:sty m:val="p"/>
                                </m:rPr>
                                <a:rPr lang="el-GR"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π</m:t>
                              </m:r>
                            </m:num>
                            <m:den>
                              <m:r>
                                <a:rPr lang="en-US" sz="4000" i="1">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3</m:t>
                              </m:r>
                            </m:den>
                          </m:f>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𝑠</m:t>
                          </m:r>
                        </m:sup>
                      </m:s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f>
                        <m:fPr>
                          <m:ctrlP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fPr>
                        <m:num>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𝑠</m:t>
                          </m:r>
                        </m:num>
                        <m:den>
                          <m:sSup>
                            <m:sSupPr>
                              <m:ctrlP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sSupPr>
                            <m:e>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𝑠</m:t>
                              </m:r>
                            </m:e>
                            <m: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2</m:t>
                              </m:r>
                            </m:sup>
                          </m:sSup>
                          <m:r>
                            <a:rPr lang="en-US" sz="4000" b="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+1</m:t>
                          </m:r>
                        </m:den>
                      </m:f>
                    </m:oMath>
                  </a14:m>
                  <a:endParaRPr lang="en-US" sz="4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sz="4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sz="4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2216150" y="2025650"/>
                  <a:ext cx="14020800" cy="7772400"/>
                </a:xfrm>
                <a:prstGeom prst="rect">
                  <a:avLst/>
                </a:prstGeom>
                <a:blipFill rotWithShape="0">
                  <a:blip r:embed="rId4"/>
                  <a:stretch>
                    <a:fillRect l="-1783" t="-2431"/>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3183101814"/>
      </p:ext>
    </p:extLst>
  </p:cSld>
  <p:clrMapOvr>
    <a:masterClrMapping/>
  </p:clrMapOvr>
  <mc:AlternateContent xmlns:mc="http://schemas.openxmlformats.org/markup-compatibility/2006" xmlns:p14="http://schemas.microsoft.com/office/powerpoint/2010/main">
    <mc:Choice Requires="p14">
      <p:transition spd="slow" p14:dur="2500" advTm="2261">
        <p:checker/>
      </p:transition>
    </mc:Choice>
    <mc:Fallback xmlns="">
      <p:transition spd="slow" advTm="2261">
        <p:checker/>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8300700" cy="10299700"/>
          </a:xfrm>
          <a:prstGeom prst="rect">
            <a:avLst/>
          </a:prstGeom>
          <a:gradFill flip="none" rotWithShape="1">
            <a:gsLst>
              <a:gs pos="0">
                <a:schemeClr val="accent5">
                  <a:lumMod val="50000"/>
                  <a:tint val="66000"/>
                  <a:satMod val="160000"/>
                </a:schemeClr>
              </a:gs>
              <a:gs pos="50000">
                <a:schemeClr val="accent5">
                  <a:lumMod val="50000"/>
                  <a:tint val="44500"/>
                  <a:satMod val="160000"/>
                </a:schemeClr>
              </a:gs>
              <a:gs pos="100000">
                <a:schemeClr val="accent5">
                  <a:lumMod val="50000"/>
                  <a:tint val="23500"/>
                  <a:satMod val="160000"/>
                </a:scheme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425950" y="314325"/>
            <a:ext cx="8610600" cy="1066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000" i="1" dirty="0" smtClean="0">
                <a:ln w="0"/>
                <a:solidFill>
                  <a:srgbClr val="7030A0"/>
                </a:solidFill>
                <a:latin typeface="Times New Roman" panose="02020603050405020304" pitchFamily="18" charset="0"/>
                <a:cs typeface="Times New Roman" panose="02020603050405020304" pitchFamily="18" charset="0"/>
              </a:rPr>
              <a:t>Inverse Laplace Transform</a:t>
            </a:r>
            <a:endParaRPr lang="en-US" sz="6000" i="1" dirty="0">
              <a:ln w="0"/>
              <a:solidFill>
                <a:srgbClr val="7030A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Rectangle 4"/>
              <p:cNvSpPr/>
              <p:nvPr/>
            </p:nvSpPr>
            <p:spPr>
              <a:xfrm>
                <a:off x="1911350" y="6105887"/>
                <a:ext cx="14478000" cy="286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smtClean="0">
                    <a:ln w="0"/>
                    <a:solidFill>
                      <a:srgbClr val="FF0000"/>
                    </a:solidFill>
                    <a:latin typeface="Times New Roman" panose="02020603050405020304" pitchFamily="18" charset="0"/>
                    <a:cs typeface="Times New Roman" panose="02020603050405020304" pitchFamily="18" charset="0"/>
                  </a:rPr>
                  <a:t>Convolution Method:</a:t>
                </a:r>
              </a:p>
              <a:p>
                <a:r>
                  <a:rPr lang="en-US" sz="4000" dirty="0" smtClean="0">
                    <a:ln w="0"/>
                    <a:solidFill>
                      <a:schemeClr val="tx1"/>
                    </a:solidFill>
                    <a:latin typeface="Times New Roman" panose="02020603050405020304" pitchFamily="18" charset="0"/>
                    <a:cs typeface="Times New Roman" panose="02020603050405020304" pitchFamily="18" charset="0"/>
                  </a:rPr>
                  <a:t>Let F(t) and G(t) be the two function/</a:t>
                </a:r>
                <a:r>
                  <a:rPr lang="en-US" sz="4000" dirty="0" err="1" smtClean="0">
                    <a:ln w="0"/>
                    <a:solidFill>
                      <a:schemeClr val="tx1"/>
                    </a:solidFill>
                    <a:latin typeface="Times New Roman" panose="02020603050405020304" pitchFamily="18" charset="0"/>
                    <a:cs typeface="Times New Roman" panose="02020603050405020304" pitchFamily="18" charset="0"/>
                  </a:rPr>
                  <a:t>Continious</a:t>
                </a:r>
                <a:r>
                  <a:rPr lang="en-US" sz="4000" dirty="0" smtClean="0">
                    <a:ln w="0"/>
                    <a:solidFill>
                      <a:schemeClr val="tx1"/>
                    </a:solidFill>
                    <a:latin typeface="Times New Roman" panose="02020603050405020304" pitchFamily="18" charset="0"/>
                    <a:cs typeface="Times New Roman" panose="02020603050405020304" pitchFamily="18" charset="0"/>
                  </a:rPr>
                  <a:t> then the convolution of given two function F(t) and G(t) is denoted by,</a:t>
                </a:r>
              </a:p>
              <a:p>
                <a:r>
                  <a:rPr lang="en-US" sz="4000" dirty="0" smtClean="0">
                    <a:ln w="0"/>
                    <a:solidFill>
                      <a:schemeClr val="tx1"/>
                    </a:solidFill>
                    <a:latin typeface="Times New Roman" panose="02020603050405020304" pitchFamily="18" charset="0"/>
                    <a:cs typeface="Times New Roman" panose="02020603050405020304" pitchFamily="18" charset="0"/>
                  </a:rPr>
                  <a:t>F*G =  </a:t>
                </a:r>
                <a14:m>
                  <m:oMath xmlns:m="http://schemas.openxmlformats.org/officeDocument/2006/math">
                    <m:nary>
                      <m:naryPr>
                        <m:ctrlPr>
                          <a:rPr lang="en-US" sz="4000" i="1" smtClean="0">
                            <a:solidFill>
                              <a:schemeClr val="tx1"/>
                            </a:solidFill>
                            <a:latin typeface="Cambria Math" panose="02040503050406030204" pitchFamily="18" charset="0"/>
                            <a:cs typeface="Times New Roman" panose="02020603050405020304" pitchFamily="18" charset="0"/>
                          </a:rPr>
                        </m:ctrlPr>
                      </m:naryPr>
                      <m:sub>
                        <m:r>
                          <m:rPr>
                            <m:brk m:alnAt="23"/>
                          </m:rPr>
                          <a:rPr lang="en-US" sz="4000" i="1">
                            <a:solidFill>
                              <a:schemeClr val="tx1"/>
                            </a:solidFill>
                            <a:latin typeface="Cambria Math" panose="02040503050406030204" pitchFamily="18" charset="0"/>
                            <a:cs typeface="Times New Roman" panose="02020603050405020304" pitchFamily="18" charset="0"/>
                          </a:rPr>
                          <m:t>0</m:t>
                        </m:r>
                      </m:sub>
                      <m:sup>
                        <m:r>
                          <a:rPr lang="en-US" sz="4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𝑡</m:t>
                        </m:r>
                      </m:sup>
                      <m:e>
                        <m:r>
                          <a:rPr lang="en-US" sz="4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𝐹</m:t>
                        </m:r>
                        <m:d>
                          <m:dPr>
                            <m:ctrlPr>
                              <a:rPr lang="en-US" sz="4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4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𝑢</m:t>
                            </m:r>
                          </m:e>
                        </m:d>
                        <m:r>
                          <a:rPr lang="en-US" sz="4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sz="4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𝐺</m:t>
                        </m:r>
                        <m:r>
                          <a:rPr lang="en-US" sz="4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sz="4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𝑡</m:t>
                        </m:r>
                        <m:r>
                          <a:rPr lang="en-US" sz="4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sz="4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𝑢</m:t>
                        </m:r>
                        <m:r>
                          <a:rPr lang="en-US" sz="40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e>
                    </m:nary>
                  </m:oMath>
                </a14:m>
                <a:r>
                  <a:rPr lang="en-US" sz="4000" dirty="0" smtClean="0">
                    <a:ln w="0"/>
                    <a:solidFill>
                      <a:schemeClr val="tx1"/>
                    </a:solidFill>
                    <a:latin typeface="Times New Roman" panose="02020603050405020304" pitchFamily="18" charset="0"/>
                    <a:cs typeface="Times New Roman" panose="02020603050405020304" pitchFamily="18" charset="0"/>
                  </a:rPr>
                  <a:t>du </a:t>
                </a:r>
                <a:endParaRPr lang="en-US" sz="4000" dirty="0">
                  <a:ln w="0"/>
                  <a:solidFill>
                    <a:schemeClr val="tx1"/>
                  </a:solidFill>
                  <a:latin typeface="Times New Roman" panose="02020603050405020304" pitchFamily="18"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911350" y="6105887"/>
                <a:ext cx="14478000" cy="2869337"/>
              </a:xfrm>
              <a:prstGeom prst="rect">
                <a:avLst/>
              </a:prstGeom>
              <a:blipFill rotWithShape="0">
                <a:blip r:embed="rId4"/>
                <a:stretch>
                  <a:fillRect l="-1726" t="-2979" r="-1305" b="-489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101850" y="1720850"/>
                <a:ext cx="13563600" cy="2739661"/>
              </a:xfrm>
              <a:prstGeom prst="rect">
                <a:avLst/>
              </a:prstGeom>
              <a:noFill/>
            </p:spPr>
            <p:txBody>
              <a:bodyPr wrap="square" rtlCol="0">
                <a:spAutoFit/>
              </a:bodyPr>
              <a:lstStyle/>
              <a:p>
                <a:r>
                  <a:rPr lang="en-US" sz="4000" dirty="0" smtClean="0">
                    <a:ln w="0"/>
                    <a:latin typeface="Times New Roman" panose="02020603050405020304" pitchFamily="18" charset="0"/>
                    <a:cs typeface="Times New Roman" panose="02020603050405020304" pitchFamily="18" charset="0"/>
                  </a:rPr>
                  <a:t>We know from the </a:t>
                </a:r>
                <a:r>
                  <a:rPr lang="en-US" sz="4000" dirty="0" err="1">
                    <a:ln w="0"/>
                    <a:latin typeface="Times New Roman" panose="02020603050405020304" pitchFamily="18" charset="0"/>
                    <a:cs typeface="Times New Roman" panose="02020603050405020304" pitchFamily="18" charset="0"/>
                  </a:rPr>
                  <a:t>defination</a:t>
                </a:r>
                <a:r>
                  <a:rPr lang="en-US" sz="4000" dirty="0">
                    <a:ln w="0"/>
                    <a:latin typeface="Times New Roman" panose="02020603050405020304" pitchFamily="18" charset="0"/>
                    <a:cs typeface="Times New Roman" panose="02020603050405020304" pitchFamily="18" charset="0"/>
                  </a:rPr>
                  <a:t> of </a:t>
                </a:r>
                <a:r>
                  <a:rPr lang="en-US" sz="4000" dirty="0" err="1">
                    <a:ln w="0"/>
                    <a:latin typeface="Times New Roman" panose="02020603050405020304" pitchFamily="18" charset="0"/>
                    <a:cs typeface="Times New Roman" panose="02020603050405020304" pitchFamily="18" charset="0"/>
                  </a:rPr>
                  <a:t>laplace</a:t>
                </a:r>
                <a:r>
                  <a:rPr lang="en-US" sz="4000" dirty="0">
                    <a:ln w="0"/>
                    <a:latin typeface="Times New Roman" panose="02020603050405020304" pitchFamily="18" charset="0"/>
                    <a:cs typeface="Times New Roman" panose="02020603050405020304" pitchFamily="18" charset="0"/>
                  </a:rPr>
                  <a:t> transform</a:t>
                </a:r>
              </a:p>
              <a:p>
                <a14:m>
                  <m:oMath xmlns:m="http://schemas.openxmlformats.org/officeDocument/2006/math">
                    <m:r>
                      <a:rPr lang="en-US" sz="4400" i="1">
                        <a:latin typeface="Cambria Math" panose="02040503050406030204" pitchFamily="18" charset="0"/>
                        <a:ea typeface="Cambria Math" panose="02040503050406030204" pitchFamily="18" charset="0"/>
                        <a:cs typeface="Times New Roman" panose="02020603050405020304" pitchFamily="18" charset="0"/>
                      </a:rPr>
                      <m:t>ℒ</m:t>
                    </m:r>
                  </m:oMath>
                </a14:m>
                <a:r>
                  <a:rPr lang="en-US" sz="4400" dirty="0">
                    <a:latin typeface="Times New Roman" panose="02020603050405020304" pitchFamily="18" charset="0"/>
                    <a:cs typeface="Times New Roman" panose="02020603050405020304" pitchFamily="18" charset="0"/>
                  </a:rPr>
                  <a:t>{F(t)}=</a:t>
                </a:r>
                <a14:m>
                  <m:oMath xmlns:m="http://schemas.openxmlformats.org/officeDocument/2006/math">
                    <m:nary>
                      <m:naryPr>
                        <m:ctrlPr>
                          <a:rPr lang="en-US" sz="4400" i="1">
                            <a:latin typeface="Cambria Math" panose="02040503050406030204" pitchFamily="18" charset="0"/>
                            <a:cs typeface="Times New Roman" panose="02020603050405020304" pitchFamily="18" charset="0"/>
                          </a:rPr>
                        </m:ctrlPr>
                      </m:naryPr>
                      <m:sub>
                        <m:r>
                          <m:rPr>
                            <m:brk m:alnAt="23"/>
                          </m:rPr>
                          <a:rPr lang="en-US" sz="4400" i="1">
                            <a:latin typeface="Cambria Math" panose="02040503050406030204" pitchFamily="18" charset="0"/>
                            <a:cs typeface="Times New Roman" panose="02020603050405020304" pitchFamily="18" charset="0"/>
                          </a:rPr>
                          <m:t>0</m:t>
                        </m:r>
                      </m:sub>
                      <m:sup>
                        <m:r>
                          <a:rPr lang="en-US" sz="4400" i="1">
                            <a:latin typeface="Cambria Math" panose="02040503050406030204" pitchFamily="18" charset="0"/>
                            <a:ea typeface="Cambria Math" panose="02040503050406030204" pitchFamily="18" charset="0"/>
                            <a:cs typeface="Times New Roman" panose="02020603050405020304" pitchFamily="18" charset="0"/>
                          </a:rPr>
                          <m:t>∞</m:t>
                        </m:r>
                      </m:sup>
                      <m:e>
                        <m:sSup>
                          <m:sSupPr>
                            <m:ctrlPr>
                              <a:rPr lang="en-US" sz="4400" i="1">
                                <a:latin typeface="Cambria Math" panose="02040503050406030204" pitchFamily="18" charset="0"/>
                                <a:cs typeface="Times New Roman" panose="02020603050405020304" pitchFamily="18" charset="0"/>
                              </a:rPr>
                            </m:ctrlPr>
                          </m:sSupPr>
                          <m:e>
                            <m:r>
                              <a:rPr lang="en-US" sz="4400" i="1">
                                <a:latin typeface="Cambria Math" panose="02040503050406030204" pitchFamily="18" charset="0"/>
                                <a:cs typeface="Times New Roman" panose="02020603050405020304" pitchFamily="18" charset="0"/>
                              </a:rPr>
                              <m:t>𝑒</m:t>
                            </m:r>
                          </m:e>
                          <m:sup>
                            <m:r>
                              <a:rPr lang="en-US" sz="4400" i="1">
                                <a:latin typeface="Cambria Math" panose="02040503050406030204" pitchFamily="18" charset="0"/>
                                <a:cs typeface="Times New Roman" panose="02020603050405020304" pitchFamily="18" charset="0"/>
                              </a:rPr>
                              <m:t>−</m:t>
                            </m:r>
                            <m:r>
                              <a:rPr lang="en-US" sz="4400" i="1">
                                <a:latin typeface="Cambria Math" panose="02040503050406030204" pitchFamily="18" charset="0"/>
                                <a:cs typeface="Times New Roman" panose="02020603050405020304" pitchFamily="18" charset="0"/>
                              </a:rPr>
                              <m:t>𝑠𝑡</m:t>
                            </m:r>
                          </m:sup>
                        </m:sSup>
                        <m:r>
                          <a:rPr lang="en-US" sz="4400" i="1">
                            <a:latin typeface="Cambria Math" panose="02040503050406030204" pitchFamily="18" charset="0"/>
                            <a:cs typeface="Times New Roman" panose="02020603050405020304" pitchFamily="18" charset="0"/>
                          </a:rPr>
                          <m:t>𝐹</m:t>
                        </m:r>
                        <m:d>
                          <m:dPr>
                            <m:ctrlPr>
                              <a:rPr lang="en-US" sz="4400" i="1">
                                <a:latin typeface="Cambria Math" panose="02040503050406030204" pitchFamily="18" charset="0"/>
                                <a:cs typeface="Times New Roman" panose="02020603050405020304" pitchFamily="18" charset="0"/>
                              </a:rPr>
                            </m:ctrlPr>
                          </m:dPr>
                          <m:e>
                            <m:r>
                              <a:rPr lang="en-US" sz="4400" i="1">
                                <a:latin typeface="Cambria Math" panose="02040503050406030204" pitchFamily="18" charset="0"/>
                                <a:cs typeface="Times New Roman" panose="02020603050405020304" pitchFamily="18" charset="0"/>
                              </a:rPr>
                              <m:t>𝑡</m:t>
                            </m:r>
                          </m:e>
                        </m:d>
                        <m:r>
                          <a:rPr lang="en-US" sz="4400" i="1">
                            <a:latin typeface="Cambria Math" panose="02040503050406030204" pitchFamily="18" charset="0"/>
                            <a:cs typeface="Times New Roman" panose="02020603050405020304" pitchFamily="18" charset="0"/>
                          </a:rPr>
                          <m:t>𝑑𝑡</m:t>
                        </m:r>
                        <m:r>
                          <a:rPr lang="en-US" sz="4400" i="1">
                            <a:latin typeface="Cambria Math" panose="02040503050406030204" pitchFamily="18" charset="0"/>
                            <a:cs typeface="Times New Roman" panose="02020603050405020304" pitchFamily="18" charset="0"/>
                          </a:rPr>
                          <m:t>=</m:t>
                        </m:r>
                        <m:r>
                          <a:rPr lang="en-US" sz="4400" i="1">
                            <a:latin typeface="Cambria Math" panose="02040503050406030204" pitchFamily="18" charset="0"/>
                            <a:cs typeface="Times New Roman" panose="02020603050405020304" pitchFamily="18" charset="0"/>
                          </a:rPr>
                          <m:t>𝑓</m:t>
                        </m:r>
                        <m:r>
                          <a:rPr lang="en-US" sz="4400" i="1">
                            <a:latin typeface="Cambria Math" panose="02040503050406030204" pitchFamily="18" charset="0"/>
                            <a:cs typeface="Times New Roman" panose="02020603050405020304" pitchFamily="18" charset="0"/>
                          </a:rPr>
                          <m:t>(</m:t>
                        </m:r>
                        <m:r>
                          <a:rPr lang="en-US" sz="4400" i="1">
                            <a:latin typeface="Cambria Math" panose="02040503050406030204" pitchFamily="18" charset="0"/>
                            <a:cs typeface="Times New Roman" panose="02020603050405020304" pitchFamily="18" charset="0"/>
                          </a:rPr>
                          <m:t>𝑠</m:t>
                        </m:r>
                        <m:r>
                          <a:rPr lang="en-US" sz="4400" i="1">
                            <a:latin typeface="Cambria Math" panose="02040503050406030204" pitchFamily="18" charset="0"/>
                            <a:cs typeface="Times New Roman" panose="02020603050405020304" pitchFamily="18" charset="0"/>
                          </a:rPr>
                          <m:t>)</m:t>
                        </m:r>
                      </m:e>
                    </m:nary>
                  </m:oMath>
                </a14:m>
                <a:endParaRPr lang="en-US" sz="3600" dirty="0" smtClean="0">
                  <a:latin typeface="Times New Roman" panose="02020603050405020304" pitchFamily="18" charset="0"/>
                  <a:cs typeface="Times New Roman" panose="02020603050405020304" pitchFamily="18" charset="0"/>
                </a:endParaRPr>
              </a:p>
              <a:p>
                <a:r>
                  <a:rPr lang="en-US" sz="3600" dirty="0" smtClean="0">
                    <a:latin typeface="Times New Roman" panose="02020603050405020304" pitchFamily="18" charset="0"/>
                    <a:cs typeface="Times New Roman" panose="02020603050405020304" pitchFamily="18" charset="0"/>
                  </a:rPr>
                  <a:t>Then </a:t>
                </a:r>
              </a:p>
              <a:p>
                <a:r>
                  <a:rPr lang="en-US" sz="3600" dirty="0">
                    <a:latin typeface="Times New Roman" panose="02020603050405020304" pitchFamily="18" charset="0"/>
                    <a:cs typeface="Times New Roman" panose="02020603050405020304" pitchFamily="18" charset="0"/>
                  </a:rPr>
                  <a:t> </a:t>
                </a:r>
                <a:r>
                  <a:rPr lang="en-US" sz="3600" dirty="0" smtClean="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3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3600" i="1">
                            <a:latin typeface="Cambria Math" panose="02040503050406030204" pitchFamily="18" charset="0"/>
                            <a:ea typeface="Cambria Math" panose="02040503050406030204" pitchFamily="18" charset="0"/>
                            <a:cs typeface="Times New Roman" panose="02020603050405020304" pitchFamily="18" charset="0"/>
                          </a:rPr>
                          <m:t>ℒ</m:t>
                        </m:r>
                      </m:e>
                      <m:sup>
                        <m:r>
                          <a:rPr lang="en-US" sz="3600" b="0" i="1" smtClean="0">
                            <a:latin typeface="Cambria Math" panose="02040503050406030204" pitchFamily="18" charset="0"/>
                            <a:ea typeface="Cambria Math" panose="02040503050406030204" pitchFamily="18" charset="0"/>
                            <a:cs typeface="Times New Roman" panose="02020603050405020304" pitchFamily="18" charset="0"/>
                          </a:rPr>
                          <m:t>−1</m:t>
                        </m:r>
                      </m:sup>
                    </m:sSup>
                  </m:oMath>
                </a14:m>
                <a:r>
                  <a:rPr lang="en-US" sz="3600" dirty="0" smtClean="0">
                    <a:latin typeface="Times New Roman" panose="02020603050405020304" pitchFamily="18" charset="0"/>
                    <a:cs typeface="Times New Roman" panose="02020603050405020304" pitchFamily="18" charset="0"/>
                  </a:rPr>
                  <a:t>{f(s)}=F(t)</a:t>
                </a:r>
              </a:p>
            </p:txBody>
          </p:sp>
        </mc:Choice>
        <mc:Fallback xmlns="">
          <p:sp>
            <p:nvSpPr>
              <p:cNvPr id="7" name="TextBox 6"/>
              <p:cNvSpPr txBox="1">
                <a:spLocks noRot="1" noChangeAspect="1" noMove="1" noResize="1" noEditPoints="1" noAdjustHandles="1" noChangeArrowheads="1" noChangeShapeType="1" noTextEdit="1"/>
              </p:cNvSpPr>
              <p:nvPr/>
            </p:nvSpPr>
            <p:spPr>
              <a:xfrm>
                <a:off x="2101850" y="1720850"/>
                <a:ext cx="13563600" cy="2739661"/>
              </a:xfrm>
              <a:prstGeom prst="rect">
                <a:avLst/>
              </a:prstGeom>
              <a:blipFill rotWithShape="0">
                <a:blip r:embed="rId5"/>
                <a:stretch>
                  <a:fillRect l="-1618" t="-4000" b="-5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11664950" y="3324190"/>
                <a:ext cx="5238461" cy="2355260"/>
              </a:xfrm>
              <a:prstGeom prst="rect">
                <a:avLst/>
              </a:prstGeom>
              <a:solidFill>
                <a:srgbClr val="00B0F0"/>
              </a:solidFill>
            </p:spPr>
            <p:txBody>
              <a:bodyPr wrap="square" rtlCol="0">
                <a:spAutoFit/>
              </a:bodyPr>
              <a:lstStyle/>
              <a:p>
                <a:r>
                  <a:rPr lang="en-US" sz="4000" dirty="0" smtClean="0">
                    <a:latin typeface="Times New Roman" panose="02020603050405020304" pitchFamily="18" charset="0"/>
                    <a:cs typeface="Times New Roman" panose="02020603050405020304" pitchFamily="18" charset="0"/>
                  </a:rPr>
                  <a:t>Example: F(t) = sin at</a:t>
                </a:r>
              </a:p>
              <a:p>
                <a:r>
                  <a:rPr lang="en-US" sz="4000" dirty="0">
                    <a:latin typeface="Times New Roman" panose="02020603050405020304" pitchFamily="18" charset="0"/>
                    <a:cs typeface="Times New Roman" panose="02020603050405020304" pitchFamily="18" charset="0"/>
                  </a:rPr>
                  <a:t> </a:t>
                </a:r>
                <a:r>
                  <a:rPr lang="en-US" sz="4000" dirty="0" smtClean="0">
                    <a:latin typeface="Times New Roman" panose="02020603050405020304" pitchFamily="18" charset="0"/>
                    <a:cs typeface="Times New Roman" panose="02020603050405020304" pitchFamily="18" charset="0"/>
                  </a:rPr>
                  <a:t> </a:t>
                </a:r>
                <a14:m>
                  <m:oMath xmlns:m="http://schemas.openxmlformats.org/officeDocument/2006/math">
                    <m:r>
                      <a:rPr lang="en-US" sz="4000" i="1">
                        <a:latin typeface="Cambria Math" panose="02040503050406030204" pitchFamily="18" charset="0"/>
                        <a:ea typeface="Cambria Math" panose="02040503050406030204" pitchFamily="18" charset="0"/>
                        <a:cs typeface="Times New Roman" panose="02020603050405020304" pitchFamily="18" charset="0"/>
                      </a:rPr>
                      <m:t>ℒ</m:t>
                    </m:r>
                  </m:oMath>
                </a14:m>
                <a:r>
                  <a:rPr lang="en-US" sz="4000" dirty="0" smtClean="0">
                    <a:latin typeface="Times New Roman" panose="02020603050405020304" pitchFamily="18" charset="0"/>
                    <a:cs typeface="Times New Roman" panose="02020603050405020304" pitchFamily="18" charset="0"/>
                  </a:rPr>
                  <a:t>{sin at} = </a:t>
                </a:r>
                <a14:m>
                  <m:oMath xmlns:m="http://schemas.openxmlformats.org/officeDocument/2006/math">
                    <m:f>
                      <m:fPr>
                        <m:ctrlP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fPr>
                      <m:num>
                        <m:r>
                          <a:rPr lang="en-US" sz="4000" b="0" i="1" smtClean="0">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𝑎</m:t>
                        </m:r>
                      </m:num>
                      <m:den>
                        <m:sSup>
                          <m:sSupPr>
                            <m:ctrlP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sSupPr>
                          <m:e>
                            <m: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𝑠</m:t>
                            </m:r>
                          </m:e>
                          <m:sup>
                            <m: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2</m:t>
                            </m:r>
                          </m:sup>
                        </m:sSup>
                        <m: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sSup>
                          <m:sSupPr>
                            <m:ctrlPr>
                              <a:rPr lang="en-US" sz="4000" b="0" i="1" smtClean="0">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sSupPr>
                          <m:e>
                            <m:r>
                              <a:rPr lang="en-US" sz="4000" b="0" i="1" smtClean="0">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𝑎</m:t>
                            </m:r>
                          </m:e>
                          <m:sup>
                            <m:r>
                              <a:rPr lang="en-US" sz="4000" b="0" i="1" smtClean="0">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2</m:t>
                            </m:r>
                          </m:sup>
                        </m:sSup>
                      </m:den>
                    </m:f>
                  </m:oMath>
                </a14:m>
                <a:r>
                  <a:rPr lang="en-US" sz="4000" dirty="0" smtClean="0">
                    <a:latin typeface="Times New Roman" panose="02020603050405020304" pitchFamily="18" charset="0"/>
                    <a:cs typeface="Times New Roman" panose="02020603050405020304" pitchFamily="18" charset="0"/>
                  </a:rPr>
                  <a:t> = f(s)</a:t>
                </a:r>
              </a:p>
              <a:p>
                <a:r>
                  <a:rPr lang="en-US" sz="4000" dirty="0" smtClean="0">
                    <a:latin typeface="Times New Roman" panose="02020603050405020304" pitchFamily="18" charset="0"/>
                    <a:cs typeface="Times New Roman" panose="02020603050405020304" pitchFamily="18" charset="0"/>
                  </a:rPr>
                  <a:t>Now, </a:t>
                </a:r>
                <a14:m>
                  <m:oMath xmlns:m="http://schemas.openxmlformats.org/officeDocument/2006/math">
                    <m:sSup>
                      <m:sSupPr>
                        <m:ctrlPr>
                          <a:rPr lang="en-US" sz="40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4000" i="1">
                            <a:latin typeface="Cambria Math" panose="02040503050406030204" pitchFamily="18" charset="0"/>
                            <a:ea typeface="Cambria Math" panose="02040503050406030204" pitchFamily="18" charset="0"/>
                            <a:cs typeface="Times New Roman" panose="02020603050405020304" pitchFamily="18" charset="0"/>
                          </a:rPr>
                          <m:t>ℒ</m:t>
                        </m:r>
                      </m:e>
                      <m:sup>
                        <m:r>
                          <a:rPr lang="en-US" sz="4000" i="1">
                            <a:latin typeface="Cambria Math" panose="02040503050406030204" pitchFamily="18" charset="0"/>
                            <a:ea typeface="Cambria Math" panose="02040503050406030204" pitchFamily="18" charset="0"/>
                            <a:cs typeface="Times New Roman" panose="02020603050405020304" pitchFamily="18" charset="0"/>
                          </a:rPr>
                          <m:t>−1</m:t>
                        </m:r>
                      </m:sup>
                    </m:sSup>
                  </m:oMath>
                </a14:m>
                <a:r>
                  <a:rPr lang="en-US" sz="4000" dirty="0" smtClean="0">
                    <a:latin typeface="Times New Roman" panose="02020603050405020304" pitchFamily="18" charset="0"/>
                    <a:cs typeface="Times New Roman" panose="02020603050405020304" pitchFamily="18" charset="0"/>
                  </a:rPr>
                  <a:t>{</a:t>
                </a:r>
                <a14:m>
                  <m:oMath xmlns:m="http://schemas.openxmlformats.org/officeDocument/2006/math">
                    <m:f>
                      <m:fPr>
                        <m:ctrlP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fPr>
                      <m:num>
                        <m: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𝑎</m:t>
                        </m:r>
                      </m:num>
                      <m:den>
                        <m:sSup>
                          <m:sSupPr>
                            <m:ctrlP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sSupPr>
                          <m:e>
                            <m: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𝑠</m:t>
                            </m:r>
                          </m:e>
                          <m:sup>
                            <m: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2</m:t>
                            </m:r>
                          </m:sup>
                        </m:sSup>
                        <m: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m:t>
                        </m:r>
                        <m:sSup>
                          <m:sSupPr>
                            <m:ctrlP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ctrlPr>
                          </m:sSupPr>
                          <m:e>
                            <m: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𝑎</m:t>
                            </m:r>
                          </m:e>
                          <m:sup>
                            <m:r>
                              <a:rPr lang="en-US" sz="4000" i="1">
                                <a:ln w="0"/>
                                <a:effectLst>
                                  <a:outerShdw blurRad="38100" dist="19050" dir="2700000" algn="tl" rotWithShape="0">
                                    <a:schemeClr val="dk1">
                                      <a:alpha val="40000"/>
                                    </a:schemeClr>
                                  </a:outerShdw>
                                </a:effectLst>
                                <a:latin typeface="Cambria Math" panose="02040503050406030204" pitchFamily="18" charset="0"/>
                                <a:cs typeface="Times New Roman" panose="02020603050405020304" pitchFamily="18" charset="0"/>
                              </a:rPr>
                              <m:t>2</m:t>
                            </m:r>
                          </m:sup>
                        </m:sSup>
                      </m:den>
                    </m:f>
                  </m:oMath>
                </a14:m>
                <a:r>
                  <a:rPr lang="en-US" sz="4000" dirty="0">
                    <a:latin typeface="Times New Roman" panose="02020603050405020304" pitchFamily="18" charset="0"/>
                    <a:cs typeface="Times New Roman" panose="02020603050405020304" pitchFamily="18" charset="0"/>
                  </a:rPr>
                  <a:t>}=sin </a:t>
                </a:r>
                <a:r>
                  <a:rPr lang="en-US" sz="4000" dirty="0" smtClean="0">
                    <a:latin typeface="Times New Roman" panose="02020603050405020304" pitchFamily="18" charset="0"/>
                    <a:cs typeface="Times New Roman" panose="02020603050405020304" pitchFamily="18" charset="0"/>
                  </a:rPr>
                  <a:t>at</a:t>
                </a:r>
                <a:endParaRPr lang="en-US" sz="4000" dirty="0">
                  <a:latin typeface="Times New Roman" panose="02020603050405020304" pitchFamily="18" charset="0"/>
                  <a:cs typeface="Times New Roman" panose="020206030504050203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1664950" y="3324190"/>
                <a:ext cx="5238461" cy="2355260"/>
              </a:xfrm>
              <a:prstGeom prst="rect">
                <a:avLst/>
              </a:prstGeom>
              <a:blipFill rotWithShape="0">
                <a:blip r:embed="rId6"/>
                <a:stretch>
                  <a:fillRect l="-4191" t="-4651" r="-3492" b="-4134"/>
                </a:stretch>
              </a:blipFill>
            </p:spPr>
            <p:txBody>
              <a:bodyPr/>
              <a:lstStyle/>
              <a:p>
                <a:r>
                  <a:rPr lang="en-US">
                    <a:noFill/>
                  </a:rPr>
                  <a:t> </a:t>
                </a:r>
              </a:p>
            </p:txBody>
          </p:sp>
        </mc:Fallback>
      </mc:AlternateContent>
      <p:sp>
        <p:nvSpPr>
          <p:cNvPr id="6" name="TextBox 5"/>
          <p:cNvSpPr txBox="1"/>
          <p:nvPr/>
        </p:nvSpPr>
        <p:spPr>
          <a:xfrm>
            <a:off x="12277956" y="7826737"/>
            <a:ext cx="4648200" cy="1938992"/>
          </a:xfrm>
          <a:prstGeom prst="rect">
            <a:avLst/>
          </a:prstGeom>
          <a:solidFill>
            <a:srgbClr val="00B050"/>
          </a:solidFill>
        </p:spPr>
        <p:txBody>
          <a:bodyPr wrap="square" rtlCol="0">
            <a:spAutoFit/>
          </a:bodyPr>
          <a:lstStyle/>
          <a:p>
            <a:r>
              <a:rPr lang="en-US" sz="4000" b="1" dirty="0" smtClean="0">
                <a:latin typeface="Times New Roman" panose="02020603050405020304" pitchFamily="18" charset="0"/>
                <a:cs typeface="Times New Roman" panose="02020603050405020304" pitchFamily="18" charset="0"/>
              </a:rPr>
              <a:t>Applications</a:t>
            </a:r>
          </a:p>
          <a:p>
            <a:pPr marL="571500" indent="-571500">
              <a:buFont typeface="Arial" panose="020B0604020202020204" pitchFamily="34" charset="0"/>
              <a:buChar char="•"/>
            </a:pPr>
            <a:r>
              <a:rPr lang="en-US" sz="4000" dirty="0" smtClean="0">
                <a:latin typeface="Times New Roman" panose="02020603050405020304" pitchFamily="18" charset="0"/>
                <a:cs typeface="Times New Roman" panose="02020603050405020304" pitchFamily="18" charset="0"/>
              </a:rPr>
              <a:t>Systems analysis</a:t>
            </a:r>
          </a:p>
          <a:p>
            <a:pPr marL="571500" indent="-571500">
              <a:buFont typeface="Arial" panose="020B0604020202020204" pitchFamily="34" charset="0"/>
              <a:buChar char="•"/>
            </a:pPr>
            <a:r>
              <a:rPr lang="en-US" sz="4000" dirty="0" smtClean="0">
                <a:latin typeface="Times New Roman" panose="02020603050405020304" pitchFamily="18" charset="0"/>
                <a:cs typeface="Times New Roman" panose="02020603050405020304" pitchFamily="18" charset="0"/>
              </a:rPr>
              <a:t>Signal processing</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892174"/>
      </p:ext>
    </p:extLst>
  </p:cSld>
  <p:clrMapOvr>
    <a:masterClrMapping/>
  </p:clrMapOvr>
  <mc:AlternateContent xmlns:mc="http://schemas.openxmlformats.org/markup-compatibility/2006" xmlns:p14="http://schemas.microsoft.com/office/powerpoint/2010/main">
    <mc:Choice Requires="p14">
      <p:transition spd="slow" p14:dur="1500" advTm="2131">
        <p:split orient="vert"/>
      </p:transition>
    </mc:Choice>
    <mc:Fallback xmlns="">
      <p:transition spd="slow" advTm="2131">
        <p:split orient="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63723"/>
            <a:ext cx="18300700" cy="3972002"/>
          </a:xfrm>
          <a:prstGeom prst="rect">
            <a:avLst/>
          </a:prstGeom>
        </p:spPr>
      </p:pic>
      <p:sp>
        <p:nvSpPr>
          <p:cNvPr id="5" name="TextBox 4"/>
          <p:cNvSpPr txBox="1"/>
          <p:nvPr/>
        </p:nvSpPr>
        <p:spPr>
          <a:xfrm>
            <a:off x="5289550" y="1644650"/>
            <a:ext cx="6781800" cy="1107996"/>
          </a:xfrm>
          <a:prstGeom prst="rect">
            <a:avLst/>
          </a:prstGeom>
          <a:solidFill>
            <a:srgbClr val="FFFF00"/>
          </a:solidFill>
        </p:spPr>
        <p:txBody>
          <a:bodyPr wrap="square" rtlCol="0">
            <a:spAutoFit/>
          </a:bodyPr>
          <a:lstStyle/>
          <a:p>
            <a:r>
              <a:rPr lang="en-US" sz="6600" i="1" dirty="0" smtClean="0">
                <a:ln w="0"/>
                <a:solidFill>
                  <a:srgbClr val="7030A0"/>
                </a:solidFill>
                <a:latin typeface="Times New Roman" panose="02020603050405020304" pitchFamily="18" charset="0"/>
                <a:cs typeface="Times New Roman" panose="02020603050405020304" pitchFamily="18" charset="0"/>
              </a:rPr>
              <a:t>   Fourier Series</a:t>
            </a:r>
            <a:endParaRPr lang="en-US" sz="6600" dirty="0"/>
          </a:p>
        </p:txBody>
      </p:sp>
      <mc:AlternateContent xmlns:mc="http://schemas.openxmlformats.org/markup-compatibility/2006" xmlns:a14="http://schemas.microsoft.com/office/drawing/2010/main">
        <mc:Choice Requires="a14">
          <p:sp>
            <p:nvSpPr>
              <p:cNvPr id="6" name="Rectangle 5"/>
              <p:cNvSpPr/>
              <p:nvPr/>
            </p:nvSpPr>
            <p:spPr>
              <a:xfrm>
                <a:off x="9759950" y="3930650"/>
                <a:ext cx="8382000" cy="5410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dirty="0" smtClean="0">
                    <a:ln w="0"/>
                    <a:solidFill>
                      <a:srgbClr val="FF0000"/>
                    </a:solidFill>
                    <a:latin typeface="Times New Roman" panose="02020603050405020304" pitchFamily="18" charset="0"/>
                    <a:cs typeface="Times New Roman" panose="02020603050405020304" pitchFamily="18" charset="0"/>
                  </a:rPr>
                  <a:t>Trigonometric Series: </a:t>
                </a:r>
                <a:r>
                  <a:rPr lang="en-US" sz="4000" dirty="0" smtClean="0">
                    <a:ln w="0"/>
                    <a:solidFill>
                      <a:schemeClr val="tx1"/>
                    </a:solidFill>
                    <a:latin typeface="Times New Roman" panose="02020603050405020304" pitchFamily="18" charset="0"/>
                    <a:cs typeface="Times New Roman" panose="02020603050405020304" pitchFamily="18" charset="0"/>
                  </a:rPr>
                  <a:t>The finite series of the form                       </a:t>
                </a:r>
              </a:p>
              <a:p>
                <a:r>
                  <a:rPr lang="en-US" sz="4000" dirty="0" smtClean="0">
                    <a:ln w="0"/>
                    <a:solidFill>
                      <a:schemeClr val="tx1"/>
                    </a:solidFill>
                    <a:latin typeface="Times New Roman" panose="02020603050405020304" pitchFamily="18" charset="0"/>
                    <a:cs typeface="Times New Roman" panose="02020603050405020304" pitchFamily="18" charset="0"/>
                  </a:rPr>
                  <a:t>f(x) = </a:t>
                </a:r>
                <a14:m>
                  <m:oMath xmlns:m="http://schemas.openxmlformats.org/officeDocument/2006/math">
                    <m:f>
                      <m:fPr>
                        <m:ctrlPr>
                          <a:rPr lang="en-US" sz="4400" i="1" smtClean="0">
                            <a:ln w="0"/>
                            <a:solidFill>
                              <a:schemeClr val="tx1"/>
                            </a:solidFill>
                            <a:latin typeface="Cambria Math" panose="02040503050406030204" pitchFamily="18" charset="0"/>
                            <a:cs typeface="Times New Roman" panose="02020603050405020304" pitchFamily="18" charset="0"/>
                          </a:rPr>
                        </m:ctrlPr>
                      </m:fPr>
                      <m:num>
                        <m:r>
                          <m:rPr>
                            <m:nor/>
                          </m:rPr>
                          <a:rPr lang="en-US" sz="4400" dirty="0">
                            <a:ln w="0"/>
                            <a:solidFill>
                              <a:schemeClr val="tx1"/>
                            </a:solidFill>
                            <a:latin typeface="Times New Roman" panose="02020603050405020304" pitchFamily="18" charset="0"/>
                            <a:cs typeface="Times New Roman" panose="02020603050405020304" pitchFamily="18" charset="0"/>
                          </a:rPr>
                          <m:t>a</m:t>
                        </m:r>
                        <m:r>
                          <m:rPr>
                            <m:nor/>
                          </m:rPr>
                          <a:rPr lang="en-US" sz="4400" baseline="-25000" dirty="0">
                            <a:ln w="0"/>
                            <a:solidFill>
                              <a:schemeClr val="tx1"/>
                            </a:solidFill>
                            <a:latin typeface="Times New Roman" panose="02020603050405020304" pitchFamily="18" charset="0"/>
                            <a:cs typeface="Times New Roman" panose="02020603050405020304" pitchFamily="18" charset="0"/>
                          </a:rPr>
                          <m:t>0</m:t>
                        </m:r>
                      </m:num>
                      <m:den>
                        <m:r>
                          <a:rPr lang="en-US" sz="4400" b="0" i="1" smtClean="0">
                            <a:ln w="0"/>
                            <a:solidFill>
                              <a:schemeClr val="tx1"/>
                            </a:solidFill>
                            <a:latin typeface="Cambria Math" panose="02040503050406030204" pitchFamily="18" charset="0"/>
                            <a:cs typeface="Times New Roman" panose="02020603050405020304" pitchFamily="18" charset="0"/>
                          </a:rPr>
                          <m:t>2</m:t>
                        </m:r>
                      </m:den>
                    </m:f>
                    <m:r>
                      <a:rPr lang="en-US" sz="4400" b="0" i="1" smtClean="0">
                        <a:ln w="0"/>
                        <a:solidFill>
                          <a:schemeClr val="tx1"/>
                        </a:solidFill>
                        <a:latin typeface="Cambria Math" panose="02040503050406030204" pitchFamily="18" charset="0"/>
                        <a:cs typeface="Times New Roman" panose="02020603050405020304" pitchFamily="18" charset="0"/>
                      </a:rPr>
                      <m:t>+</m:t>
                    </m:r>
                    <m:nary>
                      <m:naryPr>
                        <m:chr m:val="∑"/>
                        <m:ctrlPr>
                          <a:rPr lang="en-US" sz="4400" b="0" i="1" smtClean="0">
                            <a:ln w="0"/>
                            <a:solidFill>
                              <a:schemeClr val="tx1"/>
                            </a:solidFill>
                            <a:latin typeface="Cambria Math" panose="02040503050406030204" pitchFamily="18" charset="0"/>
                            <a:cs typeface="Times New Roman" panose="02020603050405020304" pitchFamily="18" charset="0"/>
                          </a:rPr>
                        </m:ctrlPr>
                      </m:naryPr>
                      <m:sub>
                        <m:r>
                          <m:rPr>
                            <m:brk m:alnAt="23"/>
                          </m:rPr>
                          <a:rPr lang="en-US" sz="4400" b="0" i="1" smtClean="0">
                            <a:ln w="0"/>
                            <a:solidFill>
                              <a:schemeClr val="tx1"/>
                            </a:solidFill>
                            <a:latin typeface="Cambria Math" panose="02040503050406030204" pitchFamily="18" charset="0"/>
                            <a:cs typeface="Times New Roman" panose="02020603050405020304" pitchFamily="18" charset="0"/>
                          </a:rPr>
                          <m:t>𝑛</m:t>
                        </m:r>
                        <m:r>
                          <a:rPr lang="en-US" sz="4400" b="0" i="1" smtClean="0">
                            <a:ln w="0"/>
                            <a:solidFill>
                              <a:schemeClr val="tx1"/>
                            </a:solidFill>
                            <a:latin typeface="Cambria Math" panose="02040503050406030204" pitchFamily="18" charset="0"/>
                            <a:cs typeface="Times New Roman" panose="02020603050405020304" pitchFamily="18" charset="0"/>
                          </a:rPr>
                          <m:t>=1</m:t>
                        </m:r>
                      </m:sub>
                      <m:sup>
                        <m:r>
                          <a:rPr lang="en-US" sz="4400" b="0" i="1" smtClean="0">
                            <a:ln w="0"/>
                            <a:solidFill>
                              <a:schemeClr val="tx1"/>
                            </a:solidFill>
                            <a:latin typeface="Cambria Math" panose="02040503050406030204" pitchFamily="18" charset="0"/>
                            <a:cs typeface="Times New Roman" panose="02020603050405020304" pitchFamily="18" charset="0"/>
                          </a:rPr>
                          <m:t>𝑝</m:t>
                        </m:r>
                      </m:sup>
                      <m:e>
                        <m:r>
                          <a:rPr lang="en-US" sz="4400" b="0" i="1" smtClean="0">
                            <a:ln w="0"/>
                            <a:solidFill>
                              <a:schemeClr val="tx1"/>
                            </a:solidFill>
                            <a:latin typeface="Cambria Math" panose="02040503050406030204" pitchFamily="18" charset="0"/>
                            <a:cs typeface="Times New Roman" panose="02020603050405020304" pitchFamily="18" charset="0"/>
                          </a:rPr>
                          <m:t>(</m:t>
                        </m:r>
                      </m:e>
                    </m:nary>
                    <m:r>
                      <m:rPr>
                        <m:nor/>
                      </m:rPr>
                      <a:rPr lang="en-US" sz="4400" dirty="0">
                        <a:ln w="0"/>
                        <a:solidFill>
                          <a:schemeClr val="tx1"/>
                        </a:solidFill>
                        <a:latin typeface="Times New Roman" panose="02020603050405020304" pitchFamily="18" charset="0"/>
                        <a:cs typeface="Times New Roman" panose="02020603050405020304" pitchFamily="18" charset="0"/>
                      </a:rPr>
                      <m:t>a</m:t>
                    </m:r>
                    <m:r>
                      <m:rPr>
                        <m:nor/>
                      </m:rPr>
                      <a:rPr lang="en-US" sz="4400" b="0" i="0" baseline="-25000" dirty="0" smtClean="0">
                        <a:ln w="0"/>
                        <a:solidFill>
                          <a:schemeClr val="tx1"/>
                        </a:solidFill>
                        <a:latin typeface="Times New Roman" panose="02020603050405020304" pitchFamily="18" charset="0"/>
                        <a:cs typeface="Times New Roman" panose="02020603050405020304" pitchFamily="18" charset="0"/>
                      </a:rPr>
                      <m:t>n</m:t>
                    </m:r>
                  </m:oMath>
                </a14:m>
                <a:r>
                  <a:rPr lang="en-US" sz="4400" dirty="0" smtClean="0">
                    <a:ln w="0"/>
                    <a:solidFill>
                      <a:schemeClr val="tx1"/>
                    </a:solidFill>
                    <a:latin typeface="Times New Roman" panose="02020603050405020304" pitchFamily="18" charset="0"/>
                    <a:cs typeface="Times New Roman" panose="02020603050405020304" pitchFamily="18" charset="0"/>
                  </a:rPr>
                  <a:t>cos </a:t>
                </a:r>
                <a:r>
                  <a:rPr lang="en-US" sz="4400" dirty="0" err="1" smtClean="0">
                    <a:ln w="0"/>
                    <a:solidFill>
                      <a:schemeClr val="tx1"/>
                    </a:solidFill>
                    <a:latin typeface="Times New Roman" panose="02020603050405020304" pitchFamily="18" charset="0"/>
                    <a:cs typeface="Times New Roman" panose="02020603050405020304" pitchFamily="18" charset="0"/>
                  </a:rPr>
                  <a:t>nx</a:t>
                </a:r>
                <a:r>
                  <a:rPr lang="en-US" sz="4400" dirty="0" smtClean="0">
                    <a:ln w="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r>
                      <m:rPr>
                        <m:nor/>
                      </m:rPr>
                      <a:rPr lang="en-US" sz="4400" b="0" i="0" dirty="0" smtClean="0">
                        <a:ln w="0"/>
                        <a:solidFill>
                          <a:schemeClr val="tx1"/>
                        </a:solidFill>
                        <a:latin typeface="Times New Roman" panose="02020603050405020304" pitchFamily="18" charset="0"/>
                        <a:cs typeface="Times New Roman" panose="02020603050405020304" pitchFamily="18" charset="0"/>
                      </a:rPr>
                      <m:t>b</m:t>
                    </m:r>
                    <m:r>
                      <m:rPr>
                        <m:nor/>
                      </m:rPr>
                      <a:rPr lang="en-US" sz="4400" b="0" i="0" baseline="-25000" dirty="0" smtClean="0">
                        <a:ln w="0"/>
                        <a:solidFill>
                          <a:schemeClr val="tx1"/>
                        </a:solidFill>
                        <a:latin typeface="Times New Roman" panose="02020603050405020304" pitchFamily="18" charset="0"/>
                        <a:cs typeface="Times New Roman" panose="02020603050405020304" pitchFamily="18" charset="0"/>
                      </a:rPr>
                      <m:t>n</m:t>
                    </m:r>
                  </m:oMath>
                </a14:m>
                <a:r>
                  <a:rPr lang="en-US" sz="4400" dirty="0" smtClean="0">
                    <a:ln w="0"/>
                    <a:solidFill>
                      <a:schemeClr val="tx1"/>
                    </a:solidFill>
                    <a:latin typeface="Times New Roman" panose="02020603050405020304" pitchFamily="18" charset="0"/>
                    <a:cs typeface="Times New Roman" panose="02020603050405020304" pitchFamily="18" charset="0"/>
                  </a:rPr>
                  <a:t>sin </a:t>
                </a:r>
                <a:r>
                  <a:rPr lang="en-US" sz="4400" dirty="0" err="1" smtClean="0">
                    <a:ln w="0"/>
                    <a:solidFill>
                      <a:schemeClr val="tx1"/>
                    </a:solidFill>
                    <a:latin typeface="Times New Roman" panose="02020603050405020304" pitchFamily="18" charset="0"/>
                    <a:cs typeface="Times New Roman" panose="02020603050405020304" pitchFamily="18" charset="0"/>
                  </a:rPr>
                  <a:t>nx</a:t>
                </a:r>
                <a:r>
                  <a:rPr lang="en-US" sz="4400" dirty="0" smtClean="0">
                    <a:ln w="0"/>
                    <a:solidFill>
                      <a:schemeClr val="tx1"/>
                    </a:solidFill>
                    <a:latin typeface="Times New Roman" panose="02020603050405020304" pitchFamily="18" charset="0"/>
                    <a:cs typeface="Times New Roman" panose="02020603050405020304" pitchFamily="18" charset="0"/>
                  </a:rPr>
                  <a:t>) is called the trigonometric series.</a:t>
                </a:r>
              </a:p>
              <a:p>
                <a:r>
                  <a:rPr lang="en-US" sz="4400" dirty="0" smtClean="0">
                    <a:ln w="0"/>
                    <a:solidFill>
                      <a:schemeClr val="tx1"/>
                    </a:solidFill>
                    <a:latin typeface="Times New Roman" panose="02020603050405020304" pitchFamily="18" charset="0"/>
                    <a:cs typeface="Times New Roman" panose="02020603050405020304" pitchFamily="18" charset="0"/>
                  </a:rPr>
                  <a:t>Where ‘p’ be the finite number</a:t>
                </a:r>
              </a:p>
              <a:p>
                <a:r>
                  <a:rPr lang="en-US" sz="4400" dirty="0" smtClean="0">
                    <a:ln w="0"/>
                    <a:solidFill>
                      <a:schemeClr val="tx1"/>
                    </a:solidFill>
                    <a:latin typeface="Times New Roman" panose="02020603050405020304" pitchFamily="18" charset="0"/>
                    <a:cs typeface="Times New Roman" panose="02020603050405020304" pitchFamily="18" charset="0"/>
                  </a:rPr>
                  <a:t>Where </a:t>
                </a:r>
                <a14:m>
                  <m:oMath xmlns:m="http://schemas.openxmlformats.org/officeDocument/2006/math">
                    <m:r>
                      <m:rPr>
                        <m:nor/>
                      </m:rPr>
                      <a:rPr lang="en-US" sz="4400" dirty="0">
                        <a:ln w="0"/>
                        <a:solidFill>
                          <a:schemeClr val="tx1"/>
                        </a:solidFill>
                        <a:latin typeface="Times New Roman" panose="02020603050405020304" pitchFamily="18" charset="0"/>
                        <a:cs typeface="Times New Roman" panose="02020603050405020304" pitchFamily="18" charset="0"/>
                      </a:rPr>
                      <m:t>a</m:t>
                    </m:r>
                    <m:r>
                      <m:rPr>
                        <m:nor/>
                      </m:rPr>
                      <a:rPr lang="en-US" sz="4400" baseline="-25000" dirty="0">
                        <a:ln w="0"/>
                        <a:solidFill>
                          <a:schemeClr val="tx1"/>
                        </a:solidFill>
                        <a:latin typeface="Times New Roman" panose="02020603050405020304" pitchFamily="18" charset="0"/>
                        <a:cs typeface="Times New Roman" panose="02020603050405020304" pitchFamily="18" charset="0"/>
                      </a:rPr>
                      <m:t>0</m:t>
                    </m:r>
                  </m:oMath>
                </a14:m>
                <a:r>
                  <a:rPr lang="en-US" sz="4400" dirty="0" smtClean="0">
                    <a:ln w="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m:rPr>
                        <m:nor/>
                      </m:rPr>
                      <a:rPr lang="en-US" sz="4400" dirty="0">
                        <a:ln w="0"/>
                        <a:solidFill>
                          <a:schemeClr val="tx1"/>
                        </a:solidFill>
                        <a:latin typeface="Times New Roman" panose="02020603050405020304" pitchFamily="18" charset="0"/>
                        <a:cs typeface="Times New Roman" panose="02020603050405020304" pitchFamily="18" charset="0"/>
                      </a:rPr>
                      <m:t>a</m:t>
                    </m:r>
                    <m:r>
                      <m:rPr>
                        <m:nor/>
                      </m:rPr>
                      <a:rPr lang="en-US" sz="4400" b="0" i="0" baseline="-25000" dirty="0" smtClean="0">
                        <a:ln w="0"/>
                        <a:solidFill>
                          <a:schemeClr val="tx1"/>
                        </a:solidFill>
                        <a:latin typeface="Times New Roman" panose="02020603050405020304" pitchFamily="18" charset="0"/>
                        <a:cs typeface="Times New Roman" panose="02020603050405020304" pitchFamily="18" charset="0"/>
                      </a:rPr>
                      <m:t>n</m:t>
                    </m:r>
                  </m:oMath>
                </a14:m>
                <a:r>
                  <a:rPr lang="en-US" sz="4400" dirty="0" smtClean="0">
                    <a:ln w="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m:rPr>
                        <m:nor/>
                      </m:rPr>
                      <a:rPr lang="en-US" sz="4400" b="0" i="0" dirty="0" smtClean="0">
                        <a:ln w="0"/>
                        <a:solidFill>
                          <a:schemeClr val="tx1"/>
                        </a:solidFill>
                        <a:latin typeface="Times New Roman" panose="02020603050405020304" pitchFamily="18" charset="0"/>
                        <a:cs typeface="Times New Roman" panose="02020603050405020304" pitchFamily="18" charset="0"/>
                      </a:rPr>
                      <m:t>b</m:t>
                    </m:r>
                    <m:r>
                      <m:rPr>
                        <m:nor/>
                      </m:rPr>
                      <a:rPr lang="en-US" sz="4400" b="0" i="0" baseline="-25000" dirty="0" smtClean="0">
                        <a:ln w="0"/>
                        <a:solidFill>
                          <a:schemeClr val="tx1"/>
                        </a:solidFill>
                        <a:latin typeface="Times New Roman" panose="02020603050405020304" pitchFamily="18" charset="0"/>
                        <a:cs typeface="Times New Roman" panose="02020603050405020304" pitchFamily="18" charset="0"/>
                      </a:rPr>
                      <m:t>n</m:t>
                    </m:r>
                  </m:oMath>
                </a14:m>
                <a:r>
                  <a:rPr lang="en-US" sz="4400" dirty="0" smtClean="0">
                    <a:ln w="0"/>
                    <a:solidFill>
                      <a:schemeClr val="tx1"/>
                    </a:solidFill>
                    <a:latin typeface="Times New Roman" panose="02020603050405020304" pitchFamily="18" charset="0"/>
                    <a:cs typeface="Times New Roman" panose="02020603050405020304" pitchFamily="18" charset="0"/>
                  </a:rPr>
                  <a:t> both are arbitrary constant.</a:t>
                </a:r>
                <a:endParaRPr lang="en-US" sz="4400" dirty="0">
                  <a:ln w="0"/>
                  <a:solidFill>
                    <a:schemeClr val="tx1"/>
                  </a:solidFill>
                  <a:latin typeface="Times New Roman" panose="02020603050405020304" pitchFamily="18" charset="0"/>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9759950" y="3930650"/>
                <a:ext cx="8382000" cy="5410200"/>
              </a:xfrm>
              <a:prstGeom prst="rect">
                <a:avLst/>
              </a:prstGeom>
              <a:blipFill rotWithShape="0">
                <a:blip r:embed="rId6"/>
                <a:stretch>
                  <a:fillRect l="-2909" t="-4622" b="-7892"/>
                </a:stretch>
              </a:blipFill>
              <a:ln>
                <a:noFill/>
              </a:ln>
            </p:spPr>
            <p:txBody>
              <a:bodyPr/>
              <a:lstStyle/>
              <a:p>
                <a:r>
                  <a:rPr lang="en-US">
                    <a:noFill/>
                  </a:rPr>
                  <a:t> </a:t>
                </a:r>
              </a:p>
            </p:txBody>
          </p:sp>
        </mc:Fallback>
      </mc:AlternateContent>
      <p:sp>
        <p:nvSpPr>
          <p:cNvPr id="9" name="Rectangle 8"/>
          <p:cNvSpPr/>
          <p:nvPr/>
        </p:nvSpPr>
        <p:spPr>
          <a:xfrm>
            <a:off x="16008350" y="9340850"/>
            <a:ext cx="2133600" cy="8382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58750" y="3908279"/>
            <a:ext cx="9525000" cy="5078313"/>
          </a:xfrm>
          <a:prstGeom prst="rect">
            <a:avLst/>
          </a:prstGeom>
          <a:solidFill>
            <a:schemeClr val="accent5">
              <a:lumMod val="40000"/>
              <a:lumOff val="60000"/>
            </a:schemeClr>
          </a:solidFill>
        </p:spPr>
        <p:txBody>
          <a:bodyPr wrap="square" rtlCol="0">
            <a:spAutoFit/>
          </a:bodyPr>
          <a:lstStyle/>
          <a:p>
            <a:r>
              <a:rPr lang="en-US" sz="4400" b="1" dirty="0" smtClean="0">
                <a:solidFill>
                  <a:srgbClr val="FF0000"/>
                </a:solidFill>
                <a:latin typeface="Times New Roman" panose="02020603050405020304" pitchFamily="18" charset="0"/>
                <a:cs typeface="Times New Roman" panose="02020603050405020304" pitchFamily="18" charset="0"/>
              </a:rPr>
              <a:t>Periodic function:</a:t>
            </a:r>
          </a:p>
          <a:p>
            <a:r>
              <a:rPr lang="en-US" sz="4000" dirty="0" smtClean="0">
                <a:latin typeface="Times New Roman" panose="02020603050405020304" pitchFamily="18" charset="0"/>
                <a:cs typeface="Times New Roman" panose="02020603050405020304" pitchFamily="18" charset="0"/>
              </a:rPr>
              <a:t>A function f(x) is said to be periodic functions it satisfy the condition f(</a:t>
            </a:r>
            <a:r>
              <a:rPr lang="en-US" sz="4000" dirty="0" err="1" smtClean="0">
                <a:latin typeface="Times New Roman" panose="02020603050405020304" pitchFamily="18" charset="0"/>
                <a:cs typeface="Times New Roman" panose="02020603050405020304" pitchFamily="18" charset="0"/>
              </a:rPr>
              <a:t>x+T</a:t>
            </a:r>
            <a:r>
              <a:rPr lang="en-US" sz="4000" dirty="0" smtClean="0">
                <a:latin typeface="Times New Roman" panose="02020603050405020304" pitchFamily="18" charset="0"/>
                <a:cs typeface="Times New Roman" panose="02020603050405020304" pitchFamily="18" charset="0"/>
              </a:rPr>
              <a:t>) = f(x)</a:t>
            </a:r>
          </a:p>
          <a:p>
            <a:r>
              <a:rPr lang="en-US" sz="4000" dirty="0" smtClean="0">
                <a:latin typeface="Times New Roman" panose="02020603050405020304" pitchFamily="18" charset="0"/>
                <a:cs typeface="Times New Roman" panose="02020603050405020304" pitchFamily="18" charset="0"/>
              </a:rPr>
              <a:t>Where T be the period.</a:t>
            </a:r>
          </a:p>
          <a:p>
            <a:r>
              <a:rPr lang="en-US" sz="4000" dirty="0" smtClean="0">
                <a:latin typeface="Times New Roman" panose="02020603050405020304" pitchFamily="18" charset="0"/>
                <a:cs typeface="Times New Roman" panose="02020603050405020304" pitchFamily="18" charset="0"/>
              </a:rPr>
              <a:t>The general form of the periodic function of sin/cos function is</a:t>
            </a:r>
          </a:p>
          <a:p>
            <a:r>
              <a:rPr lang="en-US" sz="4000" dirty="0" smtClean="0">
                <a:latin typeface="Times New Roman" panose="02020603050405020304" pitchFamily="18" charset="0"/>
                <a:cs typeface="Times New Roman" panose="02020603050405020304" pitchFamily="18" charset="0"/>
              </a:rPr>
              <a:t>f(x) = </a:t>
            </a:r>
            <a:r>
              <a:rPr lang="en-US" sz="4000" dirty="0" err="1" smtClean="0">
                <a:latin typeface="Times New Roman" panose="02020603050405020304" pitchFamily="18" charset="0"/>
                <a:cs typeface="Times New Roman" panose="02020603050405020304" pitchFamily="18" charset="0"/>
              </a:rPr>
              <a:t>asin</a:t>
            </a:r>
            <a:r>
              <a:rPr lang="en-US" sz="4000" dirty="0" smtClean="0">
                <a:latin typeface="Times New Roman" panose="02020603050405020304" pitchFamily="18" charset="0"/>
                <a:cs typeface="Times New Roman" panose="02020603050405020304" pitchFamily="18" charset="0"/>
              </a:rPr>
              <a:t>(</a:t>
            </a:r>
            <a:r>
              <a:rPr lang="en-US" sz="4000" dirty="0" err="1" smtClean="0">
                <a:latin typeface="Times New Roman" panose="02020603050405020304" pitchFamily="18" charset="0"/>
                <a:cs typeface="Times New Roman" panose="02020603050405020304" pitchFamily="18" charset="0"/>
              </a:rPr>
              <a:t>bx</a:t>
            </a:r>
            <a:r>
              <a:rPr lang="en-US" sz="4000" dirty="0" smtClean="0">
                <a:latin typeface="Times New Roman" panose="02020603050405020304" pitchFamily="18" charset="0"/>
                <a:cs typeface="Times New Roman" panose="02020603050405020304" pitchFamily="18" charset="0"/>
              </a:rPr>
              <a:t>-c)+d</a:t>
            </a:r>
          </a:p>
          <a:p>
            <a:r>
              <a:rPr lang="en-US" sz="4000" dirty="0">
                <a:latin typeface="Times New Roman" panose="02020603050405020304" pitchFamily="18" charset="0"/>
                <a:cs typeface="Times New Roman" panose="02020603050405020304" pitchFamily="18" charset="0"/>
              </a:rPr>
              <a:t>f</a:t>
            </a:r>
            <a:r>
              <a:rPr lang="en-US" sz="4000" dirty="0" smtClean="0">
                <a:latin typeface="Times New Roman" panose="02020603050405020304" pitchFamily="18" charset="0"/>
                <a:cs typeface="Times New Roman" panose="02020603050405020304" pitchFamily="18" charset="0"/>
              </a:rPr>
              <a:t>(x) = </a:t>
            </a:r>
            <a:r>
              <a:rPr lang="en-US" sz="4000" dirty="0" err="1" smtClean="0">
                <a:latin typeface="Times New Roman" panose="02020603050405020304" pitchFamily="18" charset="0"/>
                <a:cs typeface="Times New Roman" panose="02020603050405020304" pitchFamily="18" charset="0"/>
              </a:rPr>
              <a:t>acos</a:t>
            </a:r>
            <a:r>
              <a:rPr lang="en-US" sz="4000" dirty="0" smtClean="0">
                <a:latin typeface="Times New Roman" panose="02020603050405020304" pitchFamily="18" charset="0"/>
                <a:cs typeface="Times New Roman" panose="02020603050405020304" pitchFamily="18" charset="0"/>
              </a:rPr>
              <a:t>(</a:t>
            </a:r>
            <a:r>
              <a:rPr lang="en-US" sz="4000" dirty="0" err="1" smtClean="0">
                <a:latin typeface="Times New Roman" panose="02020603050405020304" pitchFamily="18" charset="0"/>
                <a:cs typeface="Times New Roman" panose="02020603050405020304" pitchFamily="18" charset="0"/>
              </a:rPr>
              <a:t>bx</a:t>
            </a:r>
            <a:r>
              <a:rPr lang="en-US" sz="4000" dirty="0" smtClean="0">
                <a:latin typeface="Times New Roman" panose="02020603050405020304" pitchFamily="18" charset="0"/>
                <a:cs typeface="Times New Roman" panose="02020603050405020304" pitchFamily="18" charset="0"/>
              </a:rPr>
              <a:t>-c)+d</a:t>
            </a:r>
          </a:p>
        </p:txBody>
      </p:sp>
      <p:sp>
        <p:nvSpPr>
          <p:cNvPr id="4" name="TextBox 3"/>
          <p:cNvSpPr txBox="1"/>
          <p:nvPr/>
        </p:nvSpPr>
        <p:spPr>
          <a:xfrm>
            <a:off x="4578350" y="7207250"/>
            <a:ext cx="5105400" cy="1754326"/>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Where a= amplitude</a:t>
            </a:r>
          </a:p>
          <a:p>
            <a:r>
              <a:rPr lang="en-US" sz="3600" dirty="0" err="1" smtClean="0">
                <a:latin typeface="Times New Roman" panose="02020603050405020304" pitchFamily="18" charset="0"/>
                <a:cs typeface="Times New Roman" panose="02020603050405020304" pitchFamily="18" charset="0"/>
              </a:rPr>
              <a:t>bx</a:t>
            </a:r>
            <a:r>
              <a:rPr lang="en-US" sz="3600" dirty="0" smtClean="0">
                <a:latin typeface="Times New Roman" panose="02020603050405020304" pitchFamily="18" charset="0"/>
                <a:cs typeface="Times New Roman" panose="02020603050405020304" pitchFamily="18" charset="0"/>
              </a:rPr>
              <a:t>-c = angular momentum</a:t>
            </a:r>
          </a:p>
          <a:p>
            <a:r>
              <a:rPr lang="en-US" sz="3600" dirty="0" smtClean="0">
                <a:latin typeface="Times New Roman" panose="02020603050405020304" pitchFamily="18" charset="0"/>
                <a:cs typeface="Times New Roman" panose="02020603050405020304" pitchFamily="18" charset="0"/>
              </a:rPr>
              <a:t>d = Phase shift</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transition spd="slow" advTm="2069">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300700" cy="102997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 name="Rectangle 2"/>
          <p:cNvSpPr/>
          <p:nvPr/>
        </p:nvSpPr>
        <p:spPr>
          <a:xfrm>
            <a:off x="8616950" y="5759450"/>
            <a:ext cx="9144000" cy="419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3331500716"/>
              </p:ext>
            </p:extLst>
          </p:nvPr>
        </p:nvGraphicFramePr>
        <p:xfrm>
          <a:off x="2673350" y="5530850"/>
          <a:ext cx="12670034" cy="3931920"/>
        </p:xfrm>
        <a:graphic>
          <a:graphicData uri="http://schemas.openxmlformats.org/drawingml/2006/table">
            <a:tbl>
              <a:tblPr firstRow="1" bandRow="1">
                <a:tableStyleId>{5C22544A-7EE6-4342-B048-85BDC9FD1C3A}</a:tableStyleId>
              </a:tblPr>
              <a:tblGrid>
                <a:gridCol w="6335017"/>
                <a:gridCol w="6335017"/>
              </a:tblGrid>
              <a:tr h="370840">
                <a:tc gridSpan="2">
                  <a:txBody>
                    <a:bodyPr/>
                    <a:lstStyle/>
                    <a:p>
                      <a:r>
                        <a:rPr lang="en" sz="6000" dirty="0" smtClean="0">
                          <a:solidFill>
                            <a:srgbClr val="FF0000"/>
                          </a:solidFill>
                        </a:rPr>
                        <a:t>Difference between Fourier &amp; Laplace</a:t>
                      </a:r>
                      <a:r>
                        <a:rPr lang="en-US" sz="6000" dirty="0" smtClean="0">
                          <a:solidFill>
                            <a:srgbClr val="FF0000"/>
                          </a:solidFill>
                        </a:rPr>
                        <a:t> </a:t>
                      </a:r>
                      <a:endParaRPr lang="en-US" sz="6000" dirty="0">
                        <a:solidFill>
                          <a:srgbClr val="FF0000"/>
                        </a:solidFill>
                        <a:latin typeface="Times New Roman" panose="02020603050405020304" pitchFamily="18" charset="0"/>
                        <a:cs typeface="Times New Roman" panose="02020603050405020304" pitchFamily="18" charset="0"/>
                      </a:endParaRPr>
                    </a:p>
                  </a:txBody>
                  <a:tcPr>
                    <a:solidFill>
                      <a:srgbClr val="FFFF00"/>
                    </a:solidFill>
                  </a:tcPr>
                </a:tc>
                <a:tc hMerge="1">
                  <a:txBody>
                    <a:bodyPr/>
                    <a:lstStyle/>
                    <a:p>
                      <a:endParaRPr lang="en-US" sz="4000" dirty="0">
                        <a:latin typeface="Times New Roman" panose="02020603050405020304" pitchFamily="18" charset="0"/>
                        <a:cs typeface="Times New Roman" panose="02020603050405020304" pitchFamily="18" charset="0"/>
                      </a:endParaRPr>
                    </a:p>
                  </a:txBody>
                  <a:tcPr/>
                </a:tc>
              </a:tr>
              <a:tr h="370840">
                <a:tc>
                  <a:txBody>
                    <a:bodyPr/>
                    <a:lstStyle/>
                    <a:p>
                      <a:r>
                        <a:rPr lang="en-US" sz="4800" b="1" dirty="0" smtClean="0">
                          <a:solidFill>
                            <a:schemeClr val="accent1"/>
                          </a:solidFill>
                          <a:latin typeface="Times New Roman" panose="02020603050405020304" pitchFamily="18" charset="0"/>
                          <a:cs typeface="Times New Roman" panose="02020603050405020304" pitchFamily="18" charset="0"/>
                        </a:rPr>
                        <a:t>Fourier Series</a:t>
                      </a:r>
                      <a:endParaRPr lang="en-US" sz="4800" b="1" dirty="0">
                        <a:solidFill>
                          <a:schemeClr val="accent1"/>
                        </a:solidFill>
                        <a:latin typeface="Times New Roman" panose="02020603050405020304" pitchFamily="18" charset="0"/>
                        <a:cs typeface="Times New Roman" panose="02020603050405020304" pitchFamily="18" charset="0"/>
                      </a:endParaRPr>
                    </a:p>
                  </a:txBody>
                  <a:tcPr>
                    <a:solidFill>
                      <a:schemeClr val="accent5"/>
                    </a:solidFill>
                  </a:tcPr>
                </a:tc>
                <a:tc>
                  <a:txBody>
                    <a:bodyPr/>
                    <a:lstStyle/>
                    <a:p>
                      <a:r>
                        <a:rPr lang="en-US" sz="4800" b="1" dirty="0" smtClean="0">
                          <a:solidFill>
                            <a:schemeClr val="accent1"/>
                          </a:solidFill>
                          <a:latin typeface="Times New Roman" panose="02020603050405020304" pitchFamily="18" charset="0"/>
                          <a:cs typeface="Times New Roman" panose="02020603050405020304" pitchFamily="18" charset="0"/>
                        </a:rPr>
                        <a:t>Laplace Transform</a:t>
                      </a:r>
                      <a:endParaRPr lang="en-US" sz="4800" b="1" dirty="0">
                        <a:solidFill>
                          <a:schemeClr val="accent1"/>
                        </a:solidFill>
                        <a:latin typeface="Times New Roman" panose="02020603050405020304" pitchFamily="18" charset="0"/>
                        <a:cs typeface="Times New Roman" panose="02020603050405020304" pitchFamily="18" charset="0"/>
                      </a:endParaRPr>
                    </a:p>
                  </a:txBody>
                  <a:tcPr>
                    <a:solidFill>
                      <a:schemeClr val="accent5"/>
                    </a:solidFill>
                  </a:tcPr>
                </a:tc>
              </a:tr>
              <a:tr h="370840">
                <a:tc>
                  <a:txBody>
                    <a:bodyPr/>
                    <a:lstStyle/>
                    <a:p>
                      <a:r>
                        <a:rPr lang="en-US" sz="4000" dirty="0" smtClean="0">
                          <a:latin typeface="Times New Roman" panose="02020603050405020304" pitchFamily="18" charset="0"/>
                          <a:cs typeface="Times New Roman" panose="02020603050405020304" pitchFamily="18" charset="0"/>
                        </a:rPr>
                        <a:t>Used for periodic functions</a:t>
                      </a:r>
                      <a:endParaRPr lang="en-US" sz="4000" dirty="0">
                        <a:latin typeface="Times New Roman" panose="02020603050405020304" pitchFamily="18" charset="0"/>
                        <a:cs typeface="Times New Roman" panose="02020603050405020304" pitchFamily="18" charset="0"/>
                      </a:endParaRPr>
                    </a:p>
                  </a:txBody>
                  <a:tcPr/>
                </a:tc>
                <a:tc>
                  <a:txBody>
                    <a:bodyPr/>
                    <a:lstStyle/>
                    <a:p>
                      <a:r>
                        <a:rPr lang="en-US" sz="4000" dirty="0" smtClean="0">
                          <a:latin typeface="Times New Roman" panose="02020603050405020304" pitchFamily="18" charset="0"/>
                          <a:cs typeface="Times New Roman" panose="02020603050405020304" pitchFamily="18" charset="0"/>
                        </a:rPr>
                        <a:t>Used for general functions</a:t>
                      </a:r>
                      <a:endParaRPr lang="en-US" sz="4000" dirty="0">
                        <a:latin typeface="Times New Roman" panose="02020603050405020304" pitchFamily="18" charset="0"/>
                        <a:cs typeface="Times New Roman" panose="02020603050405020304" pitchFamily="18" charset="0"/>
                      </a:endParaRPr>
                    </a:p>
                  </a:txBody>
                  <a:tcPr/>
                </a:tc>
              </a:tr>
              <a:tr h="370840">
                <a:tc>
                  <a:txBody>
                    <a:bodyPr/>
                    <a:lstStyle/>
                    <a:p>
                      <a:r>
                        <a:rPr lang="en-US" sz="4000" dirty="0" smtClean="0">
                          <a:latin typeface="Times New Roman" panose="02020603050405020304" pitchFamily="18" charset="0"/>
                          <a:cs typeface="Times New Roman" panose="02020603050405020304" pitchFamily="18" charset="0"/>
                        </a:rPr>
                        <a:t>Harmonic analysis</a:t>
                      </a:r>
                      <a:endParaRPr lang="en-US" sz="4000" dirty="0">
                        <a:latin typeface="Times New Roman" panose="02020603050405020304" pitchFamily="18" charset="0"/>
                        <a:cs typeface="Times New Roman" panose="02020603050405020304" pitchFamily="18" charset="0"/>
                      </a:endParaRPr>
                    </a:p>
                  </a:txBody>
                  <a:tcPr/>
                </a:tc>
                <a:tc>
                  <a:txBody>
                    <a:bodyPr/>
                    <a:lstStyle/>
                    <a:p>
                      <a:r>
                        <a:rPr lang="en-US" sz="4000" dirty="0" smtClean="0">
                          <a:latin typeface="Times New Roman" panose="02020603050405020304" pitchFamily="18" charset="0"/>
                          <a:cs typeface="Times New Roman" panose="02020603050405020304" pitchFamily="18" charset="0"/>
                        </a:rPr>
                        <a:t>Differential equations</a:t>
                      </a:r>
                      <a:endParaRPr lang="en-US" sz="4000" dirty="0">
                        <a:latin typeface="Times New Roman" panose="02020603050405020304" pitchFamily="18" charset="0"/>
                        <a:cs typeface="Times New Roman" panose="02020603050405020304" pitchFamily="18" charset="0"/>
                      </a:endParaRPr>
                    </a:p>
                  </a:txBody>
                  <a:tcPr/>
                </a:tc>
              </a:tr>
              <a:tr h="370840">
                <a:tc>
                  <a:txBody>
                    <a:bodyPr/>
                    <a:lstStyle/>
                    <a:p>
                      <a:r>
                        <a:rPr lang="en-US" sz="4000" dirty="0" smtClean="0">
                          <a:latin typeface="Times New Roman" panose="02020603050405020304" pitchFamily="18" charset="0"/>
                          <a:cs typeface="Times New Roman" panose="02020603050405020304" pitchFamily="18" charset="0"/>
                        </a:rPr>
                        <a:t>Uses sine &amp; cosine</a:t>
                      </a:r>
                      <a:endParaRPr lang="en-US" sz="4000" dirty="0">
                        <a:latin typeface="Times New Roman" panose="02020603050405020304" pitchFamily="18" charset="0"/>
                        <a:cs typeface="Times New Roman" panose="02020603050405020304" pitchFamily="18" charset="0"/>
                      </a:endParaRPr>
                    </a:p>
                  </a:txBody>
                  <a:tcPr/>
                </a:tc>
                <a:tc>
                  <a:txBody>
                    <a:bodyPr/>
                    <a:lstStyle/>
                    <a:p>
                      <a:r>
                        <a:rPr lang="en-US" sz="4000" dirty="0" smtClean="0">
                          <a:latin typeface="Times New Roman" panose="02020603050405020304" pitchFamily="18" charset="0"/>
                          <a:cs typeface="Times New Roman" panose="02020603050405020304" pitchFamily="18" charset="0"/>
                        </a:rPr>
                        <a:t>Uses</a:t>
                      </a:r>
                      <a:r>
                        <a:rPr lang="en-US" sz="4000" baseline="0" dirty="0" smtClean="0">
                          <a:latin typeface="Times New Roman" panose="02020603050405020304" pitchFamily="18" charset="0"/>
                          <a:cs typeface="Times New Roman" panose="02020603050405020304" pitchFamily="18" charset="0"/>
                        </a:rPr>
                        <a:t> exponential kernel</a:t>
                      </a:r>
                      <a:endParaRPr lang="en-US" sz="4000" dirty="0">
                        <a:latin typeface="Times New Roman" panose="02020603050405020304" pitchFamily="18" charset="0"/>
                        <a:cs typeface="Times New Roman" panose="02020603050405020304" pitchFamily="18" charset="0"/>
                      </a:endParaRPr>
                    </a:p>
                  </a:txBody>
                  <a:tcPr/>
                </a:tc>
              </a:tr>
            </a:tbl>
          </a:graphicData>
        </a:graphic>
      </p:graphicFrame>
      <mc:AlternateContent xmlns:mc="http://schemas.openxmlformats.org/markup-compatibility/2006" xmlns:a14="http://schemas.microsoft.com/office/drawing/2010/main">
        <mc:Choice Requires="a14">
          <p:sp>
            <p:nvSpPr>
              <p:cNvPr id="6" name="TextBox 5"/>
              <p:cNvSpPr txBox="1"/>
              <p:nvPr/>
            </p:nvSpPr>
            <p:spPr>
              <a:xfrm>
                <a:off x="2597150" y="654050"/>
                <a:ext cx="8610600" cy="4428234"/>
              </a:xfrm>
              <a:prstGeom prst="flowChartAlternateProcess">
                <a:avLst/>
              </a:prstGeom>
              <a:solidFill>
                <a:schemeClr val="accent1">
                  <a:lumMod val="60000"/>
                  <a:lumOff val="40000"/>
                </a:schemeClr>
              </a:solidFill>
            </p:spPr>
            <p:txBody>
              <a:bodyPr wrap="square" rtlCol="0">
                <a:spAutoFit/>
              </a:bodyPr>
              <a:lstStyle/>
              <a:p>
                <a:r>
                  <a:rPr lang="en-US" sz="4400" b="1" i="1" dirty="0" smtClean="0">
                    <a:solidFill>
                      <a:srgbClr val="FF0000"/>
                    </a:solidFill>
                    <a:latin typeface="Times New Roman" panose="02020603050405020304" pitchFamily="18" charset="0"/>
                    <a:cs typeface="Times New Roman" panose="02020603050405020304" pitchFamily="18" charset="0"/>
                  </a:rPr>
                  <a:t>Fourier Coefficients</a:t>
                </a:r>
              </a:p>
              <a:p>
                <a14:m>
                  <m:oMath xmlns:m="http://schemas.openxmlformats.org/officeDocument/2006/math">
                    <m:r>
                      <a:rPr lang="en-US" sz="4000" b="0" i="1" dirty="0" smtClean="0">
                        <a:ln w="0"/>
                        <a:latin typeface="Cambria Math" panose="02040503050406030204" pitchFamily="18" charset="0"/>
                        <a:cs typeface="Times New Roman" panose="02020603050405020304" pitchFamily="18" charset="0"/>
                      </a:rPr>
                      <m:t>𝑎</m:t>
                    </m:r>
                    <m:r>
                      <m:rPr>
                        <m:nor/>
                      </m:rPr>
                      <a:rPr lang="en-US" sz="4000" baseline="-25000" dirty="0">
                        <a:ln w="0"/>
                        <a:latin typeface="Times New Roman" panose="02020603050405020304" pitchFamily="18" charset="0"/>
                        <a:cs typeface="Times New Roman" panose="02020603050405020304" pitchFamily="18" charset="0"/>
                      </a:rPr>
                      <m:t>0</m:t>
                    </m:r>
                  </m:oMath>
                </a14:m>
                <a:r>
                  <a:rPr lang="en-US" sz="4000" dirty="0" smtClean="0">
                    <a:latin typeface="Times New Roman" panose="02020603050405020304" pitchFamily="18" charset="0"/>
                    <a:cs typeface="Times New Roman" panose="02020603050405020304" pitchFamily="18" charset="0"/>
                  </a:rPr>
                  <a:t>= </a:t>
                </a:r>
                <a14:m>
                  <m:oMath xmlns:m="http://schemas.openxmlformats.org/officeDocument/2006/math">
                    <m:f>
                      <m:fPr>
                        <m:ctrlPr>
                          <a:rPr lang="en-US" sz="4000" i="1" smtClean="0">
                            <a:latin typeface="Cambria Math" panose="02040503050406030204" pitchFamily="18" charset="0"/>
                            <a:cs typeface="Times New Roman" panose="02020603050405020304" pitchFamily="18" charset="0"/>
                          </a:rPr>
                        </m:ctrlPr>
                      </m:fPr>
                      <m:num>
                        <m:r>
                          <a:rPr lang="en-US" sz="4000" b="0" i="1" smtClean="0">
                            <a:latin typeface="Cambria Math" panose="02040503050406030204" pitchFamily="18" charset="0"/>
                            <a:cs typeface="Times New Roman" panose="02020603050405020304" pitchFamily="18" charset="0"/>
                          </a:rPr>
                          <m:t>1</m:t>
                        </m:r>
                      </m:num>
                      <m:den>
                        <m:r>
                          <m:rPr>
                            <m:sty m:val="p"/>
                          </m:rPr>
                          <a:rPr lang="el-GR" sz="4000" i="1" smtClean="0">
                            <a:latin typeface="Cambria Math" panose="02040503050406030204" pitchFamily="18" charset="0"/>
                            <a:cs typeface="Times New Roman" panose="02020603050405020304" pitchFamily="18" charset="0"/>
                          </a:rPr>
                          <m:t>π</m:t>
                        </m:r>
                      </m:den>
                    </m:f>
                    <m:nary>
                      <m:naryPr>
                        <m:ctrlPr>
                          <a:rPr lang="en-US" sz="4000" i="1" smtClean="0">
                            <a:latin typeface="Cambria Math" panose="02040503050406030204" pitchFamily="18" charset="0"/>
                            <a:cs typeface="Times New Roman" panose="02020603050405020304" pitchFamily="18" charset="0"/>
                          </a:rPr>
                        </m:ctrlPr>
                      </m:naryPr>
                      <m:sub>
                        <m:r>
                          <m:rPr>
                            <m:brk m:alnAt="23"/>
                          </m:rPr>
                          <a:rPr lang="en-US" sz="4000" b="0" i="1" smtClean="0">
                            <a:latin typeface="Cambria Math" panose="02040503050406030204" pitchFamily="18" charset="0"/>
                            <a:cs typeface="Times New Roman" panose="02020603050405020304" pitchFamily="18" charset="0"/>
                          </a:rPr>
                          <m:t>−</m:t>
                        </m:r>
                        <m:r>
                          <m:rPr>
                            <m:sty m:val="p"/>
                          </m:rPr>
                          <a:rPr lang="el-GR" sz="4000" i="1">
                            <a:latin typeface="Cambria Math" panose="02040503050406030204" pitchFamily="18" charset="0"/>
                            <a:cs typeface="Times New Roman" panose="02020603050405020304" pitchFamily="18" charset="0"/>
                          </a:rPr>
                          <m:t>π</m:t>
                        </m:r>
                      </m:sub>
                      <m:sup>
                        <m:r>
                          <m:rPr>
                            <m:sty m:val="p"/>
                          </m:rPr>
                          <a:rPr lang="el-GR" sz="4000" i="1">
                            <a:latin typeface="Cambria Math" panose="02040503050406030204" pitchFamily="18" charset="0"/>
                            <a:cs typeface="Times New Roman" panose="02020603050405020304" pitchFamily="18" charset="0"/>
                          </a:rPr>
                          <m:t>π</m:t>
                        </m:r>
                      </m:sup>
                      <m:e>
                        <m:r>
                          <a:rPr lang="en-US" sz="4000" b="0" i="1" smtClean="0">
                            <a:latin typeface="Cambria Math" panose="02040503050406030204" pitchFamily="18" charset="0"/>
                            <a:cs typeface="Times New Roman" panose="02020603050405020304" pitchFamily="18" charset="0"/>
                          </a:rPr>
                          <m:t>𝑓</m:t>
                        </m:r>
                        <m:r>
                          <a:rPr lang="en-US" sz="4000" b="0" i="1" smtClean="0">
                            <a:latin typeface="Cambria Math" panose="02040503050406030204" pitchFamily="18" charset="0"/>
                            <a:cs typeface="Times New Roman" panose="02020603050405020304" pitchFamily="18" charset="0"/>
                          </a:rPr>
                          <m:t>(</m:t>
                        </m:r>
                        <m:r>
                          <a:rPr lang="en-US" sz="4000" b="0" i="1" smtClean="0">
                            <a:latin typeface="Cambria Math" panose="02040503050406030204" pitchFamily="18" charset="0"/>
                            <a:cs typeface="Times New Roman" panose="02020603050405020304" pitchFamily="18" charset="0"/>
                          </a:rPr>
                          <m:t>𝑥</m:t>
                        </m:r>
                        <m:r>
                          <a:rPr lang="en-US" sz="4000" b="0" i="1" smtClean="0">
                            <a:latin typeface="Cambria Math" panose="02040503050406030204" pitchFamily="18" charset="0"/>
                            <a:cs typeface="Times New Roman" panose="02020603050405020304" pitchFamily="18" charset="0"/>
                          </a:rPr>
                          <m:t>)</m:t>
                        </m:r>
                      </m:e>
                    </m:nary>
                  </m:oMath>
                </a14:m>
                <a:endParaRPr lang="en-US" sz="4000" dirty="0" smtClean="0">
                  <a:latin typeface="Times New Roman" panose="02020603050405020304" pitchFamily="18" charset="0"/>
                  <a:cs typeface="Times New Roman" panose="02020603050405020304" pitchFamily="18" charset="0"/>
                </a:endParaRPr>
              </a:p>
              <a:p>
                <a14:m>
                  <m:oMath xmlns:m="http://schemas.openxmlformats.org/officeDocument/2006/math">
                    <m:r>
                      <a:rPr lang="en-US" sz="4000" i="1" dirty="0">
                        <a:ln w="0"/>
                        <a:latin typeface="Cambria Math" panose="02040503050406030204" pitchFamily="18" charset="0"/>
                        <a:cs typeface="Times New Roman" panose="02020603050405020304" pitchFamily="18" charset="0"/>
                      </a:rPr>
                      <m:t>𝑎</m:t>
                    </m:r>
                    <m:r>
                      <m:rPr>
                        <m:nor/>
                      </m:rPr>
                      <a:rPr lang="en-US" sz="4000" b="0" i="0" baseline="-25000" dirty="0" smtClean="0">
                        <a:ln w="0"/>
                        <a:latin typeface="Times New Roman" panose="02020603050405020304" pitchFamily="18" charset="0"/>
                        <a:cs typeface="Times New Roman" panose="02020603050405020304" pitchFamily="18" charset="0"/>
                      </a:rPr>
                      <m:t>n</m:t>
                    </m:r>
                  </m:oMath>
                </a14:m>
                <a:r>
                  <a:rPr lang="en-US" sz="40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sz="4000" i="1">
                            <a:latin typeface="Cambria Math" panose="02040503050406030204" pitchFamily="18" charset="0"/>
                            <a:cs typeface="Times New Roman" panose="02020603050405020304" pitchFamily="18" charset="0"/>
                          </a:rPr>
                        </m:ctrlPr>
                      </m:fPr>
                      <m:num>
                        <m:r>
                          <a:rPr lang="en-US" sz="4000" i="1">
                            <a:latin typeface="Cambria Math" panose="02040503050406030204" pitchFamily="18" charset="0"/>
                            <a:cs typeface="Times New Roman" panose="02020603050405020304" pitchFamily="18" charset="0"/>
                          </a:rPr>
                          <m:t>1</m:t>
                        </m:r>
                      </m:num>
                      <m:den>
                        <m:r>
                          <m:rPr>
                            <m:sty m:val="p"/>
                          </m:rPr>
                          <a:rPr lang="el-GR" sz="4000" i="1">
                            <a:latin typeface="Cambria Math" panose="02040503050406030204" pitchFamily="18" charset="0"/>
                            <a:cs typeface="Times New Roman" panose="02020603050405020304" pitchFamily="18" charset="0"/>
                          </a:rPr>
                          <m:t>π</m:t>
                        </m:r>
                      </m:den>
                    </m:f>
                    <m:nary>
                      <m:naryPr>
                        <m:ctrlPr>
                          <a:rPr lang="en-US" sz="4000" i="1">
                            <a:latin typeface="Cambria Math" panose="02040503050406030204" pitchFamily="18" charset="0"/>
                            <a:cs typeface="Times New Roman" panose="02020603050405020304" pitchFamily="18" charset="0"/>
                          </a:rPr>
                        </m:ctrlPr>
                      </m:naryPr>
                      <m:sub>
                        <m:r>
                          <m:rPr>
                            <m:brk m:alnAt="23"/>
                          </m:rPr>
                          <a:rPr lang="en-US" sz="4000" i="1">
                            <a:latin typeface="Cambria Math" panose="02040503050406030204" pitchFamily="18" charset="0"/>
                            <a:cs typeface="Times New Roman" panose="02020603050405020304" pitchFamily="18" charset="0"/>
                          </a:rPr>
                          <m:t>−</m:t>
                        </m:r>
                        <m:r>
                          <m:rPr>
                            <m:sty m:val="p"/>
                          </m:rPr>
                          <a:rPr lang="el-GR" sz="4000" i="1">
                            <a:latin typeface="Cambria Math" panose="02040503050406030204" pitchFamily="18" charset="0"/>
                            <a:cs typeface="Times New Roman" panose="02020603050405020304" pitchFamily="18" charset="0"/>
                          </a:rPr>
                          <m:t>π</m:t>
                        </m:r>
                      </m:sub>
                      <m:sup>
                        <m:r>
                          <m:rPr>
                            <m:sty m:val="p"/>
                          </m:rPr>
                          <a:rPr lang="el-GR" sz="4000" i="1">
                            <a:latin typeface="Cambria Math" panose="02040503050406030204" pitchFamily="18" charset="0"/>
                            <a:cs typeface="Times New Roman" panose="02020603050405020304" pitchFamily="18" charset="0"/>
                          </a:rPr>
                          <m:t>π</m:t>
                        </m:r>
                      </m:sup>
                      <m:e>
                        <m:r>
                          <a:rPr lang="en-US" sz="4000" i="1">
                            <a:latin typeface="Cambria Math" panose="02040503050406030204" pitchFamily="18" charset="0"/>
                            <a:cs typeface="Times New Roman" panose="02020603050405020304" pitchFamily="18" charset="0"/>
                          </a:rPr>
                          <m:t>𝑓</m:t>
                        </m:r>
                        <m:d>
                          <m:dPr>
                            <m:ctrlPr>
                              <a:rPr lang="en-US" sz="4000" i="1">
                                <a:latin typeface="Cambria Math" panose="02040503050406030204" pitchFamily="18" charset="0"/>
                                <a:cs typeface="Times New Roman" panose="02020603050405020304" pitchFamily="18" charset="0"/>
                              </a:rPr>
                            </m:ctrlPr>
                          </m:dPr>
                          <m:e>
                            <m:r>
                              <a:rPr lang="en-US" sz="4000" i="1">
                                <a:latin typeface="Cambria Math" panose="02040503050406030204" pitchFamily="18" charset="0"/>
                                <a:cs typeface="Times New Roman" panose="02020603050405020304" pitchFamily="18" charset="0"/>
                              </a:rPr>
                              <m:t>𝑥</m:t>
                            </m:r>
                          </m:e>
                        </m:d>
                        <m:func>
                          <m:funcPr>
                            <m:ctrlPr>
                              <a:rPr lang="en-US" sz="4000" b="0" i="1" smtClean="0">
                                <a:latin typeface="Cambria Math" panose="02040503050406030204" pitchFamily="18" charset="0"/>
                                <a:cs typeface="Times New Roman" panose="02020603050405020304" pitchFamily="18" charset="0"/>
                              </a:rPr>
                            </m:ctrlPr>
                          </m:funcPr>
                          <m:fName>
                            <m:r>
                              <m:rPr>
                                <m:sty m:val="p"/>
                              </m:rPr>
                              <a:rPr lang="en-US" sz="4000" b="0" i="0" smtClean="0">
                                <a:latin typeface="Cambria Math" panose="02040503050406030204" pitchFamily="18" charset="0"/>
                                <a:cs typeface="Times New Roman" panose="02020603050405020304" pitchFamily="18" charset="0"/>
                              </a:rPr>
                              <m:t>cos</m:t>
                            </m:r>
                          </m:fName>
                          <m:e>
                            <m:r>
                              <a:rPr lang="en-US" sz="4000" b="0" i="1" smtClean="0">
                                <a:latin typeface="Cambria Math" panose="02040503050406030204" pitchFamily="18" charset="0"/>
                                <a:cs typeface="Times New Roman" panose="02020603050405020304" pitchFamily="18" charset="0"/>
                              </a:rPr>
                              <m:t>𝑛𝑥</m:t>
                            </m:r>
                            <m:r>
                              <a:rPr lang="en-US" sz="4000" b="0" i="1" smtClean="0">
                                <a:latin typeface="Cambria Math" panose="02040503050406030204" pitchFamily="18" charset="0"/>
                                <a:cs typeface="Times New Roman" panose="02020603050405020304" pitchFamily="18" charset="0"/>
                              </a:rPr>
                              <m:t> </m:t>
                            </m:r>
                            <m:r>
                              <a:rPr lang="en-US" sz="4000" b="0" i="1" smtClean="0">
                                <a:latin typeface="Cambria Math" panose="02040503050406030204" pitchFamily="18" charset="0"/>
                                <a:cs typeface="Times New Roman" panose="02020603050405020304" pitchFamily="18" charset="0"/>
                              </a:rPr>
                              <m:t>𝑑𝑥</m:t>
                            </m:r>
                            <m:r>
                              <a:rPr lang="en-US" sz="4000" b="0" i="1" smtClean="0">
                                <a:latin typeface="Cambria Math" panose="02040503050406030204" pitchFamily="18" charset="0"/>
                                <a:cs typeface="Times New Roman" panose="02020603050405020304" pitchFamily="18" charset="0"/>
                              </a:rPr>
                              <m:t> </m:t>
                            </m:r>
                          </m:e>
                        </m:func>
                      </m:e>
                    </m:nary>
                  </m:oMath>
                </a14:m>
                <a:endParaRPr lang="en-US" sz="4000" dirty="0" smtClean="0">
                  <a:latin typeface="Times New Roman" panose="02020603050405020304" pitchFamily="18" charset="0"/>
                  <a:cs typeface="Times New Roman" panose="02020603050405020304" pitchFamily="18" charset="0"/>
                </a:endParaRPr>
              </a:p>
              <a:p>
                <a14:m>
                  <m:oMath xmlns:m="http://schemas.openxmlformats.org/officeDocument/2006/math">
                    <m:r>
                      <a:rPr lang="en-US" sz="4000" b="0" i="1" dirty="0" smtClean="0">
                        <a:ln w="0"/>
                        <a:latin typeface="Cambria Math" panose="02040503050406030204" pitchFamily="18" charset="0"/>
                        <a:cs typeface="Times New Roman" panose="02020603050405020304" pitchFamily="18" charset="0"/>
                      </a:rPr>
                      <m:t>𝑏</m:t>
                    </m:r>
                    <m:r>
                      <m:rPr>
                        <m:nor/>
                      </m:rPr>
                      <a:rPr lang="en-US" sz="4000" b="0" i="0" baseline="-25000" dirty="0" smtClean="0">
                        <a:ln w="0"/>
                        <a:latin typeface="Times New Roman" panose="02020603050405020304" pitchFamily="18" charset="0"/>
                        <a:cs typeface="Times New Roman" panose="02020603050405020304" pitchFamily="18" charset="0"/>
                      </a:rPr>
                      <m:t>n</m:t>
                    </m:r>
                  </m:oMath>
                </a14:m>
                <a:r>
                  <a:rPr lang="en-US" sz="40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sz="4000" i="1">
                            <a:latin typeface="Cambria Math" panose="02040503050406030204" pitchFamily="18" charset="0"/>
                            <a:cs typeface="Times New Roman" panose="02020603050405020304" pitchFamily="18" charset="0"/>
                          </a:rPr>
                        </m:ctrlPr>
                      </m:fPr>
                      <m:num>
                        <m:r>
                          <a:rPr lang="en-US" sz="4000" i="1">
                            <a:latin typeface="Cambria Math" panose="02040503050406030204" pitchFamily="18" charset="0"/>
                            <a:cs typeface="Times New Roman" panose="02020603050405020304" pitchFamily="18" charset="0"/>
                          </a:rPr>
                          <m:t>1</m:t>
                        </m:r>
                      </m:num>
                      <m:den>
                        <m:r>
                          <m:rPr>
                            <m:sty m:val="p"/>
                          </m:rPr>
                          <a:rPr lang="el-GR" sz="4000" i="1">
                            <a:latin typeface="Cambria Math" panose="02040503050406030204" pitchFamily="18" charset="0"/>
                            <a:cs typeface="Times New Roman" panose="02020603050405020304" pitchFamily="18" charset="0"/>
                          </a:rPr>
                          <m:t>π</m:t>
                        </m:r>
                      </m:den>
                    </m:f>
                    <m:nary>
                      <m:naryPr>
                        <m:ctrlPr>
                          <a:rPr lang="en-US" sz="4000" i="1">
                            <a:latin typeface="Cambria Math" panose="02040503050406030204" pitchFamily="18" charset="0"/>
                            <a:cs typeface="Times New Roman" panose="02020603050405020304" pitchFamily="18" charset="0"/>
                          </a:rPr>
                        </m:ctrlPr>
                      </m:naryPr>
                      <m:sub>
                        <m:r>
                          <m:rPr>
                            <m:brk m:alnAt="23"/>
                          </m:rPr>
                          <a:rPr lang="en-US" sz="4000" i="1">
                            <a:latin typeface="Cambria Math" panose="02040503050406030204" pitchFamily="18" charset="0"/>
                            <a:cs typeface="Times New Roman" panose="02020603050405020304" pitchFamily="18" charset="0"/>
                          </a:rPr>
                          <m:t>−</m:t>
                        </m:r>
                        <m:r>
                          <m:rPr>
                            <m:sty m:val="p"/>
                          </m:rPr>
                          <a:rPr lang="el-GR" sz="4000" i="1">
                            <a:latin typeface="Cambria Math" panose="02040503050406030204" pitchFamily="18" charset="0"/>
                            <a:cs typeface="Times New Roman" panose="02020603050405020304" pitchFamily="18" charset="0"/>
                          </a:rPr>
                          <m:t>π</m:t>
                        </m:r>
                      </m:sub>
                      <m:sup>
                        <m:r>
                          <m:rPr>
                            <m:sty m:val="p"/>
                          </m:rPr>
                          <a:rPr lang="el-GR" sz="4000" i="1">
                            <a:latin typeface="Cambria Math" panose="02040503050406030204" pitchFamily="18" charset="0"/>
                            <a:cs typeface="Times New Roman" panose="02020603050405020304" pitchFamily="18" charset="0"/>
                          </a:rPr>
                          <m:t>π</m:t>
                        </m:r>
                      </m:sup>
                      <m:e>
                        <m:r>
                          <a:rPr lang="en-US" sz="4000" i="1">
                            <a:latin typeface="Cambria Math" panose="02040503050406030204" pitchFamily="18" charset="0"/>
                            <a:cs typeface="Times New Roman" panose="02020603050405020304" pitchFamily="18" charset="0"/>
                          </a:rPr>
                          <m:t>𝑓</m:t>
                        </m:r>
                        <m:d>
                          <m:dPr>
                            <m:ctrlPr>
                              <a:rPr lang="en-US" sz="4000" i="1">
                                <a:latin typeface="Cambria Math" panose="02040503050406030204" pitchFamily="18" charset="0"/>
                                <a:cs typeface="Times New Roman" panose="02020603050405020304" pitchFamily="18" charset="0"/>
                              </a:rPr>
                            </m:ctrlPr>
                          </m:dPr>
                          <m:e>
                            <m:r>
                              <a:rPr lang="en-US" sz="4000" i="1">
                                <a:latin typeface="Cambria Math" panose="02040503050406030204" pitchFamily="18" charset="0"/>
                                <a:cs typeface="Times New Roman" panose="02020603050405020304" pitchFamily="18" charset="0"/>
                              </a:rPr>
                              <m:t>𝑥</m:t>
                            </m:r>
                          </m:e>
                        </m:d>
                        <m:func>
                          <m:funcPr>
                            <m:ctrlPr>
                              <a:rPr lang="en-US" sz="4000" b="0" i="1" smtClean="0">
                                <a:latin typeface="Cambria Math" panose="02040503050406030204" pitchFamily="18" charset="0"/>
                                <a:cs typeface="Times New Roman" panose="02020603050405020304" pitchFamily="18" charset="0"/>
                              </a:rPr>
                            </m:ctrlPr>
                          </m:funcPr>
                          <m:fName>
                            <m:r>
                              <m:rPr>
                                <m:sty m:val="p"/>
                              </m:rPr>
                              <a:rPr lang="en-US" sz="4000" b="0" i="0" smtClean="0">
                                <a:latin typeface="Cambria Math" panose="02040503050406030204" pitchFamily="18" charset="0"/>
                                <a:cs typeface="Times New Roman" panose="02020603050405020304" pitchFamily="18" charset="0"/>
                              </a:rPr>
                              <m:t>sin</m:t>
                            </m:r>
                          </m:fName>
                          <m:e>
                            <m:r>
                              <a:rPr lang="en-US" sz="4000" b="0" i="1" smtClean="0">
                                <a:latin typeface="Cambria Math" panose="02040503050406030204" pitchFamily="18" charset="0"/>
                                <a:cs typeface="Times New Roman" panose="02020603050405020304" pitchFamily="18" charset="0"/>
                              </a:rPr>
                              <m:t>𝑛𝑥</m:t>
                            </m:r>
                            <m:r>
                              <a:rPr lang="en-US" sz="4000" b="0" i="1" smtClean="0">
                                <a:latin typeface="Cambria Math" panose="02040503050406030204" pitchFamily="18" charset="0"/>
                                <a:cs typeface="Times New Roman" panose="02020603050405020304" pitchFamily="18" charset="0"/>
                              </a:rPr>
                              <m:t> </m:t>
                            </m:r>
                            <m:r>
                              <a:rPr lang="en-US" sz="4000" b="0" i="1" smtClean="0">
                                <a:latin typeface="Cambria Math" panose="02040503050406030204" pitchFamily="18" charset="0"/>
                                <a:cs typeface="Times New Roman" panose="02020603050405020304" pitchFamily="18" charset="0"/>
                              </a:rPr>
                              <m:t>𝑑𝑥</m:t>
                            </m:r>
                          </m:e>
                        </m:func>
                      </m:e>
                    </m:nary>
                    <m:r>
                      <a:rPr lang="en-US" sz="4000" b="0" i="0" smtClean="0">
                        <a:latin typeface="Cambria Math" panose="02040503050406030204" pitchFamily="18" charset="0"/>
                        <a:cs typeface="Times New Roman" panose="02020603050405020304" pitchFamily="18" charset="0"/>
                      </a:rPr>
                      <m:t> </m:t>
                    </m:r>
                  </m:oMath>
                </a14:m>
                <a:endParaRPr lang="en-US" sz="4000" b="0" dirty="0" smtClean="0">
                  <a:latin typeface="Times New Roman" panose="02020603050405020304" pitchFamily="18" charset="0"/>
                  <a:cs typeface="Times New Roman" panose="02020603050405020304" pitchFamily="18" charset="0"/>
                </a:endParaRPr>
              </a:p>
              <a:p>
                <a:r>
                  <a:rPr lang="en-US" sz="4000" dirty="0" smtClean="0">
                    <a:latin typeface="Times New Roman" panose="02020603050405020304" pitchFamily="18" charset="0"/>
                    <a:cs typeface="Times New Roman" panose="02020603050405020304" pitchFamily="18" charset="0"/>
                  </a:rPr>
                  <a:t>Then the series is called Fourier series. </a:t>
                </a:r>
                <a:endParaRPr lang="en-US" sz="4000" dirty="0">
                  <a:latin typeface="Times New Roman" panose="02020603050405020304" pitchFamily="18" charset="0"/>
                  <a:cs typeface="Times New Roman" panose="020206030504050203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597150" y="654050"/>
                <a:ext cx="8610600" cy="4428234"/>
              </a:xfrm>
              <a:prstGeom prst="flowChartAlternateProcess">
                <a:avLst/>
              </a:prstGeom>
              <a:blipFill rotWithShape="0">
                <a:blip r:embed="rId4"/>
                <a:stretch>
                  <a:fillRect l="-354" r="-566" b="-413"/>
                </a:stretch>
              </a:blipFill>
            </p:spPr>
            <p:txBody>
              <a:bodyPr/>
              <a:lstStyle/>
              <a:p>
                <a:r>
                  <a:rPr lang="en-US">
                    <a:noFill/>
                  </a:rPr>
                  <a:t> </a:t>
                </a:r>
              </a:p>
            </p:txBody>
          </p:sp>
        </mc:Fallback>
      </mc:AlternateContent>
      <p:sp>
        <p:nvSpPr>
          <p:cNvPr id="7" name="TextBox 6"/>
          <p:cNvSpPr txBox="1"/>
          <p:nvPr/>
        </p:nvSpPr>
        <p:spPr>
          <a:xfrm>
            <a:off x="11243195" y="989846"/>
            <a:ext cx="5562600" cy="3779758"/>
          </a:xfrm>
          <a:prstGeom prst="roundRect">
            <a:avLst/>
          </a:prstGeom>
          <a:solidFill>
            <a:srgbClr val="FFFF00"/>
          </a:solid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Applications:</a:t>
            </a:r>
          </a:p>
          <a:p>
            <a:pPr marL="571500" indent="-571500">
              <a:buFont typeface="Arial" panose="020B0604020202020204" pitchFamily="34" charset="0"/>
              <a:buChar char="•"/>
            </a:pPr>
            <a:r>
              <a:rPr lang="en-US" sz="3600" dirty="0" smtClean="0">
                <a:latin typeface="Times New Roman" panose="02020603050405020304" pitchFamily="18" charset="0"/>
                <a:cs typeface="Times New Roman" panose="02020603050405020304" pitchFamily="18" charset="0"/>
              </a:rPr>
              <a:t>Heat equation</a:t>
            </a:r>
          </a:p>
          <a:p>
            <a:pPr marL="571500" indent="-571500">
              <a:buFont typeface="Arial" panose="020B0604020202020204" pitchFamily="34" charset="0"/>
              <a:buChar char="•"/>
            </a:pPr>
            <a:r>
              <a:rPr lang="en-US" sz="3600" dirty="0" smtClean="0">
                <a:latin typeface="Times New Roman" panose="02020603050405020304" pitchFamily="18" charset="0"/>
                <a:cs typeface="Times New Roman" panose="02020603050405020304" pitchFamily="18" charset="0"/>
              </a:rPr>
              <a:t>Wave equation</a:t>
            </a:r>
          </a:p>
          <a:p>
            <a:pPr marL="571500" indent="-571500">
              <a:buFont typeface="Arial" panose="020B0604020202020204" pitchFamily="34" charset="0"/>
              <a:buChar char="•"/>
            </a:pPr>
            <a:r>
              <a:rPr lang="en-US" sz="3600" dirty="0" smtClean="0">
                <a:latin typeface="Times New Roman" panose="02020603050405020304" pitchFamily="18" charset="0"/>
                <a:cs typeface="Times New Roman" panose="02020603050405020304" pitchFamily="18" charset="0"/>
              </a:rPr>
              <a:t>Audio systems</a:t>
            </a:r>
          </a:p>
          <a:p>
            <a:pPr marL="571500" indent="-571500">
              <a:buFont typeface="Arial" panose="020B0604020202020204" pitchFamily="34" charset="0"/>
              <a:buChar char="•"/>
            </a:pPr>
            <a:r>
              <a:rPr lang="en-US" sz="3600" dirty="0" smtClean="0">
                <a:latin typeface="Times New Roman" panose="02020603050405020304" pitchFamily="18" charset="0"/>
                <a:cs typeface="Times New Roman" panose="02020603050405020304" pitchFamily="18" charset="0"/>
              </a:rPr>
              <a:t>Image compression</a:t>
            </a:r>
          </a:p>
          <a:p>
            <a:pPr marL="571500" indent="-571500">
              <a:buFont typeface="Arial" panose="020B0604020202020204" pitchFamily="34" charset="0"/>
              <a:buChar char="•"/>
            </a:pPr>
            <a:r>
              <a:rPr lang="en-US" sz="3600" dirty="0" smtClean="0">
                <a:latin typeface="Times New Roman" panose="02020603050405020304" pitchFamily="18" charset="0"/>
                <a:cs typeface="Times New Roman" panose="02020603050405020304" pitchFamily="18" charset="0"/>
              </a:rPr>
              <a:t>Communication system</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9008669"/>
      </p:ext>
    </p:extLst>
  </p:cSld>
  <p:clrMapOvr>
    <a:masterClrMapping/>
  </p:clrMapOvr>
  <mc:AlternateContent xmlns:mc="http://schemas.openxmlformats.org/markup-compatibility/2006" xmlns:p14="http://schemas.microsoft.com/office/powerpoint/2010/main">
    <mc:Choice Requires="p14">
      <p:transition spd="slow" p14:dur="1500" advTm="2974">
        <p:split orient="vert"/>
      </p:transition>
    </mc:Choice>
    <mc:Fallback xmlns="">
      <p:transition spd="slow" advTm="2974">
        <p:split orient="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5" name="Rectangle 4"/>
          <p:cNvSpPr/>
          <p:nvPr/>
        </p:nvSpPr>
        <p:spPr>
          <a:xfrm>
            <a:off x="0" y="0"/>
            <a:ext cx="18300700" cy="102997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5111750" y="882650"/>
            <a:ext cx="6705600" cy="1569660"/>
          </a:xfrm>
          <a:prstGeom prst="rect">
            <a:avLst/>
          </a:prstGeom>
          <a:noFill/>
        </p:spPr>
        <p:txBody>
          <a:bodyPr wrap="square" rtlCol="0">
            <a:spAutoFit/>
          </a:bodyPr>
          <a:lstStyle/>
          <a:p>
            <a:r>
              <a:rPr lang="en-US" sz="9600" dirty="0">
                <a:solidFill>
                  <a:srgbClr val="FF0000"/>
                </a:solidFill>
                <a:latin typeface="Arial Black" panose="020B0A04020102020204" pitchFamily="34" charset="0"/>
              </a:rPr>
              <a:t>Summary</a:t>
            </a:r>
            <a:r>
              <a:rPr lang="en-US" sz="9600" dirty="0">
                <a:latin typeface="Arial Black" panose="020B0A04020102020204" pitchFamily="34" charset="0"/>
              </a:rPr>
              <a:t> </a:t>
            </a:r>
          </a:p>
        </p:txBody>
      </p:sp>
      <p:sp>
        <p:nvSpPr>
          <p:cNvPr id="4" name="TextBox 3"/>
          <p:cNvSpPr txBox="1"/>
          <p:nvPr/>
        </p:nvSpPr>
        <p:spPr>
          <a:xfrm>
            <a:off x="2901950" y="2635250"/>
            <a:ext cx="12725400" cy="7201972"/>
          </a:xfrm>
          <a:prstGeom prst="rect">
            <a:avLst/>
          </a:prstGeom>
          <a:noFill/>
        </p:spPr>
        <p:txBody>
          <a:bodyPr wrap="square" rtlCol="0">
            <a:spAutoFit/>
          </a:bodyPr>
          <a:lstStyle/>
          <a:p>
            <a:pPr algn="just"/>
            <a:r>
              <a:rPr lang="en-US" sz="4200" dirty="0"/>
              <a:t>Mathematical Methods provides powerful analytical techniques for solving complex mathematical and engineering problems. In this presentation, important concepts such as orthogonal and orthonormal functions, weight functions, self </a:t>
            </a:r>
            <a:r>
              <a:rPr lang="en-US" sz="4200" dirty="0" err="1"/>
              <a:t>adjoint</a:t>
            </a:r>
            <a:r>
              <a:rPr lang="en-US" sz="4200" dirty="0"/>
              <a:t> operators, </a:t>
            </a:r>
            <a:r>
              <a:rPr lang="en-US" sz="4200" dirty="0" err="1"/>
              <a:t>eigen</a:t>
            </a:r>
            <a:r>
              <a:rPr lang="en-US" sz="4200" dirty="0"/>
              <a:t> values and </a:t>
            </a:r>
            <a:r>
              <a:rPr lang="en-US" sz="4200" dirty="0" err="1"/>
              <a:t>eigen</a:t>
            </a:r>
            <a:r>
              <a:rPr lang="en-US" sz="4200" dirty="0"/>
              <a:t> functions, Laplace transform, inverse Laplace transform, and Fourier series have been discussed. These methods simplify differential equations, functional analysis, and periodic signal representation, making them essential tools in modern applied mathematics and engineering sciences.</a:t>
            </a:r>
            <a:endParaRPr lang="en-US" sz="4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1892237"/>
      </p:ext>
    </p:extLst>
  </p:cSld>
  <p:clrMapOvr>
    <a:masterClrMapping/>
  </p:clrMapOvr>
  <mc:AlternateContent xmlns:mc="http://schemas.openxmlformats.org/markup-compatibility/2006" xmlns:p14="http://schemas.microsoft.com/office/powerpoint/2010/main">
    <mc:Choice Requires="p14">
      <p:transition spd="slow" p14:dur="1500" advTm="3290">
        <p14:vortex dir="r"/>
      </p:transition>
    </mc:Choice>
    <mc:Fallback xmlns="">
      <p:transition spd="slow" advTm="3290">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4000" b="-24000"/>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8300700" cy="10299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5340350" y="806450"/>
            <a:ext cx="6172200" cy="1569660"/>
          </a:xfrm>
          <a:prstGeom prst="rect">
            <a:avLst/>
          </a:prstGeom>
          <a:noFill/>
        </p:spPr>
        <p:txBody>
          <a:bodyPr wrap="square" rtlCol="0">
            <a:spAutoFit/>
          </a:bodyPr>
          <a:lstStyle/>
          <a:p>
            <a:r>
              <a:rPr lang="en-US" sz="9600" dirty="0">
                <a:solidFill>
                  <a:srgbClr val="FF0000"/>
                </a:solidFill>
                <a:latin typeface="Aramis" panose="020B0600050302020204" pitchFamily="34" charset="0"/>
              </a:rPr>
              <a:t>Conclusion </a:t>
            </a:r>
          </a:p>
        </p:txBody>
      </p:sp>
      <p:sp>
        <p:nvSpPr>
          <p:cNvPr id="4" name="TextBox 3"/>
          <p:cNvSpPr txBox="1"/>
          <p:nvPr/>
        </p:nvSpPr>
        <p:spPr>
          <a:xfrm>
            <a:off x="3663950" y="2330450"/>
            <a:ext cx="11734800" cy="7478970"/>
          </a:xfrm>
          <a:prstGeom prst="rect">
            <a:avLst/>
          </a:prstGeom>
          <a:noFill/>
        </p:spPr>
        <p:txBody>
          <a:bodyPr wrap="square" rtlCol="0">
            <a:spAutoFit/>
          </a:bodyPr>
          <a:lstStyle/>
          <a:p>
            <a:pPr algn="just"/>
            <a:r>
              <a:rPr lang="en-US" sz="4000" dirty="0"/>
              <a:t>Mathematical methods form the theoretical foundation of many modern scientific and engineering applications. Among these techniques, the Laplace Transform is especially significant because it converts difficult differential equations into simpler algebraic forms. Fourier series, </a:t>
            </a:r>
            <a:r>
              <a:rPr lang="en-US" sz="4000" dirty="0" err="1"/>
              <a:t>eigen</a:t>
            </a:r>
            <a:r>
              <a:rPr lang="en-US" sz="4000" dirty="0"/>
              <a:t> function analysis, and orthogonal systems also play vital roles in signal processing, vibration analysis, communication systems, and mathematical modeling. Therefore, mathematical methods are indispensable for understanding and solving real-world physical and engineering problems efficiently.</a:t>
            </a:r>
            <a:endParaRPr lang="en-US" sz="4000" dirty="0">
              <a:solidFill>
                <a:srgbClr val="FFFF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1243222"/>
      </p:ext>
    </p:extLst>
  </p:cSld>
  <p:clrMapOvr>
    <a:masterClrMapping/>
  </p:clrMapOvr>
  <mc:AlternateContent xmlns:mc="http://schemas.openxmlformats.org/markup-compatibility/2006" xmlns:p14="http://schemas.microsoft.com/office/powerpoint/2010/main">
    <mc:Choice Requires="p14">
      <p:transition spd="med" advTm="1181">
        <p14:ripple/>
      </p:transition>
    </mc:Choice>
    <mc:Fallback xmlns="">
      <p:transition spd="med" advTm="1181">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2,232 Brown Bg Stock Vectors and Vector Art | Shutterstock">
            <a:extLst>
              <a:ext uri="{FF2B5EF4-FFF2-40B4-BE49-F238E27FC236}">
                <a16:creationId xmlns:a16="http://schemas.microsoft.com/office/drawing/2014/main" xmlns="" id="{E52C4F7B-96BE-40D1-AC5A-A736D232E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 y="-26307"/>
            <a:ext cx="18294351" cy="1035775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E9143F76-A671-4651-9C25-BA29C844F8E0}"/>
              </a:ext>
            </a:extLst>
          </p:cNvPr>
          <p:cNvSpPr txBox="1"/>
          <p:nvPr/>
        </p:nvSpPr>
        <p:spPr>
          <a:xfrm>
            <a:off x="3187700" y="806450"/>
            <a:ext cx="11925300" cy="1138773"/>
          </a:xfrm>
          <a:prstGeom prst="rect">
            <a:avLst/>
          </a:prstGeom>
          <a:noFill/>
        </p:spPr>
        <p:txBody>
          <a:bodyPr wrap="square" rtlCol="0">
            <a:spAutoFit/>
          </a:bodyPr>
          <a:lstStyle/>
          <a:p>
            <a:pPr algn="ctr"/>
            <a:r>
              <a:rPr lang="en-US" sz="5400" kern="0" dirty="0" smtClean="0">
                <a:solidFill>
                  <a:srgbClr val="FF0000"/>
                </a:solidFill>
                <a:latin typeface="Algerian" panose="04020705040A02060702" pitchFamily="82" charset="0"/>
              </a:rPr>
              <a:t>Reference</a:t>
            </a:r>
            <a:endParaRPr lang="en-US" sz="5400" dirty="0">
              <a:solidFill>
                <a:srgbClr val="FF0000"/>
              </a:solidFill>
              <a:latin typeface="Algerian" panose="04020705040A02060702" pitchFamily="82" charset="0"/>
            </a:endParaRPr>
          </a:p>
          <a:p>
            <a:endParaRPr lang="en-US" sz="1400" dirty="0"/>
          </a:p>
        </p:txBody>
      </p:sp>
      <p:sp>
        <p:nvSpPr>
          <p:cNvPr id="4" name="TextBox 3"/>
          <p:cNvSpPr txBox="1"/>
          <p:nvPr/>
        </p:nvSpPr>
        <p:spPr>
          <a:xfrm>
            <a:off x="1911350" y="2254250"/>
            <a:ext cx="14401800" cy="6740307"/>
          </a:xfrm>
          <a:prstGeom prst="rect">
            <a:avLst/>
          </a:prstGeom>
          <a:noFill/>
        </p:spPr>
        <p:txBody>
          <a:bodyPr wrap="square" rtlCol="0">
            <a:spAutoFit/>
          </a:bodyPr>
          <a:lstStyle/>
          <a:p>
            <a:pPr marL="571500" indent="-571500">
              <a:buFont typeface="Wingdings" panose="05000000000000000000" pitchFamily="2" charset="2"/>
              <a:buChar char="v"/>
            </a:pPr>
            <a:r>
              <a:rPr lang="en-US" sz="4800" dirty="0"/>
              <a:t>Advanced Engineering Mathematics — Erwin </a:t>
            </a:r>
            <a:r>
              <a:rPr lang="en-US" sz="4800" dirty="0" err="1" smtClean="0"/>
              <a:t>Kreyszig</a:t>
            </a:r>
            <a:endParaRPr lang="en-US" sz="4800" dirty="0" smtClean="0"/>
          </a:p>
          <a:p>
            <a:pPr marL="571500" indent="-571500">
              <a:buFont typeface="Wingdings" panose="05000000000000000000" pitchFamily="2" charset="2"/>
              <a:buChar char="v"/>
            </a:pPr>
            <a:endParaRPr lang="en-US" sz="4800" dirty="0"/>
          </a:p>
          <a:p>
            <a:pPr marL="571500" indent="-571500">
              <a:buFont typeface="Wingdings" panose="05000000000000000000" pitchFamily="2" charset="2"/>
              <a:buChar char="v"/>
            </a:pPr>
            <a:r>
              <a:rPr lang="en-US" sz="4800" dirty="0" smtClean="0"/>
              <a:t>Differential </a:t>
            </a:r>
            <a:r>
              <a:rPr lang="en-US" sz="4800" dirty="0"/>
              <a:t>Equations with Boundary-Value Problems — Dennis G. </a:t>
            </a:r>
            <a:r>
              <a:rPr lang="en-US" sz="4800" dirty="0" err="1"/>
              <a:t>Zill</a:t>
            </a:r>
            <a:r>
              <a:rPr lang="en-US" sz="4800" dirty="0"/>
              <a:t> &amp; Warren S. </a:t>
            </a:r>
            <a:r>
              <a:rPr lang="en-US" sz="4800" dirty="0" smtClean="0"/>
              <a:t>Wright</a:t>
            </a:r>
          </a:p>
          <a:p>
            <a:pPr marL="571500" indent="-571500">
              <a:buFont typeface="Wingdings" panose="05000000000000000000" pitchFamily="2" charset="2"/>
              <a:buChar char="v"/>
            </a:pPr>
            <a:endParaRPr lang="en-US" sz="4800" dirty="0"/>
          </a:p>
          <a:p>
            <a:pPr marL="571500" indent="-571500">
              <a:buFont typeface="Wingdings" panose="05000000000000000000" pitchFamily="2" charset="2"/>
              <a:buChar char="v"/>
            </a:pPr>
            <a:r>
              <a:rPr lang="en-US" sz="4800" dirty="0" smtClean="0"/>
              <a:t>Elementary </a:t>
            </a:r>
            <a:r>
              <a:rPr lang="en-US" sz="4800" dirty="0"/>
              <a:t>Differential Equations and Boundary Value Problems — Boyce &amp; </a:t>
            </a:r>
            <a:r>
              <a:rPr lang="en-US" sz="4800" dirty="0" err="1" smtClean="0"/>
              <a:t>DiPrima</a:t>
            </a:r>
            <a:endParaRPr lang="en-US" sz="4800" dirty="0" smtClean="0"/>
          </a:p>
          <a:p>
            <a:pPr marL="571500" indent="-571500">
              <a:buFont typeface="Wingdings" panose="05000000000000000000" pitchFamily="2" charset="2"/>
              <a:buChar char="v"/>
            </a:pPr>
            <a:endParaRPr lang="en-US" sz="4800" dirty="0"/>
          </a:p>
          <a:p>
            <a:pPr marL="571500" indent="-571500">
              <a:buFont typeface="Wingdings" panose="05000000000000000000" pitchFamily="2" charset="2"/>
              <a:buChar char="v"/>
            </a:pPr>
            <a:r>
              <a:rPr lang="en-US" sz="4800" dirty="0" smtClean="0"/>
              <a:t>Lecture </a:t>
            </a:r>
            <a:r>
              <a:rPr lang="en-US" sz="4800" dirty="0"/>
              <a:t>Notes on Mathematical </a:t>
            </a:r>
            <a:r>
              <a:rPr lang="en-US" sz="4800" dirty="0" smtClean="0"/>
              <a:t>Methods</a:t>
            </a:r>
            <a:endParaRPr lang="en-US" sz="4800" dirty="0"/>
          </a:p>
        </p:txBody>
      </p:sp>
    </p:spTree>
    <p:extLst>
      <p:ext uri="{BB962C8B-B14F-4D97-AF65-F5344CB8AC3E}">
        <p14:creationId xmlns:p14="http://schemas.microsoft.com/office/powerpoint/2010/main" val="3360882049"/>
      </p:ext>
    </p:extLst>
  </p:cSld>
  <p:clrMapOvr>
    <a:masterClrMapping/>
  </p:clrMapOvr>
  <mc:AlternateContent xmlns:mc="http://schemas.openxmlformats.org/markup-compatibility/2006" xmlns:p14="http://schemas.microsoft.com/office/powerpoint/2010/main">
    <mc:Choice Requires="p14">
      <p:transition spd="med" p14:dur="700" advTm="2708">
        <p:fade/>
      </p:transition>
    </mc:Choice>
    <mc:Fallback xmlns="">
      <p:transition spd="med" advTm="2708">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567339FA-7E42-C2FC-CC7F-9B900EBC4D5E}"/>
              </a:ext>
            </a:extLst>
          </p:cNvPr>
          <p:cNvPicPr>
            <a:picLocks noChangeAspect="1"/>
          </p:cNvPicPr>
          <p:nvPr/>
        </p:nvPicPr>
        <p:blipFill>
          <a:blip r:embed="rId2"/>
          <a:stretch>
            <a:fillRect/>
          </a:stretch>
        </p:blipFill>
        <p:spPr>
          <a:xfrm>
            <a:off x="0" y="2778"/>
            <a:ext cx="18300700" cy="10294143"/>
          </a:xfrm>
          <a:prstGeom prst="rect">
            <a:avLst/>
          </a:prstGeom>
        </p:spPr>
      </p:pic>
    </p:spTree>
    <p:extLst>
      <p:ext uri="{BB962C8B-B14F-4D97-AF65-F5344CB8AC3E}">
        <p14:creationId xmlns:p14="http://schemas.microsoft.com/office/powerpoint/2010/main" val="1074700851"/>
      </p:ext>
    </p:extLst>
  </p:cSld>
  <p:clrMapOvr>
    <a:masterClrMapping/>
  </p:clrMapOvr>
  <mc:AlternateContent xmlns:mc="http://schemas.openxmlformats.org/markup-compatibility/2006" xmlns:p14="http://schemas.microsoft.com/office/powerpoint/2010/main">
    <mc:Choice Requires="p14">
      <p:transition spd="slow" p14:dur="1500" advTm="1058">
        <p:split orient="vert"/>
      </p:transition>
    </mc:Choice>
    <mc:Fallback xmlns="">
      <p:transition spd="slow" advTm="1058">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AD9D3C4F-0397-4469-062F-AA24A2C47AD7}"/>
              </a:ext>
            </a:extLst>
          </p:cNvPr>
          <p:cNvPicPr>
            <a:picLocks noChangeAspect="1"/>
          </p:cNvPicPr>
          <p:nvPr/>
        </p:nvPicPr>
        <p:blipFill>
          <a:blip r:embed="rId2"/>
          <a:stretch>
            <a:fillRect/>
          </a:stretch>
        </p:blipFill>
        <p:spPr>
          <a:xfrm>
            <a:off x="6350" y="-31750"/>
            <a:ext cx="18305638" cy="1029692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advTm="5109">
        <p15:prstTrans prst="fracture"/>
      </p:transition>
    </mc:Choice>
    <mc:Fallback xmlns="">
      <p:transition spd="slow" advTm="5109">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spDef>
      <a:spPr>
        <a:solidFill>
          <a:schemeClr val="bg2"/>
        </a:solid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Alomgir-219</Template>
  <TotalTime>2025</TotalTime>
  <Words>1056</Words>
  <Application>Microsoft Office PowerPoint</Application>
  <PresentationFormat>Custom</PresentationFormat>
  <Paragraphs>185</Paragraphs>
  <Slides>22</Slides>
  <Notes>3</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22</vt:i4>
      </vt:variant>
    </vt:vector>
  </HeadingPairs>
  <TitlesOfParts>
    <vt:vector size="39" baseType="lpstr">
      <vt:lpstr>Microsoft JhengHei UI</vt:lpstr>
      <vt:lpstr>Algerian</vt:lpstr>
      <vt:lpstr>Aramis</vt:lpstr>
      <vt:lpstr>Arial</vt:lpstr>
      <vt:lpstr>Arial Black</vt:lpstr>
      <vt:lpstr>Arial Rounded MT Bold</vt:lpstr>
      <vt:lpstr>Calibri</vt:lpstr>
      <vt:lpstr>Cambria Math</vt:lpstr>
      <vt:lpstr>Corbel</vt:lpstr>
      <vt:lpstr>Freestyle Script</vt:lpstr>
      <vt:lpstr>RQND Pro</vt:lpstr>
      <vt:lpstr>Söhne</vt:lpstr>
      <vt:lpstr>Times New Roman</vt:lpstr>
      <vt:lpstr>Times New Roman Bold</vt:lpstr>
      <vt:lpstr>Vrinda</vt:lpstr>
      <vt:lpstr>Wingdings</vt:lpstr>
      <vt:lpstr>Parallax</vt:lpstr>
      <vt:lpstr>PowerPoint Presentation</vt:lpstr>
      <vt:lpstr> “Mathematical Methods”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007</dc:creator>
  <cp:lastModifiedBy>SOBUJ</cp:lastModifiedBy>
  <cp:revision>213</cp:revision>
  <dcterms:created xsi:type="dcterms:W3CDTF">2025-08-02T17:17:22Z</dcterms:created>
  <dcterms:modified xsi:type="dcterms:W3CDTF">2026-05-10T15:43:26Z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2024-05-14T00:00:00Z</vt:filetime>
  </property>
  <property fmtid="{D5CDD505-2E9C-101B-9397-08002B2CF9AE}" pid="3" name="Creator">
    <vt:lpwstr>Chromium</vt:lpwstr>
  </property>
  <property fmtid="{D5CDD505-2E9C-101B-9397-08002B2CF9AE}" pid="4" name="LastSaved">
    <vt:filetime>2024-05-14T00:00:00Z</vt:filetime>
  </property>
  <property fmtid="{D5CDD505-2E9C-101B-9397-08002B2CF9AE}" pid="5" name="Producer">
    <vt:lpwstr>3-Heights(TM) PDF Security Shell 4.8.25.2 (http://www.pdf-tools.com)</vt:lpwstr>
  </property>
</Properties>
</file>